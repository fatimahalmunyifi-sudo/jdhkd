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480" y="20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62707" y="1371600"/>
            <a:ext cx="109728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6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5" smtClean="0"/>
              <a:t> </a:t>
            </a:r>
            <a:r>
              <a:rPr lang="en-US" smtClean="0"/>
              <a:t>mainly</a:t>
            </a:r>
            <a:r>
              <a:rPr lang="en-US" spc="-35" smtClean="0"/>
              <a:t> </a:t>
            </a:r>
            <a:r>
              <a:rPr lang="en-US" smtClean="0"/>
              <a:t>dependent</a:t>
            </a:r>
            <a:r>
              <a:rPr lang="en-US" spc="-75" smtClean="0"/>
              <a:t> </a:t>
            </a:r>
            <a:r>
              <a:rPr lang="en-US" smtClean="0"/>
              <a:t>on</a:t>
            </a:r>
            <a:r>
              <a:rPr lang="en-US" spc="-30" smtClean="0"/>
              <a:t> </a:t>
            </a:r>
            <a:r>
              <a:rPr lang="en-US" smtClean="0"/>
              <a:t>the</a:t>
            </a:r>
            <a:r>
              <a:rPr lang="en-US" spc="-30" smtClean="0"/>
              <a:t> </a:t>
            </a:r>
            <a:r>
              <a:rPr lang="en-US" smtClean="0"/>
              <a:t>textbook:</a:t>
            </a:r>
            <a:r>
              <a:rPr lang="en-US" spc="25" smtClean="0"/>
              <a:t> </a:t>
            </a:r>
            <a:r>
              <a:rPr lang="en-US" smtClean="0"/>
              <a:t>Effective</a:t>
            </a:r>
            <a:r>
              <a:rPr lang="en-US" spc="-30" smtClean="0"/>
              <a:t> </a:t>
            </a:r>
            <a:r>
              <a:rPr lang="en-US" smtClean="0"/>
              <a:t>Project</a:t>
            </a:r>
            <a:r>
              <a:rPr lang="en-US" spc="-10" smtClean="0"/>
              <a:t> </a:t>
            </a:r>
            <a:r>
              <a:rPr lang="en-US" smtClean="0"/>
              <a:t>Management:</a:t>
            </a:r>
            <a:r>
              <a:rPr lang="en-US" spc="5" smtClean="0"/>
              <a:t> </a:t>
            </a:r>
            <a:r>
              <a:rPr lang="en-US" smtClean="0"/>
              <a:t>Traditional,</a:t>
            </a:r>
            <a:r>
              <a:rPr lang="en-US" spc="-85" smtClean="0"/>
              <a:t> </a:t>
            </a:r>
            <a:r>
              <a:rPr lang="en-US" smtClean="0"/>
              <a:t>Agile,</a:t>
            </a:r>
            <a:r>
              <a:rPr lang="en-US" spc="-45" smtClean="0"/>
              <a:t> </a:t>
            </a:r>
            <a:r>
              <a:rPr lang="en-US" smtClean="0"/>
              <a:t>Extreme</a:t>
            </a:r>
            <a:r>
              <a:rPr lang="en-US" spc="40" smtClean="0"/>
              <a:t> </a:t>
            </a:r>
            <a:r>
              <a:rPr lang="en-US" smtClean="0"/>
              <a:t>(7th</a:t>
            </a:r>
            <a:r>
              <a:rPr lang="en-US" spc="-30" smtClean="0"/>
              <a:t> </a:t>
            </a:r>
            <a:r>
              <a:rPr lang="en-US" smtClean="0"/>
              <a:t>edition)</a:t>
            </a:r>
            <a:r>
              <a:rPr lang="en-US" spc="-65" smtClean="0"/>
              <a:t> </a:t>
            </a:r>
            <a:r>
              <a:rPr lang="en-US" smtClean="0"/>
              <a:t>by</a:t>
            </a:r>
            <a:r>
              <a:rPr lang="en-US" spc="-10" smtClean="0"/>
              <a:t> </a:t>
            </a:r>
            <a:r>
              <a:rPr lang="en-US" smtClean="0"/>
              <a:t>Robert</a:t>
            </a:r>
            <a:r>
              <a:rPr lang="en-US" spc="-50" smtClean="0"/>
              <a:t> </a:t>
            </a:r>
            <a:r>
              <a:rPr lang="en-US" smtClean="0"/>
              <a:t>K.</a:t>
            </a:r>
            <a:r>
              <a:rPr lang="en-US" spc="20" smtClean="0"/>
              <a:t> </a:t>
            </a:r>
            <a:r>
              <a:rPr lang="en-US" spc="-10" smtClean="0"/>
              <a:t>Wysocki</a:t>
            </a:r>
            <a:endParaRPr lang="en-US" spc="-10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828800" y="3331698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6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5" smtClean="0"/>
              <a:t> </a:t>
            </a:r>
            <a:r>
              <a:rPr lang="en-US" smtClean="0"/>
              <a:t>mainly</a:t>
            </a:r>
            <a:r>
              <a:rPr lang="en-US" spc="-35" smtClean="0"/>
              <a:t> </a:t>
            </a:r>
            <a:r>
              <a:rPr lang="en-US" smtClean="0"/>
              <a:t>dependent</a:t>
            </a:r>
            <a:r>
              <a:rPr lang="en-US" spc="-75" smtClean="0"/>
              <a:t> </a:t>
            </a:r>
            <a:r>
              <a:rPr lang="en-US" smtClean="0"/>
              <a:t>on</a:t>
            </a:r>
            <a:r>
              <a:rPr lang="en-US" spc="-30" smtClean="0"/>
              <a:t> </a:t>
            </a:r>
            <a:r>
              <a:rPr lang="en-US" smtClean="0"/>
              <a:t>the</a:t>
            </a:r>
            <a:r>
              <a:rPr lang="en-US" spc="-30" smtClean="0"/>
              <a:t> </a:t>
            </a:r>
            <a:r>
              <a:rPr lang="en-US" smtClean="0"/>
              <a:t>textbook:</a:t>
            </a:r>
            <a:r>
              <a:rPr lang="en-US" spc="25" smtClean="0"/>
              <a:t> </a:t>
            </a:r>
            <a:r>
              <a:rPr lang="en-US" smtClean="0"/>
              <a:t>Effective</a:t>
            </a:r>
            <a:r>
              <a:rPr lang="en-US" spc="-30" smtClean="0"/>
              <a:t> </a:t>
            </a:r>
            <a:r>
              <a:rPr lang="en-US" smtClean="0"/>
              <a:t>Project</a:t>
            </a:r>
            <a:r>
              <a:rPr lang="en-US" spc="-10" smtClean="0"/>
              <a:t> </a:t>
            </a:r>
            <a:r>
              <a:rPr lang="en-US" smtClean="0"/>
              <a:t>Management:</a:t>
            </a:r>
            <a:r>
              <a:rPr lang="en-US" spc="5" smtClean="0"/>
              <a:t> </a:t>
            </a:r>
            <a:r>
              <a:rPr lang="en-US" smtClean="0"/>
              <a:t>Traditional,</a:t>
            </a:r>
            <a:r>
              <a:rPr lang="en-US" spc="-85" smtClean="0"/>
              <a:t> </a:t>
            </a:r>
            <a:r>
              <a:rPr lang="en-US" smtClean="0"/>
              <a:t>Agile,</a:t>
            </a:r>
            <a:r>
              <a:rPr lang="en-US" spc="-45" smtClean="0"/>
              <a:t> </a:t>
            </a:r>
            <a:r>
              <a:rPr lang="en-US" smtClean="0"/>
              <a:t>Extreme</a:t>
            </a:r>
            <a:r>
              <a:rPr lang="en-US" spc="40" smtClean="0"/>
              <a:t> </a:t>
            </a:r>
            <a:r>
              <a:rPr lang="en-US" smtClean="0"/>
              <a:t>(7th</a:t>
            </a:r>
            <a:r>
              <a:rPr lang="en-US" spc="-30" smtClean="0"/>
              <a:t> </a:t>
            </a:r>
            <a:r>
              <a:rPr lang="en-US" smtClean="0"/>
              <a:t>edition)</a:t>
            </a:r>
            <a:r>
              <a:rPr lang="en-US" spc="-65" smtClean="0"/>
              <a:t> </a:t>
            </a:r>
            <a:r>
              <a:rPr lang="en-US" smtClean="0"/>
              <a:t>by</a:t>
            </a:r>
            <a:r>
              <a:rPr lang="en-US" spc="-10" smtClean="0"/>
              <a:t> </a:t>
            </a:r>
            <a:r>
              <a:rPr lang="en-US" smtClean="0"/>
              <a:t>Robert</a:t>
            </a:r>
            <a:r>
              <a:rPr lang="en-US" spc="-50" smtClean="0"/>
              <a:t> </a:t>
            </a:r>
            <a:r>
              <a:rPr lang="en-US" smtClean="0"/>
              <a:t>K.</a:t>
            </a:r>
            <a:r>
              <a:rPr lang="en-US" spc="20" smtClean="0"/>
              <a:t> </a:t>
            </a:r>
            <a:r>
              <a:rPr lang="en-US" spc="-10" smtClean="0"/>
              <a:t>Wysocki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609600"/>
            <a:ext cx="94488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3600" y="2507786"/>
            <a:ext cx="94488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6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5" smtClean="0"/>
              <a:t> </a:t>
            </a:r>
            <a:r>
              <a:rPr lang="en-US" smtClean="0"/>
              <a:t>mainly</a:t>
            </a:r>
            <a:r>
              <a:rPr lang="en-US" spc="-35" smtClean="0"/>
              <a:t> </a:t>
            </a:r>
            <a:r>
              <a:rPr lang="en-US" smtClean="0"/>
              <a:t>dependent</a:t>
            </a:r>
            <a:r>
              <a:rPr lang="en-US" spc="-75" smtClean="0"/>
              <a:t> </a:t>
            </a:r>
            <a:r>
              <a:rPr lang="en-US" smtClean="0"/>
              <a:t>on</a:t>
            </a:r>
            <a:r>
              <a:rPr lang="en-US" spc="-30" smtClean="0"/>
              <a:t> </a:t>
            </a:r>
            <a:r>
              <a:rPr lang="en-US" smtClean="0"/>
              <a:t>the</a:t>
            </a:r>
            <a:r>
              <a:rPr lang="en-US" spc="-30" smtClean="0"/>
              <a:t> </a:t>
            </a:r>
            <a:r>
              <a:rPr lang="en-US" smtClean="0"/>
              <a:t>textbook:</a:t>
            </a:r>
            <a:r>
              <a:rPr lang="en-US" spc="25" smtClean="0"/>
              <a:t> </a:t>
            </a:r>
            <a:r>
              <a:rPr lang="en-US" smtClean="0"/>
              <a:t>Effective</a:t>
            </a:r>
            <a:r>
              <a:rPr lang="en-US" spc="-30" smtClean="0"/>
              <a:t> </a:t>
            </a:r>
            <a:r>
              <a:rPr lang="en-US" smtClean="0"/>
              <a:t>Project</a:t>
            </a:r>
            <a:r>
              <a:rPr lang="en-US" spc="-10" smtClean="0"/>
              <a:t> </a:t>
            </a:r>
            <a:r>
              <a:rPr lang="en-US" smtClean="0"/>
              <a:t>Management:</a:t>
            </a:r>
            <a:r>
              <a:rPr lang="en-US" spc="5" smtClean="0"/>
              <a:t> </a:t>
            </a:r>
            <a:r>
              <a:rPr lang="en-US" smtClean="0"/>
              <a:t>Traditional,</a:t>
            </a:r>
            <a:r>
              <a:rPr lang="en-US" spc="-85" smtClean="0"/>
              <a:t> </a:t>
            </a:r>
            <a:r>
              <a:rPr lang="en-US" smtClean="0"/>
              <a:t>Agile,</a:t>
            </a:r>
            <a:r>
              <a:rPr lang="en-US" spc="-45" smtClean="0"/>
              <a:t> </a:t>
            </a:r>
            <a:r>
              <a:rPr lang="en-US" smtClean="0"/>
              <a:t>Extreme</a:t>
            </a:r>
            <a:r>
              <a:rPr lang="en-US" spc="40" smtClean="0"/>
              <a:t> </a:t>
            </a:r>
            <a:r>
              <a:rPr lang="en-US" smtClean="0"/>
              <a:t>(7th</a:t>
            </a:r>
            <a:r>
              <a:rPr lang="en-US" spc="-30" smtClean="0"/>
              <a:t> </a:t>
            </a:r>
            <a:r>
              <a:rPr lang="en-US" smtClean="0"/>
              <a:t>edition)</a:t>
            </a:r>
            <a:r>
              <a:rPr lang="en-US" spc="-65" smtClean="0"/>
              <a:t> </a:t>
            </a:r>
            <a:r>
              <a:rPr lang="en-US" smtClean="0"/>
              <a:t>by</a:t>
            </a:r>
            <a:r>
              <a:rPr lang="en-US" spc="-10" smtClean="0"/>
              <a:t> </a:t>
            </a:r>
            <a:r>
              <a:rPr lang="en-US" smtClean="0"/>
              <a:t>Robert</a:t>
            </a:r>
            <a:r>
              <a:rPr lang="en-US" spc="-50" smtClean="0"/>
              <a:t> </a:t>
            </a:r>
            <a:r>
              <a:rPr lang="en-US" smtClean="0"/>
              <a:t>K.</a:t>
            </a:r>
            <a:r>
              <a:rPr lang="en-US" spc="20" smtClean="0"/>
              <a:t> </a:t>
            </a:r>
            <a:r>
              <a:rPr lang="en-US" spc="-10" smtClean="0"/>
              <a:t>Wysocki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66400" y="6416676"/>
            <a:ext cx="10160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6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5" smtClean="0"/>
              <a:t> </a:t>
            </a:r>
            <a:r>
              <a:rPr lang="en-US" smtClean="0"/>
              <a:t>mainly</a:t>
            </a:r>
            <a:r>
              <a:rPr lang="en-US" spc="-35" smtClean="0"/>
              <a:t> </a:t>
            </a:r>
            <a:r>
              <a:rPr lang="en-US" smtClean="0"/>
              <a:t>dependent</a:t>
            </a:r>
            <a:r>
              <a:rPr lang="en-US" spc="-75" smtClean="0"/>
              <a:t> </a:t>
            </a:r>
            <a:r>
              <a:rPr lang="en-US" smtClean="0"/>
              <a:t>on</a:t>
            </a:r>
            <a:r>
              <a:rPr lang="en-US" spc="-30" smtClean="0"/>
              <a:t> </a:t>
            </a:r>
            <a:r>
              <a:rPr lang="en-US" smtClean="0"/>
              <a:t>the</a:t>
            </a:r>
            <a:r>
              <a:rPr lang="en-US" spc="-30" smtClean="0"/>
              <a:t> </a:t>
            </a:r>
            <a:r>
              <a:rPr lang="en-US" smtClean="0"/>
              <a:t>textbook:</a:t>
            </a:r>
            <a:r>
              <a:rPr lang="en-US" spc="25" smtClean="0"/>
              <a:t> </a:t>
            </a:r>
            <a:r>
              <a:rPr lang="en-US" smtClean="0"/>
              <a:t>Effective</a:t>
            </a:r>
            <a:r>
              <a:rPr lang="en-US" spc="-30" smtClean="0"/>
              <a:t> </a:t>
            </a:r>
            <a:r>
              <a:rPr lang="en-US" smtClean="0"/>
              <a:t>Project</a:t>
            </a:r>
            <a:r>
              <a:rPr lang="en-US" spc="-10" smtClean="0"/>
              <a:t> </a:t>
            </a:r>
            <a:r>
              <a:rPr lang="en-US" smtClean="0"/>
              <a:t>Management:</a:t>
            </a:r>
            <a:r>
              <a:rPr lang="en-US" spc="5" smtClean="0"/>
              <a:t> </a:t>
            </a:r>
            <a:r>
              <a:rPr lang="en-US" smtClean="0"/>
              <a:t>Traditional,</a:t>
            </a:r>
            <a:r>
              <a:rPr lang="en-US" spc="-85" smtClean="0"/>
              <a:t> </a:t>
            </a:r>
            <a:r>
              <a:rPr lang="en-US" smtClean="0"/>
              <a:t>Agile,</a:t>
            </a:r>
            <a:r>
              <a:rPr lang="en-US" spc="-45" smtClean="0"/>
              <a:t> </a:t>
            </a:r>
            <a:r>
              <a:rPr lang="en-US" smtClean="0"/>
              <a:t>Extreme</a:t>
            </a:r>
            <a:r>
              <a:rPr lang="en-US" spc="40" smtClean="0"/>
              <a:t> </a:t>
            </a:r>
            <a:r>
              <a:rPr lang="en-US" smtClean="0"/>
              <a:t>(7th</a:t>
            </a:r>
            <a:r>
              <a:rPr lang="en-US" spc="-30" smtClean="0"/>
              <a:t> </a:t>
            </a:r>
            <a:r>
              <a:rPr lang="en-US" smtClean="0"/>
              <a:t>edition)</a:t>
            </a:r>
            <a:r>
              <a:rPr lang="en-US" spc="-65" smtClean="0"/>
              <a:t> </a:t>
            </a:r>
            <a:r>
              <a:rPr lang="en-US" smtClean="0"/>
              <a:t>by</a:t>
            </a:r>
            <a:r>
              <a:rPr lang="en-US" spc="-10" smtClean="0"/>
              <a:t> </a:t>
            </a:r>
            <a:r>
              <a:rPr lang="en-US" smtClean="0"/>
              <a:t>Robert</a:t>
            </a:r>
            <a:r>
              <a:rPr lang="en-US" spc="-50" smtClean="0"/>
              <a:t> </a:t>
            </a:r>
            <a:r>
              <a:rPr lang="en-US" smtClean="0"/>
              <a:t>K.</a:t>
            </a:r>
            <a:r>
              <a:rPr lang="en-US" spc="20" smtClean="0"/>
              <a:t> </a:t>
            </a:r>
            <a:r>
              <a:rPr lang="en-US" spc="-10" smtClean="0"/>
              <a:t>Wysocki</a:t>
            </a:r>
            <a:endParaRPr lang="en-US" spc="-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535113"/>
            <a:ext cx="5389033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362201"/>
            <a:ext cx="5386917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362201"/>
            <a:ext cx="5389033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6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5" smtClean="0"/>
              <a:t> </a:t>
            </a:r>
            <a:r>
              <a:rPr lang="en-US" smtClean="0"/>
              <a:t>mainly</a:t>
            </a:r>
            <a:r>
              <a:rPr lang="en-US" spc="-35" smtClean="0"/>
              <a:t> </a:t>
            </a:r>
            <a:r>
              <a:rPr lang="en-US" smtClean="0"/>
              <a:t>dependent</a:t>
            </a:r>
            <a:r>
              <a:rPr lang="en-US" spc="-75" smtClean="0"/>
              <a:t> </a:t>
            </a:r>
            <a:r>
              <a:rPr lang="en-US" smtClean="0"/>
              <a:t>on</a:t>
            </a:r>
            <a:r>
              <a:rPr lang="en-US" spc="-30" smtClean="0"/>
              <a:t> </a:t>
            </a:r>
            <a:r>
              <a:rPr lang="en-US" smtClean="0"/>
              <a:t>the</a:t>
            </a:r>
            <a:r>
              <a:rPr lang="en-US" spc="-30" smtClean="0"/>
              <a:t> </a:t>
            </a:r>
            <a:r>
              <a:rPr lang="en-US" smtClean="0"/>
              <a:t>textbook:</a:t>
            </a:r>
            <a:r>
              <a:rPr lang="en-US" spc="25" smtClean="0"/>
              <a:t> </a:t>
            </a:r>
            <a:r>
              <a:rPr lang="en-US" smtClean="0"/>
              <a:t>Effective</a:t>
            </a:r>
            <a:r>
              <a:rPr lang="en-US" spc="-30" smtClean="0"/>
              <a:t> </a:t>
            </a:r>
            <a:r>
              <a:rPr lang="en-US" smtClean="0"/>
              <a:t>Project</a:t>
            </a:r>
            <a:r>
              <a:rPr lang="en-US" spc="-10" smtClean="0"/>
              <a:t> </a:t>
            </a:r>
            <a:r>
              <a:rPr lang="en-US" smtClean="0"/>
              <a:t>Management:</a:t>
            </a:r>
            <a:r>
              <a:rPr lang="en-US" spc="5" smtClean="0"/>
              <a:t> </a:t>
            </a:r>
            <a:r>
              <a:rPr lang="en-US" smtClean="0"/>
              <a:t>Traditional,</a:t>
            </a:r>
            <a:r>
              <a:rPr lang="en-US" spc="-85" smtClean="0"/>
              <a:t> </a:t>
            </a:r>
            <a:r>
              <a:rPr lang="en-US" smtClean="0"/>
              <a:t>Agile,</a:t>
            </a:r>
            <a:r>
              <a:rPr lang="en-US" spc="-45" smtClean="0"/>
              <a:t> </a:t>
            </a:r>
            <a:r>
              <a:rPr lang="en-US" smtClean="0"/>
              <a:t>Extreme</a:t>
            </a:r>
            <a:r>
              <a:rPr lang="en-US" spc="40" smtClean="0"/>
              <a:t> </a:t>
            </a:r>
            <a:r>
              <a:rPr lang="en-US" smtClean="0"/>
              <a:t>(7th</a:t>
            </a:r>
            <a:r>
              <a:rPr lang="en-US" spc="-30" smtClean="0"/>
              <a:t> </a:t>
            </a:r>
            <a:r>
              <a:rPr lang="en-US" smtClean="0"/>
              <a:t>edition)</a:t>
            </a:r>
            <a:r>
              <a:rPr lang="en-US" spc="-65" smtClean="0"/>
              <a:t> </a:t>
            </a:r>
            <a:r>
              <a:rPr lang="en-US" smtClean="0"/>
              <a:t>by</a:t>
            </a:r>
            <a:r>
              <a:rPr lang="en-US" spc="-10" smtClean="0"/>
              <a:t> </a:t>
            </a:r>
            <a:r>
              <a:rPr lang="en-US" smtClean="0"/>
              <a:t>Robert</a:t>
            </a:r>
            <a:r>
              <a:rPr lang="en-US" spc="-50" smtClean="0"/>
              <a:t> </a:t>
            </a:r>
            <a:r>
              <a:rPr lang="en-US" smtClean="0"/>
              <a:t>K.</a:t>
            </a:r>
            <a:r>
              <a:rPr lang="en-US" spc="20" smtClean="0"/>
              <a:t> </a:t>
            </a:r>
            <a:r>
              <a:rPr lang="en-US" spc="-10" smtClean="0"/>
              <a:t>Wysocki</a:t>
            </a:r>
            <a:endParaRPr lang="en-US" spc="-1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6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5" smtClean="0"/>
              <a:t> </a:t>
            </a:r>
            <a:r>
              <a:rPr lang="en-US" smtClean="0"/>
              <a:t>mainly</a:t>
            </a:r>
            <a:r>
              <a:rPr lang="en-US" spc="-35" smtClean="0"/>
              <a:t> </a:t>
            </a:r>
            <a:r>
              <a:rPr lang="en-US" smtClean="0"/>
              <a:t>dependent</a:t>
            </a:r>
            <a:r>
              <a:rPr lang="en-US" spc="-75" smtClean="0"/>
              <a:t> </a:t>
            </a:r>
            <a:r>
              <a:rPr lang="en-US" smtClean="0"/>
              <a:t>on</a:t>
            </a:r>
            <a:r>
              <a:rPr lang="en-US" spc="-30" smtClean="0"/>
              <a:t> </a:t>
            </a:r>
            <a:r>
              <a:rPr lang="en-US" smtClean="0"/>
              <a:t>the</a:t>
            </a:r>
            <a:r>
              <a:rPr lang="en-US" spc="-30" smtClean="0"/>
              <a:t> </a:t>
            </a:r>
            <a:r>
              <a:rPr lang="en-US" smtClean="0"/>
              <a:t>textbook:</a:t>
            </a:r>
            <a:r>
              <a:rPr lang="en-US" spc="25" smtClean="0"/>
              <a:t> </a:t>
            </a:r>
            <a:r>
              <a:rPr lang="en-US" smtClean="0"/>
              <a:t>Effective</a:t>
            </a:r>
            <a:r>
              <a:rPr lang="en-US" spc="-30" smtClean="0"/>
              <a:t> </a:t>
            </a:r>
            <a:r>
              <a:rPr lang="en-US" smtClean="0"/>
              <a:t>Project</a:t>
            </a:r>
            <a:r>
              <a:rPr lang="en-US" spc="-10" smtClean="0"/>
              <a:t> </a:t>
            </a:r>
            <a:r>
              <a:rPr lang="en-US" smtClean="0"/>
              <a:t>Management:</a:t>
            </a:r>
            <a:r>
              <a:rPr lang="en-US" spc="5" smtClean="0"/>
              <a:t> </a:t>
            </a:r>
            <a:r>
              <a:rPr lang="en-US" smtClean="0"/>
              <a:t>Traditional,</a:t>
            </a:r>
            <a:r>
              <a:rPr lang="en-US" spc="-85" smtClean="0"/>
              <a:t> </a:t>
            </a:r>
            <a:r>
              <a:rPr lang="en-US" smtClean="0"/>
              <a:t>Agile,</a:t>
            </a:r>
            <a:r>
              <a:rPr lang="en-US" spc="-45" smtClean="0"/>
              <a:t> </a:t>
            </a:r>
            <a:r>
              <a:rPr lang="en-US" smtClean="0"/>
              <a:t>Extreme</a:t>
            </a:r>
            <a:r>
              <a:rPr lang="en-US" spc="40" smtClean="0"/>
              <a:t> </a:t>
            </a:r>
            <a:r>
              <a:rPr lang="en-US" smtClean="0"/>
              <a:t>(7th</a:t>
            </a:r>
            <a:r>
              <a:rPr lang="en-US" spc="-30" smtClean="0"/>
              <a:t> </a:t>
            </a:r>
            <a:r>
              <a:rPr lang="en-US" smtClean="0"/>
              <a:t>edition)</a:t>
            </a:r>
            <a:r>
              <a:rPr lang="en-US" spc="-65" smtClean="0"/>
              <a:t> </a:t>
            </a:r>
            <a:r>
              <a:rPr lang="en-US" smtClean="0"/>
              <a:t>by</a:t>
            </a:r>
            <a:r>
              <a:rPr lang="en-US" spc="-10" smtClean="0"/>
              <a:t> </a:t>
            </a:r>
            <a:r>
              <a:rPr lang="en-US" smtClean="0"/>
              <a:t>Robert</a:t>
            </a:r>
            <a:r>
              <a:rPr lang="en-US" spc="-50" smtClean="0"/>
              <a:t> </a:t>
            </a:r>
            <a:r>
              <a:rPr lang="en-US" smtClean="0"/>
              <a:t>K.</a:t>
            </a:r>
            <a:r>
              <a:rPr lang="en-US" spc="20" smtClean="0"/>
              <a:t> </a:t>
            </a:r>
            <a:r>
              <a:rPr lang="en-US" spc="-10" smtClean="0"/>
              <a:t>Wysocki</a:t>
            </a:r>
            <a:endParaRPr lang="en-US" spc="-1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6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5" smtClean="0"/>
              <a:t> </a:t>
            </a:r>
            <a:r>
              <a:rPr lang="en-US" smtClean="0"/>
              <a:t>mainly</a:t>
            </a:r>
            <a:r>
              <a:rPr lang="en-US" spc="-35" smtClean="0"/>
              <a:t> </a:t>
            </a:r>
            <a:r>
              <a:rPr lang="en-US" smtClean="0"/>
              <a:t>dependent</a:t>
            </a:r>
            <a:r>
              <a:rPr lang="en-US" spc="-75" smtClean="0"/>
              <a:t> </a:t>
            </a:r>
            <a:r>
              <a:rPr lang="en-US" smtClean="0"/>
              <a:t>on</a:t>
            </a:r>
            <a:r>
              <a:rPr lang="en-US" spc="-30" smtClean="0"/>
              <a:t> </a:t>
            </a:r>
            <a:r>
              <a:rPr lang="en-US" smtClean="0"/>
              <a:t>the</a:t>
            </a:r>
            <a:r>
              <a:rPr lang="en-US" spc="-30" smtClean="0"/>
              <a:t> </a:t>
            </a:r>
            <a:r>
              <a:rPr lang="en-US" smtClean="0"/>
              <a:t>textbook:</a:t>
            </a:r>
            <a:r>
              <a:rPr lang="en-US" spc="25" smtClean="0"/>
              <a:t> </a:t>
            </a:r>
            <a:r>
              <a:rPr lang="en-US" smtClean="0"/>
              <a:t>Effective</a:t>
            </a:r>
            <a:r>
              <a:rPr lang="en-US" spc="-30" smtClean="0"/>
              <a:t> </a:t>
            </a:r>
            <a:r>
              <a:rPr lang="en-US" smtClean="0"/>
              <a:t>Project</a:t>
            </a:r>
            <a:r>
              <a:rPr lang="en-US" spc="-10" smtClean="0"/>
              <a:t> </a:t>
            </a:r>
            <a:r>
              <a:rPr lang="en-US" smtClean="0"/>
              <a:t>Management:</a:t>
            </a:r>
            <a:r>
              <a:rPr lang="en-US" spc="5" smtClean="0"/>
              <a:t> </a:t>
            </a:r>
            <a:r>
              <a:rPr lang="en-US" smtClean="0"/>
              <a:t>Traditional,</a:t>
            </a:r>
            <a:r>
              <a:rPr lang="en-US" spc="-85" smtClean="0"/>
              <a:t> </a:t>
            </a:r>
            <a:r>
              <a:rPr lang="en-US" smtClean="0"/>
              <a:t>Agile,</a:t>
            </a:r>
            <a:r>
              <a:rPr lang="en-US" spc="-45" smtClean="0"/>
              <a:t> </a:t>
            </a:r>
            <a:r>
              <a:rPr lang="en-US" smtClean="0"/>
              <a:t>Extreme</a:t>
            </a:r>
            <a:r>
              <a:rPr lang="en-US" spc="40" smtClean="0"/>
              <a:t> </a:t>
            </a:r>
            <a:r>
              <a:rPr lang="en-US" smtClean="0"/>
              <a:t>(7th</a:t>
            </a:r>
            <a:r>
              <a:rPr lang="en-US" spc="-30" smtClean="0"/>
              <a:t> </a:t>
            </a:r>
            <a:r>
              <a:rPr lang="en-US" smtClean="0"/>
              <a:t>edition)</a:t>
            </a:r>
            <a:r>
              <a:rPr lang="en-US" spc="-65" smtClean="0"/>
              <a:t> </a:t>
            </a:r>
            <a:r>
              <a:rPr lang="en-US" smtClean="0"/>
              <a:t>by</a:t>
            </a:r>
            <a:r>
              <a:rPr lang="en-US" spc="-10" smtClean="0"/>
              <a:t> </a:t>
            </a:r>
            <a:r>
              <a:rPr lang="en-US" smtClean="0"/>
              <a:t>Robert</a:t>
            </a:r>
            <a:r>
              <a:rPr lang="en-US" spc="-50" smtClean="0"/>
              <a:t> </a:t>
            </a:r>
            <a:r>
              <a:rPr lang="en-US" smtClean="0"/>
              <a:t>K.</a:t>
            </a:r>
            <a:r>
              <a:rPr lang="en-US" spc="20" smtClean="0"/>
              <a:t> </a:t>
            </a:r>
            <a:r>
              <a:rPr lang="en-US" spc="-10" smtClean="0"/>
              <a:t>Wysocki</a:t>
            </a:r>
            <a:endParaRPr lang="en-US" spc="-1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1" y="1524001"/>
            <a:ext cx="4011084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6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5" smtClean="0"/>
              <a:t> </a:t>
            </a:r>
            <a:r>
              <a:rPr lang="en-US" smtClean="0"/>
              <a:t>mainly</a:t>
            </a:r>
            <a:r>
              <a:rPr lang="en-US" spc="-35" smtClean="0"/>
              <a:t> </a:t>
            </a:r>
            <a:r>
              <a:rPr lang="en-US" smtClean="0"/>
              <a:t>dependent</a:t>
            </a:r>
            <a:r>
              <a:rPr lang="en-US" spc="-75" smtClean="0"/>
              <a:t> </a:t>
            </a:r>
            <a:r>
              <a:rPr lang="en-US" smtClean="0"/>
              <a:t>on</a:t>
            </a:r>
            <a:r>
              <a:rPr lang="en-US" spc="-30" smtClean="0"/>
              <a:t> </a:t>
            </a:r>
            <a:r>
              <a:rPr lang="en-US" smtClean="0"/>
              <a:t>the</a:t>
            </a:r>
            <a:r>
              <a:rPr lang="en-US" spc="-30" smtClean="0"/>
              <a:t> </a:t>
            </a:r>
            <a:r>
              <a:rPr lang="en-US" smtClean="0"/>
              <a:t>textbook:</a:t>
            </a:r>
            <a:r>
              <a:rPr lang="en-US" spc="25" smtClean="0"/>
              <a:t> </a:t>
            </a:r>
            <a:r>
              <a:rPr lang="en-US" smtClean="0"/>
              <a:t>Effective</a:t>
            </a:r>
            <a:r>
              <a:rPr lang="en-US" spc="-30" smtClean="0"/>
              <a:t> </a:t>
            </a:r>
            <a:r>
              <a:rPr lang="en-US" smtClean="0"/>
              <a:t>Project</a:t>
            </a:r>
            <a:r>
              <a:rPr lang="en-US" spc="-10" smtClean="0"/>
              <a:t> </a:t>
            </a:r>
            <a:r>
              <a:rPr lang="en-US" smtClean="0"/>
              <a:t>Management:</a:t>
            </a:r>
            <a:r>
              <a:rPr lang="en-US" spc="5" smtClean="0"/>
              <a:t> </a:t>
            </a:r>
            <a:r>
              <a:rPr lang="en-US" smtClean="0"/>
              <a:t>Traditional,</a:t>
            </a:r>
            <a:r>
              <a:rPr lang="en-US" spc="-85" smtClean="0"/>
              <a:t> </a:t>
            </a:r>
            <a:r>
              <a:rPr lang="en-US" smtClean="0"/>
              <a:t>Agile,</a:t>
            </a:r>
            <a:r>
              <a:rPr lang="en-US" spc="-45" smtClean="0"/>
              <a:t> </a:t>
            </a:r>
            <a:r>
              <a:rPr lang="en-US" smtClean="0"/>
              <a:t>Extreme</a:t>
            </a:r>
            <a:r>
              <a:rPr lang="en-US" spc="40" smtClean="0"/>
              <a:t> </a:t>
            </a:r>
            <a:r>
              <a:rPr lang="en-US" smtClean="0"/>
              <a:t>(7th</a:t>
            </a:r>
            <a:r>
              <a:rPr lang="en-US" spc="-30" smtClean="0"/>
              <a:t> </a:t>
            </a:r>
            <a:r>
              <a:rPr lang="en-US" smtClean="0"/>
              <a:t>edition)</a:t>
            </a:r>
            <a:r>
              <a:rPr lang="en-US" spc="-65" smtClean="0"/>
              <a:t> </a:t>
            </a:r>
            <a:r>
              <a:rPr lang="en-US" smtClean="0"/>
              <a:t>by</a:t>
            </a:r>
            <a:r>
              <a:rPr lang="en-US" spc="-10" smtClean="0"/>
              <a:t> </a:t>
            </a:r>
            <a:r>
              <a:rPr lang="en-US" smtClean="0"/>
              <a:t>Robert</a:t>
            </a:r>
            <a:r>
              <a:rPr lang="en-US" spc="-50" smtClean="0"/>
              <a:t> </a:t>
            </a:r>
            <a:r>
              <a:rPr lang="en-US" smtClean="0"/>
              <a:t>K.</a:t>
            </a:r>
            <a:r>
              <a:rPr lang="en-US" spc="20" smtClean="0"/>
              <a:t> </a:t>
            </a:r>
            <a:r>
              <a:rPr lang="en-US" spc="-10" smtClean="0"/>
              <a:t>Wysocki</a:t>
            </a:r>
            <a:endParaRPr lang="en-US" spc="-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609600"/>
            <a:ext cx="73152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438400" y="1831975"/>
            <a:ext cx="73152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38400" y="1166787"/>
            <a:ext cx="73152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6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5" smtClean="0"/>
              <a:t> </a:t>
            </a:r>
            <a:r>
              <a:rPr lang="en-US" smtClean="0"/>
              <a:t>mainly</a:t>
            </a:r>
            <a:r>
              <a:rPr lang="en-US" spc="-35" smtClean="0"/>
              <a:t> </a:t>
            </a:r>
            <a:r>
              <a:rPr lang="en-US" smtClean="0"/>
              <a:t>dependent</a:t>
            </a:r>
            <a:r>
              <a:rPr lang="en-US" spc="-75" smtClean="0"/>
              <a:t> </a:t>
            </a:r>
            <a:r>
              <a:rPr lang="en-US" smtClean="0"/>
              <a:t>on</a:t>
            </a:r>
            <a:r>
              <a:rPr lang="en-US" spc="-30" smtClean="0"/>
              <a:t> </a:t>
            </a:r>
            <a:r>
              <a:rPr lang="en-US" smtClean="0"/>
              <a:t>the</a:t>
            </a:r>
            <a:r>
              <a:rPr lang="en-US" spc="-30" smtClean="0"/>
              <a:t> </a:t>
            </a:r>
            <a:r>
              <a:rPr lang="en-US" smtClean="0"/>
              <a:t>textbook:</a:t>
            </a:r>
            <a:r>
              <a:rPr lang="en-US" spc="25" smtClean="0"/>
              <a:t> </a:t>
            </a:r>
            <a:r>
              <a:rPr lang="en-US" smtClean="0"/>
              <a:t>Effective</a:t>
            </a:r>
            <a:r>
              <a:rPr lang="en-US" spc="-30" smtClean="0"/>
              <a:t> </a:t>
            </a:r>
            <a:r>
              <a:rPr lang="en-US" smtClean="0"/>
              <a:t>Project</a:t>
            </a:r>
            <a:r>
              <a:rPr lang="en-US" spc="-10" smtClean="0"/>
              <a:t> </a:t>
            </a:r>
            <a:r>
              <a:rPr lang="en-US" smtClean="0"/>
              <a:t>Management:</a:t>
            </a:r>
            <a:r>
              <a:rPr lang="en-US" spc="5" smtClean="0"/>
              <a:t> </a:t>
            </a:r>
            <a:r>
              <a:rPr lang="en-US" smtClean="0"/>
              <a:t>Traditional,</a:t>
            </a:r>
            <a:r>
              <a:rPr lang="en-US" spc="-85" smtClean="0"/>
              <a:t> </a:t>
            </a:r>
            <a:r>
              <a:rPr lang="en-US" smtClean="0"/>
              <a:t>Agile,</a:t>
            </a:r>
            <a:r>
              <a:rPr lang="en-US" spc="-45" smtClean="0"/>
              <a:t> </a:t>
            </a:r>
            <a:r>
              <a:rPr lang="en-US" smtClean="0"/>
              <a:t>Extreme</a:t>
            </a:r>
            <a:r>
              <a:rPr lang="en-US" spc="40" smtClean="0"/>
              <a:t> </a:t>
            </a:r>
            <a:r>
              <a:rPr lang="en-US" smtClean="0"/>
              <a:t>(7th</a:t>
            </a:r>
            <a:r>
              <a:rPr lang="en-US" spc="-30" smtClean="0"/>
              <a:t> </a:t>
            </a:r>
            <a:r>
              <a:rPr lang="en-US" smtClean="0"/>
              <a:t>edition)</a:t>
            </a:r>
            <a:r>
              <a:rPr lang="en-US" spc="-65" smtClean="0"/>
              <a:t> </a:t>
            </a:r>
            <a:r>
              <a:rPr lang="en-US" smtClean="0"/>
              <a:t>by</a:t>
            </a:r>
            <a:r>
              <a:rPr lang="en-US" spc="-10" smtClean="0"/>
              <a:t> </a:t>
            </a:r>
            <a:r>
              <a:rPr lang="en-US" smtClean="0"/>
              <a:t>Robert</a:t>
            </a:r>
            <a:r>
              <a:rPr lang="en-US" spc="-50" smtClean="0"/>
              <a:t> </a:t>
            </a:r>
            <a:r>
              <a:rPr lang="en-US" smtClean="0"/>
              <a:t>K.</a:t>
            </a:r>
            <a:r>
              <a:rPr lang="en-US" spc="20" smtClean="0"/>
              <a:t> </a:t>
            </a:r>
            <a:r>
              <a:rPr lang="en-US" spc="-10" smtClean="0"/>
              <a:t>Wysocki</a:t>
            </a:r>
            <a:endParaRPr lang="en-US" spc="-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6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5" smtClean="0"/>
              <a:t> </a:t>
            </a:r>
            <a:r>
              <a:rPr lang="en-US" smtClean="0"/>
              <a:t>mainly</a:t>
            </a:r>
            <a:r>
              <a:rPr lang="en-US" spc="-35" smtClean="0"/>
              <a:t> </a:t>
            </a:r>
            <a:r>
              <a:rPr lang="en-US" smtClean="0"/>
              <a:t>dependent</a:t>
            </a:r>
            <a:r>
              <a:rPr lang="en-US" spc="-75" smtClean="0"/>
              <a:t> </a:t>
            </a:r>
            <a:r>
              <a:rPr lang="en-US" smtClean="0"/>
              <a:t>on</a:t>
            </a:r>
            <a:r>
              <a:rPr lang="en-US" spc="-30" smtClean="0"/>
              <a:t> </a:t>
            </a:r>
            <a:r>
              <a:rPr lang="en-US" smtClean="0"/>
              <a:t>the</a:t>
            </a:r>
            <a:r>
              <a:rPr lang="en-US" spc="-30" smtClean="0"/>
              <a:t> </a:t>
            </a:r>
            <a:r>
              <a:rPr lang="en-US" smtClean="0"/>
              <a:t>textbook:</a:t>
            </a:r>
            <a:r>
              <a:rPr lang="en-US" spc="25" smtClean="0"/>
              <a:t> </a:t>
            </a:r>
            <a:r>
              <a:rPr lang="en-US" smtClean="0"/>
              <a:t>Effective</a:t>
            </a:r>
            <a:r>
              <a:rPr lang="en-US" spc="-30" smtClean="0"/>
              <a:t> </a:t>
            </a:r>
            <a:r>
              <a:rPr lang="en-US" smtClean="0"/>
              <a:t>Project</a:t>
            </a:r>
            <a:r>
              <a:rPr lang="en-US" spc="-10" smtClean="0"/>
              <a:t> </a:t>
            </a:r>
            <a:r>
              <a:rPr lang="en-US" smtClean="0"/>
              <a:t>Management:</a:t>
            </a:r>
            <a:r>
              <a:rPr lang="en-US" spc="5" smtClean="0"/>
              <a:t> </a:t>
            </a:r>
            <a:r>
              <a:rPr lang="en-US" smtClean="0"/>
              <a:t>Traditional,</a:t>
            </a:r>
            <a:r>
              <a:rPr lang="en-US" spc="-85" smtClean="0"/>
              <a:t> </a:t>
            </a:r>
            <a:r>
              <a:rPr lang="en-US" smtClean="0"/>
              <a:t>Agile,</a:t>
            </a:r>
            <a:r>
              <a:rPr lang="en-US" spc="-45" smtClean="0"/>
              <a:t> </a:t>
            </a:r>
            <a:r>
              <a:rPr lang="en-US" smtClean="0"/>
              <a:t>Extreme</a:t>
            </a:r>
            <a:r>
              <a:rPr lang="en-US" spc="40" smtClean="0"/>
              <a:t> </a:t>
            </a:r>
            <a:r>
              <a:rPr lang="en-US" smtClean="0"/>
              <a:t>(7th</a:t>
            </a:r>
            <a:r>
              <a:rPr lang="en-US" spc="-30" smtClean="0"/>
              <a:t> </a:t>
            </a:r>
            <a:r>
              <a:rPr lang="en-US" smtClean="0"/>
              <a:t>edition)</a:t>
            </a:r>
            <a:r>
              <a:rPr lang="en-US" spc="-65" smtClean="0"/>
              <a:t> </a:t>
            </a:r>
            <a:r>
              <a:rPr lang="en-US" smtClean="0"/>
              <a:t>by</a:t>
            </a:r>
            <a:r>
              <a:rPr lang="en-US" spc="-10" smtClean="0"/>
              <a:t> </a:t>
            </a:r>
            <a:r>
              <a:rPr lang="en-US" smtClean="0"/>
              <a:t>Robert</a:t>
            </a:r>
            <a:r>
              <a:rPr lang="en-US" spc="-50" smtClean="0"/>
              <a:t> </a:t>
            </a:r>
            <a:r>
              <a:rPr lang="en-US" smtClean="0"/>
              <a:t>K.</a:t>
            </a:r>
            <a:r>
              <a:rPr lang="en-US" spc="20" smtClean="0"/>
              <a:t> </a:t>
            </a:r>
            <a:r>
              <a:rPr lang="en-US" spc="-10" smtClean="0"/>
              <a:t>Wysocki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6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5" smtClean="0"/>
              <a:t> </a:t>
            </a:r>
            <a:r>
              <a:rPr lang="en-US" smtClean="0"/>
              <a:t>mainly</a:t>
            </a:r>
            <a:r>
              <a:rPr lang="en-US" spc="-35" smtClean="0"/>
              <a:t> </a:t>
            </a:r>
            <a:r>
              <a:rPr lang="en-US" smtClean="0"/>
              <a:t>dependent</a:t>
            </a:r>
            <a:r>
              <a:rPr lang="en-US" spc="-75" smtClean="0"/>
              <a:t> </a:t>
            </a:r>
            <a:r>
              <a:rPr lang="en-US" smtClean="0"/>
              <a:t>on</a:t>
            </a:r>
            <a:r>
              <a:rPr lang="en-US" spc="-30" smtClean="0"/>
              <a:t> </a:t>
            </a:r>
            <a:r>
              <a:rPr lang="en-US" smtClean="0"/>
              <a:t>the</a:t>
            </a:r>
            <a:r>
              <a:rPr lang="en-US" spc="-30" smtClean="0"/>
              <a:t> </a:t>
            </a:r>
            <a:r>
              <a:rPr lang="en-US" smtClean="0"/>
              <a:t>textbook:</a:t>
            </a:r>
            <a:r>
              <a:rPr lang="en-US" spc="25" smtClean="0"/>
              <a:t> </a:t>
            </a:r>
            <a:r>
              <a:rPr lang="en-US" smtClean="0"/>
              <a:t>Effective</a:t>
            </a:r>
            <a:r>
              <a:rPr lang="en-US" spc="-30" smtClean="0"/>
              <a:t> </a:t>
            </a:r>
            <a:r>
              <a:rPr lang="en-US" smtClean="0"/>
              <a:t>Project</a:t>
            </a:r>
            <a:r>
              <a:rPr lang="en-US" spc="-10" smtClean="0"/>
              <a:t> </a:t>
            </a:r>
            <a:r>
              <a:rPr lang="en-US" smtClean="0"/>
              <a:t>Management:</a:t>
            </a:r>
            <a:r>
              <a:rPr lang="en-US" spc="5" smtClean="0"/>
              <a:t> </a:t>
            </a:r>
            <a:r>
              <a:rPr lang="en-US" smtClean="0"/>
              <a:t>Traditional,</a:t>
            </a:r>
            <a:r>
              <a:rPr lang="en-US" spc="-85" smtClean="0"/>
              <a:t> </a:t>
            </a:r>
            <a:r>
              <a:rPr lang="en-US" smtClean="0"/>
              <a:t>Agile,</a:t>
            </a:r>
            <a:r>
              <a:rPr lang="en-US" spc="-45" smtClean="0"/>
              <a:t> </a:t>
            </a:r>
            <a:r>
              <a:rPr lang="en-US" smtClean="0"/>
              <a:t>Extreme</a:t>
            </a:r>
            <a:r>
              <a:rPr lang="en-US" spc="40" smtClean="0"/>
              <a:t> </a:t>
            </a:r>
            <a:r>
              <a:rPr lang="en-US" smtClean="0"/>
              <a:t>(7th</a:t>
            </a:r>
            <a:r>
              <a:rPr lang="en-US" spc="-30" smtClean="0"/>
              <a:t> </a:t>
            </a:r>
            <a:r>
              <a:rPr lang="en-US" smtClean="0"/>
              <a:t>edition)</a:t>
            </a:r>
            <a:r>
              <a:rPr lang="en-US" spc="-65" smtClean="0"/>
              <a:t> </a:t>
            </a:r>
            <a:r>
              <a:rPr lang="en-US" smtClean="0"/>
              <a:t>by</a:t>
            </a:r>
            <a:r>
              <a:rPr lang="en-US" spc="-10" smtClean="0"/>
              <a:t> </a:t>
            </a:r>
            <a:r>
              <a:rPr lang="en-US" smtClean="0"/>
              <a:t>Robert</a:t>
            </a:r>
            <a:r>
              <a:rPr lang="en-US" spc="-50" smtClean="0"/>
              <a:t> </a:t>
            </a:r>
            <a:r>
              <a:rPr lang="en-US" smtClean="0"/>
              <a:t>K.</a:t>
            </a:r>
            <a:r>
              <a:rPr lang="en-US" spc="20" smtClean="0"/>
              <a:t> </a:t>
            </a:r>
            <a:r>
              <a:rPr lang="en-US" spc="-10" smtClean="0"/>
              <a:t>Wysocki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" y="6416676"/>
            <a:ext cx="28448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165600" y="6416676"/>
            <a:ext cx="38608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6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5" smtClean="0"/>
              <a:t> </a:t>
            </a:r>
            <a:r>
              <a:rPr lang="en-US" smtClean="0"/>
              <a:t>mainly</a:t>
            </a:r>
            <a:r>
              <a:rPr lang="en-US" spc="-35" smtClean="0"/>
              <a:t> </a:t>
            </a:r>
            <a:r>
              <a:rPr lang="en-US" smtClean="0"/>
              <a:t>dependent</a:t>
            </a:r>
            <a:r>
              <a:rPr lang="en-US" spc="-75" smtClean="0"/>
              <a:t> </a:t>
            </a:r>
            <a:r>
              <a:rPr lang="en-US" smtClean="0"/>
              <a:t>on</a:t>
            </a:r>
            <a:r>
              <a:rPr lang="en-US" spc="-30" smtClean="0"/>
              <a:t> </a:t>
            </a:r>
            <a:r>
              <a:rPr lang="en-US" smtClean="0"/>
              <a:t>the</a:t>
            </a:r>
            <a:r>
              <a:rPr lang="en-US" spc="-30" smtClean="0"/>
              <a:t> </a:t>
            </a:r>
            <a:r>
              <a:rPr lang="en-US" smtClean="0"/>
              <a:t>textbook:</a:t>
            </a:r>
            <a:r>
              <a:rPr lang="en-US" spc="25" smtClean="0"/>
              <a:t> </a:t>
            </a:r>
            <a:r>
              <a:rPr lang="en-US" smtClean="0"/>
              <a:t>Effective</a:t>
            </a:r>
            <a:r>
              <a:rPr lang="en-US" spc="-30" smtClean="0"/>
              <a:t> </a:t>
            </a:r>
            <a:r>
              <a:rPr lang="en-US" smtClean="0"/>
              <a:t>Project</a:t>
            </a:r>
            <a:r>
              <a:rPr lang="en-US" spc="-10" smtClean="0"/>
              <a:t> </a:t>
            </a:r>
            <a:r>
              <a:rPr lang="en-US" smtClean="0"/>
              <a:t>Management:</a:t>
            </a:r>
            <a:r>
              <a:rPr lang="en-US" spc="5" smtClean="0"/>
              <a:t> </a:t>
            </a:r>
            <a:r>
              <a:rPr lang="en-US" smtClean="0"/>
              <a:t>Traditional,</a:t>
            </a:r>
            <a:r>
              <a:rPr lang="en-US" spc="-85" smtClean="0"/>
              <a:t> </a:t>
            </a:r>
            <a:r>
              <a:rPr lang="en-US" smtClean="0"/>
              <a:t>Agile,</a:t>
            </a:r>
            <a:r>
              <a:rPr lang="en-US" spc="-45" smtClean="0"/>
              <a:t> </a:t>
            </a:r>
            <a:r>
              <a:rPr lang="en-US" smtClean="0"/>
              <a:t>Extreme</a:t>
            </a:r>
            <a:r>
              <a:rPr lang="en-US" spc="40" smtClean="0"/>
              <a:t> </a:t>
            </a:r>
            <a:r>
              <a:rPr lang="en-US" smtClean="0"/>
              <a:t>(7th</a:t>
            </a:r>
            <a:r>
              <a:rPr lang="en-US" spc="-30" smtClean="0"/>
              <a:t> </a:t>
            </a:r>
            <a:r>
              <a:rPr lang="en-US" smtClean="0"/>
              <a:t>edition)</a:t>
            </a:r>
            <a:r>
              <a:rPr lang="en-US" spc="-65" smtClean="0"/>
              <a:t> </a:t>
            </a:r>
            <a:r>
              <a:rPr lang="en-US" smtClean="0"/>
              <a:t>by</a:t>
            </a:r>
            <a:r>
              <a:rPr lang="en-US" spc="-10" smtClean="0"/>
              <a:t> </a:t>
            </a:r>
            <a:r>
              <a:rPr lang="en-US" smtClean="0"/>
              <a:t>Robert</a:t>
            </a:r>
            <a:r>
              <a:rPr lang="en-US" spc="-50" smtClean="0"/>
              <a:t> </a:t>
            </a:r>
            <a:r>
              <a:rPr lang="en-US" smtClean="0"/>
              <a:t>K.</a:t>
            </a:r>
            <a:r>
              <a:rPr lang="en-US" spc="20" smtClean="0"/>
              <a:t> </a:t>
            </a:r>
            <a:r>
              <a:rPr lang="en-US" spc="-10" smtClean="0"/>
              <a:t>Wysocki</a:t>
            </a:r>
            <a:endParaRPr lang="en-US" spc="-10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0566400" y="6416676"/>
            <a:ext cx="1016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24528" y="2407482"/>
            <a:ext cx="5690871" cy="99642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90"/>
              </a:spcBef>
            </a:pPr>
            <a:r>
              <a:rPr lang="en-US" sz="3200" dirty="0" smtClean="0">
                <a:solidFill>
                  <a:schemeClr val="bg1"/>
                </a:solidFill>
                <a:latin typeface="Arial MT"/>
                <a:cs typeface="Arial MT"/>
              </a:rPr>
              <a:t>Chapter</a:t>
            </a:r>
            <a:r>
              <a:rPr sz="3200" spc="-65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3200" spc="-25" dirty="0" smtClean="0">
                <a:solidFill>
                  <a:schemeClr val="bg1"/>
                </a:solidFill>
                <a:latin typeface="Arial MT"/>
                <a:cs typeface="Arial MT"/>
              </a:rPr>
              <a:t>1</a:t>
            </a:r>
            <a:r>
              <a:rPr lang="en-US" sz="3200" spc="-25" dirty="0">
                <a:solidFill>
                  <a:schemeClr val="bg1"/>
                </a:solidFill>
                <a:latin typeface="Arial MT"/>
                <a:cs typeface="Arial MT"/>
              </a:rPr>
              <a:t>2</a:t>
            </a:r>
            <a:r>
              <a:rPr sz="3200" spc="-25" dirty="0" smtClean="0">
                <a:solidFill>
                  <a:schemeClr val="bg1"/>
                </a:solidFill>
                <a:latin typeface="Arial MT"/>
                <a:cs typeface="Arial MT"/>
              </a:rPr>
              <a:t>:</a:t>
            </a:r>
            <a:endParaRPr sz="3200" dirty="0">
              <a:solidFill>
                <a:schemeClr val="bg1"/>
              </a:solidFill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3200" dirty="0">
                <a:solidFill>
                  <a:schemeClr val="bg1"/>
                </a:solidFill>
                <a:latin typeface="Arial MT"/>
                <a:cs typeface="Arial MT"/>
              </a:rPr>
              <a:t>Multiple</a:t>
            </a:r>
            <a:r>
              <a:rPr sz="3200" spc="-8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chemeClr val="bg1"/>
                </a:solidFill>
                <a:latin typeface="Arial MT"/>
                <a:cs typeface="Arial MT"/>
              </a:rPr>
              <a:t>Teams</a:t>
            </a:r>
            <a:r>
              <a:rPr sz="3200" spc="-5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chemeClr val="bg1"/>
                </a:solidFill>
                <a:latin typeface="Arial MT"/>
                <a:cs typeface="Arial MT"/>
              </a:rPr>
              <a:t>Management</a:t>
            </a:r>
            <a:endParaRPr sz="3200" dirty="0">
              <a:solidFill>
                <a:schemeClr val="bg1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Contents: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932812"/>
            <a:ext cx="7625080" cy="394207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latin typeface="Courier New"/>
                <a:cs typeface="Courier New"/>
              </a:rPr>
              <a:t>What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is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68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Multiple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Team</a:t>
            </a:r>
            <a:r>
              <a:rPr sz="2200" spc="-66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Project?</a:t>
            </a:r>
            <a:endParaRPr sz="22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204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latin typeface="Courier New"/>
                <a:cs typeface="Courier New"/>
              </a:rPr>
              <a:t>Challenges</a:t>
            </a:r>
            <a:r>
              <a:rPr sz="2200" spc="-63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to</a:t>
            </a:r>
            <a:r>
              <a:rPr sz="2200" spc="-62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Managing</a:t>
            </a:r>
            <a:r>
              <a:rPr sz="2200" spc="-62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70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Multiple</a:t>
            </a:r>
            <a:r>
              <a:rPr sz="2200" spc="-6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Team</a:t>
            </a:r>
            <a:r>
              <a:rPr sz="2200" spc="-67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Project.</a:t>
            </a:r>
            <a:endParaRPr sz="22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206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latin typeface="Courier New"/>
                <a:cs typeface="Courier New"/>
              </a:rPr>
              <a:t>Classifying</a:t>
            </a:r>
            <a:r>
              <a:rPr sz="2200" spc="-62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Multiple</a:t>
            </a:r>
            <a:r>
              <a:rPr sz="2200" spc="-61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Team</a:t>
            </a:r>
            <a:r>
              <a:rPr sz="2200" spc="-61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Projects.</a:t>
            </a:r>
            <a:endParaRPr sz="22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206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latin typeface="Courier New"/>
                <a:cs typeface="Courier New"/>
              </a:rPr>
              <a:t>Project</a:t>
            </a:r>
            <a:r>
              <a:rPr sz="2200" spc="-6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Office</a:t>
            </a:r>
            <a:r>
              <a:rPr sz="2200" spc="-61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Structure.</a:t>
            </a:r>
            <a:endParaRPr sz="22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204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latin typeface="Courier New"/>
                <a:cs typeface="Courier New"/>
              </a:rPr>
              <a:t>Core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Team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Structure</a:t>
            </a:r>
            <a:endParaRPr sz="22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206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latin typeface="Courier New"/>
                <a:cs typeface="Courier New"/>
              </a:rPr>
              <a:t>Super</a:t>
            </a:r>
            <a:r>
              <a:rPr sz="2200" spc="-6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Team</a:t>
            </a:r>
            <a:r>
              <a:rPr sz="2200" spc="-6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Structure</a:t>
            </a:r>
            <a:endParaRPr sz="22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206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latin typeface="Courier New"/>
                <a:cs typeface="Courier New"/>
              </a:rPr>
              <a:t>Putting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It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All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Together</a:t>
            </a:r>
            <a:endParaRPr sz="2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Week</a:t>
            </a:r>
            <a:r>
              <a:rPr spc="-1210" dirty="0"/>
              <a:t> </a:t>
            </a:r>
            <a:r>
              <a:rPr spc="-95" dirty="0"/>
              <a:t>14</a:t>
            </a:r>
            <a:r>
              <a:rPr spc="-1280" dirty="0"/>
              <a:t> </a:t>
            </a:r>
            <a:r>
              <a:rPr spc="-10" dirty="0"/>
              <a:t>Learning</a:t>
            </a:r>
            <a:r>
              <a:rPr spc="-1250" dirty="0"/>
              <a:t> </a:t>
            </a:r>
            <a:r>
              <a:rPr spc="-10" dirty="0"/>
              <a:t>Outcome: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966340"/>
            <a:ext cx="10445750" cy="2291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Define</a:t>
            </a:r>
            <a:r>
              <a:rPr sz="2400" spc="-69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multiple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team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(multi-team)</a:t>
            </a:r>
            <a:r>
              <a:rPr sz="2400" spc="-73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situation.</a:t>
            </a:r>
            <a:endParaRPr sz="2400">
              <a:latin typeface="Courier New"/>
              <a:cs typeface="Courier New"/>
            </a:endParaRPr>
          </a:p>
          <a:p>
            <a:pPr marL="240029" indent="-227329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Know</a:t>
            </a:r>
            <a:r>
              <a:rPr sz="2400" spc="-71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different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types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and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complexities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of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multi-</a:t>
            </a:r>
            <a:r>
              <a:rPr sz="2400" spc="-20" dirty="0">
                <a:latin typeface="Courier New"/>
                <a:cs typeface="Courier New"/>
              </a:rPr>
              <a:t>team</a:t>
            </a:r>
            <a:endParaRPr sz="24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1440"/>
              </a:spcBef>
            </a:pPr>
            <a:r>
              <a:rPr sz="2400" spc="-10" dirty="0">
                <a:latin typeface="Courier New"/>
                <a:cs typeface="Courier New"/>
              </a:rPr>
              <a:t>projects.</a:t>
            </a:r>
            <a:endParaRPr sz="2400">
              <a:latin typeface="Courier New"/>
              <a:cs typeface="Courier New"/>
            </a:endParaRPr>
          </a:p>
          <a:p>
            <a:pPr marL="240029" indent="-227329">
              <a:lnSpc>
                <a:spcPct val="100000"/>
              </a:lnSpc>
              <a:spcBef>
                <a:spcPts val="243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Understand</a:t>
            </a:r>
            <a:r>
              <a:rPr sz="2400" spc="-69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3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challenges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presented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by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multi-team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projects.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What</a:t>
            </a:r>
            <a:r>
              <a:rPr spc="-1240" dirty="0"/>
              <a:t> </a:t>
            </a:r>
            <a:r>
              <a:rPr spc="-10" dirty="0"/>
              <a:t>Is</a:t>
            </a:r>
            <a:r>
              <a:rPr spc="-1280" dirty="0"/>
              <a:t> </a:t>
            </a:r>
            <a:r>
              <a:rPr dirty="0"/>
              <a:t>a</a:t>
            </a:r>
            <a:r>
              <a:rPr spc="-1290" dirty="0"/>
              <a:t> </a:t>
            </a:r>
            <a:r>
              <a:rPr spc="-10" dirty="0"/>
              <a:t>Multiple</a:t>
            </a:r>
            <a:r>
              <a:rPr spc="-1300" dirty="0"/>
              <a:t> </a:t>
            </a:r>
            <a:r>
              <a:rPr spc="-10" dirty="0"/>
              <a:t>Team</a:t>
            </a:r>
            <a:r>
              <a:rPr spc="-1275" dirty="0"/>
              <a:t> </a:t>
            </a:r>
            <a:r>
              <a:rPr spc="-10" dirty="0"/>
              <a:t>Project?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83079"/>
            <a:ext cx="3412490" cy="16725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185" dirty="0">
                <a:latin typeface="Courier New"/>
                <a:cs typeface="Courier New"/>
              </a:rPr>
              <a:t>  </a:t>
            </a:r>
            <a:r>
              <a:rPr sz="2400" b="1" dirty="0">
                <a:latin typeface="Courier New"/>
                <a:cs typeface="Courier New"/>
              </a:rPr>
              <a:t>multiple</a:t>
            </a:r>
            <a:r>
              <a:rPr sz="2400" b="1" spc="-165" dirty="0">
                <a:latin typeface="Courier New"/>
                <a:cs typeface="Courier New"/>
              </a:rPr>
              <a:t>  </a:t>
            </a:r>
            <a:r>
              <a:rPr sz="2400" b="1" spc="-20" dirty="0">
                <a:latin typeface="Courier New"/>
                <a:cs typeface="Courier New"/>
              </a:rPr>
              <a:t>team 	</a:t>
            </a:r>
            <a:r>
              <a:rPr sz="2400" dirty="0">
                <a:latin typeface="Courier New"/>
                <a:cs typeface="Courier New"/>
              </a:rPr>
              <a:t>collaboration</a:t>
            </a:r>
            <a:r>
              <a:rPr sz="2400" spc="530" dirty="0">
                <a:latin typeface="Courier New"/>
                <a:cs typeface="Courier New"/>
              </a:rPr>
              <a:t> </a:t>
            </a:r>
            <a:r>
              <a:rPr sz="2400" spc="-55" dirty="0">
                <a:latin typeface="Courier New"/>
                <a:cs typeface="Courier New"/>
              </a:rPr>
              <a:t>and 	</a:t>
            </a:r>
            <a:r>
              <a:rPr sz="2400" spc="-10" dirty="0">
                <a:latin typeface="Courier New"/>
                <a:cs typeface="Courier New"/>
              </a:rPr>
              <a:t>teams.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59985" y="1783079"/>
            <a:ext cx="7311390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3660" marR="5080" indent="-60960">
              <a:lnSpc>
                <a:spcPct val="150100"/>
              </a:lnSpc>
              <a:spcBef>
                <a:spcPts val="100"/>
              </a:spcBef>
            </a:pPr>
            <a:r>
              <a:rPr sz="2400" b="1" dirty="0">
                <a:latin typeface="Courier New"/>
                <a:cs typeface="Courier New"/>
              </a:rPr>
              <a:t>project</a:t>
            </a:r>
            <a:r>
              <a:rPr sz="2400" b="1" spc="-17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is</a:t>
            </a:r>
            <a:r>
              <a:rPr sz="2400" spc="-18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any</a:t>
            </a:r>
            <a:r>
              <a:rPr sz="2400" spc="-18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project</a:t>
            </a:r>
            <a:r>
              <a:rPr sz="2400" spc="-17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that</a:t>
            </a:r>
            <a:r>
              <a:rPr sz="2400" spc="-275" dirty="0">
                <a:latin typeface="Courier New"/>
                <a:cs typeface="Courier New"/>
              </a:rPr>
              <a:t>  </a:t>
            </a:r>
            <a:r>
              <a:rPr sz="2400" spc="-10" dirty="0">
                <a:latin typeface="Courier New"/>
                <a:cs typeface="Courier New"/>
              </a:rPr>
              <a:t>requires </a:t>
            </a:r>
            <a:r>
              <a:rPr sz="2400" dirty="0">
                <a:latin typeface="Courier New"/>
                <a:cs typeface="Courier New"/>
              </a:rPr>
              <a:t>involvement</a:t>
            </a:r>
            <a:r>
              <a:rPr sz="2400" spc="35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of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89621" y="2515361"/>
            <a:ext cx="43764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two</a:t>
            </a:r>
            <a:r>
              <a:rPr sz="2400" spc="3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or</a:t>
            </a:r>
            <a:r>
              <a:rPr sz="2400" spc="3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more</a:t>
            </a:r>
            <a:r>
              <a:rPr sz="2400" spc="43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independent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What</a:t>
            </a:r>
            <a:r>
              <a:rPr spc="-1240" dirty="0"/>
              <a:t> </a:t>
            </a:r>
            <a:r>
              <a:rPr spc="-10" dirty="0"/>
              <a:t>Is</a:t>
            </a:r>
            <a:r>
              <a:rPr spc="-1280" dirty="0"/>
              <a:t> </a:t>
            </a:r>
            <a:r>
              <a:rPr dirty="0"/>
              <a:t>a</a:t>
            </a:r>
            <a:r>
              <a:rPr spc="-1290" dirty="0"/>
              <a:t> </a:t>
            </a:r>
            <a:r>
              <a:rPr spc="-10" dirty="0"/>
              <a:t>Multiple</a:t>
            </a:r>
            <a:r>
              <a:rPr spc="-1300" dirty="0"/>
              <a:t> </a:t>
            </a:r>
            <a:r>
              <a:rPr spc="-10" dirty="0"/>
              <a:t>Team</a:t>
            </a:r>
            <a:r>
              <a:rPr spc="-1275" dirty="0"/>
              <a:t> </a:t>
            </a:r>
            <a:r>
              <a:rPr spc="-10" dirty="0"/>
              <a:t>Project?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71524" y="1783079"/>
            <a:ext cx="3453129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  <a:tab pos="2759075" algn="l"/>
              </a:tabLst>
            </a:pPr>
            <a:r>
              <a:rPr sz="2400" spc="-10" dirty="0">
                <a:latin typeface="Courier New"/>
                <a:cs typeface="Courier New"/>
              </a:rPr>
              <a:t>Definition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of 	</a:t>
            </a:r>
            <a:r>
              <a:rPr sz="2400" spc="-10" dirty="0">
                <a:latin typeface="Courier New"/>
                <a:cs typeface="Courier New"/>
              </a:rPr>
              <a:t>multi-team</a:t>
            </a:r>
            <a:r>
              <a:rPr sz="2400" spc="-6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</a:t>
            </a:r>
            <a:endParaRPr sz="2400">
              <a:latin typeface="Courier New"/>
              <a:cs typeface="Courier New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9212" y="1752600"/>
            <a:ext cx="6876923" cy="442569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670297" y="1966340"/>
            <a:ext cx="208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ourier New"/>
                <a:cs typeface="Courier New"/>
              </a:rPr>
              <a:t>a</a:t>
            </a:r>
            <a:endParaRPr sz="24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Challenges</a:t>
            </a:r>
            <a:r>
              <a:rPr spc="-1230" dirty="0"/>
              <a:t> </a:t>
            </a:r>
            <a:r>
              <a:rPr spc="-10" dirty="0"/>
              <a:t>to</a:t>
            </a:r>
            <a:r>
              <a:rPr spc="-1270" dirty="0"/>
              <a:t> </a:t>
            </a:r>
            <a:r>
              <a:rPr spc="-10" dirty="0"/>
              <a:t>Managing</a:t>
            </a:r>
            <a:r>
              <a:rPr spc="-1300" dirty="0"/>
              <a:t> </a:t>
            </a:r>
            <a:r>
              <a:rPr dirty="0"/>
              <a:t>a</a:t>
            </a:r>
            <a:r>
              <a:rPr spc="-1295" dirty="0"/>
              <a:t> </a:t>
            </a:r>
            <a:r>
              <a:rPr spc="-10" dirty="0"/>
              <a:t>Multiple Team</a:t>
            </a:r>
            <a:r>
              <a:rPr spc="-1225" dirty="0"/>
              <a:t> </a:t>
            </a:r>
            <a:r>
              <a:rPr spc="-10" dirty="0"/>
              <a:t>Project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83079"/>
            <a:ext cx="10903585" cy="2898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8255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When</a:t>
            </a:r>
            <a:r>
              <a:rPr sz="2400" spc="-1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projects</a:t>
            </a:r>
            <a:r>
              <a:rPr sz="2400" spc="-1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involve</a:t>
            </a:r>
            <a:r>
              <a:rPr sz="2400" spc="-1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more</a:t>
            </a:r>
            <a:r>
              <a:rPr sz="2400" spc="-16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than</a:t>
            </a:r>
            <a:r>
              <a:rPr sz="2400" spc="-17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two</a:t>
            </a:r>
            <a:r>
              <a:rPr sz="2400" spc="-1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team,</a:t>
            </a:r>
            <a:r>
              <a:rPr sz="2400" spc="-14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you</a:t>
            </a:r>
            <a:r>
              <a:rPr sz="2400" spc="-1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should</a:t>
            </a:r>
            <a:r>
              <a:rPr sz="2400" spc="-8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expect 	potential</a:t>
            </a:r>
            <a:r>
              <a:rPr sz="2400" spc="-69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conflicts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between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methodologies.</a:t>
            </a:r>
            <a:endParaRPr sz="2400">
              <a:latin typeface="Courier New"/>
              <a:cs typeface="Courier New"/>
            </a:endParaRPr>
          </a:p>
          <a:p>
            <a:pPr marL="240029" marR="5080" indent="-227329" algn="just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Integration</a:t>
            </a:r>
            <a:r>
              <a:rPr sz="2400" spc="-35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of</a:t>
            </a:r>
            <a:r>
              <a:rPr sz="2400" spc="-38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independently</a:t>
            </a:r>
            <a:r>
              <a:rPr sz="2400" spc="-35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developed</a:t>
            </a:r>
            <a:r>
              <a:rPr sz="2400" spc="-35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processes</a:t>
            </a:r>
            <a:r>
              <a:rPr sz="2400" spc="-23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may</a:t>
            </a:r>
            <a:r>
              <a:rPr sz="2400" spc="-360" dirty="0">
                <a:latin typeface="Courier New"/>
                <a:cs typeface="Courier New"/>
              </a:rPr>
              <a:t>  </a:t>
            </a:r>
            <a:r>
              <a:rPr sz="2400" spc="-25" dirty="0">
                <a:latin typeface="Courier New"/>
                <a:cs typeface="Courier New"/>
              </a:rPr>
              <a:t>be 	</a:t>
            </a:r>
            <a:r>
              <a:rPr sz="2400" dirty="0">
                <a:latin typeface="Courier New"/>
                <a:cs typeface="Courier New"/>
              </a:rPr>
              <a:t>simple</a:t>
            </a:r>
            <a:r>
              <a:rPr sz="2400" spc="-2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or</a:t>
            </a:r>
            <a:r>
              <a:rPr sz="2400" spc="-29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might</a:t>
            </a:r>
            <a:r>
              <a:rPr sz="2400" spc="-2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be</a:t>
            </a:r>
            <a:r>
              <a:rPr sz="2400" spc="-204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very</a:t>
            </a:r>
            <a:r>
              <a:rPr sz="2400" spc="-2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complex</a:t>
            </a:r>
            <a:r>
              <a:rPr sz="2400" spc="-2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based</a:t>
            </a:r>
            <a:r>
              <a:rPr sz="2400" spc="-204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on</a:t>
            </a:r>
            <a:r>
              <a:rPr sz="2400" spc="-29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27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maturity</a:t>
            </a:r>
            <a:r>
              <a:rPr sz="2400" spc="-16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of</a:t>
            </a:r>
            <a:r>
              <a:rPr sz="2400" spc="-24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the 	</a:t>
            </a:r>
            <a:r>
              <a:rPr sz="2400" spc="-10" dirty="0">
                <a:latin typeface="Courier New"/>
                <a:cs typeface="Courier New"/>
              </a:rPr>
              <a:t>team</a:t>
            </a:r>
            <a:r>
              <a:rPr sz="2400" spc="-69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processes.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Challenges</a:t>
            </a:r>
            <a:r>
              <a:rPr spc="-1230" dirty="0"/>
              <a:t> </a:t>
            </a:r>
            <a:r>
              <a:rPr spc="-10" dirty="0"/>
              <a:t>to</a:t>
            </a:r>
            <a:r>
              <a:rPr spc="-1270" dirty="0"/>
              <a:t> </a:t>
            </a:r>
            <a:r>
              <a:rPr spc="-10" dirty="0"/>
              <a:t>Managing</a:t>
            </a:r>
            <a:r>
              <a:rPr spc="-1300" dirty="0"/>
              <a:t> </a:t>
            </a:r>
            <a:r>
              <a:rPr dirty="0"/>
              <a:t>a</a:t>
            </a:r>
            <a:r>
              <a:rPr spc="-1295" dirty="0"/>
              <a:t> </a:t>
            </a:r>
            <a:r>
              <a:rPr spc="-10" dirty="0"/>
              <a:t>Multiple Team</a:t>
            </a:r>
            <a:r>
              <a:rPr spc="-1225" dirty="0"/>
              <a:t> </a:t>
            </a:r>
            <a:r>
              <a:rPr spc="-10" dirty="0"/>
              <a:t>Project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83079"/>
            <a:ext cx="10902315" cy="4121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In</a:t>
            </a:r>
            <a:r>
              <a:rPr sz="2400" spc="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presence</a:t>
            </a:r>
            <a:r>
              <a:rPr sz="2400" spc="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of</a:t>
            </a:r>
            <a:r>
              <a:rPr sz="2400" spc="4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multiple</a:t>
            </a:r>
            <a:r>
              <a:rPr sz="2400" spc="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independent</a:t>
            </a:r>
            <a:r>
              <a:rPr sz="2400" spc="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teams,</a:t>
            </a:r>
            <a:r>
              <a:rPr sz="2400" spc="6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1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 	manager</a:t>
            </a:r>
            <a:r>
              <a:rPr sz="2400" spc="-71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seems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to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have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been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managing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multiple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projects.</a:t>
            </a:r>
            <a:endParaRPr sz="2400">
              <a:latin typeface="Courier New"/>
              <a:cs typeface="Courier New"/>
            </a:endParaRPr>
          </a:p>
          <a:p>
            <a:pPr marL="240029" marR="12700" indent="-227329" algn="just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25" dirty="0">
                <a:latin typeface="Courier New"/>
                <a:cs typeface="Courier New"/>
              </a:rPr>
              <a:t>However,</a:t>
            </a:r>
            <a:r>
              <a:rPr sz="2400" spc="-345" dirty="0">
                <a:latin typeface="Courier New"/>
                <a:cs typeface="Courier New"/>
              </a:rPr>
              <a:t> </a:t>
            </a:r>
            <a:r>
              <a:rPr sz="2400" spc="-280" dirty="0">
                <a:latin typeface="Courier New"/>
                <a:cs typeface="Courier New"/>
              </a:rPr>
              <a:t>in</a:t>
            </a:r>
            <a:r>
              <a:rPr sz="2400" spc="-80" dirty="0">
                <a:latin typeface="Courier New"/>
                <a:cs typeface="Courier New"/>
              </a:rPr>
              <a:t> </a:t>
            </a:r>
            <a:r>
              <a:rPr sz="2400" spc="-70" dirty="0">
                <a:latin typeface="Courier New"/>
                <a:cs typeface="Courier New"/>
              </a:rPr>
              <a:t>reality</a:t>
            </a:r>
            <a:r>
              <a:rPr sz="2400" spc="-290" dirty="0">
                <a:latin typeface="Courier New"/>
                <a:cs typeface="Courier New"/>
              </a:rPr>
              <a:t> </a:t>
            </a:r>
            <a:r>
              <a:rPr sz="2400" spc="-280" dirty="0">
                <a:latin typeface="Courier New"/>
                <a:cs typeface="Courier New"/>
              </a:rPr>
              <a:t>it</a:t>
            </a:r>
            <a:r>
              <a:rPr sz="2400" spc="-80" dirty="0">
                <a:latin typeface="Courier New"/>
                <a:cs typeface="Courier New"/>
              </a:rPr>
              <a:t> </a:t>
            </a:r>
            <a:r>
              <a:rPr sz="2400" spc="-305" dirty="0">
                <a:latin typeface="Courier New"/>
                <a:cs typeface="Courier New"/>
              </a:rPr>
              <a:t>is</a:t>
            </a:r>
            <a:r>
              <a:rPr sz="2400" spc="-55" dirty="0">
                <a:latin typeface="Courier New"/>
                <a:cs typeface="Courier New"/>
              </a:rPr>
              <a:t> </a:t>
            </a:r>
            <a:r>
              <a:rPr sz="2400" spc="-175" dirty="0">
                <a:latin typeface="Courier New"/>
                <a:cs typeface="Courier New"/>
              </a:rPr>
              <a:t>not</a:t>
            </a:r>
            <a:r>
              <a:rPr sz="2400" spc="-185" dirty="0">
                <a:latin typeface="Courier New"/>
                <a:cs typeface="Courier New"/>
              </a:rPr>
              <a:t> </a:t>
            </a:r>
            <a:r>
              <a:rPr sz="2400" spc="-130" dirty="0">
                <a:latin typeface="Courier New"/>
                <a:cs typeface="Courier New"/>
              </a:rPr>
              <a:t>true.</a:t>
            </a:r>
            <a:r>
              <a:rPr sz="2400" spc="-229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Everyone</a:t>
            </a:r>
            <a:r>
              <a:rPr sz="2400" spc="-330" dirty="0">
                <a:latin typeface="Courier New"/>
                <a:cs typeface="Courier New"/>
              </a:rPr>
              <a:t> </a:t>
            </a:r>
            <a:r>
              <a:rPr sz="2400" spc="-65" dirty="0">
                <a:latin typeface="Courier New"/>
                <a:cs typeface="Courier New"/>
              </a:rPr>
              <a:t>should</a:t>
            </a:r>
            <a:r>
              <a:rPr sz="2400" spc="-280" dirty="0">
                <a:latin typeface="Courier New"/>
                <a:cs typeface="Courier New"/>
              </a:rPr>
              <a:t> </a:t>
            </a:r>
            <a:r>
              <a:rPr sz="2400" spc="-254" dirty="0">
                <a:latin typeface="Courier New"/>
                <a:cs typeface="Courier New"/>
              </a:rPr>
              <a:t>be</a:t>
            </a:r>
            <a:r>
              <a:rPr sz="2400" spc="-80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clear</a:t>
            </a:r>
            <a:r>
              <a:rPr sz="2400" spc="-8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to 	</a:t>
            </a:r>
            <a:r>
              <a:rPr sz="2400" spc="-10" dirty="0">
                <a:latin typeface="Courier New"/>
                <a:cs typeface="Courier New"/>
              </a:rPr>
              <a:t>everyone</a:t>
            </a:r>
            <a:r>
              <a:rPr sz="2400" spc="-71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that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all</a:t>
            </a:r>
            <a:r>
              <a:rPr sz="2400" spc="-78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teams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are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working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on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single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project.</a:t>
            </a:r>
            <a:endParaRPr sz="2400">
              <a:latin typeface="Courier New"/>
              <a:cs typeface="Courier New"/>
            </a:endParaRPr>
          </a:p>
          <a:p>
            <a:pPr marL="240029" marR="6350" indent="-227329" algn="just">
              <a:lnSpc>
                <a:spcPct val="15000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Every</a:t>
            </a:r>
            <a:r>
              <a:rPr sz="2400" spc="-8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team</a:t>
            </a:r>
            <a:r>
              <a:rPr sz="2400" spc="-1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will</a:t>
            </a:r>
            <a:r>
              <a:rPr sz="2400" spc="-114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have</a:t>
            </a:r>
            <a:r>
              <a:rPr sz="2400" spc="-7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2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separate</a:t>
            </a:r>
            <a:r>
              <a:rPr sz="2400" spc="-9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project</a:t>
            </a:r>
            <a:r>
              <a:rPr sz="2400" spc="-8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manager</a:t>
            </a:r>
            <a:r>
              <a:rPr sz="2400" spc="-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at</a:t>
            </a:r>
            <a:r>
              <a:rPr sz="2400" spc="-3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20" dirty="0">
                <a:latin typeface="Courier New"/>
                <a:cs typeface="Courier New"/>
              </a:rPr>
              <a:t> team 	</a:t>
            </a:r>
            <a:r>
              <a:rPr sz="2400" dirty="0">
                <a:latin typeface="Courier New"/>
                <a:cs typeface="Courier New"/>
              </a:rPr>
              <a:t>level.</a:t>
            </a:r>
            <a:r>
              <a:rPr sz="2400" spc="3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However,</a:t>
            </a:r>
            <a:r>
              <a:rPr sz="2400" spc="1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there</a:t>
            </a:r>
            <a:r>
              <a:rPr sz="2400" spc="37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may</a:t>
            </a:r>
            <a:r>
              <a:rPr sz="2400" spc="30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be</a:t>
            </a:r>
            <a:r>
              <a:rPr sz="2400" spc="27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one</a:t>
            </a:r>
            <a:r>
              <a:rPr sz="2400" spc="47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Project</a:t>
            </a:r>
            <a:r>
              <a:rPr sz="2400" spc="3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Manager</a:t>
            </a:r>
            <a:r>
              <a:rPr sz="2400" spc="56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for</a:t>
            </a:r>
            <a:r>
              <a:rPr sz="2400" spc="32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the 	</a:t>
            </a:r>
            <a:r>
              <a:rPr sz="2400" spc="-10" dirty="0">
                <a:latin typeface="Courier New"/>
                <a:cs typeface="Courier New"/>
              </a:rPr>
              <a:t>overall</a:t>
            </a:r>
            <a:r>
              <a:rPr sz="2400" spc="-69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project.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Challenges</a:t>
            </a:r>
            <a:r>
              <a:rPr spc="-1230" dirty="0"/>
              <a:t> </a:t>
            </a:r>
            <a:r>
              <a:rPr spc="-10" dirty="0"/>
              <a:t>to</a:t>
            </a:r>
            <a:r>
              <a:rPr spc="-1270" dirty="0"/>
              <a:t> </a:t>
            </a:r>
            <a:r>
              <a:rPr spc="-10" dirty="0"/>
              <a:t>Managing</a:t>
            </a:r>
            <a:r>
              <a:rPr spc="-1300" dirty="0"/>
              <a:t> </a:t>
            </a:r>
            <a:r>
              <a:rPr dirty="0"/>
              <a:t>a</a:t>
            </a:r>
            <a:r>
              <a:rPr spc="-1295" dirty="0"/>
              <a:t> </a:t>
            </a:r>
            <a:r>
              <a:rPr spc="-10" dirty="0"/>
              <a:t>Multiple Team</a:t>
            </a:r>
            <a:r>
              <a:rPr spc="-1225" dirty="0"/>
              <a:t> </a:t>
            </a:r>
            <a:r>
              <a:rPr spc="-10" dirty="0"/>
              <a:t>Project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83079"/>
            <a:ext cx="10897235" cy="2898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These</a:t>
            </a:r>
            <a:r>
              <a:rPr sz="2400" spc="30" dirty="0">
                <a:latin typeface="Courier New"/>
                <a:cs typeface="Courier New"/>
              </a:rPr>
              <a:t>  </a:t>
            </a:r>
            <a:r>
              <a:rPr sz="2400" spc="-55" dirty="0">
                <a:latin typeface="Courier New"/>
                <a:cs typeface="Courier New"/>
              </a:rPr>
              <a:t>team-</a:t>
            </a:r>
            <a:r>
              <a:rPr sz="2400" dirty="0">
                <a:latin typeface="Courier New"/>
                <a:cs typeface="Courier New"/>
              </a:rPr>
              <a:t>level</a:t>
            </a:r>
            <a:r>
              <a:rPr sz="2400" spc="12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project</a:t>
            </a:r>
            <a:r>
              <a:rPr sz="2400" spc="2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managers</a:t>
            </a:r>
            <a:r>
              <a:rPr sz="2400" spc="4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are</a:t>
            </a:r>
            <a:r>
              <a:rPr sz="2400" spc="-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responsible</a:t>
            </a:r>
            <a:r>
              <a:rPr sz="2400" spc="70" dirty="0">
                <a:latin typeface="Courier New"/>
                <a:cs typeface="Courier New"/>
              </a:rPr>
              <a:t>  </a:t>
            </a:r>
            <a:r>
              <a:rPr sz="2400" spc="-25" dirty="0">
                <a:latin typeface="Courier New"/>
                <a:cs typeface="Courier New"/>
              </a:rPr>
              <a:t>to 	</a:t>
            </a:r>
            <a:r>
              <a:rPr sz="2400" dirty="0">
                <a:latin typeface="Courier New"/>
                <a:cs typeface="Courier New"/>
              </a:rPr>
              <a:t>establish</a:t>
            </a:r>
            <a:r>
              <a:rPr sz="2400" spc="-24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26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management</a:t>
            </a:r>
            <a:r>
              <a:rPr sz="2400" spc="-23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infrastructure,</a:t>
            </a:r>
            <a:r>
              <a:rPr sz="2400" spc="-23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which</a:t>
            </a:r>
            <a:r>
              <a:rPr sz="2400" spc="-12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will</a:t>
            </a:r>
            <a:r>
              <a:rPr sz="2400" spc="-235" dirty="0">
                <a:latin typeface="Courier New"/>
                <a:cs typeface="Courier New"/>
              </a:rPr>
              <a:t>  </a:t>
            </a:r>
            <a:r>
              <a:rPr sz="2400" spc="-25" dirty="0">
                <a:latin typeface="Courier New"/>
                <a:cs typeface="Courier New"/>
              </a:rPr>
              <a:t>be 	</a:t>
            </a:r>
            <a:r>
              <a:rPr sz="2400" spc="-10" dirty="0">
                <a:latin typeface="Courier New"/>
                <a:cs typeface="Courier New"/>
              </a:rPr>
              <a:t>responsible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for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entire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project.</a:t>
            </a:r>
            <a:endParaRPr sz="2400">
              <a:latin typeface="Courier New"/>
              <a:cs typeface="Courier New"/>
            </a:endParaRPr>
          </a:p>
          <a:p>
            <a:pPr marL="240029" marR="7620" indent="-227329" algn="just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24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lack</a:t>
            </a:r>
            <a:r>
              <a:rPr sz="2400" spc="-27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of</a:t>
            </a:r>
            <a:r>
              <a:rPr sz="2400" spc="-3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resources</a:t>
            </a:r>
            <a:r>
              <a:rPr sz="2400" spc="-2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compel</a:t>
            </a:r>
            <a:r>
              <a:rPr sz="2400" spc="-2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3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number</a:t>
            </a:r>
            <a:r>
              <a:rPr sz="2400" spc="-2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of</a:t>
            </a:r>
            <a:r>
              <a:rPr sz="2400" spc="-3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project</a:t>
            </a:r>
            <a:r>
              <a:rPr sz="2400" spc="-204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managers</a:t>
            </a:r>
            <a:r>
              <a:rPr sz="2400" spc="-18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to 	</a:t>
            </a:r>
            <a:r>
              <a:rPr sz="2400" spc="-10" dirty="0">
                <a:latin typeface="Courier New"/>
                <a:cs typeface="Courier New"/>
              </a:rPr>
              <a:t>manager</a:t>
            </a:r>
            <a:r>
              <a:rPr sz="2400" spc="-69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concurrent,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multiple,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and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dependent</a:t>
            </a:r>
            <a:r>
              <a:rPr sz="2400" spc="-73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projects.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Challenges</a:t>
            </a:r>
            <a:r>
              <a:rPr spc="-1230" dirty="0"/>
              <a:t> </a:t>
            </a:r>
            <a:r>
              <a:rPr spc="-10" dirty="0"/>
              <a:t>to</a:t>
            </a:r>
            <a:r>
              <a:rPr spc="-1270" dirty="0"/>
              <a:t> </a:t>
            </a:r>
            <a:r>
              <a:rPr spc="-10" dirty="0"/>
              <a:t>Managing</a:t>
            </a:r>
            <a:r>
              <a:rPr spc="-1300" dirty="0"/>
              <a:t> </a:t>
            </a:r>
            <a:r>
              <a:rPr dirty="0"/>
              <a:t>a</a:t>
            </a:r>
            <a:r>
              <a:rPr spc="-1295" dirty="0"/>
              <a:t> </a:t>
            </a:r>
            <a:r>
              <a:rPr spc="-10" dirty="0"/>
              <a:t>Multiple Team</a:t>
            </a:r>
            <a:r>
              <a:rPr spc="-1225" dirty="0"/>
              <a:t> </a:t>
            </a:r>
            <a:r>
              <a:rPr spc="-10" dirty="0"/>
              <a:t>Project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805634"/>
            <a:ext cx="9230995" cy="1462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>
              <a:lnSpc>
                <a:spcPct val="1301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ourier New"/>
                <a:cs typeface="Courier New"/>
              </a:rPr>
              <a:t>Working</a:t>
            </a:r>
            <a:r>
              <a:rPr sz="2200" spc="-7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with</a:t>
            </a:r>
            <a:r>
              <a:rPr sz="2200" spc="-8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Teams</a:t>
            </a:r>
            <a:r>
              <a:rPr sz="2200" spc="-6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from</a:t>
            </a:r>
            <a:r>
              <a:rPr sz="2200" spc="-8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different</a:t>
            </a:r>
            <a:r>
              <a:rPr sz="2200" spc="-7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companies</a:t>
            </a:r>
            <a:r>
              <a:rPr sz="2200" spc="-30" dirty="0">
                <a:latin typeface="Courier New"/>
                <a:cs typeface="Courier New"/>
              </a:rPr>
              <a:t>  </a:t>
            </a:r>
            <a:r>
              <a:rPr sz="2200" spc="-35" dirty="0">
                <a:latin typeface="Courier New"/>
                <a:cs typeface="Courier New"/>
              </a:rPr>
              <a:t>(two </a:t>
            </a:r>
            <a:r>
              <a:rPr sz="2200" spc="-10" dirty="0">
                <a:latin typeface="Courier New"/>
                <a:cs typeface="Courier New"/>
              </a:rPr>
              <a:t>organizations)</a:t>
            </a:r>
            <a:endParaRPr sz="2200">
              <a:latin typeface="Courier New"/>
              <a:cs typeface="Courier New"/>
            </a:endParaRPr>
          </a:p>
          <a:p>
            <a:pPr marL="737235" lvl="1" indent="-267970">
              <a:lnSpc>
                <a:spcPct val="100000"/>
              </a:lnSpc>
              <a:spcBef>
                <a:spcPts val="1800"/>
              </a:spcBef>
              <a:buFont typeface="Arial MT"/>
              <a:buChar char="•"/>
              <a:tabLst>
                <a:tab pos="737235" algn="l"/>
              </a:tabLst>
            </a:pPr>
            <a:r>
              <a:rPr sz="2200" spc="-10" dirty="0">
                <a:latin typeface="Courier New"/>
                <a:cs typeface="Courier New"/>
              </a:rPr>
              <a:t>Lead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to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most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complex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type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of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multiple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team</a:t>
            </a:r>
            <a:r>
              <a:rPr sz="2200" spc="-69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projects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438256" y="1905380"/>
            <a:ext cx="1328420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dirty="0">
                <a:latin typeface="Courier New"/>
                <a:cs typeface="Courier New"/>
              </a:rPr>
              <a:t>or</a:t>
            </a:r>
            <a:r>
              <a:rPr sz="2200" spc="-105" dirty="0">
                <a:latin typeface="Courier New"/>
                <a:cs typeface="Courier New"/>
              </a:rPr>
              <a:t>  </a:t>
            </a:r>
            <a:r>
              <a:rPr sz="2200" spc="-30" dirty="0">
                <a:latin typeface="Courier New"/>
                <a:cs typeface="Courier New"/>
              </a:rPr>
              <a:t>more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28674" y="3469335"/>
            <a:ext cx="10434955" cy="3625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80670" indent="-267970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280670" algn="l"/>
              </a:tabLst>
            </a:pPr>
            <a:r>
              <a:rPr sz="2200" dirty="0">
                <a:latin typeface="Courier New"/>
                <a:cs typeface="Courier New"/>
              </a:rPr>
              <a:t>Team</a:t>
            </a:r>
            <a:r>
              <a:rPr sz="2200" spc="-30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from</a:t>
            </a:r>
            <a:r>
              <a:rPr sz="2200" spc="-31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your</a:t>
            </a:r>
            <a:r>
              <a:rPr sz="2200" spc="-31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organization</a:t>
            </a:r>
            <a:r>
              <a:rPr sz="2200" spc="-30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and</a:t>
            </a:r>
            <a:r>
              <a:rPr sz="2200" spc="-33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team</a:t>
            </a:r>
            <a:r>
              <a:rPr sz="2200" spc="-30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from</a:t>
            </a:r>
            <a:r>
              <a:rPr sz="2200" spc="-31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350" dirty="0">
                <a:latin typeface="Courier New"/>
                <a:cs typeface="Courier New"/>
              </a:rPr>
              <a:t>  </a:t>
            </a:r>
            <a:r>
              <a:rPr sz="2200" spc="-10" dirty="0">
                <a:latin typeface="Courier New"/>
                <a:cs typeface="Courier New"/>
              </a:rPr>
              <a:t>contractor’s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28674" y="3905758"/>
            <a:ext cx="2480310" cy="13595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0670">
              <a:lnSpc>
                <a:spcPct val="100000"/>
              </a:lnSpc>
              <a:spcBef>
                <a:spcPts val="105"/>
              </a:spcBef>
            </a:pPr>
            <a:r>
              <a:rPr sz="2200" spc="-10" dirty="0">
                <a:latin typeface="Courier New"/>
                <a:cs typeface="Courier New"/>
              </a:rPr>
              <a:t>organization</a:t>
            </a:r>
            <a:endParaRPr sz="2200">
              <a:latin typeface="Courier New"/>
              <a:cs typeface="Courier New"/>
            </a:endParaRPr>
          </a:p>
          <a:p>
            <a:pPr marL="267970" marR="5080" indent="-267970" algn="r">
              <a:lnSpc>
                <a:spcPct val="100000"/>
              </a:lnSpc>
              <a:spcBef>
                <a:spcPts val="1780"/>
              </a:spcBef>
              <a:buFont typeface="Arial MT"/>
              <a:buChar char="•"/>
              <a:tabLst>
                <a:tab pos="267970" algn="l"/>
              </a:tabLst>
            </a:pPr>
            <a:r>
              <a:rPr sz="2200" spc="-10" dirty="0">
                <a:latin typeface="Courier New"/>
                <a:cs typeface="Courier New"/>
              </a:rPr>
              <a:t>Collaborative</a:t>
            </a:r>
            <a:endParaRPr sz="2200">
              <a:latin typeface="Courier New"/>
              <a:cs typeface="Courier New"/>
            </a:endParaRPr>
          </a:p>
          <a:p>
            <a:pPr marR="12065" algn="r">
              <a:lnSpc>
                <a:spcPct val="100000"/>
              </a:lnSpc>
              <a:spcBef>
                <a:spcPts val="795"/>
              </a:spcBef>
            </a:pPr>
            <a:r>
              <a:rPr sz="2200" spc="-10" dirty="0">
                <a:latin typeface="Courier New"/>
                <a:cs typeface="Courier New"/>
              </a:rPr>
              <a:t>organizations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58436" y="4466971"/>
            <a:ext cx="7503795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640839" algn="l"/>
                <a:tab pos="2765425" algn="l"/>
                <a:tab pos="3740785" algn="l"/>
                <a:tab pos="4509135" algn="l"/>
                <a:tab pos="5640705" algn="l"/>
              </a:tabLst>
            </a:pPr>
            <a:r>
              <a:rPr sz="2200" spc="-10" dirty="0">
                <a:latin typeface="Courier New"/>
                <a:cs typeface="Courier New"/>
              </a:rPr>
              <a:t>efforts</a:t>
            </a:r>
            <a:r>
              <a:rPr sz="2200" dirty="0">
                <a:latin typeface="Courier New"/>
                <a:cs typeface="Courier New"/>
              </a:rPr>
              <a:t>	</a:t>
            </a:r>
            <a:r>
              <a:rPr sz="2200" spc="-20" dirty="0">
                <a:latin typeface="Courier New"/>
                <a:cs typeface="Courier New"/>
              </a:rPr>
              <a:t>from</a:t>
            </a:r>
            <a:r>
              <a:rPr sz="2200" dirty="0">
                <a:latin typeface="Courier New"/>
                <a:cs typeface="Courier New"/>
              </a:rPr>
              <a:t>	</a:t>
            </a:r>
            <a:r>
              <a:rPr sz="2200" spc="-25" dirty="0">
                <a:latin typeface="Courier New"/>
                <a:cs typeface="Courier New"/>
              </a:rPr>
              <a:t>two</a:t>
            </a:r>
            <a:r>
              <a:rPr sz="2200" dirty="0">
                <a:latin typeface="Courier New"/>
                <a:cs typeface="Courier New"/>
              </a:rPr>
              <a:t>	</a:t>
            </a:r>
            <a:r>
              <a:rPr sz="2200" spc="-25" dirty="0">
                <a:latin typeface="Courier New"/>
                <a:cs typeface="Courier New"/>
              </a:rPr>
              <a:t>or</a:t>
            </a:r>
            <a:r>
              <a:rPr sz="2200" dirty="0">
                <a:latin typeface="Courier New"/>
                <a:cs typeface="Courier New"/>
              </a:rPr>
              <a:t>	</a:t>
            </a:r>
            <a:r>
              <a:rPr sz="2200" spc="-20" dirty="0">
                <a:latin typeface="Courier New"/>
                <a:cs typeface="Courier New"/>
              </a:rPr>
              <a:t>more</a:t>
            </a:r>
            <a:r>
              <a:rPr sz="2200" dirty="0">
                <a:latin typeface="Courier New"/>
                <a:cs typeface="Courier New"/>
              </a:rPr>
              <a:t>	</a:t>
            </a:r>
            <a:r>
              <a:rPr sz="2200" spc="-10" dirty="0">
                <a:latin typeface="Courier New"/>
                <a:cs typeface="Courier New"/>
              </a:rPr>
              <a:t>independent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769" y="5366972"/>
            <a:ext cx="11756390" cy="89447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598295" indent="-26797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1598295" algn="l"/>
              </a:tabLst>
            </a:pP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445" dirty="0">
                <a:latin typeface="Courier New"/>
                <a:cs typeface="Courier New"/>
              </a:rPr>
              <a:t> </a:t>
            </a:r>
            <a:r>
              <a:rPr sz="2200" spc="-30" dirty="0">
                <a:latin typeface="Courier New"/>
                <a:cs typeface="Courier New"/>
              </a:rPr>
              <a:t>contractor</a:t>
            </a:r>
            <a:r>
              <a:rPr sz="2200" spc="-434" dirty="0">
                <a:latin typeface="Courier New"/>
                <a:cs typeface="Courier New"/>
              </a:rPr>
              <a:t> </a:t>
            </a:r>
            <a:r>
              <a:rPr sz="2200" spc="-50" dirty="0">
                <a:latin typeface="Courier New"/>
                <a:cs typeface="Courier New"/>
              </a:rPr>
              <a:t>will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try</a:t>
            </a:r>
            <a:r>
              <a:rPr sz="2200" spc="-440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to</a:t>
            </a:r>
            <a:r>
              <a:rPr sz="2200" spc="-535" dirty="0">
                <a:latin typeface="Courier New"/>
                <a:cs typeface="Courier New"/>
              </a:rPr>
              <a:t> </a:t>
            </a:r>
            <a:r>
              <a:rPr sz="2200" spc="-45" dirty="0">
                <a:latin typeface="Courier New"/>
                <a:cs typeface="Courier New"/>
              </a:rPr>
              <a:t>impose</a:t>
            </a:r>
            <a:r>
              <a:rPr sz="2200" spc="-459" dirty="0">
                <a:latin typeface="Courier New"/>
                <a:cs typeface="Courier New"/>
              </a:rPr>
              <a:t> </a:t>
            </a:r>
            <a:r>
              <a:rPr sz="2200" spc="-45" dirty="0">
                <a:latin typeface="Courier New"/>
                <a:cs typeface="Courier New"/>
              </a:rPr>
              <a:t>their</a:t>
            </a:r>
            <a:r>
              <a:rPr sz="2200" spc="-66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processes</a:t>
            </a:r>
            <a:r>
              <a:rPr sz="2200" spc="-434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on</a:t>
            </a:r>
            <a:r>
              <a:rPr sz="2200" spc="-465" dirty="0">
                <a:latin typeface="Courier New"/>
                <a:cs typeface="Courier New"/>
              </a:rPr>
              <a:t> </a:t>
            </a:r>
            <a:r>
              <a:rPr sz="2200" spc="-30" dirty="0">
                <a:latin typeface="Courier New"/>
                <a:cs typeface="Courier New"/>
              </a:rPr>
              <a:t>your</a:t>
            </a:r>
            <a:r>
              <a:rPr sz="2200" spc="-4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leading</a:t>
            </a:r>
            <a:endParaRPr sz="2200" dirty="0">
              <a:latin typeface="Courier New"/>
              <a:cs typeface="Courier New"/>
            </a:endParaRPr>
          </a:p>
          <a:p>
            <a:pPr marL="1598295">
              <a:lnSpc>
                <a:spcPct val="100000"/>
              </a:lnSpc>
              <a:spcBef>
                <a:spcPts val="795"/>
              </a:spcBef>
            </a:pPr>
            <a:r>
              <a:rPr sz="2200" spc="-10" dirty="0">
                <a:latin typeface="Courier New"/>
                <a:cs typeface="Courier New"/>
              </a:rPr>
              <a:t>to</a:t>
            </a:r>
            <a:r>
              <a:rPr sz="2200" spc="-63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conflicting</a:t>
            </a:r>
            <a:r>
              <a:rPr sz="2200" spc="-615" dirty="0">
                <a:latin typeface="Courier New"/>
                <a:cs typeface="Courier New"/>
              </a:rPr>
              <a:t> </a:t>
            </a:r>
            <a:r>
              <a:rPr sz="2200" spc="-10" dirty="0" smtClean="0">
                <a:latin typeface="Courier New"/>
                <a:cs typeface="Courier New"/>
              </a:rPr>
              <a:t>processes</a:t>
            </a:r>
            <a:endParaRPr sz="22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Challenges</a:t>
            </a:r>
            <a:r>
              <a:rPr spc="-1230" dirty="0"/>
              <a:t> </a:t>
            </a:r>
            <a:r>
              <a:rPr spc="-10" dirty="0"/>
              <a:t>to</a:t>
            </a:r>
            <a:r>
              <a:rPr spc="-1270" dirty="0"/>
              <a:t> </a:t>
            </a:r>
            <a:r>
              <a:rPr spc="-10" dirty="0"/>
              <a:t>Managing</a:t>
            </a:r>
            <a:r>
              <a:rPr spc="-1300" dirty="0"/>
              <a:t> </a:t>
            </a:r>
            <a:r>
              <a:rPr dirty="0"/>
              <a:t>a</a:t>
            </a:r>
            <a:r>
              <a:rPr spc="-1295" dirty="0"/>
              <a:t> </a:t>
            </a:r>
            <a:r>
              <a:rPr spc="-10" dirty="0"/>
              <a:t>Multiple Team</a:t>
            </a:r>
            <a:r>
              <a:rPr spc="-1225" dirty="0"/>
              <a:t> </a:t>
            </a:r>
            <a:r>
              <a:rPr spc="-10" dirty="0"/>
              <a:t>Project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966340"/>
            <a:ext cx="9354820" cy="1617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Working</a:t>
            </a:r>
            <a:r>
              <a:rPr sz="2400" spc="-70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with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fiercely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independent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Team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cultures</a:t>
            </a:r>
            <a:endParaRPr sz="240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dirty="0">
                <a:latin typeface="Courier New"/>
                <a:cs typeface="Courier New"/>
              </a:rPr>
              <a:t>More</a:t>
            </a:r>
            <a:r>
              <a:rPr sz="2400" spc="2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mature</a:t>
            </a:r>
            <a:r>
              <a:rPr sz="2400" spc="24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processes</a:t>
            </a:r>
            <a:r>
              <a:rPr sz="2400" spc="26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practiced</a:t>
            </a:r>
            <a:r>
              <a:rPr sz="2400" spc="6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by</a:t>
            </a:r>
            <a:r>
              <a:rPr sz="2400" spc="26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1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team</a:t>
            </a:r>
            <a:r>
              <a:rPr sz="2400" spc="22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will</a:t>
            </a:r>
            <a:endParaRPr sz="2400">
              <a:latin typeface="Courier New"/>
              <a:cs typeface="Courier New"/>
            </a:endParaRPr>
          </a:p>
          <a:p>
            <a:pPr marL="737870">
              <a:lnSpc>
                <a:spcPct val="100000"/>
              </a:lnSpc>
              <a:spcBef>
                <a:spcPts val="1440"/>
              </a:spcBef>
            </a:pPr>
            <a:r>
              <a:rPr sz="2400" spc="-10" dirty="0">
                <a:latin typeface="Courier New"/>
                <a:cs typeface="Courier New"/>
              </a:rPr>
              <a:t>fierce</a:t>
            </a:r>
            <a:r>
              <a:rPr sz="2400" spc="-68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independence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438256" y="2643073"/>
            <a:ext cx="132778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lead</a:t>
            </a:r>
            <a:r>
              <a:rPr sz="2400" spc="300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to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28674" y="3866133"/>
            <a:ext cx="8281670" cy="1068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400" indent="-2667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79400" algn="l"/>
              </a:tabLst>
            </a:pPr>
            <a:r>
              <a:rPr sz="2400" spc="-10" dirty="0">
                <a:latin typeface="Courier New"/>
                <a:cs typeface="Courier New"/>
              </a:rPr>
              <a:t>They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may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have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served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clients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well</a:t>
            </a:r>
            <a:endParaRPr sz="2400">
              <a:latin typeface="Courier New"/>
              <a:cs typeface="Courier New"/>
            </a:endParaRPr>
          </a:p>
          <a:p>
            <a:pPr marL="279400" indent="-26670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279400" algn="l"/>
              </a:tabLst>
            </a:pPr>
            <a:r>
              <a:rPr sz="2400" spc="-10" dirty="0">
                <a:latin typeface="Courier New"/>
                <a:cs typeface="Courier New"/>
              </a:rPr>
              <a:t>It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may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not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work</a:t>
            </a:r>
            <a:r>
              <a:rPr sz="2400" spc="-7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well</a:t>
            </a:r>
            <a:r>
              <a:rPr sz="2400" spc="-78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for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multiple</a:t>
            </a:r>
            <a:r>
              <a:rPr sz="2400" spc="-78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team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projects.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Challenges</a:t>
            </a:r>
            <a:r>
              <a:rPr spc="-1230" dirty="0"/>
              <a:t> </a:t>
            </a:r>
            <a:r>
              <a:rPr spc="-10" dirty="0"/>
              <a:t>to</a:t>
            </a:r>
            <a:r>
              <a:rPr spc="-1270" dirty="0"/>
              <a:t> </a:t>
            </a:r>
            <a:r>
              <a:rPr spc="-10" dirty="0"/>
              <a:t>Managing</a:t>
            </a:r>
            <a:r>
              <a:rPr spc="-1300" dirty="0"/>
              <a:t> </a:t>
            </a:r>
            <a:r>
              <a:rPr dirty="0"/>
              <a:t>a</a:t>
            </a:r>
            <a:r>
              <a:rPr spc="-1295" dirty="0"/>
              <a:t> </a:t>
            </a:r>
            <a:r>
              <a:rPr spc="-10" dirty="0"/>
              <a:t>Multiple Team</a:t>
            </a:r>
            <a:r>
              <a:rPr spc="-1225" dirty="0"/>
              <a:t> </a:t>
            </a:r>
            <a:r>
              <a:rPr spc="-10" dirty="0"/>
              <a:t>Project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69" y="1905380"/>
            <a:ext cx="11756390" cy="452239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01090" indent="-2279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1101090" algn="l"/>
              </a:tabLst>
            </a:pPr>
            <a:r>
              <a:rPr sz="2200" spc="-10" dirty="0">
                <a:latin typeface="Courier New"/>
                <a:cs typeface="Courier New"/>
              </a:rPr>
              <a:t>Working</a:t>
            </a:r>
            <a:r>
              <a:rPr sz="2200" spc="-63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with</a:t>
            </a:r>
            <a:r>
              <a:rPr sz="2200" spc="-6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different</a:t>
            </a:r>
            <a:r>
              <a:rPr sz="2200" spc="-6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Team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processes</a:t>
            </a:r>
            <a:endParaRPr sz="2200" dirty="0">
              <a:latin typeface="Courier New"/>
              <a:cs typeface="Courier New"/>
            </a:endParaRPr>
          </a:p>
          <a:p>
            <a:pPr marL="1598295" lvl="1" indent="-267970">
              <a:lnSpc>
                <a:spcPct val="100000"/>
              </a:lnSpc>
              <a:spcBef>
                <a:spcPts val="1805"/>
              </a:spcBef>
              <a:buFont typeface="Arial MT"/>
              <a:buChar char="•"/>
              <a:tabLst>
                <a:tab pos="1598295" algn="l"/>
              </a:tabLst>
            </a:pPr>
            <a:r>
              <a:rPr sz="2200" dirty="0">
                <a:latin typeface="Courier New"/>
                <a:cs typeface="Courier New"/>
              </a:rPr>
              <a:t>Integration</a:t>
            </a:r>
            <a:r>
              <a:rPr sz="2200" spc="-4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of</a:t>
            </a:r>
            <a:r>
              <a:rPr sz="2200" spc="-9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Processes</a:t>
            </a:r>
            <a:r>
              <a:rPr sz="2200" spc="-3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may</a:t>
            </a:r>
            <a:r>
              <a:rPr sz="2200" spc="-7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be</a:t>
            </a:r>
            <a:r>
              <a:rPr sz="2200" spc="-9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the</a:t>
            </a:r>
            <a:r>
              <a:rPr sz="2200" spc="-27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result</a:t>
            </a:r>
            <a:r>
              <a:rPr sz="2200" spc="-3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of</a:t>
            </a:r>
            <a:r>
              <a:rPr sz="2200" spc="-9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18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multiple</a:t>
            </a:r>
            <a:r>
              <a:rPr sz="2200" spc="2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team</a:t>
            </a:r>
            <a:endParaRPr sz="2200" dirty="0">
              <a:latin typeface="Courier New"/>
              <a:cs typeface="Courier New"/>
            </a:endParaRPr>
          </a:p>
          <a:p>
            <a:pPr marL="1598295">
              <a:lnSpc>
                <a:spcPct val="100000"/>
              </a:lnSpc>
              <a:spcBef>
                <a:spcPts val="790"/>
              </a:spcBef>
            </a:pPr>
            <a:r>
              <a:rPr sz="2200" spc="-10" dirty="0">
                <a:latin typeface="Courier New"/>
                <a:cs typeface="Courier New"/>
              </a:rPr>
              <a:t>project.</a:t>
            </a:r>
            <a:endParaRPr sz="2200" dirty="0">
              <a:latin typeface="Courier New"/>
              <a:cs typeface="Courier New"/>
            </a:endParaRPr>
          </a:p>
          <a:p>
            <a:pPr marL="1598295" lvl="1" indent="-267970">
              <a:lnSpc>
                <a:spcPct val="100000"/>
              </a:lnSpc>
              <a:spcBef>
                <a:spcPts val="1805"/>
              </a:spcBef>
              <a:buFont typeface="Arial MT"/>
              <a:buChar char="•"/>
              <a:tabLst>
                <a:tab pos="1598295" algn="l"/>
              </a:tabLst>
            </a:pPr>
            <a:r>
              <a:rPr sz="2200" spc="-10" dirty="0">
                <a:latin typeface="Courier New"/>
                <a:cs typeface="Courier New"/>
              </a:rPr>
              <a:t>One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process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will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be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established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or</a:t>
            </a:r>
            <a:endParaRPr sz="2200" dirty="0">
              <a:latin typeface="Courier New"/>
              <a:cs typeface="Courier New"/>
            </a:endParaRPr>
          </a:p>
          <a:p>
            <a:pPr marL="1598295" lvl="1" indent="-267970">
              <a:lnSpc>
                <a:spcPct val="100000"/>
              </a:lnSpc>
              <a:spcBef>
                <a:spcPts val="1775"/>
              </a:spcBef>
              <a:buFont typeface="Arial MT"/>
              <a:buChar char="•"/>
              <a:tabLst>
                <a:tab pos="1598295" algn="l"/>
              </a:tabLst>
            </a:pPr>
            <a:r>
              <a:rPr sz="2200" dirty="0">
                <a:latin typeface="Courier New"/>
                <a:cs typeface="Courier New"/>
              </a:rPr>
              <a:t>Establish</a:t>
            </a:r>
            <a:r>
              <a:rPr sz="2200" spc="21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9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process</a:t>
            </a:r>
            <a:r>
              <a:rPr sz="2200" spc="204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that</a:t>
            </a:r>
            <a:r>
              <a:rPr sz="2200" spc="204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will</a:t>
            </a:r>
            <a:r>
              <a:rPr sz="2200" spc="21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combine</a:t>
            </a:r>
            <a:r>
              <a:rPr sz="2200" spc="20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the</a:t>
            </a:r>
            <a:r>
              <a:rPr sz="2200" spc="18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deliverables</a:t>
            </a:r>
            <a:r>
              <a:rPr sz="2200" spc="44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from</a:t>
            </a:r>
            <a:endParaRPr sz="2200" dirty="0">
              <a:latin typeface="Courier New"/>
              <a:cs typeface="Courier New"/>
            </a:endParaRPr>
          </a:p>
          <a:p>
            <a:pPr marL="1598295">
              <a:lnSpc>
                <a:spcPct val="100000"/>
              </a:lnSpc>
              <a:spcBef>
                <a:spcPts val="795"/>
              </a:spcBef>
            </a:pPr>
            <a:r>
              <a:rPr sz="2200" spc="-10" dirty="0">
                <a:latin typeface="Courier New"/>
                <a:cs typeface="Courier New"/>
              </a:rPr>
              <a:t>several</a:t>
            </a:r>
            <a:r>
              <a:rPr sz="2200" spc="-61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processes.</a:t>
            </a:r>
            <a:endParaRPr sz="2200" dirty="0">
              <a:latin typeface="Courier New"/>
              <a:cs typeface="Courier New"/>
            </a:endParaRPr>
          </a:p>
          <a:p>
            <a:pPr marL="1598295" lvl="1" indent="-267970">
              <a:lnSpc>
                <a:spcPct val="100000"/>
              </a:lnSpc>
              <a:spcBef>
                <a:spcPts val="1805"/>
              </a:spcBef>
              <a:buFont typeface="Arial MT"/>
              <a:buChar char="•"/>
              <a:tabLst>
                <a:tab pos="1598295" algn="l"/>
              </a:tabLst>
            </a:pPr>
            <a:r>
              <a:rPr sz="2200" dirty="0">
                <a:latin typeface="Courier New"/>
                <a:cs typeface="Courier New"/>
              </a:rPr>
              <a:t>Integration</a:t>
            </a:r>
            <a:r>
              <a:rPr sz="2200" spc="-34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of</a:t>
            </a:r>
            <a:r>
              <a:rPr sz="2200" spc="-38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Human</a:t>
            </a:r>
            <a:r>
              <a:rPr sz="2200" spc="-34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Resource</a:t>
            </a:r>
            <a:r>
              <a:rPr sz="2200" spc="-36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Management</a:t>
            </a:r>
            <a:r>
              <a:rPr sz="2200" spc="-34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may</a:t>
            </a:r>
            <a:r>
              <a:rPr sz="2200" spc="-35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rise</a:t>
            </a:r>
            <a:r>
              <a:rPr sz="2200" spc="-340" dirty="0">
                <a:latin typeface="Courier New"/>
                <a:cs typeface="Courier New"/>
              </a:rPr>
              <a:t>  </a:t>
            </a:r>
            <a:r>
              <a:rPr sz="2200" spc="-10" dirty="0">
                <a:latin typeface="Courier New"/>
                <a:cs typeface="Courier New"/>
              </a:rPr>
              <a:t>another</a:t>
            </a:r>
            <a:endParaRPr sz="2200" dirty="0">
              <a:latin typeface="Courier New"/>
              <a:cs typeface="Courier New"/>
            </a:endParaRPr>
          </a:p>
          <a:p>
            <a:pPr marL="1598295">
              <a:lnSpc>
                <a:spcPct val="100000"/>
              </a:lnSpc>
              <a:spcBef>
                <a:spcPts val="790"/>
              </a:spcBef>
            </a:pPr>
            <a:r>
              <a:rPr sz="2200" spc="-10" dirty="0">
                <a:latin typeface="Courier New"/>
                <a:cs typeface="Courier New"/>
              </a:rPr>
              <a:t>concern.</a:t>
            </a:r>
            <a:endParaRPr sz="2200" dirty="0">
              <a:latin typeface="Courier New"/>
              <a:cs typeface="Courier New"/>
            </a:endParaRPr>
          </a:p>
          <a:p>
            <a:pPr marL="2107565" lvl="2" indent="-320040">
              <a:lnSpc>
                <a:spcPct val="100000"/>
              </a:lnSpc>
              <a:spcBef>
                <a:spcPts val="1805"/>
              </a:spcBef>
              <a:buFont typeface="Arial MT"/>
              <a:buChar char="•"/>
              <a:tabLst>
                <a:tab pos="2107565" algn="l"/>
              </a:tabLst>
            </a:pP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325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entire</a:t>
            </a:r>
            <a:r>
              <a:rPr sz="2200" spc="-375" dirty="0">
                <a:latin typeface="Courier New"/>
                <a:cs typeface="Courier New"/>
              </a:rPr>
              <a:t> </a:t>
            </a:r>
            <a:r>
              <a:rPr sz="2200" spc="-35" dirty="0">
                <a:latin typeface="Courier New"/>
                <a:cs typeface="Courier New"/>
              </a:rPr>
              <a:t>project</a:t>
            </a:r>
            <a:r>
              <a:rPr sz="2200" spc="-5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team</a:t>
            </a:r>
            <a:r>
              <a:rPr sz="2200" spc="-325" dirty="0">
                <a:latin typeface="Courier New"/>
                <a:cs typeface="Courier New"/>
              </a:rPr>
              <a:t> </a:t>
            </a:r>
            <a:r>
              <a:rPr sz="2200" spc="-50" dirty="0">
                <a:latin typeface="Courier New"/>
                <a:cs typeface="Courier New"/>
              </a:rPr>
              <a:t>will</a:t>
            </a:r>
            <a:r>
              <a:rPr sz="2200" spc="-370" dirty="0">
                <a:latin typeface="Courier New"/>
                <a:cs typeface="Courier New"/>
              </a:rPr>
              <a:t> </a:t>
            </a:r>
            <a:r>
              <a:rPr sz="2200" spc="-50" dirty="0">
                <a:latin typeface="Courier New"/>
                <a:cs typeface="Courier New"/>
              </a:rPr>
              <a:t>be</a:t>
            </a:r>
            <a:r>
              <a:rPr sz="2200" spc="-420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managed</a:t>
            </a:r>
            <a:r>
              <a:rPr sz="2200" spc="-345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as</a:t>
            </a:r>
            <a:r>
              <a:rPr sz="2200" spc="-42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515" dirty="0">
                <a:latin typeface="Courier New"/>
                <a:cs typeface="Courier New"/>
              </a:rPr>
              <a:t> </a:t>
            </a:r>
            <a:r>
              <a:rPr sz="2200" spc="-45" dirty="0">
                <a:latin typeface="Courier New"/>
                <a:cs typeface="Courier New"/>
              </a:rPr>
              <a:t>single</a:t>
            </a:r>
            <a:r>
              <a:rPr sz="2200" spc="-310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team</a:t>
            </a:r>
            <a:r>
              <a:rPr sz="2200" spc="-320" dirty="0">
                <a:latin typeface="Courier New"/>
                <a:cs typeface="Courier New"/>
              </a:rPr>
              <a:t> </a:t>
            </a:r>
            <a:r>
              <a:rPr sz="2200" spc="-90" dirty="0">
                <a:latin typeface="Courier New"/>
                <a:cs typeface="Courier New"/>
              </a:rPr>
              <a:t>or</a:t>
            </a:r>
            <a:r>
              <a:rPr sz="2200" spc="-295" dirty="0">
                <a:latin typeface="Courier New"/>
                <a:cs typeface="Courier New"/>
              </a:rPr>
              <a:t> </a:t>
            </a:r>
            <a:r>
              <a:rPr sz="2200" spc="-25" dirty="0" smtClean="0">
                <a:latin typeface="Courier New"/>
                <a:cs typeface="Courier New"/>
              </a:rPr>
              <a:t>as</a:t>
            </a:r>
            <a:endParaRPr sz="22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Challenges</a:t>
            </a:r>
            <a:r>
              <a:rPr spc="-1230" dirty="0"/>
              <a:t> </a:t>
            </a:r>
            <a:r>
              <a:rPr spc="-10" dirty="0"/>
              <a:t>to</a:t>
            </a:r>
            <a:r>
              <a:rPr spc="-1270" dirty="0"/>
              <a:t> </a:t>
            </a:r>
            <a:r>
              <a:rPr spc="-10" dirty="0"/>
              <a:t>Managing</a:t>
            </a:r>
            <a:r>
              <a:rPr spc="-1300" dirty="0"/>
              <a:t> </a:t>
            </a:r>
            <a:r>
              <a:rPr dirty="0"/>
              <a:t>a</a:t>
            </a:r>
            <a:r>
              <a:rPr spc="-1295" dirty="0"/>
              <a:t> </a:t>
            </a:r>
            <a:r>
              <a:rPr spc="-10" dirty="0"/>
              <a:t>Multiple Team</a:t>
            </a:r>
            <a:r>
              <a:rPr spc="-1225" dirty="0"/>
              <a:t> </a:t>
            </a:r>
            <a:r>
              <a:rPr spc="-10" dirty="0"/>
              <a:t>Project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609600" y="1600200"/>
            <a:ext cx="10972800" cy="3165354"/>
          </a:xfrm>
          <a:prstGeom prst="rect">
            <a:avLst/>
          </a:prstGeom>
        </p:spPr>
        <p:txBody>
          <a:bodyPr vert="horz" wrap="square" lIns="0" tIns="195961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pc="-10" dirty="0">
                <a:solidFill>
                  <a:schemeClr val="bg1"/>
                </a:solidFill>
              </a:rPr>
              <a:t>Accommodating</a:t>
            </a:r>
            <a:r>
              <a:rPr spc="-70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competing</a:t>
            </a:r>
            <a:r>
              <a:rPr spc="-72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priorities</a:t>
            </a:r>
          </a:p>
          <a:p>
            <a:pPr marL="735965" lvl="1" indent="-26670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Team</a:t>
            </a:r>
            <a:r>
              <a:rPr sz="2400" spc="-34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35" dirty="0">
                <a:solidFill>
                  <a:schemeClr val="bg1"/>
                </a:solidFill>
                <a:latin typeface="Courier New"/>
                <a:cs typeface="Courier New"/>
              </a:rPr>
              <a:t>members</a:t>
            </a:r>
            <a:r>
              <a:rPr sz="2400" spc="-32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35" dirty="0">
                <a:solidFill>
                  <a:schemeClr val="bg1"/>
                </a:solidFill>
                <a:latin typeface="Courier New"/>
                <a:cs typeface="Courier New"/>
              </a:rPr>
              <a:t>usually</a:t>
            </a:r>
            <a:r>
              <a:rPr sz="2400" spc="-30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50" dirty="0">
                <a:solidFill>
                  <a:schemeClr val="bg1"/>
                </a:solidFill>
                <a:latin typeface="Courier New"/>
                <a:cs typeface="Courier New"/>
              </a:rPr>
              <a:t>give</a:t>
            </a:r>
            <a:r>
              <a:rPr sz="2400" spc="-31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40" dirty="0">
                <a:solidFill>
                  <a:schemeClr val="bg1"/>
                </a:solidFill>
                <a:latin typeface="Courier New"/>
                <a:cs typeface="Courier New"/>
              </a:rPr>
              <a:t>priority</a:t>
            </a:r>
            <a:r>
              <a:rPr sz="2400" spc="-50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to</a:t>
            </a:r>
            <a:r>
              <a:rPr sz="2400" spc="-30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30" dirty="0">
                <a:solidFill>
                  <a:schemeClr val="bg1"/>
                </a:solidFill>
                <a:latin typeface="Courier New"/>
                <a:cs typeface="Courier New"/>
              </a:rPr>
              <a:t>their</a:t>
            </a:r>
            <a:r>
              <a:rPr sz="2400" spc="-27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clients</a:t>
            </a:r>
            <a:r>
              <a:rPr sz="2400" spc="-25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rather</a:t>
            </a:r>
            <a:endParaRPr sz="24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737870">
              <a:lnSpc>
                <a:spcPct val="100000"/>
              </a:lnSpc>
              <a:spcBef>
                <a:spcPts val="1440"/>
              </a:spcBef>
            </a:pPr>
            <a:r>
              <a:rPr spc="-10" dirty="0">
                <a:solidFill>
                  <a:schemeClr val="bg1"/>
                </a:solidFill>
              </a:rPr>
              <a:t>than</a:t>
            </a:r>
            <a:r>
              <a:rPr spc="-71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to</a:t>
            </a:r>
            <a:r>
              <a:rPr spc="-75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the</a:t>
            </a:r>
            <a:r>
              <a:rPr spc="-75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multi-team</a:t>
            </a:r>
            <a:r>
              <a:rPr spc="-77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project.</a:t>
            </a:r>
          </a:p>
          <a:p>
            <a:pPr marL="735965" marR="5080" lvl="1" indent="-266700">
              <a:lnSpc>
                <a:spcPct val="150100"/>
              </a:lnSpc>
              <a:spcBef>
                <a:spcPts val="985"/>
              </a:spcBef>
              <a:buFont typeface="Arial MT"/>
              <a:buChar char="•"/>
              <a:tabLst>
                <a:tab pos="737870" algn="l"/>
              </a:tabLst>
            </a:pP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Balancing</a:t>
            </a:r>
            <a:r>
              <a:rPr sz="2400" spc="-29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these</a:t>
            </a:r>
            <a:r>
              <a:rPr sz="2400" spc="-29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competing</a:t>
            </a:r>
            <a:r>
              <a:rPr sz="2400" spc="-27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and</a:t>
            </a:r>
            <a:r>
              <a:rPr sz="2400" spc="-32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conflicting</a:t>
            </a:r>
            <a:r>
              <a:rPr sz="2400" spc="-27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priorities</a:t>
            </a:r>
            <a:r>
              <a:rPr sz="2400" spc="-23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is</a:t>
            </a:r>
            <a:r>
              <a:rPr sz="2400" spc="-29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50" dirty="0">
                <a:solidFill>
                  <a:schemeClr val="bg1"/>
                </a:solidFill>
                <a:latin typeface="Courier New"/>
                <a:cs typeface="Courier New"/>
              </a:rPr>
              <a:t>a 	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challenging</a:t>
            </a:r>
            <a:r>
              <a:rPr sz="2400" spc="-69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task.</a:t>
            </a:r>
            <a:endParaRPr sz="2400" dirty="0">
              <a:solidFill>
                <a:schemeClr val="bg1"/>
              </a:solidFill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Challenges</a:t>
            </a:r>
            <a:r>
              <a:rPr spc="-1230" dirty="0"/>
              <a:t> </a:t>
            </a:r>
            <a:r>
              <a:rPr spc="-10" dirty="0"/>
              <a:t>to</a:t>
            </a:r>
            <a:r>
              <a:rPr spc="-1270" dirty="0"/>
              <a:t> </a:t>
            </a:r>
            <a:r>
              <a:rPr spc="-10" dirty="0"/>
              <a:t>Managing</a:t>
            </a:r>
            <a:r>
              <a:rPr spc="-1300" dirty="0"/>
              <a:t> </a:t>
            </a:r>
            <a:r>
              <a:rPr dirty="0"/>
              <a:t>a</a:t>
            </a:r>
            <a:r>
              <a:rPr spc="-1295" dirty="0"/>
              <a:t> </a:t>
            </a:r>
            <a:r>
              <a:rPr spc="-10" dirty="0"/>
              <a:t>Multiple Team</a:t>
            </a:r>
            <a:r>
              <a:rPr spc="-1225" dirty="0"/>
              <a:t> </a:t>
            </a:r>
            <a:r>
              <a:rPr spc="-10" dirty="0"/>
              <a:t>Project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966340"/>
            <a:ext cx="10895965" cy="284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Communicating</a:t>
            </a:r>
            <a:r>
              <a:rPr sz="2400" spc="-72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within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Team</a:t>
            </a:r>
            <a:r>
              <a:rPr sz="2400" spc="-73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structure</a:t>
            </a:r>
            <a:endParaRPr sz="240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430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importance</a:t>
            </a:r>
            <a:r>
              <a:rPr sz="2400" spc="-450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of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communication</a:t>
            </a:r>
            <a:r>
              <a:rPr sz="2400" spc="-445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is</a:t>
            </a:r>
            <a:r>
              <a:rPr sz="2400" spc="-525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determined</a:t>
            </a:r>
            <a:r>
              <a:rPr sz="2400" spc="-425" dirty="0">
                <a:latin typeface="Courier New"/>
                <a:cs typeface="Courier New"/>
              </a:rPr>
              <a:t> </a:t>
            </a:r>
            <a:r>
              <a:rPr sz="2400" spc="-45" dirty="0">
                <a:latin typeface="Courier New"/>
                <a:cs typeface="Courier New"/>
              </a:rPr>
              <a:t>by</a:t>
            </a:r>
            <a:r>
              <a:rPr sz="2400" spc="-475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the</a:t>
            </a:r>
            <a:r>
              <a:rPr sz="2400" spc="-41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extent</a:t>
            </a:r>
            <a:endParaRPr sz="2400">
              <a:latin typeface="Courier New"/>
              <a:cs typeface="Courier New"/>
            </a:endParaRPr>
          </a:p>
          <a:p>
            <a:pPr marL="737870">
              <a:lnSpc>
                <a:spcPct val="100000"/>
              </a:lnSpc>
              <a:spcBef>
                <a:spcPts val="1440"/>
              </a:spcBef>
            </a:pPr>
            <a:r>
              <a:rPr sz="2400" spc="-10" dirty="0">
                <a:latin typeface="Courier New"/>
                <a:cs typeface="Courier New"/>
              </a:rPr>
              <a:t>of</a:t>
            </a:r>
            <a:r>
              <a:rPr sz="2400" spc="-70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integrating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multiple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teams.</a:t>
            </a:r>
            <a:endParaRPr sz="2400">
              <a:latin typeface="Courier New"/>
              <a:cs typeface="Courier New"/>
            </a:endParaRPr>
          </a:p>
          <a:p>
            <a:pPr marL="735965" marR="6350" lvl="1" indent="-266700">
              <a:lnSpc>
                <a:spcPct val="150100"/>
              </a:lnSpc>
              <a:spcBef>
                <a:spcPts val="985"/>
              </a:spcBef>
              <a:buFont typeface="Arial MT"/>
              <a:buChar char="•"/>
              <a:tabLst>
                <a:tab pos="737870" algn="l"/>
              </a:tabLst>
            </a:pP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more</a:t>
            </a:r>
            <a:r>
              <a:rPr sz="2400" spc="-7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layer</a:t>
            </a:r>
            <a:r>
              <a:rPr sz="2400" spc="-4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of</a:t>
            </a:r>
            <a:r>
              <a:rPr sz="2400" spc="4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communications,</a:t>
            </a:r>
            <a:r>
              <a:rPr sz="2400" spc="-2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more</a:t>
            </a:r>
            <a:r>
              <a:rPr sz="2400" spc="-6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will</a:t>
            </a:r>
            <a:r>
              <a:rPr sz="2400" spc="-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there</a:t>
            </a:r>
            <a:r>
              <a:rPr sz="2400" spc="3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be 	</a:t>
            </a:r>
            <a:r>
              <a:rPr sz="2400" spc="-10" dirty="0">
                <a:latin typeface="Courier New"/>
                <a:cs typeface="Courier New"/>
              </a:rPr>
              <a:t>problems.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Challenges</a:t>
            </a:r>
            <a:r>
              <a:rPr spc="-1230" dirty="0"/>
              <a:t> </a:t>
            </a:r>
            <a:r>
              <a:rPr spc="-10" dirty="0"/>
              <a:t>to</a:t>
            </a:r>
            <a:r>
              <a:rPr spc="-1270" dirty="0"/>
              <a:t> </a:t>
            </a:r>
            <a:r>
              <a:rPr spc="-10" dirty="0"/>
              <a:t>Managing</a:t>
            </a:r>
            <a:r>
              <a:rPr spc="-1300" dirty="0"/>
              <a:t> </a:t>
            </a:r>
            <a:r>
              <a:rPr dirty="0"/>
              <a:t>a</a:t>
            </a:r>
            <a:r>
              <a:rPr spc="-1295" dirty="0"/>
              <a:t> </a:t>
            </a:r>
            <a:r>
              <a:rPr spc="-10" dirty="0"/>
              <a:t>Multiple Team</a:t>
            </a:r>
            <a:r>
              <a:rPr spc="-1225" dirty="0"/>
              <a:t> </a:t>
            </a:r>
            <a:r>
              <a:rPr spc="-10" dirty="0"/>
              <a:t>Project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966340"/>
            <a:ext cx="9231630" cy="1617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Establishing</a:t>
            </a:r>
            <a:r>
              <a:rPr sz="2400" spc="-7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Management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Structure</a:t>
            </a:r>
            <a:endParaRPr sz="240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latin typeface="Courier New"/>
                <a:cs typeface="Courier New"/>
              </a:rPr>
              <a:t>Multi-</a:t>
            </a:r>
            <a:r>
              <a:rPr sz="2400" dirty="0">
                <a:latin typeface="Courier New"/>
                <a:cs typeface="Courier New"/>
              </a:rPr>
              <a:t>team</a:t>
            </a:r>
            <a:r>
              <a:rPr sz="2400" spc="-38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projects</a:t>
            </a:r>
            <a:r>
              <a:rPr sz="2400" spc="-37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are</a:t>
            </a:r>
            <a:r>
              <a:rPr sz="2400" spc="-40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complex</a:t>
            </a:r>
            <a:r>
              <a:rPr sz="2400" spc="-29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and</a:t>
            </a:r>
            <a:r>
              <a:rPr sz="2400" spc="-415" dirty="0">
                <a:latin typeface="Courier New"/>
                <a:cs typeface="Courier New"/>
              </a:rPr>
              <a:t>  </a:t>
            </a:r>
            <a:r>
              <a:rPr sz="2400" spc="-10" dirty="0">
                <a:latin typeface="Courier New"/>
                <a:cs typeface="Courier New"/>
              </a:rPr>
              <a:t>managing</a:t>
            </a:r>
            <a:endParaRPr sz="2400">
              <a:latin typeface="Courier New"/>
              <a:cs typeface="Courier New"/>
            </a:endParaRPr>
          </a:p>
          <a:p>
            <a:pPr marL="737870">
              <a:lnSpc>
                <a:spcPct val="100000"/>
              </a:lnSpc>
              <a:spcBef>
                <a:spcPts val="1440"/>
              </a:spcBef>
            </a:pPr>
            <a:r>
              <a:rPr sz="2400" spc="-10" dirty="0">
                <a:latin typeface="Courier New"/>
                <a:cs typeface="Courier New"/>
              </a:rPr>
              <a:t>challenging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380344" y="2643073"/>
            <a:ext cx="13887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them</a:t>
            </a:r>
            <a:r>
              <a:rPr sz="2400" spc="-335" dirty="0">
                <a:latin typeface="Courier New"/>
                <a:cs typeface="Courier New"/>
              </a:rPr>
              <a:t>  </a:t>
            </a:r>
            <a:r>
              <a:rPr sz="2400" spc="-35" dirty="0">
                <a:latin typeface="Courier New"/>
                <a:cs typeface="Courier New"/>
              </a:rPr>
              <a:t>is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28674" y="3682872"/>
            <a:ext cx="10397490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8765" marR="5080" indent="-266700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80670" algn="l"/>
              </a:tabLst>
            </a:pPr>
            <a:r>
              <a:rPr sz="2400" dirty="0">
                <a:latin typeface="Courier New"/>
                <a:cs typeface="Courier New"/>
              </a:rPr>
              <a:t>Team</a:t>
            </a:r>
            <a:r>
              <a:rPr sz="2400" spc="-325" dirty="0">
                <a:latin typeface="Courier New"/>
                <a:cs typeface="Courier New"/>
              </a:rPr>
              <a:t> </a:t>
            </a:r>
            <a:r>
              <a:rPr sz="2400" spc="-30" dirty="0">
                <a:latin typeface="Courier New"/>
                <a:cs typeface="Courier New"/>
              </a:rPr>
              <a:t>structure</a:t>
            </a:r>
            <a:r>
              <a:rPr sz="2400" spc="-350" dirty="0">
                <a:latin typeface="Courier New"/>
                <a:cs typeface="Courier New"/>
              </a:rPr>
              <a:t> </a:t>
            </a:r>
            <a:r>
              <a:rPr sz="2400" spc="-45" dirty="0">
                <a:latin typeface="Courier New"/>
                <a:cs typeface="Courier New"/>
              </a:rPr>
              <a:t>should</a:t>
            </a:r>
            <a:r>
              <a:rPr sz="2400" spc="-330" dirty="0">
                <a:latin typeface="Courier New"/>
                <a:cs typeface="Courier New"/>
              </a:rPr>
              <a:t> </a:t>
            </a:r>
            <a:r>
              <a:rPr sz="2400" spc="-55" dirty="0">
                <a:latin typeface="Courier New"/>
                <a:cs typeface="Courier New"/>
              </a:rPr>
              <a:t>be</a:t>
            </a:r>
            <a:r>
              <a:rPr sz="2400" spc="-400" dirty="0">
                <a:latin typeface="Courier New"/>
                <a:cs typeface="Courier New"/>
              </a:rPr>
              <a:t> </a:t>
            </a:r>
            <a:r>
              <a:rPr sz="2400" spc="-45" dirty="0">
                <a:latin typeface="Courier New"/>
                <a:cs typeface="Courier New"/>
              </a:rPr>
              <a:t>chosen</a:t>
            </a:r>
            <a:r>
              <a:rPr sz="2400" spc="-325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to</a:t>
            </a:r>
            <a:r>
              <a:rPr sz="2400" spc="-6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meet</a:t>
            </a:r>
            <a:r>
              <a:rPr sz="2400" spc="-325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the</a:t>
            </a:r>
            <a:r>
              <a:rPr sz="2400" spc="-375" dirty="0">
                <a:latin typeface="Courier New"/>
                <a:cs typeface="Courier New"/>
              </a:rPr>
              <a:t> </a:t>
            </a:r>
            <a:r>
              <a:rPr sz="2400" spc="-45" dirty="0">
                <a:latin typeface="Courier New"/>
                <a:cs typeface="Courier New"/>
              </a:rPr>
              <a:t>needs</a:t>
            </a:r>
            <a:r>
              <a:rPr sz="2400" spc="-360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of</a:t>
            </a:r>
            <a:r>
              <a:rPr sz="2400" spc="-6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multi-	team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project.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Challenges</a:t>
            </a:r>
            <a:r>
              <a:rPr spc="-1230" dirty="0"/>
              <a:t> </a:t>
            </a:r>
            <a:r>
              <a:rPr spc="-10" dirty="0"/>
              <a:t>to</a:t>
            </a:r>
            <a:r>
              <a:rPr spc="-1270" dirty="0"/>
              <a:t> </a:t>
            </a:r>
            <a:r>
              <a:rPr spc="-10" dirty="0"/>
              <a:t>Managing</a:t>
            </a:r>
            <a:r>
              <a:rPr spc="-1300" dirty="0"/>
              <a:t> </a:t>
            </a:r>
            <a:r>
              <a:rPr dirty="0"/>
              <a:t>a</a:t>
            </a:r>
            <a:r>
              <a:rPr spc="-1295" dirty="0"/>
              <a:t> </a:t>
            </a:r>
            <a:r>
              <a:rPr spc="-10" dirty="0"/>
              <a:t>Multiple Team</a:t>
            </a:r>
            <a:r>
              <a:rPr spc="-1225" dirty="0"/>
              <a:t> </a:t>
            </a:r>
            <a:r>
              <a:rPr spc="-10" dirty="0"/>
              <a:t>Project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966340"/>
            <a:ext cx="9773285" cy="1617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Establishing</a:t>
            </a:r>
            <a:r>
              <a:rPr sz="2400" spc="-71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one</a:t>
            </a:r>
            <a:r>
              <a:rPr sz="2400" spc="-73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</a:t>
            </a:r>
            <a:r>
              <a:rPr sz="2400" spc="-73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Management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Life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Cycle</a:t>
            </a:r>
            <a:endParaRPr sz="240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dirty="0">
                <a:latin typeface="Courier New"/>
                <a:cs typeface="Courier New"/>
              </a:rPr>
              <a:t>Life</a:t>
            </a:r>
            <a:r>
              <a:rPr sz="2400" spc="7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cycles</a:t>
            </a:r>
            <a:r>
              <a:rPr sz="2400" spc="6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generate</a:t>
            </a:r>
            <a:r>
              <a:rPr sz="2400" spc="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certain</a:t>
            </a:r>
            <a:r>
              <a:rPr sz="2400" spc="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patterns</a:t>
            </a:r>
            <a:r>
              <a:rPr sz="2400" spc="8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of </a:t>
            </a:r>
            <a:r>
              <a:rPr sz="2400" spc="-10" dirty="0">
                <a:latin typeface="Courier New"/>
                <a:cs typeface="Courier New"/>
              </a:rPr>
              <a:t>thinking</a:t>
            </a:r>
            <a:endParaRPr sz="2400">
              <a:latin typeface="Courier New"/>
              <a:cs typeface="Courier New"/>
            </a:endParaRPr>
          </a:p>
          <a:p>
            <a:pPr marL="737870">
              <a:lnSpc>
                <a:spcPct val="100000"/>
              </a:lnSpc>
              <a:spcBef>
                <a:spcPts val="1440"/>
              </a:spcBef>
            </a:pPr>
            <a:r>
              <a:rPr sz="2400" spc="-10" dirty="0">
                <a:latin typeface="Courier New"/>
                <a:cs typeface="Courier New"/>
              </a:rPr>
              <a:t>project</a:t>
            </a:r>
            <a:r>
              <a:rPr sz="2400" spc="-68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teams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40973" y="2643073"/>
            <a:ext cx="928369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ourier New"/>
                <a:cs typeface="Courier New"/>
              </a:rPr>
              <a:t>among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28674" y="3866133"/>
            <a:ext cx="10443210" cy="2843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400" indent="-26670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79400" algn="l"/>
              </a:tabLst>
            </a:pPr>
            <a:r>
              <a:rPr sz="2400" spc="-10" dirty="0">
                <a:latin typeface="Courier New"/>
                <a:cs typeface="Courier New"/>
              </a:rPr>
              <a:t>Your</a:t>
            </a:r>
            <a:r>
              <a:rPr sz="2400" spc="-70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time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will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be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controlled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by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multi-</a:t>
            </a:r>
            <a:r>
              <a:rPr sz="2400" dirty="0">
                <a:latin typeface="Courier New"/>
                <a:cs typeface="Courier New"/>
              </a:rPr>
              <a:t>team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demands</a:t>
            </a:r>
            <a:endParaRPr sz="2400" dirty="0">
              <a:latin typeface="Courier New"/>
              <a:cs typeface="Courier New"/>
            </a:endParaRPr>
          </a:p>
          <a:p>
            <a:pPr marL="278765" marR="5080" indent="-266700" algn="just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280670" algn="l"/>
              </a:tabLst>
            </a:pPr>
            <a:r>
              <a:rPr sz="2400" spc="-20" dirty="0">
                <a:latin typeface="Courier New"/>
                <a:cs typeface="Courier New"/>
              </a:rPr>
              <a:t>The</a:t>
            </a:r>
            <a:r>
              <a:rPr sz="2400" spc="-340" dirty="0">
                <a:latin typeface="Courier New"/>
                <a:cs typeface="Courier New"/>
              </a:rPr>
              <a:t> </a:t>
            </a:r>
            <a:r>
              <a:rPr sz="2400" spc="-45" dirty="0">
                <a:latin typeface="Courier New"/>
                <a:cs typeface="Courier New"/>
              </a:rPr>
              <a:t>project</a:t>
            </a:r>
            <a:r>
              <a:rPr sz="2400" spc="-315" dirty="0">
                <a:latin typeface="Courier New"/>
                <a:cs typeface="Courier New"/>
              </a:rPr>
              <a:t> </a:t>
            </a:r>
            <a:r>
              <a:rPr sz="2400" spc="-85" dirty="0">
                <a:latin typeface="Courier New"/>
                <a:cs typeface="Courier New"/>
              </a:rPr>
              <a:t>life</a:t>
            </a:r>
            <a:r>
              <a:rPr sz="2400" spc="-275" dirty="0">
                <a:latin typeface="Courier New"/>
                <a:cs typeface="Courier New"/>
              </a:rPr>
              <a:t> </a:t>
            </a:r>
            <a:r>
              <a:rPr sz="2400" spc="-70" dirty="0">
                <a:latin typeface="Courier New"/>
                <a:cs typeface="Courier New"/>
              </a:rPr>
              <a:t>cycle</a:t>
            </a:r>
            <a:r>
              <a:rPr sz="2400" spc="-290" dirty="0">
                <a:latin typeface="Courier New"/>
                <a:cs typeface="Courier New"/>
              </a:rPr>
              <a:t> </a:t>
            </a:r>
            <a:r>
              <a:rPr sz="2400" spc="-60" dirty="0">
                <a:latin typeface="Courier New"/>
                <a:cs typeface="Courier New"/>
              </a:rPr>
              <a:t>should</a:t>
            </a:r>
            <a:r>
              <a:rPr sz="2400" spc="-275" dirty="0">
                <a:latin typeface="Courier New"/>
                <a:cs typeface="Courier New"/>
              </a:rPr>
              <a:t> </a:t>
            </a:r>
            <a:r>
              <a:rPr sz="2400" spc="-225" dirty="0">
                <a:latin typeface="Courier New"/>
                <a:cs typeface="Courier New"/>
              </a:rPr>
              <a:t>be</a:t>
            </a:r>
            <a:r>
              <a:rPr sz="2400" spc="-135" dirty="0">
                <a:latin typeface="Courier New"/>
                <a:cs typeface="Courier New"/>
              </a:rPr>
              <a:t> </a:t>
            </a:r>
            <a:r>
              <a:rPr sz="2400" spc="-40" dirty="0">
                <a:latin typeface="Courier New"/>
                <a:cs typeface="Courier New"/>
              </a:rPr>
              <a:t>developed</a:t>
            </a:r>
            <a:r>
              <a:rPr sz="2400" spc="-220" dirty="0">
                <a:latin typeface="Courier New"/>
                <a:cs typeface="Courier New"/>
              </a:rPr>
              <a:t> </a:t>
            </a:r>
            <a:r>
              <a:rPr sz="2400" spc="-200" dirty="0">
                <a:latin typeface="Courier New"/>
                <a:cs typeface="Courier New"/>
              </a:rPr>
              <a:t>at</a:t>
            </a:r>
            <a:r>
              <a:rPr sz="2400" spc="-160" dirty="0">
                <a:latin typeface="Courier New"/>
                <a:cs typeface="Courier New"/>
              </a:rPr>
              <a:t> </a:t>
            </a:r>
            <a:r>
              <a:rPr sz="2400" spc="-95" dirty="0">
                <a:latin typeface="Courier New"/>
                <a:cs typeface="Courier New"/>
              </a:rPr>
              <a:t>the</a:t>
            </a:r>
            <a:r>
              <a:rPr sz="2400" spc="-2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inception 	</a:t>
            </a:r>
            <a:r>
              <a:rPr sz="2400" dirty="0">
                <a:latin typeface="Courier New"/>
                <a:cs typeface="Courier New"/>
              </a:rPr>
              <a:t>of</a:t>
            </a:r>
            <a:r>
              <a:rPr sz="2400" spc="4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3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project,</a:t>
            </a:r>
            <a:r>
              <a:rPr sz="2400" spc="2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be</a:t>
            </a:r>
            <a:r>
              <a:rPr sz="2400" spc="4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documented,</a:t>
            </a:r>
            <a:r>
              <a:rPr sz="2400" spc="40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and</a:t>
            </a:r>
            <a:r>
              <a:rPr sz="2400" spc="4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become</a:t>
            </a:r>
            <a:r>
              <a:rPr sz="2400" spc="4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part</a:t>
            </a:r>
            <a:r>
              <a:rPr sz="2400" spc="44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of</a:t>
            </a:r>
            <a:r>
              <a:rPr sz="2400" spc="46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the 	</a:t>
            </a:r>
            <a:r>
              <a:rPr sz="2400" spc="-10" dirty="0">
                <a:latin typeface="Courier New"/>
                <a:cs typeface="Courier New"/>
              </a:rPr>
              <a:t>working</a:t>
            </a:r>
            <a:r>
              <a:rPr sz="2400" spc="-68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schedules</a:t>
            </a:r>
            <a:endParaRPr sz="2400" dirty="0">
              <a:latin typeface="Courier New"/>
              <a:cs typeface="Courier New"/>
            </a:endParaRPr>
          </a:p>
          <a:p>
            <a:pPr marL="279400" indent="-266700" algn="just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279400" algn="l"/>
              </a:tabLst>
            </a:pP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phases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should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be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used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as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high-level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summary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tasks</a:t>
            </a:r>
            <a:endParaRPr sz="24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Challenges</a:t>
            </a:r>
            <a:r>
              <a:rPr spc="-1230" dirty="0"/>
              <a:t> </a:t>
            </a:r>
            <a:r>
              <a:rPr spc="-10" dirty="0"/>
              <a:t>to</a:t>
            </a:r>
            <a:r>
              <a:rPr spc="-1270" dirty="0"/>
              <a:t> </a:t>
            </a:r>
            <a:r>
              <a:rPr spc="-10" dirty="0"/>
              <a:t>Managing</a:t>
            </a:r>
            <a:r>
              <a:rPr spc="-1300" dirty="0"/>
              <a:t> </a:t>
            </a:r>
            <a:r>
              <a:rPr dirty="0"/>
              <a:t>a</a:t>
            </a:r>
            <a:r>
              <a:rPr spc="-1295" dirty="0"/>
              <a:t> </a:t>
            </a:r>
            <a:r>
              <a:rPr spc="-10" dirty="0"/>
              <a:t>Multiple Team</a:t>
            </a:r>
            <a:r>
              <a:rPr spc="-1225" dirty="0"/>
              <a:t> </a:t>
            </a:r>
            <a:r>
              <a:rPr spc="-10" dirty="0"/>
              <a:t>Project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966340"/>
            <a:ext cx="10900410" cy="40659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Building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Integrated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Plan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and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Schedule</a:t>
            </a:r>
            <a:endParaRPr sz="240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30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overall</a:t>
            </a:r>
            <a:r>
              <a:rPr sz="2400" spc="-26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project</a:t>
            </a:r>
            <a:r>
              <a:rPr sz="2400" spc="-26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schedule</a:t>
            </a:r>
            <a:r>
              <a:rPr sz="2400" spc="-265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is</a:t>
            </a:r>
            <a:r>
              <a:rPr sz="2400" spc="-315" dirty="0">
                <a:latin typeface="Courier New"/>
                <a:cs typeface="Courier New"/>
              </a:rPr>
              <a:t> </a:t>
            </a:r>
            <a:r>
              <a:rPr sz="2400" spc="-70" dirty="0">
                <a:latin typeface="Courier New"/>
                <a:cs typeface="Courier New"/>
              </a:rPr>
              <a:t>the</a:t>
            </a:r>
            <a:r>
              <a:rPr sz="2400" spc="-27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most</a:t>
            </a:r>
            <a:r>
              <a:rPr sz="2400" spc="-265" dirty="0">
                <a:latin typeface="Courier New"/>
                <a:cs typeface="Courier New"/>
              </a:rPr>
              <a:t> </a:t>
            </a:r>
            <a:r>
              <a:rPr sz="2400" spc="-30" dirty="0">
                <a:latin typeface="Courier New"/>
                <a:cs typeface="Courier New"/>
              </a:rPr>
              <a:t>important</a:t>
            </a:r>
            <a:r>
              <a:rPr sz="2400" spc="-39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part</a:t>
            </a:r>
            <a:r>
              <a:rPr sz="2400" spc="-21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of</a:t>
            </a:r>
            <a:endParaRPr sz="2400">
              <a:latin typeface="Courier New"/>
              <a:cs typeface="Courier New"/>
            </a:endParaRPr>
          </a:p>
          <a:p>
            <a:pPr marL="737870">
              <a:lnSpc>
                <a:spcPct val="100000"/>
              </a:lnSpc>
              <a:spcBef>
                <a:spcPts val="1440"/>
              </a:spcBef>
            </a:pP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0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plan</a:t>
            </a:r>
            <a:endParaRPr sz="2400">
              <a:latin typeface="Courier New"/>
              <a:cs typeface="Courier New"/>
            </a:endParaRPr>
          </a:p>
          <a:p>
            <a:pPr marL="735965" marR="10795" lvl="1" indent="-266700">
              <a:lnSpc>
                <a:spcPct val="150100"/>
              </a:lnSpc>
              <a:spcBef>
                <a:spcPts val="985"/>
              </a:spcBef>
              <a:buFont typeface="Arial MT"/>
              <a:buChar char="•"/>
              <a:tabLst>
                <a:tab pos="737870" algn="l"/>
              </a:tabLst>
            </a:pP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1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integration</a:t>
            </a:r>
            <a:r>
              <a:rPr sz="2400" spc="-7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possibilities</a:t>
            </a:r>
            <a:r>
              <a:rPr sz="2400" spc="10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go</a:t>
            </a:r>
            <a:r>
              <a:rPr sz="2400" spc="19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from</a:t>
            </a:r>
            <a:r>
              <a:rPr sz="2400" spc="7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not</a:t>
            </a:r>
            <a:r>
              <a:rPr sz="2400" spc="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integrated</a:t>
            </a:r>
            <a:r>
              <a:rPr sz="2400" spc="17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to 	</a:t>
            </a:r>
            <a:r>
              <a:rPr sz="2400" spc="-10" dirty="0">
                <a:latin typeface="Courier New"/>
                <a:cs typeface="Courier New"/>
              </a:rPr>
              <a:t>fully</a:t>
            </a:r>
            <a:r>
              <a:rPr sz="2400" spc="-70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integrated</a:t>
            </a:r>
            <a:endParaRPr sz="2400">
              <a:latin typeface="Courier New"/>
              <a:cs typeface="Courier New"/>
            </a:endParaRPr>
          </a:p>
          <a:p>
            <a:pPr marL="735965" marR="5080" lvl="1" indent="-266700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737870" algn="l"/>
              </a:tabLst>
            </a:pPr>
            <a:r>
              <a:rPr sz="2400" spc="-10" dirty="0">
                <a:latin typeface="Courier New"/>
                <a:cs typeface="Courier New"/>
              </a:rPr>
              <a:t>What</a:t>
            </a:r>
            <a:r>
              <a:rPr sz="2400" spc="-475" dirty="0">
                <a:latin typeface="Courier New"/>
                <a:cs typeface="Courier New"/>
              </a:rPr>
              <a:t> </a:t>
            </a:r>
            <a:r>
              <a:rPr sz="2400" spc="-40" dirty="0">
                <a:latin typeface="Courier New"/>
                <a:cs typeface="Courier New"/>
              </a:rPr>
              <a:t>level</a:t>
            </a:r>
            <a:r>
              <a:rPr sz="2400" spc="-459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is</a:t>
            </a:r>
            <a:r>
              <a:rPr sz="2400" spc="-565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appropriate</a:t>
            </a:r>
            <a:r>
              <a:rPr sz="2400" spc="-459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for</a:t>
            </a:r>
            <a:r>
              <a:rPr sz="2400" spc="-515" dirty="0">
                <a:latin typeface="Courier New"/>
                <a:cs typeface="Courier New"/>
              </a:rPr>
              <a:t> </a:t>
            </a:r>
            <a:r>
              <a:rPr sz="2400" spc="-55" dirty="0">
                <a:latin typeface="Courier New"/>
                <a:cs typeface="Courier New"/>
              </a:rPr>
              <a:t>the</a:t>
            </a:r>
            <a:r>
              <a:rPr sz="2400" spc="-515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project</a:t>
            </a:r>
            <a:r>
              <a:rPr sz="2400" spc="-465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and</a:t>
            </a:r>
            <a:r>
              <a:rPr sz="2400" spc="-484" dirty="0">
                <a:latin typeface="Courier New"/>
                <a:cs typeface="Courier New"/>
              </a:rPr>
              <a:t> </a:t>
            </a:r>
            <a:r>
              <a:rPr sz="2400" spc="-45" dirty="0">
                <a:latin typeface="Courier New"/>
                <a:cs typeface="Courier New"/>
              </a:rPr>
              <a:t>to</a:t>
            </a:r>
            <a:r>
              <a:rPr sz="2400" spc="-509" dirty="0">
                <a:latin typeface="Courier New"/>
                <a:cs typeface="Courier New"/>
              </a:rPr>
              <a:t> </a:t>
            </a:r>
            <a:r>
              <a:rPr sz="2400" spc="-40" dirty="0">
                <a:latin typeface="Courier New"/>
                <a:cs typeface="Courier New"/>
              </a:rPr>
              <a:t>what</a:t>
            </a:r>
            <a:r>
              <a:rPr sz="2400" spc="-6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extent 	the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integration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should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span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entire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project?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Classifying</a:t>
            </a:r>
            <a:r>
              <a:rPr spc="-1225" dirty="0"/>
              <a:t> </a:t>
            </a:r>
            <a:r>
              <a:rPr spc="-10" dirty="0"/>
              <a:t>Multiple</a:t>
            </a:r>
            <a:r>
              <a:rPr spc="-1270" dirty="0"/>
              <a:t> </a:t>
            </a:r>
            <a:r>
              <a:rPr spc="-10" dirty="0"/>
              <a:t>Team</a:t>
            </a:r>
            <a:r>
              <a:rPr spc="-1295" dirty="0"/>
              <a:t> </a:t>
            </a:r>
            <a:r>
              <a:rPr spc="-10" dirty="0"/>
              <a:t>Projects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83079"/>
            <a:ext cx="3891279" cy="2898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Figure</a:t>
            </a:r>
            <a:r>
              <a:rPr sz="2400" spc="-5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14-</a:t>
            </a:r>
            <a:r>
              <a:rPr sz="2400" dirty="0">
                <a:latin typeface="Courier New"/>
                <a:cs typeface="Courier New"/>
              </a:rPr>
              <a:t>2</a:t>
            </a:r>
            <a:r>
              <a:rPr sz="2400" spc="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Types</a:t>
            </a:r>
            <a:r>
              <a:rPr sz="2400" spc="254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of 	</a:t>
            </a:r>
            <a:r>
              <a:rPr sz="2400" dirty="0">
                <a:latin typeface="Courier New"/>
                <a:cs typeface="Courier New"/>
              </a:rPr>
              <a:t>multiple</a:t>
            </a:r>
            <a:r>
              <a:rPr sz="2400" spc="-85" dirty="0">
                <a:latin typeface="Courier New"/>
                <a:cs typeface="Courier New"/>
              </a:rPr>
              <a:t>  </a:t>
            </a:r>
            <a:r>
              <a:rPr sz="2400" spc="-15" dirty="0">
                <a:latin typeface="Courier New"/>
                <a:cs typeface="Courier New"/>
              </a:rPr>
              <a:t>multi-</a:t>
            </a:r>
            <a:r>
              <a:rPr sz="2400" spc="-20" dirty="0">
                <a:latin typeface="Courier New"/>
                <a:cs typeface="Courier New"/>
              </a:rPr>
              <a:t>team 	</a:t>
            </a:r>
            <a:r>
              <a:rPr sz="2400" spc="-10" dirty="0">
                <a:latin typeface="Courier New"/>
                <a:cs typeface="Courier New"/>
              </a:rPr>
              <a:t>projects</a:t>
            </a:r>
            <a:endParaRPr sz="2400">
              <a:latin typeface="Courier New"/>
              <a:cs typeface="Courier New"/>
            </a:endParaRPr>
          </a:p>
          <a:p>
            <a:pPr marL="240029" marR="5080" indent="-227329" algn="just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Types</a:t>
            </a:r>
            <a:r>
              <a:rPr sz="2400" spc="35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of</a:t>
            </a:r>
            <a:r>
              <a:rPr sz="2400" spc="315" dirty="0">
                <a:latin typeface="Courier New"/>
                <a:cs typeface="Courier New"/>
              </a:rPr>
              <a:t>  </a:t>
            </a:r>
            <a:r>
              <a:rPr sz="2400" spc="-10" dirty="0">
                <a:latin typeface="Courier New"/>
                <a:cs typeface="Courier New"/>
              </a:rPr>
              <a:t>multiple 	team</a:t>
            </a:r>
            <a:r>
              <a:rPr sz="2400" spc="-69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projects</a:t>
            </a:r>
            <a:endParaRPr sz="2400">
              <a:latin typeface="Courier New"/>
              <a:cs typeface="Courier New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05400" y="1789176"/>
            <a:ext cx="6638543" cy="442569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Project</a:t>
            </a:r>
            <a:r>
              <a:rPr spc="-1235" dirty="0"/>
              <a:t> </a:t>
            </a:r>
            <a:r>
              <a:rPr spc="-10" dirty="0"/>
              <a:t>Office</a:t>
            </a:r>
            <a:r>
              <a:rPr spc="-1270" dirty="0"/>
              <a:t> </a:t>
            </a:r>
            <a:r>
              <a:rPr spc="-10" dirty="0"/>
              <a:t>Structure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99538"/>
            <a:ext cx="10890250" cy="965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>
              <a:lnSpc>
                <a:spcPct val="1401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ourier New"/>
                <a:cs typeface="Courier New"/>
              </a:rPr>
              <a:t>In</a:t>
            </a:r>
            <a:r>
              <a:rPr sz="2200" spc="22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order</a:t>
            </a:r>
            <a:r>
              <a:rPr sz="2200" spc="22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to</a:t>
            </a:r>
            <a:r>
              <a:rPr sz="2200" spc="20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manage</a:t>
            </a:r>
            <a:r>
              <a:rPr sz="2200" spc="23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large</a:t>
            </a:r>
            <a:r>
              <a:rPr sz="2200" spc="229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or</a:t>
            </a:r>
            <a:r>
              <a:rPr sz="2200" spc="95" dirty="0">
                <a:latin typeface="Courier New"/>
                <a:cs typeface="Courier New"/>
              </a:rPr>
              <a:t>  </a:t>
            </a:r>
            <a:r>
              <a:rPr sz="2200" spc="-10" dirty="0">
                <a:latin typeface="Courier New"/>
                <a:cs typeface="Courier New"/>
              </a:rPr>
              <a:t>mission-</a:t>
            </a:r>
            <a:r>
              <a:rPr sz="2200" dirty="0">
                <a:latin typeface="Courier New"/>
                <a:cs typeface="Courier New"/>
              </a:rPr>
              <a:t>critical</a:t>
            </a:r>
            <a:r>
              <a:rPr sz="2200" spc="185" dirty="0">
                <a:latin typeface="Courier New"/>
                <a:cs typeface="Courier New"/>
              </a:rPr>
              <a:t>  </a:t>
            </a:r>
            <a:r>
              <a:rPr sz="2200" spc="-10" dirty="0">
                <a:latin typeface="Courier New"/>
                <a:cs typeface="Courier New"/>
              </a:rPr>
              <a:t>projects, organizations</a:t>
            </a:r>
            <a:r>
              <a:rPr sz="2200" spc="-63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establish</a:t>
            </a:r>
            <a:r>
              <a:rPr sz="2200" spc="-630" dirty="0">
                <a:latin typeface="Courier New"/>
                <a:cs typeface="Courier New"/>
              </a:rPr>
              <a:t> </a:t>
            </a:r>
            <a:r>
              <a:rPr sz="22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Project</a:t>
            </a:r>
            <a:r>
              <a:rPr sz="2200" i="1" u="heavy" spc="6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200" i="1" u="heavy" spc="-1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Office</a:t>
            </a:r>
            <a:r>
              <a:rPr sz="2200" i="1" spc="-6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(PO).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1524" y="2864755"/>
            <a:ext cx="9370060" cy="1561465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15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latin typeface="Courier New"/>
                <a:cs typeface="Courier New"/>
              </a:rPr>
              <a:t>Temporary</a:t>
            </a:r>
            <a:r>
              <a:rPr sz="2200" spc="5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structure</a:t>
            </a:r>
            <a:r>
              <a:rPr sz="2200" spc="5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and</a:t>
            </a:r>
            <a:r>
              <a:rPr sz="2200" spc="1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exists</a:t>
            </a:r>
            <a:r>
              <a:rPr sz="2200" spc="3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only</a:t>
            </a:r>
            <a:r>
              <a:rPr sz="2200" spc="-14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to</a:t>
            </a:r>
            <a:r>
              <a:rPr sz="2200" spc="5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serve</a:t>
            </a:r>
            <a:r>
              <a:rPr sz="2200" spc="3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the</a:t>
            </a:r>
            <a:r>
              <a:rPr sz="2200" spc="1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needs</a:t>
            </a:r>
            <a:endParaRPr sz="22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1055"/>
              </a:spcBef>
            </a:pPr>
            <a:r>
              <a:rPr sz="2200" spc="-10" dirty="0">
                <a:latin typeface="Courier New"/>
                <a:cs typeface="Courier New"/>
              </a:rPr>
              <a:t>projects.</a:t>
            </a:r>
            <a:endParaRPr sz="22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206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latin typeface="Courier New"/>
                <a:cs typeface="Courier New"/>
              </a:rPr>
              <a:t>Some</a:t>
            </a:r>
            <a:r>
              <a:rPr sz="2200" spc="-10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organizations</a:t>
            </a:r>
            <a:r>
              <a:rPr sz="2200" spc="7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establish</a:t>
            </a:r>
            <a:r>
              <a:rPr sz="2200" spc="-13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22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PO,</a:t>
            </a:r>
            <a:r>
              <a:rPr sz="2200" spc="-16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whenever</a:t>
            </a:r>
            <a:r>
              <a:rPr sz="2200" spc="-9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the</a:t>
            </a:r>
            <a:r>
              <a:rPr sz="2200" spc="-16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size</a:t>
            </a:r>
            <a:r>
              <a:rPr sz="2200" spc="-80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of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416920" y="2997199"/>
            <a:ext cx="1349375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dirty="0">
                <a:latin typeface="Courier New"/>
                <a:cs typeface="Courier New"/>
              </a:rPr>
              <a:t>of</a:t>
            </a:r>
            <a:r>
              <a:rPr sz="2200" spc="-7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those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410825" y="4063949"/>
            <a:ext cx="1355725" cy="3625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dirty="0">
                <a:latin typeface="Courier New"/>
                <a:cs typeface="Courier New"/>
              </a:rPr>
              <a:t>the</a:t>
            </a:r>
            <a:r>
              <a:rPr sz="2200" spc="-6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team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-65430" y="4534027"/>
            <a:ext cx="11870690" cy="186833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77925" algn="just">
              <a:lnSpc>
                <a:spcPct val="100000"/>
              </a:lnSpc>
              <a:spcBef>
                <a:spcPts val="105"/>
              </a:spcBef>
            </a:pPr>
            <a:r>
              <a:rPr sz="2200" spc="-10" dirty="0">
                <a:latin typeface="Courier New"/>
                <a:cs typeface="Courier New"/>
              </a:rPr>
              <a:t>reaches</a:t>
            </a:r>
            <a:r>
              <a:rPr sz="2200" spc="-63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to</a:t>
            </a:r>
            <a:r>
              <a:rPr sz="2200" spc="-63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some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number.</a:t>
            </a:r>
            <a:endParaRPr sz="2200" dirty="0">
              <a:latin typeface="Courier New"/>
              <a:cs typeface="Courier New"/>
            </a:endParaRPr>
          </a:p>
          <a:p>
            <a:pPr marL="1177925" marR="43180" indent="-228600" algn="just">
              <a:lnSpc>
                <a:spcPct val="140000"/>
              </a:lnSpc>
              <a:spcBef>
                <a:spcPts val="1010"/>
              </a:spcBef>
              <a:buFont typeface="Arial MT"/>
              <a:buChar char="•"/>
              <a:tabLst>
                <a:tab pos="1177925" algn="l"/>
              </a:tabLst>
            </a:pPr>
            <a:r>
              <a:rPr sz="2200" b="1" dirty="0">
                <a:latin typeface="Courier New"/>
                <a:cs typeface="Courier New"/>
              </a:rPr>
              <a:t>Project</a:t>
            </a:r>
            <a:r>
              <a:rPr sz="2200" b="1" spc="-220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Office</a:t>
            </a:r>
            <a:r>
              <a:rPr sz="2200" b="1" spc="-24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is</a:t>
            </a:r>
            <a:r>
              <a:rPr sz="2200" spc="-28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280" dirty="0">
                <a:latin typeface="Courier New"/>
                <a:cs typeface="Courier New"/>
              </a:rPr>
              <a:t> </a:t>
            </a:r>
            <a:r>
              <a:rPr sz="2200" spc="-30" dirty="0">
                <a:latin typeface="Courier New"/>
                <a:cs typeface="Courier New"/>
              </a:rPr>
              <a:t>temporary</a:t>
            </a:r>
            <a:r>
              <a:rPr sz="2200" spc="-2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management</a:t>
            </a:r>
            <a:r>
              <a:rPr sz="2200" spc="-2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structure</a:t>
            </a:r>
            <a:r>
              <a:rPr sz="2200" spc="-22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established</a:t>
            </a:r>
            <a:r>
              <a:rPr sz="2200" spc="-160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to coordinate</a:t>
            </a:r>
            <a:r>
              <a:rPr sz="2200" spc="-310" dirty="0">
                <a:latin typeface="Courier New"/>
                <a:cs typeface="Courier New"/>
              </a:rPr>
              <a:t> </a:t>
            </a:r>
            <a:r>
              <a:rPr sz="2200" spc="-160" dirty="0">
                <a:latin typeface="Courier New"/>
                <a:cs typeface="Courier New"/>
              </a:rPr>
              <a:t>and</a:t>
            </a:r>
            <a:r>
              <a:rPr sz="2200" spc="-170" dirty="0">
                <a:latin typeface="Courier New"/>
                <a:cs typeface="Courier New"/>
              </a:rPr>
              <a:t> </a:t>
            </a:r>
            <a:r>
              <a:rPr sz="2200" spc="-70" dirty="0">
                <a:latin typeface="Courier New"/>
                <a:cs typeface="Courier New"/>
              </a:rPr>
              <a:t>support</a:t>
            </a:r>
            <a:r>
              <a:rPr sz="2200" spc="-260" dirty="0">
                <a:latin typeface="Courier New"/>
                <a:cs typeface="Courier New"/>
              </a:rPr>
              <a:t> </a:t>
            </a:r>
            <a:r>
              <a:rPr sz="2200" spc="-180" dirty="0">
                <a:latin typeface="Courier New"/>
                <a:cs typeface="Courier New"/>
              </a:rPr>
              <a:t>the</a:t>
            </a:r>
            <a:r>
              <a:rPr sz="2200" spc="-150" dirty="0">
                <a:latin typeface="Courier New"/>
                <a:cs typeface="Courier New"/>
              </a:rPr>
              <a:t> </a:t>
            </a:r>
            <a:r>
              <a:rPr sz="2200" spc="-125" dirty="0">
                <a:latin typeface="Courier New"/>
                <a:cs typeface="Courier New"/>
              </a:rPr>
              <a:t>work</a:t>
            </a:r>
            <a:r>
              <a:rPr sz="2200" spc="-210" dirty="0">
                <a:latin typeface="Courier New"/>
                <a:cs typeface="Courier New"/>
              </a:rPr>
              <a:t> </a:t>
            </a:r>
            <a:r>
              <a:rPr sz="2200" spc="-315" dirty="0">
                <a:latin typeface="Courier New"/>
                <a:cs typeface="Courier New"/>
              </a:rPr>
              <a:t>of</a:t>
            </a:r>
            <a:r>
              <a:rPr sz="2200" spc="-15" dirty="0">
                <a:latin typeface="Courier New"/>
                <a:cs typeface="Courier New"/>
              </a:rPr>
              <a:t> </a:t>
            </a:r>
            <a:r>
              <a:rPr sz="2200" spc="-70" dirty="0">
                <a:latin typeface="Courier New"/>
                <a:cs typeface="Courier New"/>
              </a:rPr>
              <a:t>several</a:t>
            </a:r>
            <a:r>
              <a:rPr sz="2200" spc="-260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independent</a:t>
            </a:r>
            <a:r>
              <a:rPr sz="2200" spc="-270" dirty="0">
                <a:latin typeface="Courier New"/>
                <a:cs typeface="Courier New"/>
              </a:rPr>
              <a:t> </a:t>
            </a:r>
            <a:r>
              <a:rPr sz="2200" spc="-60" dirty="0">
                <a:latin typeface="Courier New"/>
                <a:cs typeface="Courier New"/>
              </a:rPr>
              <a:t>teams</a:t>
            </a:r>
            <a:r>
              <a:rPr sz="2200" spc="-95" dirty="0">
                <a:latin typeface="Courier New"/>
                <a:cs typeface="Courier New"/>
              </a:rPr>
              <a:t> </a:t>
            </a:r>
            <a:r>
              <a:rPr sz="2200" spc="-125" dirty="0">
                <a:latin typeface="Courier New"/>
                <a:cs typeface="Courier New"/>
              </a:rPr>
              <a:t>who</a:t>
            </a:r>
            <a:r>
              <a:rPr sz="2200" spc="-170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are </a:t>
            </a:r>
            <a:r>
              <a:rPr sz="2200" dirty="0">
                <a:latin typeface="Courier New"/>
                <a:cs typeface="Courier New"/>
              </a:rPr>
              <a:t>concurrently</a:t>
            </a:r>
            <a:r>
              <a:rPr sz="2200" spc="33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working</a:t>
            </a:r>
            <a:r>
              <a:rPr sz="2200" spc="33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on</a:t>
            </a:r>
            <a:r>
              <a:rPr sz="2200" spc="24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the</a:t>
            </a:r>
            <a:r>
              <a:rPr sz="2200" spc="27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same</a:t>
            </a:r>
            <a:r>
              <a:rPr sz="2200" spc="31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single</a:t>
            </a:r>
            <a:r>
              <a:rPr sz="2200" spc="32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project</a:t>
            </a:r>
            <a:r>
              <a:rPr sz="2200" spc="31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that</a:t>
            </a:r>
            <a:r>
              <a:rPr sz="2200" spc="49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has</a:t>
            </a:r>
            <a:r>
              <a:rPr sz="2200" spc="285" dirty="0">
                <a:latin typeface="Courier New"/>
                <a:cs typeface="Courier New"/>
              </a:rPr>
              <a:t> </a:t>
            </a:r>
            <a:r>
              <a:rPr sz="2200" spc="-20" dirty="0" smtClean="0">
                <a:latin typeface="Courier New"/>
                <a:cs typeface="Courier New"/>
              </a:rPr>
              <a:t>task</a:t>
            </a:r>
            <a:endParaRPr sz="22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Project</a:t>
            </a:r>
            <a:r>
              <a:rPr spc="-1235" dirty="0"/>
              <a:t> </a:t>
            </a:r>
            <a:r>
              <a:rPr spc="-10" dirty="0"/>
              <a:t>Office</a:t>
            </a:r>
            <a:r>
              <a:rPr spc="-1270" dirty="0"/>
              <a:t> </a:t>
            </a:r>
            <a:r>
              <a:rPr spc="-10" dirty="0"/>
              <a:t>Structure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71524" y="1783079"/>
            <a:ext cx="1899920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0" dirty="0">
                <a:latin typeface="Courier New"/>
                <a:cs typeface="Courier New"/>
              </a:rPr>
              <a:t>Project 	Structure</a:t>
            </a:r>
            <a:endParaRPr sz="2400">
              <a:latin typeface="Courier New"/>
              <a:cs typeface="Courier New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0976" y="1764791"/>
            <a:ext cx="6995159" cy="442569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657980" y="1966340"/>
            <a:ext cx="11099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ourier New"/>
                <a:cs typeface="Courier New"/>
              </a:rPr>
              <a:t>Office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Project</a:t>
            </a:r>
            <a:r>
              <a:rPr spc="-1235" dirty="0"/>
              <a:t> </a:t>
            </a:r>
            <a:r>
              <a:rPr spc="-10" dirty="0"/>
              <a:t>Office</a:t>
            </a:r>
            <a:r>
              <a:rPr spc="-1270" dirty="0"/>
              <a:t> </a:t>
            </a:r>
            <a:r>
              <a:rPr spc="-10" dirty="0"/>
              <a:t>Structure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887092"/>
            <a:ext cx="7266305" cy="4071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sz="1300" spc="-10" dirty="0">
                <a:latin typeface="Courier New"/>
                <a:cs typeface="Courier New"/>
              </a:rPr>
              <a:t>The</a:t>
            </a:r>
            <a:r>
              <a:rPr sz="1300" spc="-38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roles</a:t>
            </a:r>
            <a:r>
              <a:rPr sz="1300" spc="-37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and</a:t>
            </a:r>
            <a:r>
              <a:rPr sz="1300" spc="-37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responsibilities</a:t>
            </a:r>
            <a:r>
              <a:rPr sz="1300" spc="-37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of</a:t>
            </a:r>
            <a:r>
              <a:rPr sz="1300" spc="-37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the</a:t>
            </a:r>
            <a:r>
              <a:rPr sz="1300" spc="-37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PO</a:t>
            </a:r>
            <a:r>
              <a:rPr sz="1300" spc="-37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Manager</a:t>
            </a:r>
            <a:r>
              <a:rPr sz="1300" spc="-37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and</a:t>
            </a:r>
            <a:r>
              <a:rPr sz="1300" spc="-40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support</a:t>
            </a:r>
            <a:r>
              <a:rPr sz="1300" spc="-37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staff</a:t>
            </a:r>
            <a:r>
              <a:rPr sz="1300" spc="-39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include:</a:t>
            </a:r>
            <a:endParaRPr sz="1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 MT"/>
              <a:buChar char="•"/>
            </a:pPr>
            <a:endParaRPr sz="13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buFont typeface="Arial MT"/>
              <a:buChar char="•"/>
              <a:tabLst>
                <a:tab pos="737870" algn="l"/>
              </a:tabLst>
            </a:pPr>
            <a:r>
              <a:rPr sz="1300" spc="-20" dirty="0">
                <a:latin typeface="Courier New"/>
                <a:cs typeface="Courier New"/>
              </a:rPr>
              <a:t>Organize</a:t>
            </a:r>
            <a:r>
              <a:rPr sz="1300" spc="-36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and</a:t>
            </a:r>
            <a:r>
              <a:rPr sz="1300" spc="-355" dirty="0">
                <a:latin typeface="Courier New"/>
                <a:cs typeface="Courier New"/>
              </a:rPr>
              <a:t> </a:t>
            </a:r>
            <a:r>
              <a:rPr sz="1300" spc="-20" dirty="0">
                <a:latin typeface="Courier New"/>
                <a:cs typeface="Courier New"/>
              </a:rPr>
              <a:t>manage</a:t>
            </a:r>
            <a:r>
              <a:rPr sz="1300" spc="-35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the</a:t>
            </a:r>
            <a:r>
              <a:rPr sz="1300" spc="-355" dirty="0">
                <a:latin typeface="Courier New"/>
                <a:cs typeface="Courier New"/>
              </a:rPr>
              <a:t> </a:t>
            </a:r>
            <a:r>
              <a:rPr sz="1300" spc="-20" dirty="0">
                <a:latin typeface="Courier New"/>
                <a:cs typeface="Courier New"/>
              </a:rPr>
              <a:t>entire</a:t>
            </a:r>
            <a:r>
              <a:rPr sz="1300" spc="-35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project</a:t>
            </a:r>
            <a:endParaRPr sz="13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465"/>
              </a:spcBef>
              <a:buFont typeface="Arial MT"/>
              <a:buChar char="•"/>
              <a:tabLst>
                <a:tab pos="737870" algn="l"/>
              </a:tabLst>
            </a:pPr>
            <a:r>
              <a:rPr sz="1300" spc="-10" dirty="0">
                <a:latin typeface="Courier New"/>
                <a:cs typeface="Courier New"/>
              </a:rPr>
              <a:t>Develop</a:t>
            </a:r>
            <a:r>
              <a:rPr sz="1300" spc="-38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the</a:t>
            </a:r>
            <a:r>
              <a:rPr sz="1300" spc="-37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high-level</a:t>
            </a:r>
            <a:r>
              <a:rPr sz="1300" spc="-37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project</a:t>
            </a:r>
            <a:r>
              <a:rPr sz="1300" spc="-37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plan</a:t>
            </a:r>
            <a:r>
              <a:rPr sz="1300" spc="-37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in</a:t>
            </a:r>
            <a:r>
              <a:rPr sz="1300" spc="-38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collaboration</a:t>
            </a:r>
            <a:r>
              <a:rPr sz="1300" spc="-36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with</a:t>
            </a:r>
            <a:r>
              <a:rPr sz="1300" spc="-37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team</a:t>
            </a:r>
            <a:r>
              <a:rPr sz="1300" spc="-37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managers</a:t>
            </a:r>
            <a:endParaRPr sz="13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465"/>
              </a:spcBef>
              <a:buFont typeface="Arial MT"/>
              <a:buChar char="•"/>
              <a:tabLst>
                <a:tab pos="737870" algn="l"/>
              </a:tabLst>
            </a:pPr>
            <a:r>
              <a:rPr sz="1300" spc="-20" dirty="0">
                <a:latin typeface="Courier New"/>
                <a:cs typeface="Courier New"/>
              </a:rPr>
              <a:t>Integrate</a:t>
            </a:r>
            <a:r>
              <a:rPr sz="1300" spc="-33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and</a:t>
            </a:r>
            <a:r>
              <a:rPr sz="1300" spc="-355" dirty="0">
                <a:latin typeface="Courier New"/>
                <a:cs typeface="Courier New"/>
              </a:rPr>
              <a:t> </a:t>
            </a:r>
            <a:r>
              <a:rPr sz="1300" spc="-20" dirty="0">
                <a:latin typeface="Courier New"/>
                <a:cs typeface="Courier New"/>
              </a:rPr>
              <a:t>coordinate</a:t>
            </a:r>
            <a:r>
              <a:rPr sz="1300" spc="-36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the</a:t>
            </a:r>
            <a:r>
              <a:rPr sz="1300" spc="-36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project</a:t>
            </a:r>
            <a:r>
              <a:rPr sz="1300" spc="-365" dirty="0">
                <a:latin typeface="Courier New"/>
                <a:cs typeface="Courier New"/>
              </a:rPr>
              <a:t> </a:t>
            </a:r>
            <a:r>
              <a:rPr sz="1300" spc="-20" dirty="0">
                <a:latin typeface="Courier New"/>
                <a:cs typeface="Courier New"/>
              </a:rPr>
              <a:t>plans</a:t>
            </a:r>
            <a:r>
              <a:rPr sz="1300" spc="-36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of</a:t>
            </a:r>
            <a:r>
              <a:rPr sz="1300" spc="-360" dirty="0">
                <a:latin typeface="Courier New"/>
                <a:cs typeface="Courier New"/>
              </a:rPr>
              <a:t> </a:t>
            </a:r>
            <a:r>
              <a:rPr sz="1300" spc="-20" dirty="0">
                <a:latin typeface="Courier New"/>
                <a:cs typeface="Courier New"/>
              </a:rPr>
              <a:t>each</a:t>
            </a:r>
            <a:r>
              <a:rPr sz="1300" spc="-380" dirty="0">
                <a:latin typeface="Courier New"/>
                <a:cs typeface="Courier New"/>
              </a:rPr>
              <a:t> </a:t>
            </a:r>
            <a:r>
              <a:rPr sz="1300" spc="-20" dirty="0">
                <a:latin typeface="Courier New"/>
                <a:cs typeface="Courier New"/>
              </a:rPr>
              <a:t>team</a:t>
            </a:r>
            <a:endParaRPr sz="13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465"/>
              </a:spcBef>
              <a:buFont typeface="Arial MT"/>
              <a:buChar char="•"/>
              <a:tabLst>
                <a:tab pos="737870" algn="l"/>
              </a:tabLst>
            </a:pPr>
            <a:r>
              <a:rPr sz="1300" spc="-10" dirty="0">
                <a:latin typeface="Courier New"/>
                <a:cs typeface="Courier New"/>
              </a:rPr>
              <a:t>Maintain</a:t>
            </a:r>
            <a:r>
              <a:rPr sz="1300" spc="-38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the</a:t>
            </a:r>
            <a:r>
              <a:rPr sz="1300" spc="-37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overall</a:t>
            </a:r>
            <a:r>
              <a:rPr sz="1300" spc="-37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project</a:t>
            </a:r>
            <a:r>
              <a:rPr sz="1300" spc="-37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schedule</a:t>
            </a:r>
            <a:endParaRPr sz="13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470"/>
              </a:spcBef>
              <a:buFont typeface="Arial MT"/>
              <a:buChar char="•"/>
              <a:tabLst>
                <a:tab pos="737870" algn="l"/>
              </a:tabLst>
            </a:pPr>
            <a:r>
              <a:rPr sz="1300" spc="-10" dirty="0">
                <a:latin typeface="Courier New"/>
                <a:cs typeface="Courier New"/>
              </a:rPr>
              <a:t>Monitor</a:t>
            </a:r>
            <a:r>
              <a:rPr sz="1300" spc="-37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and</a:t>
            </a:r>
            <a:r>
              <a:rPr sz="1300" spc="-37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manage</a:t>
            </a:r>
            <a:r>
              <a:rPr sz="1300" spc="-37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resource</a:t>
            </a:r>
            <a:r>
              <a:rPr sz="1300" spc="-375" dirty="0">
                <a:latin typeface="Courier New"/>
                <a:cs typeface="Courier New"/>
              </a:rPr>
              <a:t> </a:t>
            </a:r>
            <a:r>
              <a:rPr sz="1300" spc="-25" dirty="0">
                <a:latin typeface="Courier New"/>
                <a:cs typeface="Courier New"/>
              </a:rPr>
              <a:t>use</a:t>
            </a:r>
            <a:endParaRPr sz="13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460"/>
              </a:spcBef>
              <a:buFont typeface="Arial MT"/>
              <a:buChar char="•"/>
              <a:tabLst>
                <a:tab pos="737870" algn="l"/>
              </a:tabLst>
            </a:pPr>
            <a:r>
              <a:rPr sz="1300" spc="-10" dirty="0">
                <a:latin typeface="Courier New"/>
                <a:cs typeface="Courier New"/>
              </a:rPr>
              <a:t>Prepare</a:t>
            </a:r>
            <a:r>
              <a:rPr sz="1300" spc="-38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and</a:t>
            </a:r>
            <a:r>
              <a:rPr sz="1300" spc="-37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distribute</a:t>
            </a:r>
            <a:r>
              <a:rPr sz="1300" spc="-37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project</a:t>
            </a:r>
            <a:r>
              <a:rPr sz="1300" spc="-37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status</a:t>
            </a:r>
            <a:r>
              <a:rPr sz="1300" spc="-37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reports</a:t>
            </a:r>
            <a:endParaRPr sz="1300">
              <a:latin typeface="Courier New"/>
              <a:cs typeface="Courier New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Font typeface="Arial MT"/>
              <a:buChar char="•"/>
            </a:pPr>
            <a:endParaRPr sz="13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buFont typeface="Arial MT"/>
              <a:buChar char="•"/>
              <a:tabLst>
                <a:tab pos="737870" algn="l"/>
              </a:tabLst>
            </a:pPr>
            <a:r>
              <a:rPr sz="1300" spc="-10" dirty="0">
                <a:latin typeface="Courier New"/>
                <a:cs typeface="Courier New"/>
              </a:rPr>
              <a:t>Plan</a:t>
            </a:r>
            <a:r>
              <a:rPr sz="1300" spc="-37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and</a:t>
            </a:r>
            <a:r>
              <a:rPr sz="1300" spc="-37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conduct</a:t>
            </a:r>
            <a:r>
              <a:rPr sz="1300" spc="-37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team</a:t>
            </a:r>
            <a:r>
              <a:rPr sz="1300" spc="-37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meetings</a:t>
            </a:r>
            <a:endParaRPr sz="13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465"/>
              </a:spcBef>
              <a:buFont typeface="Arial MT"/>
              <a:buChar char="•"/>
              <a:tabLst>
                <a:tab pos="737870" algn="l"/>
              </a:tabLst>
            </a:pPr>
            <a:r>
              <a:rPr sz="1300" spc="-20" dirty="0">
                <a:latin typeface="Courier New"/>
                <a:cs typeface="Courier New"/>
              </a:rPr>
              <a:t>Process</a:t>
            </a:r>
            <a:r>
              <a:rPr sz="1300" spc="-340" dirty="0">
                <a:latin typeface="Courier New"/>
                <a:cs typeface="Courier New"/>
              </a:rPr>
              <a:t> </a:t>
            </a:r>
            <a:r>
              <a:rPr sz="1300" spc="-20" dirty="0">
                <a:latin typeface="Courier New"/>
                <a:cs typeface="Courier New"/>
              </a:rPr>
              <a:t>scope</a:t>
            </a:r>
            <a:r>
              <a:rPr sz="1300" spc="-340" dirty="0">
                <a:latin typeface="Courier New"/>
                <a:cs typeface="Courier New"/>
              </a:rPr>
              <a:t> </a:t>
            </a:r>
            <a:r>
              <a:rPr sz="1300" spc="-20" dirty="0">
                <a:latin typeface="Courier New"/>
                <a:cs typeface="Courier New"/>
              </a:rPr>
              <a:t>change</a:t>
            </a:r>
            <a:r>
              <a:rPr sz="1300" spc="-34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requests</a:t>
            </a:r>
            <a:endParaRPr sz="13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465"/>
              </a:spcBef>
              <a:buFont typeface="Arial MT"/>
              <a:buChar char="•"/>
              <a:tabLst>
                <a:tab pos="737870" algn="l"/>
              </a:tabLst>
            </a:pPr>
            <a:r>
              <a:rPr sz="1300" spc="-10" dirty="0">
                <a:latin typeface="Courier New"/>
                <a:cs typeface="Courier New"/>
              </a:rPr>
              <a:t>Solve</a:t>
            </a:r>
            <a:r>
              <a:rPr sz="1300" spc="-38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problems</a:t>
            </a:r>
            <a:r>
              <a:rPr sz="1300" spc="-38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escalated</a:t>
            </a:r>
            <a:r>
              <a:rPr sz="1300" spc="-34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from</a:t>
            </a:r>
            <a:r>
              <a:rPr sz="1300" spc="-37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the</a:t>
            </a:r>
            <a:r>
              <a:rPr sz="1300" spc="-37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individual</a:t>
            </a:r>
            <a:r>
              <a:rPr sz="1300" spc="-37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teams</a:t>
            </a:r>
            <a:endParaRPr sz="13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465"/>
              </a:spcBef>
              <a:buFont typeface="Arial MT"/>
              <a:buChar char="•"/>
              <a:tabLst>
                <a:tab pos="737870" algn="l"/>
              </a:tabLst>
            </a:pPr>
            <a:r>
              <a:rPr sz="1300" spc="-10" dirty="0">
                <a:latin typeface="Courier New"/>
                <a:cs typeface="Courier New"/>
              </a:rPr>
              <a:t>Negotiate</a:t>
            </a:r>
            <a:r>
              <a:rPr sz="1300" spc="-34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and</a:t>
            </a:r>
            <a:r>
              <a:rPr sz="1300" spc="-37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solve</a:t>
            </a:r>
            <a:r>
              <a:rPr sz="1300" spc="-37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problems</a:t>
            </a:r>
            <a:r>
              <a:rPr sz="1300" spc="-37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between</a:t>
            </a:r>
            <a:r>
              <a:rPr sz="1300" spc="-38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teams</a:t>
            </a:r>
            <a:endParaRPr sz="13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Core</a:t>
            </a:r>
            <a:r>
              <a:rPr spc="-1235" dirty="0"/>
              <a:t> </a:t>
            </a:r>
            <a:r>
              <a:rPr spc="-10" dirty="0"/>
              <a:t>Team</a:t>
            </a:r>
            <a:r>
              <a:rPr spc="-1275" dirty="0"/>
              <a:t> </a:t>
            </a:r>
            <a:r>
              <a:rPr spc="-10" dirty="0"/>
              <a:t>Structure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83079"/>
            <a:ext cx="10897235" cy="2221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505" dirty="0">
                <a:latin typeface="Courier New"/>
                <a:cs typeface="Courier New"/>
              </a:rPr>
              <a:t> </a:t>
            </a:r>
            <a:r>
              <a:rPr sz="2400" b="1" spc="-100" dirty="0">
                <a:latin typeface="Courier New"/>
                <a:cs typeface="Courier New"/>
              </a:rPr>
              <a:t>C</a:t>
            </a:r>
            <a:r>
              <a:rPr sz="2400" b="1" spc="-50" dirty="0">
                <a:latin typeface="Courier New"/>
                <a:cs typeface="Courier New"/>
              </a:rPr>
              <a:t>o</a:t>
            </a:r>
            <a:r>
              <a:rPr sz="2400" b="1" spc="-25" dirty="0">
                <a:latin typeface="Courier New"/>
                <a:cs typeface="Courier New"/>
              </a:rPr>
              <a:t>r</a:t>
            </a:r>
            <a:r>
              <a:rPr sz="2400" b="1" dirty="0">
                <a:latin typeface="Courier New"/>
                <a:cs typeface="Courier New"/>
              </a:rPr>
              <a:t>e</a:t>
            </a:r>
            <a:r>
              <a:rPr sz="2400" b="1" spc="-50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Tea</a:t>
            </a:r>
            <a:r>
              <a:rPr sz="2400" b="1" dirty="0">
                <a:latin typeface="Courier New"/>
                <a:cs typeface="Courier New"/>
              </a:rPr>
              <a:t>m </a:t>
            </a:r>
            <a:r>
              <a:rPr sz="2400" b="1" spc="-5" dirty="0">
                <a:latin typeface="Courier New"/>
                <a:cs typeface="Courier New"/>
              </a:rPr>
              <a:t>(CT</a:t>
            </a:r>
            <a:r>
              <a:rPr sz="2400" b="1" dirty="0">
                <a:latin typeface="Courier New"/>
                <a:cs typeface="Courier New"/>
              </a:rPr>
              <a:t>)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i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-50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675" dirty="0">
                <a:latin typeface="Courier New"/>
                <a:cs typeface="Courier New"/>
              </a:rPr>
              <a:t> </a:t>
            </a:r>
            <a:r>
              <a:rPr sz="2400" spc="-125" dirty="0">
                <a:latin typeface="Courier New"/>
                <a:cs typeface="Courier New"/>
              </a:rPr>
              <a:t>t</a:t>
            </a:r>
            <a:r>
              <a:rPr sz="2400" spc="-75" dirty="0">
                <a:latin typeface="Courier New"/>
                <a:cs typeface="Courier New"/>
              </a:rPr>
              <a:t>e</a:t>
            </a:r>
            <a:r>
              <a:rPr sz="2400" spc="-25" dirty="0">
                <a:latin typeface="Courier New"/>
                <a:cs typeface="Courier New"/>
              </a:rPr>
              <a:t>mpo</a:t>
            </a:r>
            <a:r>
              <a:rPr sz="2400" spc="-5" dirty="0">
                <a:latin typeface="Courier New"/>
                <a:cs typeface="Courier New"/>
              </a:rPr>
              <a:t>rar</a:t>
            </a:r>
            <a:r>
              <a:rPr sz="2400" dirty="0">
                <a:latin typeface="Courier New"/>
                <a:cs typeface="Courier New"/>
              </a:rPr>
              <a:t>y</a:t>
            </a:r>
            <a:r>
              <a:rPr sz="2400" spc="-530" dirty="0">
                <a:latin typeface="Courier New"/>
                <a:cs typeface="Courier New"/>
              </a:rPr>
              <a:t> </a:t>
            </a:r>
            <a:r>
              <a:rPr sz="2400" spc="-95" dirty="0">
                <a:latin typeface="Courier New"/>
                <a:cs typeface="Courier New"/>
              </a:rPr>
              <a:t>t</a:t>
            </a:r>
            <a:r>
              <a:rPr sz="2400" spc="-50" dirty="0">
                <a:latin typeface="Courier New"/>
                <a:cs typeface="Courier New"/>
              </a:rPr>
              <a:t>e</a:t>
            </a:r>
            <a:r>
              <a:rPr sz="2400" spc="-70" dirty="0">
                <a:latin typeface="Courier New"/>
                <a:cs typeface="Courier New"/>
              </a:rPr>
              <a:t>a</a:t>
            </a:r>
            <a:r>
              <a:rPr sz="2400" dirty="0">
                <a:latin typeface="Courier New"/>
                <a:cs typeface="Courier New"/>
              </a:rPr>
              <a:t>m</a:t>
            </a:r>
            <a:r>
              <a:rPr sz="2400" spc="-509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c</a:t>
            </a:r>
            <a:r>
              <a:rPr sz="2400" spc="-50" dirty="0">
                <a:latin typeface="Courier New"/>
                <a:cs typeface="Courier New"/>
              </a:rPr>
              <a:t>o</a:t>
            </a:r>
            <a:r>
              <a:rPr sz="2400" spc="-25" dirty="0">
                <a:latin typeface="Courier New"/>
                <a:cs typeface="Courier New"/>
              </a:rPr>
              <a:t>mpr</a:t>
            </a:r>
            <a:r>
              <a:rPr sz="2400" spc="-5" dirty="0">
                <a:latin typeface="Courier New"/>
                <a:cs typeface="Courier New"/>
              </a:rPr>
              <a:t>isin</a:t>
            </a:r>
            <a:r>
              <a:rPr sz="2400" dirty="0">
                <a:latin typeface="Courier New"/>
                <a:cs typeface="Courier New"/>
              </a:rPr>
              <a:t>g</a:t>
            </a:r>
            <a:r>
              <a:rPr sz="2400" spc="-50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62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s</a:t>
            </a:r>
            <a:r>
              <a:rPr sz="2400" spc="-50" dirty="0">
                <a:latin typeface="Courier New"/>
                <a:cs typeface="Courier New"/>
              </a:rPr>
              <a:t>ma</a:t>
            </a:r>
            <a:r>
              <a:rPr sz="2400" spc="20" dirty="0">
                <a:latin typeface="Courier New"/>
                <a:cs typeface="Courier New"/>
              </a:rPr>
              <a:t>l</a:t>
            </a:r>
            <a:r>
              <a:rPr sz="2400" dirty="0">
                <a:latin typeface="Courier New"/>
                <a:cs typeface="Courier New"/>
              </a:rPr>
              <a:t>l</a:t>
            </a:r>
            <a:r>
              <a:rPr sz="2400" spc="-455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n</a:t>
            </a:r>
            <a:r>
              <a:rPr sz="2400" spc="-25" dirty="0">
                <a:latin typeface="Courier New"/>
                <a:cs typeface="Courier New"/>
              </a:rPr>
              <a:t>u</a:t>
            </a:r>
            <a:r>
              <a:rPr sz="2400" spc="-5" dirty="0">
                <a:latin typeface="Courier New"/>
                <a:cs typeface="Courier New"/>
              </a:rPr>
              <a:t>mber 	o</a:t>
            </a:r>
            <a:r>
              <a:rPr sz="2400" dirty="0">
                <a:latin typeface="Courier New"/>
                <a:cs typeface="Courier New"/>
              </a:rPr>
              <a:t>f</a:t>
            </a:r>
            <a:r>
              <a:rPr sz="2400" spc="-22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s</a:t>
            </a:r>
            <a:r>
              <a:rPr sz="2400" spc="-50" dirty="0">
                <a:latin typeface="Courier New"/>
                <a:cs typeface="Courier New"/>
              </a:rPr>
              <a:t>u</a:t>
            </a:r>
            <a:r>
              <a:rPr sz="2400" spc="-25" dirty="0">
                <a:latin typeface="Courier New"/>
                <a:cs typeface="Courier New"/>
              </a:rPr>
              <a:t>bje</a:t>
            </a:r>
            <a:r>
              <a:rPr sz="2400" spc="-5" dirty="0">
                <a:latin typeface="Courier New"/>
                <a:cs typeface="Courier New"/>
              </a:rPr>
              <a:t>c</a:t>
            </a:r>
            <a:r>
              <a:rPr sz="2400" dirty="0">
                <a:latin typeface="Courier New"/>
                <a:cs typeface="Courier New"/>
              </a:rPr>
              <a:t>t</a:t>
            </a:r>
            <a:r>
              <a:rPr sz="2400" spc="-240" dirty="0">
                <a:latin typeface="Courier New"/>
                <a:cs typeface="Courier New"/>
              </a:rPr>
              <a:t> </a:t>
            </a:r>
            <a:r>
              <a:rPr sz="2400" spc="-95" dirty="0">
                <a:latin typeface="Courier New"/>
                <a:cs typeface="Courier New"/>
              </a:rPr>
              <a:t>m</a:t>
            </a:r>
            <a:r>
              <a:rPr sz="2400" spc="-50" dirty="0">
                <a:latin typeface="Courier New"/>
                <a:cs typeface="Courier New"/>
              </a:rPr>
              <a:t>a</a:t>
            </a:r>
            <a:r>
              <a:rPr sz="2400" spc="-25" dirty="0">
                <a:latin typeface="Courier New"/>
                <a:cs typeface="Courier New"/>
              </a:rPr>
              <a:t>tt</a:t>
            </a:r>
            <a:r>
              <a:rPr sz="2400" spc="-5" dirty="0">
                <a:latin typeface="Courier New"/>
                <a:cs typeface="Courier New"/>
              </a:rPr>
              <a:t>e</a:t>
            </a:r>
            <a:r>
              <a:rPr sz="2400" dirty="0">
                <a:latin typeface="Courier New"/>
                <a:cs typeface="Courier New"/>
              </a:rPr>
              <a:t>r</a:t>
            </a:r>
            <a:r>
              <a:rPr sz="2400" spc="-60" dirty="0">
                <a:latin typeface="Courier New"/>
                <a:cs typeface="Courier New"/>
              </a:rPr>
              <a:t> </a:t>
            </a:r>
            <a:r>
              <a:rPr sz="2400" spc="-190" dirty="0">
                <a:latin typeface="Courier New"/>
                <a:cs typeface="Courier New"/>
              </a:rPr>
              <a:t>e</a:t>
            </a:r>
            <a:r>
              <a:rPr sz="2400" spc="-95" dirty="0">
                <a:latin typeface="Courier New"/>
                <a:cs typeface="Courier New"/>
              </a:rPr>
              <a:t>x</a:t>
            </a:r>
            <a:r>
              <a:rPr sz="2400" spc="-50" dirty="0">
                <a:latin typeface="Courier New"/>
                <a:cs typeface="Courier New"/>
              </a:rPr>
              <a:t>p</a:t>
            </a:r>
            <a:r>
              <a:rPr sz="2400" spc="-25" dirty="0">
                <a:latin typeface="Courier New"/>
                <a:cs typeface="Courier New"/>
              </a:rPr>
              <a:t>ert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-25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(</a:t>
            </a:r>
            <a:r>
              <a:rPr sz="2400" spc="-50" dirty="0">
                <a:latin typeface="Courier New"/>
                <a:cs typeface="Courier New"/>
              </a:rPr>
              <a:t>S</a:t>
            </a:r>
            <a:r>
              <a:rPr sz="2400" spc="-25" dirty="0">
                <a:latin typeface="Courier New"/>
                <a:cs typeface="Courier New"/>
              </a:rPr>
              <a:t>ME</a:t>
            </a:r>
            <a:r>
              <a:rPr sz="2400" spc="-5" dirty="0">
                <a:latin typeface="Courier New"/>
                <a:cs typeface="Courier New"/>
              </a:rPr>
              <a:t>s</a:t>
            </a:r>
            <a:r>
              <a:rPr sz="2400" dirty="0">
                <a:latin typeface="Courier New"/>
                <a:cs typeface="Courier New"/>
              </a:rPr>
              <a:t>)</a:t>
            </a:r>
            <a:r>
              <a:rPr sz="2400" spc="-240" dirty="0">
                <a:latin typeface="Courier New"/>
                <a:cs typeface="Courier New"/>
              </a:rPr>
              <a:t> </a:t>
            </a:r>
            <a:r>
              <a:rPr sz="2400" spc="-220" dirty="0">
                <a:latin typeface="Courier New"/>
                <a:cs typeface="Courier New"/>
              </a:rPr>
              <a:t>c</a:t>
            </a:r>
            <a:r>
              <a:rPr sz="2400" spc="-5" dirty="0">
                <a:latin typeface="Courier New"/>
                <a:cs typeface="Courier New"/>
              </a:rPr>
              <a:t>hose</a:t>
            </a:r>
            <a:r>
              <a:rPr sz="2400" dirty="0">
                <a:latin typeface="Courier New"/>
                <a:cs typeface="Courier New"/>
              </a:rPr>
              <a:t>n</a:t>
            </a:r>
            <a:r>
              <a:rPr sz="2400" spc="-215" dirty="0">
                <a:latin typeface="Courier New"/>
                <a:cs typeface="Courier New"/>
              </a:rPr>
              <a:t> </a:t>
            </a:r>
            <a:r>
              <a:rPr sz="2400" spc="-125" dirty="0">
                <a:latin typeface="Courier New"/>
                <a:cs typeface="Courier New"/>
              </a:rPr>
              <a:t>a</a:t>
            </a:r>
            <a:r>
              <a:rPr sz="2400" spc="-50" dirty="0">
                <a:latin typeface="Courier New"/>
                <a:cs typeface="Courier New"/>
              </a:rPr>
              <a:t>n</a:t>
            </a:r>
            <a:r>
              <a:rPr sz="2400" dirty="0">
                <a:latin typeface="Courier New"/>
                <a:cs typeface="Courier New"/>
              </a:rPr>
              <a:t>d</a:t>
            </a:r>
            <a:r>
              <a:rPr sz="2400" spc="-29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m</a:t>
            </a:r>
            <a:r>
              <a:rPr sz="2400" spc="-50" dirty="0">
                <a:latin typeface="Courier New"/>
                <a:cs typeface="Courier New"/>
              </a:rPr>
              <a:t>a</a:t>
            </a:r>
            <a:r>
              <a:rPr sz="2400" spc="-25" dirty="0">
                <a:latin typeface="Courier New"/>
                <a:cs typeface="Courier New"/>
              </a:rPr>
              <a:t>na</a:t>
            </a:r>
            <a:r>
              <a:rPr sz="2400" spc="20" dirty="0">
                <a:latin typeface="Courier New"/>
                <a:cs typeface="Courier New"/>
              </a:rPr>
              <a:t>ge</a:t>
            </a:r>
            <a:r>
              <a:rPr sz="2400" dirty="0">
                <a:latin typeface="Courier New"/>
                <a:cs typeface="Courier New"/>
              </a:rPr>
              <a:t>d</a:t>
            </a:r>
            <a:r>
              <a:rPr sz="2400" spc="5" dirty="0">
                <a:latin typeface="Courier New"/>
                <a:cs typeface="Courier New"/>
              </a:rPr>
              <a:t> </a:t>
            </a:r>
            <a:r>
              <a:rPr sz="2400" spc="-170" dirty="0">
                <a:latin typeface="Courier New"/>
                <a:cs typeface="Courier New"/>
              </a:rPr>
              <a:t>b</a:t>
            </a:r>
            <a:r>
              <a:rPr sz="2400" dirty="0">
                <a:latin typeface="Courier New"/>
                <a:cs typeface="Courier New"/>
              </a:rPr>
              <a:t>y</a:t>
            </a:r>
            <a:r>
              <a:rPr sz="2400" spc="-33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t</a:t>
            </a:r>
            <a:r>
              <a:rPr sz="2400" spc="-50" dirty="0">
                <a:latin typeface="Courier New"/>
                <a:cs typeface="Courier New"/>
              </a:rPr>
              <a:t>h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-245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CT 	</a:t>
            </a:r>
            <a:r>
              <a:rPr sz="2400" spc="-5" dirty="0">
                <a:latin typeface="Courier New"/>
                <a:cs typeface="Courier New"/>
              </a:rPr>
              <a:t>Manage</a:t>
            </a:r>
            <a:r>
              <a:rPr sz="2400" dirty="0">
                <a:latin typeface="Courier New"/>
                <a:cs typeface="Courier New"/>
              </a:rPr>
              <a:t>r.</a:t>
            </a:r>
            <a:r>
              <a:rPr sz="2400" spc="73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T</a:t>
            </a:r>
            <a:r>
              <a:rPr sz="2400" spc="-75" dirty="0">
                <a:latin typeface="Courier New"/>
                <a:cs typeface="Courier New"/>
              </a:rPr>
              <a:t>h</a:t>
            </a:r>
            <a:r>
              <a:rPr sz="2400" spc="-25" dirty="0">
                <a:latin typeface="Courier New"/>
                <a:cs typeface="Courier New"/>
              </a:rPr>
              <a:t>es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740" dirty="0">
                <a:latin typeface="Courier New"/>
                <a:cs typeface="Courier New"/>
              </a:rPr>
              <a:t> </a:t>
            </a:r>
            <a:r>
              <a:rPr sz="2400" spc="-220" dirty="0">
                <a:latin typeface="Courier New"/>
                <a:cs typeface="Courier New"/>
              </a:rPr>
              <a:t>S</a:t>
            </a:r>
            <a:r>
              <a:rPr sz="2400" spc="-5" dirty="0">
                <a:latin typeface="Courier New"/>
                <a:cs typeface="Courier New"/>
              </a:rPr>
              <a:t>ME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74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c</a:t>
            </a:r>
            <a:r>
              <a:rPr sz="2400" spc="-50" dirty="0">
                <a:latin typeface="Courier New"/>
                <a:cs typeface="Courier New"/>
              </a:rPr>
              <a:t>o</a:t>
            </a:r>
            <a:r>
              <a:rPr sz="2400" spc="-25" dirty="0">
                <a:latin typeface="Courier New"/>
                <a:cs typeface="Courier New"/>
              </a:rPr>
              <a:t>ns</a:t>
            </a:r>
            <a:r>
              <a:rPr sz="2400" spc="-5" dirty="0">
                <a:latin typeface="Courier New"/>
                <a:cs typeface="Courier New"/>
              </a:rPr>
              <a:t>ul</a:t>
            </a:r>
            <a:r>
              <a:rPr sz="2400" spc="-25" dirty="0">
                <a:latin typeface="Courier New"/>
                <a:cs typeface="Courier New"/>
              </a:rPr>
              <a:t>t</a:t>
            </a:r>
            <a:r>
              <a:rPr sz="2400" dirty="0">
                <a:latin typeface="Courier New"/>
                <a:cs typeface="Courier New"/>
              </a:rPr>
              <a:t>,</a:t>
            </a:r>
            <a:r>
              <a:rPr sz="2400" spc="740" dirty="0">
                <a:latin typeface="Courier New"/>
                <a:cs typeface="Courier New"/>
              </a:rPr>
              <a:t> </a:t>
            </a:r>
            <a:r>
              <a:rPr sz="2400" spc="-95" dirty="0">
                <a:latin typeface="Courier New"/>
                <a:cs typeface="Courier New"/>
              </a:rPr>
              <a:t>a</a:t>
            </a:r>
            <a:r>
              <a:rPr sz="2400" spc="-50" dirty="0">
                <a:latin typeface="Courier New"/>
                <a:cs typeface="Courier New"/>
              </a:rPr>
              <a:t>d</a:t>
            </a:r>
            <a:r>
              <a:rPr sz="2400" spc="-70" dirty="0">
                <a:latin typeface="Courier New"/>
                <a:cs typeface="Courier New"/>
              </a:rPr>
              <a:t>v</a:t>
            </a:r>
            <a:r>
              <a:rPr sz="2400" spc="-5" dirty="0">
                <a:latin typeface="Courier New"/>
                <a:cs typeface="Courier New"/>
              </a:rPr>
              <a:t>ise</a:t>
            </a:r>
            <a:r>
              <a:rPr sz="2400" dirty="0">
                <a:latin typeface="Courier New"/>
                <a:cs typeface="Courier New"/>
              </a:rPr>
              <a:t>,</a:t>
            </a:r>
            <a:r>
              <a:rPr sz="2400" spc="73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a</a:t>
            </a:r>
            <a:r>
              <a:rPr sz="2400" spc="-50" dirty="0">
                <a:latin typeface="Courier New"/>
                <a:cs typeface="Courier New"/>
              </a:rPr>
              <a:t>n</a:t>
            </a:r>
            <a:r>
              <a:rPr sz="2400" dirty="0">
                <a:latin typeface="Courier New"/>
                <a:cs typeface="Courier New"/>
              </a:rPr>
              <a:t>d</a:t>
            </a:r>
            <a:r>
              <a:rPr sz="2400" spc="695" dirty="0">
                <a:latin typeface="Courier New"/>
                <a:cs typeface="Courier New"/>
              </a:rPr>
              <a:t> </a:t>
            </a:r>
            <a:r>
              <a:rPr sz="2400" spc="-125" dirty="0">
                <a:latin typeface="Courier New"/>
                <a:cs typeface="Courier New"/>
              </a:rPr>
              <a:t>s</a:t>
            </a:r>
            <a:r>
              <a:rPr sz="2400" spc="-25" dirty="0">
                <a:latin typeface="Courier New"/>
                <a:cs typeface="Courier New"/>
              </a:rPr>
              <a:t>u</a:t>
            </a:r>
            <a:r>
              <a:rPr sz="2400" spc="-5" dirty="0">
                <a:latin typeface="Courier New"/>
                <a:cs typeface="Courier New"/>
              </a:rPr>
              <a:t>pp</a:t>
            </a:r>
            <a:r>
              <a:rPr sz="2400" spc="20" dirty="0">
                <a:latin typeface="Courier New"/>
                <a:cs typeface="Courier New"/>
              </a:rPr>
              <a:t>or</a:t>
            </a:r>
            <a:r>
              <a:rPr sz="2400" dirty="0">
                <a:latin typeface="Courier New"/>
                <a:cs typeface="Courier New"/>
              </a:rPr>
              <a:t>t</a:t>
            </a:r>
            <a:r>
              <a:rPr sz="2400" spc="960" dirty="0">
                <a:latin typeface="Courier New"/>
                <a:cs typeface="Courier New"/>
              </a:rPr>
              <a:t> </a:t>
            </a:r>
            <a:r>
              <a:rPr sz="2400" spc="-170" dirty="0">
                <a:latin typeface="Courier New"/>
                <a:cs typeface="Courier New"/>
              </a:rPr>
              <a:t>t</a:t>
            </a:r>
            <a:r>
              <a:rPr sz="2400" spc="-75" dirty="0">
                <a:latin typeface="Courier New"/>
                <a:cs typeface="Courier New"/>
              </a:rPr>
              <a:t>h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71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CT 	</a:t>
            </a:r>
            <a:r>
              <a:rPr sz="2400" spc="-5" dirty="0">
                <a:latin typeface="Courier New"/>
                <a:cs typeface="Courier New"/>
              </a:rPr>
              <a:t>Manage</a:t>
            </a:r>
            <a:r>
              <a:rPr sz="2400" dirty="0">
                <a:latin typeface="Courier New"/>
                <a:cs typeface="Courier New"/>
              </a:rPr>
              <a:t>r</a:t>
            </a:r>
            <a:r>
              <a:rPr sz="2400" spc="-72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an</a:t>
            </a:r>
            <a:r>
              <a:rPr sz="2400" dirty="0">
                <a:latin typeface="Courier New"/>
                <a:cs typeface="Courier New"/>
              </a:rPr>
              <a:t>d</a:t>
            </a:r>
            <a:r>
              <a:rPr sz="2400" spc="-795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th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-795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team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a</a:t>
            </a:r>
            <a:r>
              <a:rPr sz="2400" spc="-5" dirty="0">
                <a:latin typeface="Courier New"/>
                <a:cs typeface="Courier New"/>
              </a:rPr>
              <a:t>ssigne</a:t>
            </a:r>
            <a:r>
              <a:rPr sz="2400" dirty="0">
                <a:latin typeface="Courier New"/>
                <a:cs typeface="Courier New"/>
              </a:rPr>
              <a:t>d</a:t>
            </a:r>
            <a:r>
              <a:rPr sz="2400" spc="-795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t</a:t>
            </a:r>
            <a:r>
              <a:rPr sz="2400" dirty="0">
                <a:latin typeface="Courier New"/>
                <a:cs typeface="Courier New"/>
              </a:rPr>
              <a:t>o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80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proj</a:t>
            </a:r>
            <a:r>
              <a:rPr sz="2400" spc="-25" dirty="0">
                <a:latin typeface="Courier New"/>
                <a:cs typeface="Courier New"/>
              </a:rPr>
              <a:t>e</a:t>
            </a:r>
            <a:r>
              <a:rPr sz="2400" spc="-5" dirty="0">
                <a:latin typeface="Courier New"/>
                <a:cs typeface="Courier New"/>
              </a:rPr>
              <a:t>c</a:t>
            </a:r>
            <a:r>
              <a:rPr sz="2400" dirty="0">
                <a:latin typeface="Courier New"/>
                <a:cs typeface="Courier New"/>
              </a:rPr>
              <a:t>t.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Core</a:t>
            </a:r>
            <a:r>
              <a:rPr spc="-1235" dirty="0"/>
              <a:t> </a:t>
            </a:r>
            <a:r>
              <a:rPr spc="-10" dirty="0"/>
              <a:t>Team</a:t>
            </a:r>
            <a:r>
              <a:rPr spc="-1275" dirty="0"/>
              <a:t> </a:t>
            </a:r>
            <a:r>
              <a:rPr spc="-10" dirty="0"/>
              <a:t>Structure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71524" y="1966340"/>
            <a:ext cx="35375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Core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Team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Structure</a:t>
            </a:r>
            <a:endParaRPr sz="2400">
              <a:latin typeface="Courier New"/>
              <a:cs typeface="Courier New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0976" y="1716023"/>
            <a:ext cx="6995159" cy="442569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Core</a:t>
            </a:r>
            <a:r>
              <a:rPr spc="-1235" dirty="0"/>
              <a:t> </a:t>
            </a:r>
            <a:r>
              <a:rPr spc="-10" dirty="0"/>
              <a:t>Team</a:t>
            </a:r>
            <a:r>
              <a:rPr spc="-1275" dirty="0"/>
              <a:t> </a:t>
            </a:r>
            <a:r>
              <a:rPr spc="-10" dirty="0"/>
              <a:t>Structure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69" y="1783079"/>
            <a:ext cx="11761470" cy="44268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00455" marR="7620" indent="-227329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1101725" algn="l"/>
              </a:tabLst>
            </a:pP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roles</a:t>
            </a:r>
            <a:r>
              <a:rPr sz="2400" spc="-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and</a:t>
            </a:r>
            <a:r>
              <a:rPr sz="2400" spc="-1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responsibilities</a:t>
            </a:r>
            <a:r>
              <a:rPr sz="2400" spc="-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of</a:t>
            </a:r>
            <a:r>
              <a:rPr sz="2400" spc="-3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CT</a:t>
            </a:r>
            <a:r>
              <a:rPr sz="2400" spc="-14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and</a:t>
            </a:r>
            <a:r>
              <a:rPr sz="2400" spc="-10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CT</a:t>
            </a:r>
            <a:r>
              <a:rPr sz="2400" spc="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Manager 	include:</a:t>
            </a:r>
            <a:endParaRPr sz="2400" dirty="0">
              <a:latin typeface="Courier New"/>
              <a:cs typeface="Courier New"/>
            </a:endParaRPr>
          </a:p>
          <a:p>
            <a:pPr marL="1597025" lvl="1" indent="-26670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1597025" algn="l"/>
              </a:tabLst>
            </a:pPr>
            <a:r>
              <a:rPr sz="2400" spc="-10" dirty="0">
                <a:latin typeface="Courier New"/>
                <a:cs typeface="Courier New"/>
              </a:rPr>
              <a:t>Advise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each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team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on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technical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matters</a:t>
            </a:r>
            <a:endParaRPr sz="2400" dirty="0">
              <a:latin typeface="Courier New"/>
              <a:cs typeface="Courier New"/>
            </a:endParaRPr>
          </a:p>
          <a:p>
            <a:pPr marL="1596390" marR="5080" lvl="1" indent="-266700">
              <a:lnSpc>
                <a:spcPct val="150100"/>
              </a:lnSpc>
              <a:spcBef>
                <a:spcPts val="980"/>
              </a:spcBef>
              <a:buFont typeface="Arial MT"/>
              <a:buChar char="•"/>
              <a:tabLst>
                <a:tab pos="1598295" algn="l"/>
              </a:tabLst>
            </a:pPr>
            <a:r>
              <a:rPr sz="2400" spc="-10" dirty="0">
                <a:latin typeface="Courier New"/>
                <a:cs typeface="Courier New"/>
              </a:rPr>
              <a:t>Provide</a:t>
            </a:r>
            <a:r>
              <a:rPr sz="2400" spc="-355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subject</a:t>
            </a:r>
            <a:r>
              <a:rPr sz="2400" spc="-370" dirty="0">
                <a:latin typeface="Courier New"/>
                <a:cs typeface="Courier New"/>
              </a:rPr>
              <a:t> </a:t>
            </a:r>
            <a:r>
              <a:rPr sz="2400" spc="-40" dirty="0">
                <a:latin typeface="Courier New"/>
                <a:cs typeface="Courier New"/>
              </a:rPr>
              <a:t>matter</a:t>
            </a:r>
            <a:r>
              <a:rPr sz="2400" spc="-340" dirty="0">
                <a:latin typeface="Courier New"/>
                <a:cs typeface="Courier New"/>
              </a:rPr>
              <a:t> </a:t>
            </a:r>
            <a:r>
              <a:rPr sz="2400" spc="-30" dirty="0">
                <a:latin typeface="Courier New"/>
                <a:cs typeface="Courier New"/>
              </a:rPr>
              <a:t>expertise</a:t>
            </a:r>
            <a:r>
              <a:rPr sz="2400" spc="-370" dirty="0">
                <a:latin typeface="Courier New"/>
                <a:cs typeface="Courier New"/>
              </a:rPr>
              <a:t> </a:t>
            </a:r>
            <a:r>
              <a:rPr sz="2400" spc="-110" dirty="0">
                <a:latin typeface="Courier New"/>
                <a:cs typeface="Courier New"/>
              </a:rPr>
              <a:t>on</a:t>
            </a:r>
            <a:r>
              <a:rPr sz="2400" spc="-34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enterprise</a:t>
            </a:r>
            <a:r>
              <a:rPr sz="2400" spc="-3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systems</a:t>
            </a:r>
            <a:r>
              <a:rPr sz="2400" spc="-28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and 	</a:t>
            </a:r>
            <a:r>
              <a:rPr sz="2400" spc="-10" dirty="0">
                <a:latin typeface="Courier New"/>
                <a:cs typeface="Courier New"/>
              </a:rPr>
              <a:t>processes</a:t>
            </a:r>
            <a:endParaRPr sz="2400" dirty="0">
              <a:latin typeface="Courier New"/>
              <a:cs typeface="Courier New"/>
            </a:endParaRPr>
          </a:p>
          <a:p>
            <a:pPr marL="1597025" lvl="1" indent="-26670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1597025" algn="l"/>
              </a:tabLst>
            </a:pPr>
            <a:r>
              <a:rPr sz="2400" spc="-10" dirty="0">
                <a:latin typeface="Courier New"/>
                <a:cs typeface="Courier New"/>
              </a:rPr>
              <a:t>Support</a:t>
            </a:r>
            <a:r>
              <a:rPr sz="2400" spc="-70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each</a:t>
            </a:r>
            <a:r>
              <a:rPr sz="2400" spc="-78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team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as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requested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and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as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needed</a:t>
            </a:r>
            <a:endParaRPr sz="2400" dirty="0">
              <a:latin typeface="Courier New"/>
              <a:cs typeface="Courier New"/>
            </a:endParaRPr>
          </a:p>
          <a:p>
            <a:pPr marL="1597025" lvl="1" indent="-26670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1597025" algn="l"/>
              </a:tabLst>
            </a:pPr>
            <a:r>
              <a:rPr sz="2400" spc="-10" dirty="0">
                <a:latin typeface="Courier New"/>
                <a:cs typeface="Courier New"/>
              </a:rPr>
              <a:t>Collaborate</a:t>
            </a:r>
            <a:r>
              <a:rPr sz="2400" spc="-72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with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and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advise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CT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Manager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as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 smtClean="0">
                <a:latin typeface="Courier New"/>
                <a:cs typeface="Courier New"/>
              </a:rPr>
              <a:t>requested</a:t>
            </a:r>
            <a:endParaRPr sz="24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Super</a:t>
            </a:r>
            <a:r>
              <a:rPr spc="-1230" dirty="0"/>
              <a:t> </a:t>
            </a:r>
            <a:r>
              <a:rPr spc="-10" dirty="0"/>
              <a:t>Team</a:t>
            </a:r>
            <a:r>
              <a:rPr spc="-1275" dirty="0"/>
              <a:t> </a:t>
            </a:r>
            <a:r>
              <a:rPr spc="-10" dirty="0"/>
              <a:t>Structure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609600" y="1600200"/>
            <a:ext cx="10972800" cy="25981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solidFill>
                  <a:schemeClr val="bg1"/>
                </a:solidFill>
              </a:rPr>
              <a:t>A</a:t>
            </a:r>
            <a:r>
              <a:rPr spc="-505" dirty="0">
                <a:solidFill>
                  <a:schemeClr val="bg1"/>
                </a:solidFill>
              </a:rPr>
              <a:t> </a:t>
            </a:r>
            <a:r>
              <a:rPr b="1" spc="-100" dirty="0">
                <a:solidFill>
                  <a:schemeClr val="bg1"/>
                </a:solidFill>
                <a:latin typeface="Courier New"/>
                <a:cs typeface="Courier New"/>
              </a:rPr>
              <a:t>S</a:t>
            </a:r>
            <a:r>
              <a:rPr b="1" spc="-50" dirty="0">
                <a:solidFill>
                  <a:schemeClr val="bg1"/>
                </a:solidFill>
                <a:latin typeface="Courier New"/>
                <a:cs typeface="Courier New"/>
              </a:rPr>
              <a:t>u</a:t>
            </a:r>
            <a:r>
              <a:rPr b="1" spc="-25" dirty="0">
                <a:solidFill>
                  <a:schemeClr val="bg1"/>
                </a:solidFill>
                <a:latin typeface="Courier New"/>
                <a:cs typeface="Courier New"/>
              </a:rPr>
              <a:t>pe</a:t>
            </a: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r</a:t>
            </a:r>
            <a:r>
              <a:rPr b="1" spc="-2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b="1" spc="-5" dirty="0">
                <a:solidFill>
                  <a:schemeClr val="bg1"/>
                </a:solidFill>
                <a:latin typeface="Courier New"/>
                <a:cs typeface="Courier New"/>
              </a:rPr>
              <a:t>Tea</a:t>
            </a: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m </a:t>
            </a:r>
            <a:r>
              <a:rPr spc="-5" dirty="0">
                <a:solidFill>
                  <a:schemeClr val="bg1"/>
                </a:solidFill>
              </a:rPr>
              <a:t>(ST</a:t>
            </a:r>
            <a:r>
              <a:rPr dirty="0">
                <a:solidFill>
                  <a:schemeClr val="bg1"/>
                </a:solidFill>
              </a:rPr>
              <a:t>)</a:t>
            </a:r>
            <a:r>
              <a:rPr spc="-74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is</a:t>
            </a:r>
            <a:r>
              <a:rPr spc="-50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</a:t>
            </a:r>
            <a:r>
              <a:rPr spc="-675" dirty="0">
                <a:solidFill>
                  <a:schemeClr val="bg1"/>
                </a:solidFill>
              </a:rPr>
              <a:t> </a:t>
            </a:r>
            <a:r>
              <a:rPr spc="-125" dirty="0">
                <a:solidFill>
                  <a:schemeClr val="bg1"/>
                </a:solidFill>
              </a:rPr>
              <a:t>t</a:t>
            </a:r>
            <a:r>
              <a:rPr spc="-75" dirty="0">
                <a:solidFill>
                  <a:schemeClr val="bg1"/>
                </a:solidFill>
              </a:rPr>
              <a:t>e</a:t>
            </a:r>
            <a:r>
              <a:rPr spc="-25" dirty="0">
                <a:solidFill>
                  <a:schemeClr val="bg1"/>
                </a:solidFill>
              </a:rPr>
              <a:t>mpo</a:t>
            </a:r>
            <a:r>
              <a:rPr spc="-5" dirty="0">
                <a:solidFill>
                  <a:schemeClr val="bg1"/>
                </a:solidFill>
              </a:rPr>
              <a:t>rar</a:t>
            </a:r>
            <a:r>
              <a:rPr dirty="0">
                <a:solidFill>
                  <a:schemeClr val="bg1"/>
                </a:solidFill>
              </a:rPr>
              <a:t>y</a:t>
            </a:r>
            <a:r>
              <a:rPr spc="-530" dirty="0">
                <a:solidFill>
                  <a:schemeClr val="bg1"/>
                </a:solidFill>
              </a:rPr>
              <a:t> </a:t>
            </a:r>
            <a:r>
              <a:rPr spc="-95" dirty="0">
                <a:solidFill>
                  <a:schemeClr val="bg1"/>
                </a:solidFill>
              </a:rPr>
              <a:t>m</a:t>
            </a:r>
            <a:r>
              <a:rPr spc="-50" dirty="0">
                <a:solidFill>
                  <a:schemeClr val="bg1"/>
                </a:solidFill>
              </a:rPr>
              <a:t>a</a:t>
            </a:r>
            <a:r>
              <a:rPr spc="-70" dirty="0">
                <a:solidFill>
                  <a:schemeClr val="bg1"/>
                </a:solidFill>
              </a:rPr>
              <a:t>n</a:t>
            </a:r>
            <a:r>
              <a:rPr spc="-5" dirty="0">
                <a:solidFill>
                  <a:schemeClr val="bg1"/>
                </a:solidFill>
              </a:rPr>
              <a:t>age</a:t>
            </a:r>
            <a:r>
              <a:rPr spc="5" dirty="0">
                <a:solidFill>
                  <a:schemeClr val="bg1"/>
                </a:solidFill>
              </a:rPr>
              <a:t>m</a:t>
            </a:r>
            <a:r>
              <a:rPr spc="-5" dirty="0">
                <a:solidFill>
                  <a:schemeClr val="bg1"/>
                </a:solidFill>
              </a:rPr>
              <a:t>en</a:t>
            </a:r>
            <a:r>
              <a:rPr dirty="0">
                <a:solidFill>
                  <a:schemeClr val="bg1"/>
                </a:solidFill>
              </a:rPr>
              <a:t>t</a:t>
            </a:r>
            <a:r>
              <a:rPr spc="-540" dirty="0">
                <a:solidFill>
                  <a:schemeClr val="bg1"/>
                </a:solidFill>
              </a:rPr>
              <a:t> </a:t>
            </a:r>
            <a:r>
              <a:rPr spc="-100" dirty="0">
                <a:solidFill>
                  <a:schemeClr val="bg1"/>
                </a:solidFill>
              </a:rPr>
              <a:t>s</a:t>
            </a:r>
            <a:r>
              <a:rPr spc="-50" dirty="0">
                <a:solidFill>
                  <a:schemeClr val="bg1"/>
                </a:solidFill>
              </a:rPr>
              <a:t>t</a:t>
            </a:r>
            <a:r>
              <a:rPr spc="-25" dirty="0">
                <a:solidFill>
                  <a:schemeClr val="bg1"/>
                </a:solidFill>
              </a:rPr>
              <a:t>ru</a:t>
            </a:r>
            <a:r>
              <a:rPr spc="20" dirty="0">
                <a:solidFill>
                  <a:schemeClr val="bg1"/>
                </a:solidFill>
              </a:rPr>
              <a:t>ctur</a:t>
            </a:r>
            <a:r>
              <a:rPr dirty="0">
                <a:solidFill>
                  <a:schemeClr val="bg1"/>
                </a:solidFill>
              </a:rPr>
              <a:t>e</a:t>
            </a:r>
            <a:r>
              <a:rPr spc="-685" dirty="0">
                <a:solidFill>
                  <a:schemeClr val="bg1"/>
                </a:solidFill>
              </a:rPr>
              <a:t> </a:t>
            </a:r>
            <a:r>
              <a:rPr spc="25" dirty="0">
                <a:solidFill>
                  <a:schemeClr val="bg1"/>
                </a:solidFill>
              </a:rPr>
              <a:t>use</a:t>
            </a:r>
            <a:r>
              <a:rPr dirty="0">
                <a:solidFill>
                  <a:schemeClr val="bg1"/>
                </a:solidFill>
              </a:rPr>
              <a:t>d</a:t>
            </a:r>
            <a:r>
              <a:rPr spc="-465" dirty="0">
                <a:solidFill>
                  <a:schemeClr val="bg1"/>
                </a:solidFill>
              </a:rPr>
              <a:t> </a:t>
            </a:r>
            <a:r>
              <a:rPr spc="-75" dirty="0">
                <a:solidFill>
                  <a:schemeClr val="bg1"/>
                </a:solidFill>
              </a:rPr>
              <a:t>f</a:t>
            </a:r>
            <a:r>
              <a:rPr spc="-50" dirty="0">
                <a:solidFill>
                  <a:schemeClr val="bg1"/>
                </a:solidFill>
              </a:rPr>
              <a:t>o</a:t>
            </a:r>
            <a:r>
              <a:rPr dirty="0">
                <a:solidFill>
                  <a:schemeClr val="bg1"/>
                </a:solidFill>
              </a:rPr>
              <a:t>r 	a</a:t>
            </a:r>
            <a:r>
              <a:rPr spc="215" dirty="0">
                <a:solidFill>
                  <a:schemeClr val="bg1"/>
                </a:solidFill>
              </a:rPr>
              <a:t> </a:t>
            </a:r>
            <a:r>
              <a:rPr spc="-100" dirty="0">
                <a:solidFill>
                  <a:schemeClr val="bg1"/>
                </a:solidFill>
              </a:rPr>
              <a:t>s</a:t>
            </a:r>
            <a:r>
              <a:rPr spc="-50" dirty="0">
                <a:solidFill>
                  <a:schemeClr val="bg1"/>
                </a:solidFill>
              </a:rPr>
              <a:t>i</a:t>
            </a:r>
            <a:r>
              <a:rPr spc="-25" dirty="0">
                <a:solidFill>
                  <a:schemeClr val="bg1"/>
                </a:solidFill>
              </a:rPr>
              <a:t>ngl</a:t>
            </a:r>
            <a:r>
              <a:rPr dirty="0">
                <a:solidFill>
                  <a:schemeClr val="bg1"/>
                </a:solidFill>
              </a:rPr>
              <a:t>e</a:t>
            </a:r>
            <a:r>
              <a:rPr spc="215" dirty="0">
                <a:solidFill>
                  <a:schemeClr val="bg1"/>
                </a:solidFill>
              </a:rPr>
              <a:t> </a:t>
            </a:r>
            <a:r>
              <a:rPr spc="-125" dirty="0">
                <a:solidFill>
                  <a:schemeClr val="bg1"/>
                </a:solidFill>
              </a:rPr>
              <a:t>p</a:t>
            </a:r>
            <a:r>
              <a:rPr spc="-50" dirty="0">
                <a:solidFill>
                  <a:schemeClr val="bg1"/>
                </a:solidFill>
              </a:rPr>
              <a:t>r</a:t>
            </a:r>
            <a:r>
              <a:rPr spc="-25" dirty="0">
                <a:solidFill>
                  <a:schemeClr val="bg1"/>
                </a:solidFill>
              </a:rPr>
              <a:t>oj</a:t>
            </a:r>
            <a:r>
              <a:rPr spc="-5" dirty="0">
                <a:solidFill>
                  <a:schemeClr val="bg1"/>
                </a:solidFill>
              </a:rPr>
              <a:t>ec</a:t>
            </a:r>
            <a:r>
              <a:rPr dirty="0">
                <a:solidFill>
                  <a:schemeClr val="bg1"/>
                </a:solidFill>
              </a:rPr>
              <a:t>t</a:t>
            </a:r>
            <a:r>
              <a:rPr spc="-2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that</a:t>
            </a:r>
            <a:r>
              <a:rPr spc="210" dirty="0">
                <a:solidFill>
                  <a:schemeClr val="bg1"/>
                </a:solidFill>
              </a:rPr>
              <a:t> </a:t>
            </a:r>
            <a:r>
              <a:rPr spc="-100" dirty="0">
                <a:solidFill>
                  <a:schemeClr val="bg1"/>
                </a:solidFill>
              </a:rPr>
              <a:t>i</a:t>
            </a:r>
            <a:r>
              <a:rPr spc="-75" dirty="0">
                <a:solidFill>
                  <a:schemeClr val="bg1"/>
                </a:solidFill>
              </a:rPr>
              <a:t>n</a:t>
            </a:r>
            <a:r>
              <a:rPr spc="-25" dirty="0">
                <a:solidFill>
                  <a:schemeClr val="bg1"/>
                </a:solidFill>
              </a:rPr>
              <a:t>te</a:t>
            </a:r>
            <a:r>
              <a:rPr spc="-5" dirty="0">
                <a:solidFill>
                  <a:schemeClr val="bg1"/>
                </a:solidFill>
              </a:rPr>
              <a:t>grate</a:t>
            </a:r>
            <a:r>
              <a:rPr dirty="0">
                <a:solidFill>
                  <a:schemeClr val="bg1"/>
                </a:solidFill>
              </a:rPr>
              <a:t>s</a:t>
            </a:r>
            <a:r>
              <a:rPr spc="195" dirty="0">
                <a:solidFill>
                  <a:schemeClr val="bg1"/>
                </a:solidFill>
              </a:rPr>
              <a:t> </a:t>
            </a:r>
            <a:r>
              <a:rPr spc="-220" dirty="0">
                <a:solidFill>
                  <a:schemeClr val="bg1"/>
                </a:solidFill>
              </a:rPr>
              <a:t>s</a:t>
            </a:r>
            <a:r>
              <a:rPr spc="-5" dirty="0">
                <a:solidFill>
                  <a:schemeClr val="bg1"/>
                </a:solidFill>
              </a:rPr>
              <a:t>evera</a:t>
            </a:r>
            <a:r>
              <a:rPr dirty="0">
                <a:solidFill>
                  <a:schemeClr val="bg1"/>
                </a:solidFill>
              </a:rPr>
              <a:t>l</a:t>
            </a:r>
            <a:r>
              <a:rPr spc="190" dirty="0">
                <a:solidFill>
                  <a:schemeClr val="bg1"/>
                </a:solidFill>
              </a:rPr>
              <a:t> </a:t>
            </a:r>
            <a:r>
              <a:rPr spc="-100" dirty="0">
                <a:solidFill>
                  <a:schemeClr val="bg1"/>
                </a:solidFill>
              </a:rPr>
              <a:t>i</a:t>
            </a:r>
            <a:r>
              <a:rPr spc="-50" dirty="0">
                <a:solidFill>
                  <a:schemeClr val="bg1"/>
                </a:solidFill>
              </a:rPr>
              <a:t>n</a:t>
            </a:r>
            <a:r>
              <a:rPr spc="-5" dirty="0">
                <a:solidFill>
                  <a:schemeClr val="bg1"/>
                </a:solidFill>
              </a:rPr>
              <a:t>de</a:t>
            </a:r>
            <a:r>
              <a:rPr spc="20" dirty="0">
                <a:solidFill>
                  <a:schemeClr val="bg1"/>
                </a:solidFill>
              </a:rPr>
              <a:t>pende</a:t>
            </a:r>
            <a:r>
              <a:rPr spc="-5" dirty="0">
                <a:solidFill>
                  <a:schemeClr val="bg1"/>
                </a:solidFill>
              </a:rPr>
              <a:t>n</a:t>
            </a:r>
            <a:r>
              <a:rPr dirty="0">
                <a:solidFill>
                  <a:schemeClr val="bg1"/>
                </a:solidFill>
              </a:rPr>
              <a:t>t</a:t>
            </a:r>
            <a:r>
              <a:rPr spc="280" dirty="0">
                <a:solidFill>
                  <a:schemeClr val="bg1"/>
                </a:solidFill>
              </a:rPr>
              <a:t> </a:t>
            </a:r>
            <a:r>
              <a:rPr spc="-75" dirty="0">
                <a:solidFill>
                  <a:schemeClr val="bg1"/>
                </a:solidFill>
              </a:rPr>
              <a:t>t</a:t>
            </a:r>
            <a:r>
              <a:rPr spc="-25" dirty="0">
                <a:solidFill>
                  <a:schemeClr val="bg1"/>
                </a:solidFill>
              </a:rPr>
              <a:t>e</a:t>
            </a:r>
            <a:r>
              <a:rPr spc="-5" dirty="0">
                <a:solidFill>
                  <a:schemeClr val="bg1"/>
                </a:solidFill>
              </a:rPr>
              <a:t>ams 	int</a:t>
            </a:r>
            <a:r>
              <a:rPr dirty="0">
                <a:solidFill>
                  <a:schemeClr val="bg1"/>
                </a:solidFill>
              </a:rPr>
              <a:t>o</a:t>
            </a:r>
            <a:r>
              <a:rPr spc="-12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</a:t>
            </a:r>
            <a:r>
              <a:rPr spc="-265" dirty="0">
                <a:solidFill>
                  <a:schemeClr val="bg1"/>
                </a:solidFill>
              </a:rPr>
              <a:t> </a:t>
            </a:r>
            <a:r>
              <a:rPr spc="-125" dirty="0">
                <a:solidFill>
                  <a:schemeClr val="bg1"/>
                </a:solidFill>
              </a:rPr>
              <a:t>s</a:t>
            </a:r>
            <a:r>
              <a:rPr spc="-75" dirty="0">
                <a:solidFill>
                  <a:schemeClr val="bg1"/>
                </a:solidFill>
              </a:rPr>
              <a:t>i</a:t>
            </a:r>
            <a:r>
              <a:rPr spc="-25" dirty="0">
                <a:solidFill>
                  <a:schemeClr val="bg1"/>
                </a:solidFill>
              </a:rPr>
              <a:t>ngl</a:t>
            </a:r>
            <a:r>
              <a:rPr dirty="0">
                <a:solidFill>
                  <a:schemeClr val="bg1"/>
                </a:solidFill>
              </a:rPr>
              <a:t>e</a:t>
            </a:r>
            <a:r>
              <a:rPr spc="-120" dirty="0">
                <a:solidFill>
                  <a:schemeClr val="bg1"/>
                </a:solidFill>
              </a:rPr>
              <a:t> </a:t>
            </a:r>
            <a:r>
              <a:rPr spc="-100" dirty="0">
                <a:solidFill>
                  <a:schemeClr val="bg1"/>
                </a:solidFill>
              </a:rPr>
              <a:t>t</a:t>
            </a:r>
            <a:r>
              <a:rPr spc="-50" dirty="0">
                <a:solidFill>
                  <a:schemeClr val="bg1"/>
                </a:solidFill>
              </a:rPr>
              <a:t>e</a:t>
            </a:r>
            <a:r>
              <a:rPr spc="-75" dirty="0">
                <a:solidFill>
                  <a:schemeClr val="bg1"/>
                </a:solidFill>
              </a:rPr>
              <a:t>a</a:t>
            </a:r>
            <a:r>
              <a:rPr dirty="0">
                <a:solidFill>
                  <a:schemeClr val="bg1"/>
                </a:solidFill>
              </a:rPr>
              <a:t>m</a:t>
            </a:r>
            <a:r>
              <a:rPr spc="-120" dirty="0">
                <a:solidFill>
                  <a:schemeClr val="bg1"/>
                </a:solidFill>
              </a:rPr>
              <a:t> </a:t>
            </a:r>
            <a:r>
              <a:rPr spc="-100" dirty="0">
                <a:solidFill>
                  <a:schemeClr val="bg1"/>
                </a:solidFill>
              </a:rPr>
              <a:t>m</a:t>
            </a:r>
            <a:r>
              <a:rPr spc="-50" dirty="0">
                <a:solidFill>
                  <a:schemeClr val="bg1"/>
                </a:solidFill>
              </a:rPr>
              <a:t>a</a:t>
            </a:r>
            <a:r>
              <a:rPr spc="-25" dirty="0">
                <a:solidFill>
                  <a:schemeClr val="bg1"/>
                </a:solidFill>
              </a:rPr>
              <a:t>na</a:t>
            </a:r>
            <a:r>
              <a:rPr spc="-5" dirty="0">
                <a:solidFill>
                  <a:schemeClr val="bg1"/>
                </a:solidFill>
              </a:rPr>
              <a:t>ge</a:t>
            </a:r>
            <a:r>
              <a:rPr dirty="0">
                <a:solidFill>
                  <a:schemeClr val="bg1"/>
                </a:solidFill>
              </a:rPr>
              <a:t>d</a:t>
            </a:r>
            <a:r>
              <a:rPr spc="-120" dirty="0">
                <a:solidFill>
                  <a:schemeClr val="bg1"/>
                </a:solidFill>
              </a:rPr>
              <a:t> </a:t>
            </a:r>
            <a:r>
              <a:rPr spc="-100" dirty="0">
                <a:solidFill>
                  <a:schemeClr val="bg1"/>
                </a:solidFill>
              </a:rPr>
              <a:t>b</a:t>
            </a:r>
            <a:r>
              <a:rPr dirty="0">
                <a:solidFill>
                  <a:schemeClr val="bg1"/>
                </a:solidFill>
              </a:rPr>
              <a:t>y</a:t>
            </a:r>
            <a:r>
              <a:rPr spc="-22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</a:t>
            </a:r>
            <a:r>
              <a:rPr spc="-290" dirty="0">
                <a:solidFill>
                  <a:schemeClr val="bg1"/>
                </a:solidFill>
              </a:rPr>
              <a:t> </a:t>
            </a:r>
            <a:r>
              <a:rPr spc="-120" dirty="0">
                <a:solidFill>
                  <a:schemeClr val="bg1"/>
                </a:solidFill>
              </a:rPr>
              <a:t>s</a:t>
            </a:r>
            <a:r>
              <a:rPr spc="-145" dirty="0">
                <a:solidFill>
                  <a:schemeClr val="bg1"/>
                </a:solidFill>
              </a:rPr>
              <a:t>e</a:t>
            </a:r>
            <a:r>
              <a:rPr spc="-5" dirty="0">
                <a:solidFill>
                  <a:schemeClr val="bg1"/>
                </a:solidFill>
              </a:rPr>
              <a:t>nior-</a:t>
            </a:r>
            <a:r>
              <a:rPr dirty="0">
                <a:solidFill>
                  <a:schemeClr val="bg1"/>
                </a:solidFill>
              </a:rPr>
              <a:t>level</a:t>
            </a:r>
            <a:r>
              <a:rPr spc="-130" dirty="0">
                <a:solidFill>
                  <a:schemeClr val="bg1"/>
                </a:solidFill>
              </a:rPr>
              <a:t> </a:t>
            </a:r>
            <a:r>
              <a:rPr spc="-75" dirty="0">
                <a:solidFill>
                  <a:schemeClr val="bg1"/>
                </a:solidFill>
              </a:rPr>
              <a:t>p</a:t>
            </a:r>
            <a:r>
              <a:rPr spc="-50" dirty="0">
                <a:solidFill>
                  <a:schemeClr val="bg1"/>
                </a:solidFill>
              </a:rPr>
              <a:t>r</a:t>
            </a:r>
            <a:r>
              <a:rPr spc="-5" dirty="0">
                <a:solidFill>
                  <a:schemeClr val="bg1"/>
                </a:solidFill>
              </a:rPr>
              <a:t>oj</a:t>
            </a:r>
            <a:r>
              <a:rPr spc="20" dirty="0">
                <a:solidFill>
                  <a:schemeClr val="bg1"/>
                </a:solidFill>
              </a:rPr>
              <a:t>e</a:t>
            </a:r>
            <a:r>
              <a:rPr spc="-5" dirty="0">
                <a:solidFill>
                  <a:schemeClr val="bg1"/>
                </a:solidFill>
              </a:rPr>
              <a:t>c</a:t>
            </a:r>
            <a:r>
              <a:rPr dirty="0">
                <a:solidFill>
                  <a:schemeClr val="bg1"/>
                </a:solidFill>
              </a:rPr>
              <a:t>t</a:t>
            </a:r>
            <a:r>
              <a:rPr spc="-70" dirty="0">
                <a:solidFill>
                  <a:schemeClr val="bg1"/>
                </a:solidFill>
              </a:rPr>
              <a:t> </a:t>
            </a:r>
            <a:r>
              <a:rPr spc="-75" dirty="0">
                <a:solidFill>
                  <a:schemeClr val="bg1"/>
                </a:solidFill>
              </a:rPr>
              <a:t>m</a:t>
            </a:r>
            <a:r>
              <a:rPr spc="-25" dirty="0">
                <a:solidFill>
                  <a:schemeClr val="bg1"/>
                </a:solidFill>
              </a:rPr>
              <a:t>a</a:t>
            </a:r>
            <a:r>
              <a:rPr spc="-5" dirty="0">
                <a:solidFill>
                  <a:schemeClr val="bg1"/>
                </a:solidFill>
              </a:rPr>
              <a:t>na</a:t>
            </a:r>
            <a:r>
              <a:rPr spc="20" dirty="0">
                <a:solidFill>
                  <a:schemeClr val="bg1"/>
                </a:solidFill>
              </a:rPr>
              <a:t>ge</a:t>
            </a:r>
            <a:r>
              <a:rPr dirty="0">
                <a:solidFill>
                  <a:schemeClr val="bg1"/>
                </a:solidFill>
              </a:rPr>
              <a:t>r 	</a:t>
            </a:r>
            <a:r>
              <a:rPr spc="-5" dirty="0">
                <a:solidFill>
                  <a:schemeClr val="bg1"/>
                </a:solidFill>
              </a:rPr>
              <a:t>an</a:t>
            </a:r>
            <a:r>
              <a:rPr dirty="0">
                <a:solidFill>
                  <a:schemeClr val="bg1"/>
                </a:solidFill>
              </a:rPr>
              <a:t>d</a:t>
            </a:r>
            <a:r>
              <a:rPr spc="-72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support</a:t>
            </a:r>
            <a:r>
              <a:rPr spc="-25" dirty="0">
                <a:solidFill>
                  <a:schemeClr val="bg1"/>
                </a:solidFill>
              </a:rPr>
              <a:t>e</a:t>
            </a:r>
            <a:r>
              <a:rPr dirty="0">
                <a:solidFill>
                  <a:schemeClr val="bg1"/>
                </a:solidFill>
              </a:rPr>
              <a:t>d</a:t>
            </a:r>
            <a:r>
              <a:rPr spc="-785" dirty="0">
                <a:solidFill>
                  <a:schemeClr val="bg1"/>
                </a:solidFill>
              </a:rPr>
              <a:t> </a:t>
            </a:r>
            <a:r>
              <a:rPr spc="-5" dirty="0">
                <a:solidFill>
                  <a:schemeClr val="bg1"/>
                </a:solidFill>
              </a:rPr>
              <a:t>b</a:t>
            </a:r>
            <a:r>
              <a:rPr dirty="0">
                <a:solidFill>
                  <a:schemeClr val="bg1"/>
                </a:solidFill>
              </a:rPr>
              <a:t>y</a:t>
            </a:r>
            <a:r>
              <a:rPr spc="-795" dirty="0">
                <a:solidFill>
                  <a:schemeClr val="bg1"/>
                </a:solidFill>
              </a:rPr>
              <a:t> </a:t>
            </a:r>
            <a:r>
              <a:rPr spc="-5" dirty="0">
                <a:solidFill>
                  <a:schemeClr val="bg1"/>
                </a:solidFill>
              </a:rPr>
              <a:t>severa</a:t>
            </a:r>
            <a:r>
              <a:rPr dirty="0">
                <a:solidFill>
                  <a:schemeClr val="bg1"/>
                </a:solidFill>
              </a:rPr>
              <a:t>l</a:t>
            </a:r>
            <a:r>
              <a:rPr spc="-790" dirty="0">
                <a:solidFill>
                  <a:schemeClr val="bg1"/>
                </a:solidFill>
              </a:rPr>
              <a:t> </a:t>
            </a:r>
            <a:r>
              <a:rPr spc="-5" dirty="0">
                <a:solidFill>
                  <a:schemeClr val="bg1"/>
                </a:solidFill>
              </a:rPr>
              <a:t>subproj</a:t>
            </a:r>
            <a:r>
              <a:rPr spc="-25" dirty="0">
                <a:solidFill>
                  <a:schemeClr val="bg1"/>
                </a:solidFill>
              </a:rPr>
              <a:t>e</a:t>
            </a:r>
            <a:r>
              <a:rPr spc="-5" dirty="0">
                <a:solidFill>
                  <a:schemeClr val="bg1"/>
                </a:solidFill>
              </a:rPr>
              <a:t>c</a:t>
            </a:r>
            <a:r>
              <a:rPr dirty="0">
                <a:solidFill>
                  <a:schemeClr val="bg1"/>
                </a:solidFill>
              </a:rPr>
              <a:t>t</a:t>
            </a:r>
            <a:r>
              <a:rPr spc="-765" dirty="0">
                <a:solidFill>
                  <a:schemeClr val="bg1"/>
                </a:solidFill>
              </a:rPr>
              <a:t> </a:t>
            </a:r>
            <a:r>
              <a:rPr spc="-5" dirty="0">
                <a:solidFill>
                  <a:schemeClr val="bg1"/>
                </a:solidFill>
              </a:rPr>
              <a:t>ma</a:t>
            </a:r>
            <a:r>
              <a:rPr spc="-25" dirty="0">
                <a:solidFill>
                  <a:schemeClr val="bg1"/>
                </a:solidFill>
              </a:rPr>
              <a:t>n</a:t>
            </a:r>
            <a:r>
              <a:rPr spc="-5" dirty="0">
                <a:solidFill>
                  <a:schemeClr val="bg1"/>
                </a:solidFill>
              </a:rPr>
              <a:t>ager</a:t>
            </a:r>
            <a:r>
              <a:rPr dirty="0">
                <a:solidFill>
                  <a:schemeClr val="bg1"/>
                </a:solidFill>
              </a:rPr>
              <a:t>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Super</a:t>
            </a:r>
            <a:r>
              <a:rPr spc="-1230" dirty="0"/>
              <a:t> </a:t>
            </a:r>
            <a:r>
              <a:rPr spc="-10" dirty="0"/>
              <a:t>Team</a:t>
            </a:r>
            <a:r>
              <a:rPr spc="-1275" dirty="0"/>
              <a:t> </a:t>
            </a:r>
            <a:r>
              <a:rPr spc="-10" dirty="0"/>
              <a:t>Structure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71524" y="1966340"/>
            <a:ext cx="371982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Super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Team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Structure</a:t>
            </a:r>
            <a:endParaRPr sz="2400">
              <a:latin typeface="Courier New"/>
              <a:cs typeface="Courier New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0976" y="1792223"/>
            <a:ext cx="6995159" cy="442569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Super</a:t>
            </a:r>
            <a:r>
              <a:rPr spc="-1230" dirty="0"/>
              <a:t> </a:t>
            </a:r>
            <a:r>
              <a:rPr spc="-10" dirty="0"/>
              <a:t>Team</a:t>
            </a:r>
            <a:r>
              <a:rPr spc="-1275" dirty="0"/>
              <a:t> </a:t>
            </a:r>
            <a:r>
              <a:rPr spc="-10" dirty="0"/>
              <a:t>Structure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813138"/>
            <a:ext cx="1635760" cy="81788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226695" indent="-226695" algn="ctr">
              <a:lnSpc>
                <a:spcPct val="100000"/>
              </a:lnSpc>
              <a:spcBef>
                <a:spcPts val="815"/>
              </a:spcBef>
              <a:buFont typeface="Arial MT"/>
              <a:buChar char="•"/>
              <a:tabLst>
                <a:tab pos="226695" algn="l"/>
              </a:tabLst>
            </a:pPr>
            <a:r>
              <a:rPr sz="2000" dirty="0">
                <a:latin typeface="Courier New"/>
                <a:cs typeface="Courier New"/>
              </a:rPr>
              <a:t>The</a:t>
            </a:r>
            <a:r>
              <a:rPr sz="2000" spc="18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roles</a:t>
            </a:r>
            <a:endParaRPr sz="2000">
              <a:latin typeface="Courier New"/>
              <a:cs typeface="Courier New"/>
            </a:endParaRPr>
          </a:p>
          <a:p>
            <a:pPr marL="66040" algn="ctr">
              <a:lnSpc>
                <a:spcPct val="100000"/>
              </a:lnSpc>
              <a:spcBef>
                <a:spcPts val="720"/>
              </a:spcBef>
            </a:pPr>
            <a:r>
              <a:rPr sz="2000" spc="-10" dirty="0">
                <a:latin typeface="Courier New"/>
                <a:cs typeface="Courier New"/>
              </a:rPr>
              <a:t>include: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61030" y="1905381"/>
            <a:ext cx="910018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dirty="0">
                <a:latin typeface="Courier New"/>
                <a:cs typeface="Courier New"/>
              </a:rPr>
              <a:t>and</a:t>
            </a:r>
            <a:r>
              <a:rPr sz="2000" spc="-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responsibilities</a:t>
            </a:r>
            <a:r>
              <a:rPr sz="2000" spc="3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of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the</a:t>
            </a:r>
            <a:r>
              <a:rPr sz="2000" spc="-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ST</a:t>
            </a:r>
            <a:r>
              <a:rPr sz="2000" spc="8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Manager</a:t>
            </a:r>
            <a:r>
              <a:rPr sz="2000" spc="2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and the</a:t>
            </a:r>
            <a:r>
              <a:rPr sz="2000" spc="4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team</a:t>
            </a:r>
            <a:r>
              <a:rPr sz="2000" spc="6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leaders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28674" y="2822905"/>
            <a:ext cx="6751320" cy="34702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0670" indent="-26797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80670" algn="l"/>
              </a:tabLst>
            </a:pPr>
            <a:r>
              <a:rPr sz="2000" spc="-20" dirty="0">
                <a:latin typeface="Courier New"/>
                <a:cs typeface="Courier New"/>
              </a:rPr>
              <a:t>Organize</a:t>
            </a:r>
            <a:r>
              <a:rPr sz="2000" spc="-53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and</a:t>
            </a:r>
            <a:r>
              <a:rPr sz="2000" spc="-61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manage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the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project</a:t>
            </a:r>
            <a:endParaRPr sz="2000">
              <a:latin typeface="Courier New"/>
              <a:cs typeface="Courier New"/>
            </a:endParaRPr>
          </a:p>
          <a:p>
            <a:pPr marL="280670" indent="-267970">
              <a:lnSpc>
                <a:spcPct val="100000"/>
              </a:lnSpc>
              <a:spcBef>
                <a:spcPts val="1730"/>
              </a:spcBef>
              <a:buFont typeface="Arial MT"/>
              <a:buChar char="•"/>
              <a:tabLst>
                <a:tab pos="280670" algn="l"/>
              </a:tabLst>
            </a:pPr>
            <a:r>
              <a:rPr sz="2000" spc="-20" dirty="0">
                <a:latin typeface="Courier New"/>
                <a:cs typeface="Courier New"/>
              </a:rPr>
              <a:t>Develop</a:t>
            </a:r>
            <a:r>
              <a:rPr sz="2000" spc="-52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the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project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plan</a:t>
            </a:r>
            <a:endParaRPr sz="2000">
              <a:latin typeface="Courier New"/>
              <a:cs typeface="Courier New"/>
            </a:endParaRPr>
          </a:p>
          <a:p>
            <a:pPr marL="280670" indent="-267970">
              <a:lnSpc>
                <a:spcPct val="100000"/>
              </a:lnSpc>
              <a:spcBef>
                <a:spcPts val="1730"/>
              </a:spcBef>
              <a:buFont typeface="Arial MT"/>
              <a:buChar char="•"/>
              <a:tabLst>
                <a:tab pos="280670" algn="l"/>
              </a:tabLst>
            </a:pPr>
            <a:r>
              <a:rPr sz="2000" spc="-20" dirty="0">
                <a:latin typeface="Courier New"/>
                <a:cs typeface="Courier New"/>
              </a:rPr>
              <a:t>Maintain</a:t>
            </a:r>
            <a:r>
              <a:rPr sz="2000" spc="-53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the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overall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project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schedule</a:t>
            </a:r>
            <a:endParaRPr sz="2000">
              <a:latin typeface="Courier New"/>
              <a:cs typeface="Courier New"/>
            </a:endParaRPr>
          </a:p>
          <a:p>
            <a:pPr marL="280670" indent="-267970">
              <a:lnSpc>
                <a:spcPct val="100000"/>
              </a:lnSpc>
              <a:spcBef>
                <a:spcPts val="1705"/>
              </a:spcBef>
              <a:buFont typeface="Arial MT"/>
              <a:buChar char="•"/>
              <a:tabLst>
                <a:tab pos="280670" algn="l"/>
              </a:tabLst>
            </a:pPr>
            <a:r>
              <a:rPr sz="2000" spc="-20" dirty="0">
                <a:latin typeface="Courier New"/>
                <a:cs typeface="Courier New"/>
              </a:rPr>
              <a:t>Monitor</a:t>
            </a:r>
            <a:r>
              <a:rPr sz="2000" spc="-53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and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manage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resource</a:t>
            </a:r>
            <a:r>
              <a:rPr sz="2000" spc="-62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utilization</a:t>
            </a:r>
            <a:endParaRPr sz="2000">
              <a:latin typeface="Courier New"/>
              <a:cs typeface="Courier New"/>
            </a:endParaRPr>
          </a:p>
          <a:p>
            <a:pPr marL="280670" indent="-267970">
              <a:lnSpc>
                <a:spcPct val="100000"/>
              </a:lnSpc>
              <a:spcBef>
                <a:spcPts val="1730"/>
              </a:spcBef>
              <a:buFont typeface="Arial MT"/>
              <a:buChar char="•"/>
              <a:tabLst>
                <a:tab pos="280670" algn="l"/>
              </a:tabLst>
            </a:pPr>
            <a:r>
              <a:rPr sz="2000" spc="-20" dirty="0">
                <a:latin typeface="Courier New"/>
                <a:cs typeface="Courier New"/>
              </a:rPr>
              <a:t>Prepare</a:t>
            </a:r>
            <a:r>
              <a:rPr sz="2000" spc="-51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and</a:t>
            </a:r>
            <a:r>
              <a:rPr sz="2000" spc="-59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distribute</a:t>
            </a:r>
            <a:r>
              <a:rPr sz="2000" spc="-59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project</a:t>
            </a:r>
            <a:r>
              <a:rPr sz="2000" spc="-59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status</a:t>
            </a:r>
            <a:r>
              <a:rPr sz="2000" spc="-59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reports</a:t>
            </a:r>
            <a:endParaRPr sz="2000">
              <a:latin typeface="Courier New"/>
              <a:cs typeface="Courier New"/>
            </a:endParaRPr>
          </a:p>
          <a:p>
            <a:pPr marL="280670" indent="-267970">
              <a:lnSpc>
                <a:spcPct val="100000"/>
              </a:lnSpc>
              <a:spcBef>
                <a:spcPts val="1730"/>
              </a:spcBef>
              <a:buFont typeface="Arial MT"/>
              <a:buChar char="•"/>
              <a:tabLst>
                <a:tab pos="280670" algn="l"/>
              </a:tabLst>
            </a:pPr>
            <a:r>
              <a:rPr sz="2000" spc="-20" dirty="0">
                <a:latin typeface="Courier New"/>
                <a:cs typeface="Courier New"/>
              </a:rPr>
              <a:t>Plan</a:t>
            </a:r>
            <a:r>
              <a:rPr sz="2000" spc="-53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and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conduct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team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meetings</a:t>
            </a:r>
            <a:endParaRPr sz="2000">
              <a:latin typeface="Courier New"/>
              <a:cs typeface="Courier New"/>
            </a:endParaRPr>
          </a:p>
          <a:p>
            <a:pPr marL="280670" indent="-267970">
              <a:lnSpc>
                <a:spcPct val="100000"/>
              </a:lnSpc>
              <a:spcBef>
                <a:spcPts val="1705"/>
              </a:spcBef>
              <a:buFont typeface="Arial MT"/>
              <a:buChar char="•"/>
              <a:tabLst>
                <a:tab pos="280670" algn="l"/>
              </a:tabLst>
            </a:pPr>
            <a:r>
              <a:rPr sz="2000" spc="-20" dirty="0">
                <a:latin typeface="Courier New"/>
                <a:cs typeface="Courier New"/>
              </a:rPr>
              <a:t>Process</a:t>
            </a:r>
            <a:r>
              <a:rPr sz="2000" spc="-52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scope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change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requests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Putting</a:t>
            </a:r>
            <a:r>
              <a:rPr spc="-1235" dirty="0"/>
              <a:t> </a:t>
            </a:r>
            <a:r>
              <a:rPr spc="-10" dirty="0"/>
              <a:t>It</a:t>
            </a:r>
            <a:r>
              <a:rPr spc="-1270" dirty="0"/>
              <a:t> </a:t>
            </a:r>
            <a:r>
              <a:rPr spc="-10" dirty="0"/>
              <a:t>All</a:t>
            </a:r>
            <a:r>
              <a:rPr spc="-1295" dirty="0"/>
              <a:t> </a:t>
            </a:r>
            <a:r>
              <a:rPr spc="-10" dirty="0"/>
              <a:t>Together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609600" y="1600200"/>
            <a:ext cx="10972800" cy="40523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solidFill>
                  <a:schemeClr val="bg1"/>
                </a:solidFill>
              </a:rPr>
              <a:t>The</a:t>
            </a:r>
            <a:r>
              <a:rPr spc="21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following</a:t>
            </a:r>
            <a:r>
              <a:rPr spc="21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four</a:t>
            </a:r>
            <a:r>
              <a:rPr spc="21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factors</a:t>
            </a:r>
            <a:r>
              <a:rPr spc="18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are</a:t>
            </a:r>
            <a:r>
              <a:rPr spc="17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discussed</a:t>
            </a:r>
            <a:r>
              <a:rPr spc="21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that</a:t>
            </a:r>
            <a:r>
              <a:rPr spc="229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affect</a:t>
            </a:r>
            <a:r>
              <a:rPr spc="265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your 	</a:t>
            </a:r>
            <a:r>
              <a:rPr spc="-10" dirty="0">
                <a:solidFill>
                  <a:schemeClr val="bg1"/>
                </a:solidFill>
              </a:rPr>
              <a:t>choice</a:t>
            </a:r>
            <a:r>
              <a:rPr spc="-70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of</a:t>
            </a:r>
            <a:r>
              <a:rPr spc="-77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</a:t>
            </a:r>
            <a:r>
              <a:rPr spc="-75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best-fit</a:t>
            </a:r>
            <a:r>
              <a:rPr spc="-75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project</a:t>
            </a:r>
            <a:r>
              <a:rPr spc="-74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structure.</a:t>
            </a:r>
          </a:p>
          <a:p>
            <a:pPr marL="735965" lvl="1" indent="-26670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Project</a:t>
            </a:r>
            <a:r>
              <a:rPr sz="2400" spc="-67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management</a:t>
            </a:r>
            <a:r>
              <a:rPr sz="2400" spc="-76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maturity</a:t>
            </a:r>
            <a:endParaRPr sz="24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25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Complexity</a:t>
            </a:r>
            <a:r>
              <a:rPr sz="2400" spc="-70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and</a:t>
            </a:r>
            <a:r>
              <a:rPr sz="2400" spc="-74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uncertainty</a:t>
            </a:r>
            <a:endParaRPr sz="24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Total</a:t>
            </a:r>
            <a:r>
              <a:rPr sz="2400" spc="-69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team</a:t>
            </a:r>
            <a:r>
              <a:rPr sz="2400" spc="-76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20" dirty="0">
                <a:solidFill>
                  <a:schemeClr val="bg1"/>
                </a:solidFill>
                <a:latin typeface="Courier New"/>
                <a:cs typeface="Courier New"/>
              </a:rPr>
              <a:t>size</a:t>
            </a:r>
            <a:endParaRPr sz="24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Criticality</a:t>
            </a:r>
            <a:endParaRPr sz="2400" dirty="0">
              <a:solidFill>
                <a:schemeClr val="bg1"/>
              </a:solidFill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Putting</a:t>
            </a:r>
            <a:r>
              <a:rPr spc="-1235" dirty="0"/>
              <a:t> </a:t>
            </a:r>
            <a:r>
              <a:rPr spc="-10" dirty="0"/>
              <a:t>It</a:t>
            </a:r>
            <a:r>
              <a:rPr spc="-1270" dirty="0"/>
              <a:t> </a:t>
            </a:r>
            <a:r>
              <a:rPr spc="-10" dirty="0"/>
              <a:t>All</a:t>
            </a:r>
            <a:r>
              <a:rPr spc="-1295" dirty="0"/>
              <a:t> </a:t>
            </a:r>
            <a:r>
              <a:rPr spc="-10" dirty="0"/>
              <a:t>Together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609600" y="1600200"/>
            <a:ext cx="10972800" cy="3165354"/>
          </a:xfrm>
          <a:prstGeom prst="rect">
            <a:avLst/>
          </a:prstGeom>
        </p:spPr>
        <p:txBody>
          <a:bodyPr vert="horz" wrap="square" lIns="0" tIns="195961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pc="-10" dirty="0">
                <a:solidFill>
                  <a:schemeClr val="bg1"/>
                </a:solidFill>
              </a:rPr>
              <a:t>Project</a:t>
            </a:r>
            <a:r>
              <a:rPr spc="-69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Management</a:t>
            </a:r>
            <a:r>
              <a:rPr spc="-75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Maturity</a:t>
            </a:r>
          </a:p>
          <a:p>
            <a:pPr marL="735965" lvl="1" indent="-26670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Either</a:t>
            </a:r>
            <a:r>
              <a:rPr sz="2400" spc="-54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a</a:t>
            </a:r>
            <a:r>
              <a:rPr sz="2400" spc="-68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70" dirty="0">
                <a:solidFill>
                  <a:schemeClr val="bg1"/>
                </a:solidFill>
                <a:latin typeface="Courier New"/>
                <a:cs typeface="Courier New"/>
              </a:rPr>
              <a:t>PO</a:t>
            </a:r>
            <a:r>
              <a:rPr sz="2400" spc="-65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70" dirty="0">
                <a:solidFill>
                  <a:schemeClr val="bg1"/>
                </a:solidFill>
                <a:latin typeface="Courier New"/>
                <a:cs typeface="Courier New"/>
              </a:rPr>
              <a:t>or</a:t>
            </a:r>
            <a:r>
              <a:rPr sz="2400" spc="-61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70" dirty="0">
                <a:solidFill>
                  <a:schemeClr val="bg1"/>
                </a:solidFill>
                <a:latin typeface="Courier New"/>
                <a:cs typeface="Courier New"/>
              </a:rPr>
              <a:t>CT</a:t>
            </a:r>
            <a:r>
              <a:rPr sz="2400" spc="-63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40" dirty="0">
                <a:solidFill>
                  <a:schemeClr val="bg1"/>
                </a:solidFill>
                <a:latin typeface="Courier New"/>
                <a:cs typeface="Courier New"/>
              </a:rPr>
              <a:t>structure</a:t>
            </a:r>
            <a:r>
              <a:rPr sz="2400" spc="-53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50" dirty="0">
                <a:solidFill>
                  <a:schemeClr val="bg1"/>
                </a:solidFill>
                <a:latin typeface="Courier New"/>
                <a:cs typeface="Courier New"/>
              </a:rPr>
              <a:t>is</a:t>
            </a:r>
            <a:r>
              <a:rPr sz="2400" spc="-63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25" dirty="0">
                <a:solidFill>
                  <a:schemeClr val="bg1"/>
                </a:solidFill>
                <a:latin typeface="Courier New"/>
                <a:cs typeface="Courier New"/>
              </a:rPr>
              <a:t>recommended</a:t>
            </a:r>
            <a:r>
              <a:rPr sz="2400" spc="-55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60" dirty="0">
                <a:solidFill>
                  <a:schemeClr val="bg1"/>
                </a:solidFill>
                <a:latin typeface="Courier New"/>
                <a:cs typeface="Courier New"/>
              </a:rPr>
              <a:t>for</a:t>
            </a:r>
            <a:r>
              <a:rPr sz="2400" spc="-52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organizations</a:t>
            </a:r>
            <a:endParaRPr sz="24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737870">
              <a:lnSpc>
                <a:spcPct val="100000"/>
              </a:lnSpc>
              <a:spcBef>
                <a:spcPts val="1440"/>
              </a:spcBef>
            </a:pPr>
            <a:r>
              <a:rPr spc="-10" dirty="0">
                <a:solidFill>
                  <a:schemeClr val="bg1"/>
                </a:solidFill>
              </a:rPr>
              <a:t>at</a:t>
            </a:r>
            <a:r>
              <a:rPr spc="-71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Level</a:t>
            </a:r>
            <a:r>
              <a:rPr spc="-78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1</a:t>
            </a:r>
            <a:r>
              <a:rPr spc="-85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or</a:t>
            </a:r>
            <a:r>
              <a:rPr spc="-78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2</a:t>
            </a:r>
            <a:r>
              <a:rPr spc="-85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maturity.</a:t>
            </a:r>
          </a:p>
          <a:p>
            <a:pPr marL="735965" marR="5080" lvl="1" indent="-266700">
              <a:lnSpc>
                <a:spcPct val="150100"/>
              </a:lnSpc>
              <a:spcBef>
                <a:spcPts val="985"/>
              </a:spcBef>
              <a:buFont typeface="Arial MT"/>
              <a:buChar char="•"/>
              <a:tabLst>
                <a:tab pos="737870" algn="l"/>
              </a:tabLst>
            </a:pP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Organizations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at</a:t>
            </a:r>
            <a:r>
              <a:rPr sz="2400" spc="-27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Level</a:t>
            </a:r>
            <a:r>
              <a:rPr sz="2400" spc="2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3</a:t>
            </a:r>
            <a:r>
              <a:rPr sz="2400" spc="-114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to</a:t>
            </a:r>
            <a:r>
              <a:rPr sz="2400" spc="-7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5</a:t>
            </a:r>
            <a:r>
              <a:rPr sz="2400" spc="-16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may</a:t>
            </a:r>
            <a:r>
              <a:rPr sz="2400" spc="-22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use</a:t>
            </a:r>
            <a:r>
              <a:rPr sz="2400" spc="2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any</a:t>
            </a:r>
            <a:r>
              <a:rPr sz="2400" spc="-2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structure</a:t>
            </a:r>
            <a:r>
              <a:rPr sz="2400" spc="22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20" dirty="0">
                <a:solidFill>
                  <a:schemeClr val="bg1"/>
                </a:solidFill>
                <a:latin typeface="Courier New"/>
                <a:cs typeface="Courier New"/>
              </a:rPr>
              <a:t>with 	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better</a:t>
            </a:r>
            <a:r>
              <a:rPr sz="2400" spc="-68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results.</a:t>
            </a:r>
            <a:endParaRPr sz="2400" dirty="0">
              <a:solidFill>
                <a:schemeClr val="bg1"/>
              </a:solidFill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Putting</a:t>
            </a:r>
            <a:r>
              <a:rPr spc="-1235" dirty="0"/>
              <a:t> </a:t>
            </a:r>
            <a:r>
              <a:rPr spc="-10" dirty="0"/>
              <a:t>It</a:t>
            </a:r>
            <a:r>
              <a:rPr spc="-1270" dirty="0"/>
              <a:t> </a:t>
            </a:r>
            <a:r>
              <a:rPr spc="-10" dirty="0"/>
              <a:t>All</a:t>
            </a:r>
            <a:r>
              <a:rPr spc="-1295" dirty="0"/>
              <a:t> </a:t>
            </a:r>
            <a:r>
              <a:rPr spc="-10" dirty="0"/>
              <a:t>Together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371456" y="1966340"/>
            <a:ext cx="24003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15" dirty="0">
                <a:latin typeface="Courier New"/>
                <a:cs typeface="Courier New"/>
              </a:rPr>
              <a:t>  </a:t>
            </a:r>
            <a:r>
              <a:rPr sz="2400" spc="-30" dirty="0">
                <a:latin typeface="Courier New"/>
                <a:cs typeface="Courier New"/>
              </a:rPr>
              <a:t>best-</a:t>
            </a:r>
            <a:r>
              <a:rPr sz="2400" spc="-25" dirty="0">
                <a:latin typeface="Courier New"/>
                <a:cs typeface="Courier New"/>
              </a:rPr>
              <a:t>fit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1524" y="1783079"/>
            <a:ext cx="8507095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As</a:t>
            </a:r>
            <a:r>
              <a:rPr sz="2400" spc="5" dirty="0">
                <a:latin typeface="Courier New"/>
                <a:cs typeface="Courier New"/>
              </a:rPr>
              <a:t>  </a:t>
            </a:r>
            <a:r>
              <a:rPr sz="2400" b="1" dirty="0">
                <a:latin typeface="Courier New"/>
                <a:cs typeface="Courier New"/>
              </a:rPr>
              <a:t>complexity</a:t>
            </a:r>
            <a:r>
              <a:rPr sz="2400" b="1" spc="30" dirty="0">
                <a:latin typeface="Courier New"/>
                <a:cs typeface="Courier New"/>
              </a:rPr>
              <a:t>  </a:t>
            </a:r>
            <a:r>
              <a:rPr sz="2400" b="1" dirty="0">
                <a:latin typeface="Courier New"/>
                <a:cs typeface="Courier New"/>
              </a:rPr>
              <a:t>and</a:t>
            </a:r>
            <a:r>
              <a:rPr sz="2400" b="1" spc="40" dirty="0">
                <a:latin typeface="Courier New"/>
                <a:cs typeface="Courier New"/>
              </a:rPr>
              <a:t>  </a:t>
            </a:r>
            <a:r>
              <a:rPr sz="2400" b="1" dirty="0">
                <a:latin typeface="Courier New"/>
                <a:cs typeface="Courier New"/>
              </a:rPr>
              <a:t>uncertainty</a:t>
            </a:r>
            <a:r>
              <a:rPr sz="2400" b="1" spc="-85" dirty="0">
                <a:latin typeface="Courier New"/>
                <a:cs typeface="Courier New"/>
              </a:rPr>
              <a:t>  </a:t>
            </a:r>
            <a:r>
              <a:rPr sz="2400" spc="-10" dirty="0">
                <a:latin typeface="Courier New"/>
                <a:cs typeface="Courier New"/>
              </a:rPr>
              <a:t>increase, 	structure</a:t>
            </a:r>
            <a:r>
              <a:rPr sz="2400" spc="-70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changes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from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PO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CT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and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finally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to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ST.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Putting</a:t>
            </a:r>
            <a:r>
              <a:rPr spc="-1235" dirty="0"/>
              <a:t> </a:t>
            </a:r>
            <a:r>
              <a:rPr spc="-10" dirty="0"/>
              <a:t>It</a:t>
            </a:r>
            <a:r>
              <a:rPr spc="-1270" dirty="0"/>
              <a:t> </a:t>
            </a:r>
            <a:r>
              <a:rPr spc="-10" dirty="0"/>
              <a:t>All</a:t>
            </a:r>
            <a:r>
              <a:rPr spc="-1295" dirty="0"/>
              <a:t> </a:t>
            </a:r>
            <a:r>
              <a:rPr spc="-10" dirty="0"/>
              <a:t>Together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609600" y="1600200"/>
            <a:ext cx="10972800" cy="1929118"/>
          </a:xfrm>
          <a:prstGeom prst="rect">
            <a:avLst/>
          </a:prstGeom>
        </p:spPr>
        <p:txBody>
          <a:bodyPr vert="horz" wrap="square" lIns="0" tIns="195961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pc="-10" dirty="0">
                <a:solidFill>
                  <a:schemeClr val="bg1"/>
                </a:solidFill>
              </a:rPr>
              <a:t>Total</a:t>
            </a:r>
            <a:r>
              <a:rPr spc="-69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team</a:t>
            </a:r>
            <a:r>
              <a:rPr spc="-765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size</a:t>
            </a:r>
          </a:p>
          <a:p>
            <a:pPr marL="735965" lvl="1" indent="-26670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As</a:t>
            </a:r>
            <a:r>
              <a:rPr sz="2400" spc="-44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55" dirty="0">
                <a:solidFill>
                  <a:schemeClr val="bg1"/>
                </a:solidFill>
                <a:latin typeface="Courier New"/>
                <a:cs typeface="Courier New"/>
              </a:rPr>
              <a:t>team</a:t>
            </a:r>
            <a:r>
              <a:rPr sz="2400" spc="-49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50" dirty="0">
                <a:solidFill>
                  <a:schemeClr val="bg1"/>
                </a:solidFill>
                <a:latin typeface="Courier New"/>
                <a:cs typeface="Courier New"/>
              </a:rPr>
              <a:t>size</a:t>
            </a:r>
            <a:r>
              <a:rPr sz="2400" spc="-49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35" dirty="0">
                <a:solidFill>
                  <a:schemeClr val="bg1"/>
                </a:solidFill>
                <a:latin typeface="Courier New"/>
                <a:cs typeface="Courier New"/>
              </a:rPr>
              <a:t>increases,</a:t>
            </a:r>
            <a:r>
              <a:rPr sz="2400" spc="-434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60" dirty="0">
                <a:solidFill>
                  <a:schemeClr val="bg1"/>
                </a:solidFill>
                <a:latin typeface="Courier New"/>
                <a:cs typeface="Courier New"/>
              </a:rPr>
              <a:t>the</a:t>
            </a:r>
            <a:r>
              <a:rPr sz="2400" spc="-509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55" dirty="0">
                <a:solidFill>
                  <a:schemeClr val="bg1"/>
                </a:solidFill>
                <a:latin typeface="Courier New"/>
                <a:cs typeface="Courier New"/>
              </a:rPr>
              <a:t>best-</a:t>
            </a: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fit</a:t>
            </a:r>
            <a:r>
              <a:rPr sz="2400" spc="-26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55" dirty="0">
                <a:solidFill>
                  <a:schemeClr val="bg1"/>
                </a:solidFill>
                <a:latin typeface="Courier New"/>
                <a:cs typeface="Courier New"/>
              </a:rPr>
              <a:t>structure</a:t>
            </a:r>
            <a:r>
              <a:rPr sz="2400" spc="-42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changes</a:t>
            </a:r>
            <a:r>
              <a:rPr sz="2400" spc="-21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20" dirty="0">
                <a:solidFill>
                  <a:schemeClr val="bg1"/>
                </a:solidFill>
                <a:latin typeface="Courier New"/>
                <a:cs typeface="Courier New"/>
              </a:rPr>
              <a:t>from</a:t>
            </a:r>
            <a:endParaRPr sz="24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737870">
              <a:lnSpc>
                <a:spcPct val="100000"/>
              </a:lnSpc>
              <a:spcBef>
                <a:spcPts val="1440"/>
              </a:spcBef>
            </a:pPr>
            <a:r>
              <a:rPr spc="-10" dirty="0">
                <a:solidFill>
                  <a:schemeClr val="bg1"/>
                </a:solidFill>
              </a:rPr>
              <a:t>CT</a:t>
            </a:r>
            <a:r>
              <a:rPr spc="-71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to</a:t>
            </a:r>
            <a:r>
              <a:rPr spc="-76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ST</a:t>
            </a:r>
            <a:r>
              <a:rPr spc="-78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to</a:t>
            </a:r>
            <a:r>
              <a:rPr spc="-755" dirty="0">
                <a:solidFill>
                  <a:schemeClr val="bg1"/>
                </a:solidFill>
              </a:rPr>
              <a:t> </a:t>
            </a:r>
            <a:r>
              <a:rPr spc="-25" dirty="0">
                <a:solidFill>
                  <a:schemeClr val="bg1"/>
                </a:solidFill>
              </a:rPr>
              <a:t>PO.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Putting</a:t>
            </a:r>
            <a:r>
              <a:rPr spc="-1235" dirty="0"/>
              <a:t> </a:t>
            </a:r>
            <a:r>
              <a:rPr spc="-10" dirty="0"/>
              <a:t>It</a:t>
            </a:r>
            <a:r>
              <a:rPr spc="-1270" dirty="0"/>
              <a:t> </a:t>
            </a:r>
            <a:r>
              <a:rPr spc="-10" dirty="0"/>
              <a:t>All</a:t>
            </a:r>
            <a:r>
              <a:rPr spc="-1295" dirty="0"/>
              <a:t> </a:t>
            </a:r>
            <a:r>
              <a:rPr spc="-10" dirty="0"/>
              <a:t>Together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83079"/>
            <a:ext cx="10900410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0" dirty="0">
                <a:latin typeface="Courier New"/>
                <a:cs typeface="Courier New"/>
              </a:rPr>
              <a:t>As</a:t>
            </a:r>
            <a:r>
              <a:rPr sz="2400" spc="-380" dirty="0">
                <a:latin typeface="Courier New"/>
                <a:cs typeface="Courier New"/>
              </a:rPr>
              <a:t> </a:t>
            </a:r>
            <a:r>
              <a:rPr sz="2400" b="1" spc="-30" dirty="0">
                <a:latin typeface="Courier New"/>
                <a:cs typeface="Courier New"/>
              </a:rPr>
              <a:t>criticality</a:t>
            </a:r>
            <a:r>
              <a:rPr sz="2400" b="1" spc="-360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increases,</a:t>
            </a:r>
            <a:r>
              <a:rPr sz="2400" spc="-365" dirty="0">
                <a:latin typeface="Courier New"/>
                <a:cs typeface="Courier New"/>
              </a:rPr>
              <a:t> </a:t>
            </a:r>
            <a:r>
              <a:rPr sz="2400" spc="-65" dirty="0">
                <a:latin typeface="Courier New"/>
                <a:cs typeface="Courier New"/>
              </a:rPr>
              <a:t>the</a:t>
            </a:r>
            <a:r>
              <a:rPr sz="2400" spc="-420" dirty="0">
                <a:latin typeface="Courier New"/>
                <a:cs typeface="Courier New"/>
              </a:rPr>
              <a:t> </a:t>
            </a:r>
            <a:r>
              <a:rPr sz="2400" spc="-60" dirty="0">
                <a:latin typeface="Courier New"/>
                <a:cs typeface="Courier New"/>
              </a:rPr>
              <a:t>best-</a:t>
            </a:r>
            <a:r>
              <a:rPr sz="2400" spc="-10" dirty="0">
                <a:latin typeface="Courier New"/>
                <a:cs typeface="Courier New"/>
              </a:rPr>
              <a:t>fit</a:t>
            </a:r>
            <a:r>
              <a:rPr sz="2400" spc="-36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structure</a:t>
            </a:r>
            <a:r>
              <a:rPr sz="2400" spc="-32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changes</a:t>
            </a:r>
            <a:r>
              <a:rPr sz="2400" spc="-30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from 	</a:t>
            </a:r>
            <a:r>
              <a:rPr sz="2400" spc="-10" dirty="0">
                <a:latin typeface="Courier New"/>
                <a:cs typeface="Courier New"/>
              </a:rPr>
              <a:t>PO</a:t>
            </a:r>
            <a:r>
              <a:rPr sz="2400" spc="-71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to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ST</a:t>
            </a:r>
            <a:r>
              <a:rPr sz="2400" spc="-78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to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CT.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09600" y="385114"/>
            <a:ext cx="10972800" cy="922047"/>
          </a:xfrm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/>
              <a:t>Chapter</a:t>
            </a:r>
            <a:r>
              <a:rPr spc="-1225"/>
              <a:t> </a:t>
            </a:r>
            <a:r>
              <a:rPr lang="en-US" spc="-1225" smtClean="0"/>
              <a:t>      </a:t>
            </a:r>
            <a:r>
              <a:rPr spc="-10" smtClean="0"/>
              <a:t>summary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871524" y="1966340"/>
            <a:ext cx="10250805" cy="2419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69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following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are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covered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related</a:t>
            </a:r>
            <a:r>
              <a:rPr sz="2400" spc="-78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to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Multiple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Team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Projects</a:t>
            </a:r>
            <a:endParaRPr sz="240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latin typeface="Courier New"/>
                <a:cs typeface="Courier New"/>
              </a:rPr>
              <a:t>Project</a:t>
            </a:r>
            <a:r>
              <a:rPr sz="2400" spc="-69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Office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Structure</a:t>
            </a:r>
            <a:endParaRPr sz="240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25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latin typeface="Courier New"/>
                <a:cs typeface="Courier New"/>
              </a:rPr>
              <a:t>Core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Team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Structure</a:t>
            </a:r>
            <a:endParaRPr sz="240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latin typeface="Courier New"/>
                <a:cs typeface="Courier New"/>
              </a:rPr>
              <a:t>Super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Team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Structure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3</TotalTime>
  <Words>894</Words>
  <Application>Microsoft Office PowerPoint</Application>
  <PresentationFormat>Custom</PresentationFormat>
  <Paragraphs>169</Paragraphs>
  <Slides>32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Apex</vt:lpstr>
      <vt:lpstr>Chapter 12: Multiple Teams Management</vt:lpstr>
      <vt:lpstr>Contents:</vt:lpstr>
      <vt:lpstr>Week 14 Learning Outcome:</vt:lpstr>
      <vt:lpstr>What Is a Multiple Team Project?</vt:lpstr>
      <vt:lpstr>What Is a Multiple Team Project?</vt:lpstr>
      <vt:lpstr>Challenges to Managing a Multiple Team Project</vt:lpstr>
      <vt:lpstr>Challenges to Managing a Multiple Team Project</vt:lpstr>
      <vt:lpstr>Challenges to Managing a Multiple Team Project</vt:lpstr>
      <vt:lpstr>Challenges to Managing a Multiple Team Project</vt:lpstr>
      <vt:lpstr>Challenges to Managing a Multiple Team Project</vt:lpstr>
      <vt:lpstr>Challenges to Managing a Multiple Team Project</vt:lpstr>
      <vt:lpstr>Challenges to Managing a Multiple Team Project</vt:lpstr>
      <vt:lpstr>Challenges to Managing a Multiple Team Project</vt:lpstr>
      <vt:lpstr>Challenges to Managing a Multiple Team Project</vt:lpstr>
      <vt:lpstr>Challenges to Managing a Multiple Team Project</vt:lpstr>
      <vt:lpstr>Challenges to Managing a Multiple Team Project</vt:lpstr>
      <vt:lpstr>Classifying Multiple Team Projects</vt:lpstr>
      <vt:lpstr>Project Office Structure</vt:lpstr>
      <vt:lpstr>Project Office Structure</vt:lpstr>
      <vt:lpstr>Project Office Structure</vt:lpstr>
      <vt:lpstr>Core Team Structure</vt:lpstr>
      <vt:lpstr>Core Team Structure</vt:lpstr>
      <vt:lpstr>Core Team Structure</vt:lpstr>
      <vt:lpstr>Super Team Structure</vt:lpstr>
      <vt:lpstr>Super Team Structure</vt:lpstr>
      <vt:lpstr>Super Team Structure</vt:lpstr>
      <vt:lpstr>Putting It All Together</vt:lpstr>
      <vt:lpstr>Putting It All Together</vt:lpstr>
      <vt:lpstr>Putting It All Together</vt:lpstr>
      <vt:lpstr>Putting It All Together</vt:lpstr>
      <vt:lpstr>Putting It All Together</vt:lpstr>
      <vt:lpstr>Chapter       summary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12: Multiple Teams Management</dc:title>
  <cp:lastModifiedBy>Rashid</cp:lastModifiedBy>
  <cp:revision>6</cp:revision>
  <dcterms:created xsi:type="dcterms:W3CDTF">2026-09-28T15:56:51Z</dcterms:created>
  <dcterms:modified xsi:type="dcterms:W3CDTF">2026-09-29T11:58:00Z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2026-09-28T00:00:00Z</vt:filetime>
  </property>
  <property fmtid="{D5CDD505-2E9C-101B-9397-08002B2CF9AE}" pid="4" name="LastSaved">
    <vt:filetime>2026-09-28T00:00:00Z</vt:filetime>
  </property>
  <property fmtid="{D5CDD505-2E9C-101B-9397-08002B2CF9AE}" pid="5" name="Producer">
    <vt:lpwstr>Pdftools SDK</vt:lpwstr>
  </property>
</Properties>
</file>