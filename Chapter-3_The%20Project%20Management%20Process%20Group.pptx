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D7B15-39EE-4030-B534-5A2AB24099B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DCF5-39A2-4349-9C3D-E838F9C4F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452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EDCF5-39A2-4349-9C3D-E838F9C4FF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03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2707" y="1371600"/>
            <a:ext cx="109728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3331698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09600"/>
            <a:ext cx="94488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507786"/>
            <a:ext cx="94488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416676"/>
            <a:ext cx="10160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1" y="1524001"/>
            <a:ext cx="4011084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09600"/>
            <a:ext cx="73152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38400" y="1831975"/>
            <a:ext cx="73152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8400" y="1166787"/>
            <a:ext cx="73152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65600" y="6416676"/>
            <a:ext cx="38608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This</a:t>
            </a:r>
            <a:r>
              <a:rPr lang="en-US" spc="-30" smtClean="0"/>
              <a:t> </a:t>
            </a:r>
            <a:r>
              <a:rPr lang="en-US" smtClean="0"/>
              <a:t>Presentation</a:t>
            </a:r>
            <a:r>
              <a:rPr lang="en-US" spc="-55" smtClean="0"/>
              <a:t> </a:t>
            </a:r>
            <a:r>
              <a:rPr lang="en-US" smtClean="0"/>
              <a:t>is</a:t>
            </a:r>
            <a:r>
              <a:rPr lang="en-US" spc="-15" smtClean="0"/>
              <a:t> </a:t>
            </a:r>
            <a:r>
              <a:rPr lang="en-US" smtClean="0"/>
              <a:t>mainly</a:t>
            </a:r>
            <a:r>
              <a:rPr lang="en-US" spc="-35" smtClean="0"/>
              <a:t> </a:t>
            </a:r>
            <a:r>
              <a:rPr lang="en-US" smtClean="0"/>
              <a:t>dependent</a:t>
            </a:r>
            <a:r>
              <a:rPr lang="en-US" spc="-35" smtClean="0"/>
              <a:t> </a:t>
            </a:r>
            <a:r>
              <a:rPr lang="en-US" smtClean="0"/>
              <a:t>on</a:t>
            </a:r>
            <a:r>
              <a:rPr lang="en-US" spc="-30" smtClean="0"/>
              <a:t> </a:t>
            </a:r>
            <a:r>
              <a:rPr lang="en-US" smtClean="0"/>
              <a:t>the</a:t>
            </a:r>
            <a:r>
              <a:rPr lang="en-US" spc="-25" smtClean="0"/>
              <a:t> </a:t>
            </a:r>
            <a:r>
              <a:rPr lang="en-US" smtClean="0"/>
              <a:t>textbook:</a:t>
            </a:r>
            <a:r>
              <a:rPr lang="en-US" spc="-10" smtClean="0"/>
              <a:t> </a:t>
            </a:r>
            <a:r>
              <a:rPr lang="en-US" smtClean="0"/>
              <a:t>Information</a:t>
            </a:r>
            <a:r>
              <a:rPr lang="en-US" spc="-55" smtClean="0"/>
              <a:t> </a:t>
            </a:r>
            <a:r>
              <a:rPr lang="en-US" smtClean="0"/>
              <a:t>technology:</a:t>
            </a:r>
            <a:r>
              <a:rPr lang="en-US" spc="-10" smtClean="0"/>
              <a:t> </a:t>
            </a:r>
            <a:r>
              <a:rPr lang="en-US" smtClean="0"/>
              <a:t>Project</a:t>
            </a:r>
            <a:r>
              <a:rPr lang="en-US" spc="-30" smtClean="0"/>
              <a:t> </a:t>
            </a:r>
            <a:r>
              <a:rPr lang="en-US" smtClean="0"/>
              <a:t>management</a:t>
            </a:r>
            <a:r>
              <a:rPr lang="en-US" spc="-50" smtClean="0"/>
              <a:t> </a:t>
            </a:r>
            <a:r>
              <a:rPr lang="en-US" smtClean="0"/>
              <a:t>(9th</a:t>
            </a:r>
            <a:r>
              <a:rPr lang="en-US" spc="-15" smtClean="0"/>
              <a:t> </a:t>
            </a:r>
            <a:r>
              <a:rPr lang="en-US" smtClean="0"/>
              <a:t>edition)</a:t>
            </a:r>
            <a:r>
              <a:rPr lang="en-US" spc="-40" smtClean="0"/>
              <a:t> </a:t>
            </a:r>
            <a:r>
              <a:rPr lang="en-US" smtClean="0"/>
              <a:t>by</a:t>
            </a:r>
            <a:r>
              <a:rPr lang="en-US" spc="-25" smtClean="0"/>
              <a:t> </a:t>
            </a:r>
            <a:r>
              <a:rPr lang="en-US" smtClean="0"/>
              <a:t>Schwalbe,</a:t>
            </a:r>
            <a:r>
              <a:rPr lang="en-US" spc="-30" smtClean="0"/>
              <a:t> </a:t>
            </a:r>
            <a:r>
              <a:rPr lang="en-US" spc="-25" smtClean="0"/>
              <a:t>K.</a:t>
            </a:r>
            <a:endParaRPr lang="en-US" spc="-25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566400" y="6416676"/>
            <a:ext cx="1016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joe_fleming@jwdconsulting.com" TargetMode="External"/><Relationship Id="rId7" Type="http://schemas.openxmlformats.org/officeDocument/2006/relationships/hyperlink" Target="mailto:louise_mills@jwdconsulting.com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kim_phuong@client1.com" TargetMode="External"/><Relationship Id="rId5" Type="http://schemas.openxmlformats.org/officeDocument/2006/relationships/hyperlink" Target="mailto:michael_chen@jwdconsulting.com" TargetMode="External"/><Relationship Id="rId4" Type="http://schemas.openxmlformats.org/officeDocument/2006/relationships/hyperlink" Target="mailto:erica_bell@jwdconsulting.com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rtboard 3@2x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" y="-4"/>
            <a:ext cx="12188951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425445" y="2389694"/>
            <a:ext cx="7251955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5"/>
              </a:spcBef>
            </a:pPr>
            <a:r>
              <a:rPr lang="en-US" sz="3200" dirty="0" smtClean="0">
                <a:solidFill>
                  <a:schemeClr val="bg1"/>
                </a:solidFill>
                <a:latin typeface="Calibri"/>
                <a:cs typeface="Calibri"/>
              </a:rPr>
              <a:t>Chapter</a:t>
            </a:r>
            <a:r>
              <a:rPr sz="3200" spc="-30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3200" spc="-25" dirty="0">
                <a:solidFill>
                  <a:schemeClr val="bg1"/>
                </a:solidFill>
                <a:latin typeface="Calibri"/>
                <a:cs typeface="Calibri"/>
              </a:rPr>
              <a:t>3</a:t>
            </a:r>
            <a:r>
              <a:rPr sz="3200" spc="-25" dirty="0" smtClean="0">
                <a:solidFill>
                  <a:schemeClr val="bg1"/>
                </a:solidFill>
                <a:latin typeface="Calibri"/>
                <a:cs typeface="Calibri"/>
              </a:rPr>
              <a:t>:</a:t>
            </a:r>
            <a:endParaRPr sz="320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The</a:t>
            </a:r>
            <a:r>
              <a:rPr sz="32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Project</a:t>
            </a:r>
            <a:r>
              <a:rPr sz="3200" spc="-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Management</a:t>
            </a:r>
            <a:r>
              <a:rPr sz="3200" spc="-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bg1"/>
                </a:solidFill>
                <a:latin typeface="Calibri"/>
                <a:cs typeface="Calibri"/>
              </a:rPr>
              <a:t>Process</a:t>
            </a:r>
            <a:r>
              <a:rPr sz="3200" spc="-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chemeClr val="bg1"/>
                </a:solidFill>
                <a:latin typeface="Calibri"/>
                <a:cs typeface="Calibri"/>
              </a:rPr>
              <a:t>Groups</a:t>
            </a:r>
            <a:endParaRPr sz="32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7394575" cy="2418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groups.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Mapping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groups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knowledge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areas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Developing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Methodology.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Case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Study.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Week</a:t>
            </a:r>
            <a:r>
              <a:rPr spc="-270" dirty="0"/>
              <a:t> </a:t>
            </a:r>
            <a:r>
              <a:rPr spc="-10" dirty="0"/>
              <a:t>Learning</a:t>
            </a:r>
            <a:r>
              <a:rPr spc="-250" dirty="0"/>
              <a:t> </a:t>
            </a:r>
            <a:r>
              <a:rPr spc="-10" dirty="0"/>
              <a:t>Outcome: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9817100" cy="3515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Describe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five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groups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Discuss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varying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nature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methodologies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used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information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technology 	project.</a:t>
            </a:r>
            <a:endParaRPr sz="2400">
              <a:latin typeface="Arial MT"/>
              <a:cs typeface="Arial MT"/>
            </a:endParaRPr>
          </a:p>
          <a:p>
            <a:pPr marL="240029" marR="3352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spc="-10" dirty="0">
                <a:latin typeface="Arial MT"/>
                <a:cs typeface="Arial MT"/>
              </a:rPr>
              <a:t>Review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case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study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incorporates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elements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	</a:t>
            </a:r>
            <a:r>
              <a:rPr sz="2400" spc="-10" dirty="0">
                <a:latin typeface="Arial MT"/>
                <a:cs typeface="Arial MT"/>
              </a:rPr>
              <a:t>managing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finish.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50" dirty="0"/>
              <a:t> </a:t>
            </a:r>
            <a:r>
              <a:rPr spc="-20" dirty="0"/>
              <a:t>management</a:t>
            </a:r>
            <a:r>
              <a:rPr spc="-215" dirty="0"/>
              <a:t> </a:t>
            </a:r>
            <a:r>
              <a:rPr spc="-10" dirty="0"/>
              <a:t>process</a:t>
            </a:r>
            <a:r>
              <a:rPr spc="-250" dirty="0"/>
              <a:t> </a:t>
            </a:r>
            <a:r>
              <a:rPr spc="-1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01698"/>
            <a:ext cx="8455660" cy="3994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series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actions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directed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toward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particular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result.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714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viewed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interlinked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processes.</a:t>
            </a:r>
            <a:endParaRPr sz="2000">
              <a:latin typeface="Arial MT"/>
              <a:cs typeface="Arial MT"/>
            </a:endParaRPr>
          </a:p>
          <a:p>
            <a:pPr marL="239395" indent="-226695">
              <a:lnSpc>
                <a:spcPct val="100000"/>
              </a:lnSpc>
              <a:spcBef>
                <a:spcPts val="1730"/>
              </a:spcBef>
              <a:buChar char="•"/>
              <a:tabLst>
                <a:tab pos="23939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groups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include:</a:t>
            </a:r>
            <a:endParaRPr sz="20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14"/>
              </a:spcBef>
              <a:buChar char="•"/>
              <a:tabLst>
                <a:tab pos="736600" algn="l"/>
              </a:tabLst>
            </a:pPr>
            <a:r>
              <a:rPr sz="2000" dirty="0">
                <a:latin typeface="Arial MT"/>
                <a:cs typeface="Arial MT"/>
              </a:rPr>
              <a:t>Initiating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processes</a:t>
            </a:r>
            <a:endParaRPr sz="20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14"/>
              </a:spcBef>
              <a:buChar char="•"/>
              <a:tabLst>
                <a:tab pos="736600" algn="l"/>
              </a:tabLst>
            </a:pPr>
            <a:r>
              <a:rPr sz="2000" dirty="0">
                <a:latin typeface="Arial MT"/>
                <a:cs typeface="Arial MT"/>
              </a:rPr>
              <a:t>Planning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processes</a:t>
            </a:r>
            <a:endParaRPr sz="20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30"/>
              </a:spcBef>
              <a:buChar char="•"/>
              <a:tabLst>
                <a:tab pos="736600" algn="l"/>
              </a:tabLst>
            </a:pPr>
            <a:r>
              <a:rPr sz="2000" dirty="0">
                <a:latin typeface="Arial MT"/>
                <a:cs typeface="Arial MT"/>
              </a:rPr>
              <a:t>Executing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processes</a:t>
            </a:r>
            <a:endParaRPr sz="20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14"/>
              </a:spcBef>
              <a:buChar char="•"/>
              <a:tabLst>
                <a:tab pos="736600" algn="l"/>
              </a:tabLst>
            </a:pPr>
            <a:r>
              <a:rPr sz="2000" dirty="0">
                <a:latin typeface="Arial MT"/>
                <a:cs typeface="Arial MT"/>
              </a:rPr>
              <a:t>Monitoring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controlling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processes</a:t>
            </a:r>
            <a:endParaRPr sz="20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720"/>
              </a:spcBef>
              <a:buChar char="•"/>
              <a:tabLst>
                <a:tab pos="736600" algn="l"/>
              </a:tabLst>
            </a:pPr>
            <a:r>
              <a:rPr sz="2000" dirty="0">
                <a:latin typeface="Arial MT"/>
                <a:cs typeface="Arial MT"/>
              </a:rPr>
              <a:t>Closing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processes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50" dirty="0"/>
              <a:t> </a:t>
            </a:r>
            <a:r>
              <a:rPr spc="-20" dirty="0"/>
              <a:t>management</a:t>
            </a:r>
            <a:r>
              <a:rPr spc="-215" dirty="0"/>
              <a:t> </a:t>
            </a:r>
            <a:r>
              <a:rPr spc="-10" dirty="0"/>
              <a:t>process</a:t>
            </a:r>
            <a:r>
              <a:rPr spc="-250" dirty="0"/>
              <a:t> </a:t>
            </a:r>
            <a:r>
              <a:rPr spc="-1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10853420" cy="161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level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activity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length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each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group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varies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every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According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Andy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Growe,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“Spending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planning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pay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spc="-10" dirty="0">
                <a:latin typeface="Arial MT"/>
                <a:cs typeface="Arial MT"/>
              </a:rPr>
              <a:t>execution”,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not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opinion.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50" dirty="0"/>
              <a:t> </a:t>
            </a:r>
            <a:r>
              <a:rPr spc="-20" dirty="0"/>
              <a:t>management</a:t>
            </a:r>
            <a:r>
              <a:rPr spc="-215" dirty="0"/>
              <a:t> </a:t>
            </a:r>
            <a:r>
              <a:rPr spc="-10" dirty="0"/>
              <a:t>process</a:t>
            </a:r>
            <a:r>
              <a:rPr spc="-250" dirty="0"/>
              <a:t> </a:t>
            </a:r>
            <a:r>
              <a:rPr spc="-10" dirty="0"/>
              <a:t>groups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0720" y="1339596"/>
            <a:ext cx="8290559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Project</a:t>
            </a:r>
            <a:r>
              <a:rPr spc="-250" dirty="0"/>
              <a:t> </a:t>
            </a:r>
            <a:r>
              <a:rPr spc="-20" dirty="0"/>
              <a:t>management</a:t>
            </a:r>
            <a:r>
              <a:rPr spc="-215" dirty="0"/>
              <a:t> </a:t>
            </a:r>
            <a:r>
              <a:rPr spc="-10" dirty="0"/>
              <a:t>process</a:t>
            </a:r>
            <a:r>
              <a:rPr spc="-250" dirty="0"/>
              <a:t> </a:t>
            </a:r>
            <a:r>
              <a:rPr spc="-1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85723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 algn="just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pure</a:t>
            </a:r>
            <a:r>
              <a:rPr sz="2400" spc="1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simple,</a:t>
            </a:r>
            <a:r>
              <a:rPr sz="2400" spc="10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good,</a:t>
            </a:r>
            <a:r>
              <a:rPr sz="2400" spc="100" dirty="0">
                <a:latin typeface="Arial MT"/>
                <a:cs typeface="Arial MT"/>
              </a:rPr>
              <a:t>  </a:t>
            </a:r>
            <a:r>
              <a:rPr sz="2400" spc="-20" dirty="0">
                <a:latin typeface="Arial MT"/>
                <a:cs typeface="Arial MT"/>
              </a:rPr>
              <a:t>methodology-</a:t>
            </a:r>
            <a:r>
              <a:rPr sz="2400" dirty="0">
                <a:latin typeface="Arial MT"/>
                <a:cs typeface="Arial MT"/>
              </a:rPr>
              <a:t>centric,</a:t>
            </a:r>
            <a:r>
              <a:rPr sz="2400" spc="9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predictable,</a:t>
            </a:r>
            <a:r>
              <a:rPr sz="2400" spc="1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10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repeatable 	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2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greatest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</a:t>
            </a:r>
            <a:r>
              <a:rPr sz="2400" spc="2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success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(or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this 	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failure)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project.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key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stakeholder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says,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“I</a:t>
            </a:r>
            <a:r>
              <a:rPr sz="2400" spc="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didn’t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how 	</a:t>
            </a:r>
            <a:r>
              <a:rPr sz="2400" dirty="0">
                <a:latin typeface="Arial MT"/>
                <a:cs typeface="Arial MT"/>
              </a:rPr>
              <a:t>bad</a:t>
            </a:r>
            <a:r>
              <a:rPr sz="2400" spc="29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things</a:t>
            </a:r>
            <a:r>
              <a:rPr sz="2400" spc="3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were,”</a:t>
            </a:r>
            <a:r>
              <a:rPr sz="2400" spc="2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30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29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85" dirty="0">
                <a:latin typeface="Arial MT"/>
                <a:cs typeface="Arial MT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direct</a:t>
            </a:r>
            <a:r>
              <a:rPr sz="2400" i="1" u="heavy" spc="2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indictment</a:t>
            </a:r>
            <a:r>
              <a:rPr sz="2400" i="1" u="heavy" spc="2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2400" i="1" u="heavy" spc="2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400" i="1" u="heavy" spc="2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project</a:t>
            </a:r>
            <a:r>
              <a:rPr sz="2400" i="1" u="heavy" spc="2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manager’s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9819" y="4160342"/>
            <a:ext cx="4839970" cy="626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communications</a:t>
            </a:r>
            <a:r>
              <a:rPr sz="2400" i="1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management</a:t>
            </a:r>
            <a:r>
              <a:rPr sz="2400" i="1" u="heavy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i="1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plan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endParaRPr sz="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59690" marR="5080">
              <a:lnSpc>
                <a:spcPts val="4320"/>
              </a:lnSpc>
              <a:spcBef>
                <a:spcPts val="640"/>
              </a:spcBef>
            </a:pPr>
            <a:r>
              <a:rPr spc="-20" dirty="0"/>
              <a:t>Mapping</a:t>
            </a:r>
            <a:r>
              <a:rPr spc="-229" dirty="0"/>
              <a:t> </a:t>
            </a:r>
            <a:r>
              <a:rPr dirty="0"/>
              <a:t>the</a:t>
            </a:r>
            <a:r>
              <a:rPr spc="-235" dirty="0"/>
              <a:t> </a:t>
            </a:r>
            <a:r>
              <a:rPr spc="-20" dirty="0"/>
              <a:t>process</a:t>
            </a:r>
            <a:r>
              <a:rPr spc="-245" dirty="0"/>
              <a:t> </a:t>
            </a:r>
            <a:r>
              <a:rPr spc="-10" dirty="0"/>
              <a:t>groups</a:t>
            </a:r>
            <a:r>
              <a:rPr spc="-225" dirty="0"/>
              <a:t> </a:t>
            </a:r>
            <a:r>
              <a:rPr dirty="0"/>
              <a:t>to</a:t>
            </a:r>
            <a:r>
              <a:rPr spc="-245" dirty="0"/>
              <a:t> </a:t>
            </a:r>
            <a:r>
              <a:rPr dirty="0"/>
              <a:t>the</a:t>
            </a:r>
            <a:r>
              <a:rPr spc="-240" dirty="0"/>
              <a:t> </a:t>
            </a:r>
            <a:r>
              <a:rPr spc="-10" dirty="0"/>
              <a:t>knowledge areas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857230" cy="357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You</a:t>
            </a:r>
            <a:r>
              <a:rPr sz="2400" spc="5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4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</a:t>
            </a:r>
            <a:r>
              <a:rPr sz="2400" spc="5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4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50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PM</a:t>
            </a:r>
            <a:r>
              <a:rPr sz="2400" spc="5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group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4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nine 	</a:t>
            </a:r>
            <a:r>
              <a:rPr sz="2400" spc="-10" dirty="0">
                <a:latin typeface="Arial MT"/>
                <a:cs typeface="Arial MT"/>
              </a:rPr>
              <a:t>knowledge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areas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using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PMBOK®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Guide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2017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Note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knowledge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area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planning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	</a:t>
            </a:r>
            <a:r>
              <a:rPr sz="2400" spc="-10" dirty="0">
                <a:latin typeface="Arial MT"/>
                <a:cs typeface="Arial MT"/>
              </a:rPr>
              <a:t>monitoring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controlling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groups.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1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You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map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activities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1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group 	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10</a:t>
            </a:r>
            <a:r>
              <a:rPr sz="2400" spc="-2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knowledge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areas.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1218" y="392048"/>
            <a:ext cx="10257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Mapping</a:t>
            </a:r>
            <a:r>
              <a:rPr spc="-229" dirty="0"/>
              <a:t> </a:t>
            </a:r>
            <a:r>
              <a:rPr dirty="0"/>
              <a:t>the</a:t>
            </a:r>
            <a:r>
              <a:rPr spc="-235" dirty="0"/>
              <a:t> </a:t>
            </a:r>
            <a:r>
              <a:rPr spc="-20" dirty="0"/>
              <a:t>process</a:t>
            </a:r>
            <a:r>
              <a:rPr spc="-245" dirty="0"/>
              <a:t> </a:t>
            </a:r>
            <a:r>
              <a:rPr spc="-10" dirty="0"/>
              <a:t>groups</a:t>
            </a:r>
            <a:r>
              <a:rPr spc="-225" dirty="0"/>
              <a:t> </a:t>
            </a:r>
            <a:r>
              <a:rPr dirty="0"/>
              <a:t>to</a:t>
            </a:r>
            <a:r>
              <a:rPr spc="-245" dirty="0"/>
              <a:t> </a:t>
            </a:r>
            <a:r>
              <a:rPr dirty="0"/>
              <a:t>the</a:t>
            </a:r>
            <a:r>
              <a:rPr spc="-240" dirty="0"/>
              <a:t> </a:t>
            </a:r>
            <a:r>
              <a:rPr spc="-10" dirty="0"/>
              <a:t>knowledge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90" y="1314996"/>
            <a:ext cx="11151108" cy="4533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218" y="989787"/>
            <a:ext cx="1560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0" spc="-1597" baseline="5555" dirty="0">
                <a:solidFill>
                  <a:srgbClr val="00B1BD"/>
                </a:solidFill>
                <a:latin typeface="Arial MT"/>
                <a:cs typeface="Arial MT"/>
              </a:rPr>
              <a:t>a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600" b="1" spc="-7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6000" spc="-989" baseline="5555" dirty="0">
                <a:solidFill>
                  <a:srgbClr val="00B1BD"/>
                </a:solidFill>
                <a:latin typeface="Arial MT"/>
                <a:cs typeface="Arial MT"/>
              </a:rPr>
              <a:t>r</a:t>
            </a:r>
            <a:r>
              <a:rPr sz="1600" b="1" spc="-2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6000" spc="-3060" baseline="5555" dirty="0">
                <a:solidFill>
                  <a:srgbClr val="00B1BD"/>
                </a:solidFill>
                <a:latin typeface="Arial MT"/>
                <a:cs typeface="Arial MT"/>
              </a:rPr>
              <a:t>e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00" b="1" spc="-40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000" spc="-2797" baseline="5555" dirty="0">
                <a:solidFill>
                  <a:srgbClr val="00B1BD"/>
                </a:solidFill>
                <a:latin typeface="Arial MT"/>
                <a:cs typeface="Arial MT"/>
              </a:rPr>
              <a:t>a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dg</a:t>
            </a:r>
            <a:r>
              <a:rPr sz="1600" b="1" spc="-6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000" spc="-1620" baseline="5555" dirty="0">
                <a:solidFill>
                  <a:srgbClr val="00B1BD"/>
                </a:solidFill>
                <a:latin typeface="Arial MT"/>
                <a:cs typeface="Arial MT"/>
              </a:rPr>
              <a:t>s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601970"/>
              </p:ext>
            </p:extLst>
          </p:nvPr>
        </p:nvGraphicFramePr>
        <p:xfrm>
          <a:off x="529628" y="1310195"/>
          <a:ext cx="11151869" cy="45326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8125"/>
                <a:gridCol w="1603375"/>
                <a:gridCol w="2565400"/>
                <a:gridCol w="1674495"/>
                <a:gridCol w="2329179"/>
                <a:gridCol w="1471295"/>
              </a:tblGrid>
              <a:tr h="2476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635" algn="ctr">
                        <a:lnSpc>
                          <a:spcPts val="1850"/>
                        </a:lnSpc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b="1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600" b="1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b="1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Groups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711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Initiating</a:t>
                      </a:r>
                      <a:r>
                        <a:rPr sz="1600" u="sng" spc="-6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1600" u="sng" spc="-4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2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Executing</a:t>
                      </a:r>
                      <a:r>
                        <a:rPr sz="1600" u="sng" spc="-6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600" u="sng" spc="-4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u="sng" spc="-4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Controlling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-4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Closing</a:t>
                      </a:r>
                      <a:r>
                        <a:rPr sz="1600" u="sng" spc="-5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1290955">
                <a:tc>
                  <a:txBody>
                    <a:bodyPr/>
                    <a:lstStyle/>
                    <a:p>
                      <a:pPr marL="30480">
                        <a:lnSpc>
                          <a:spcPts val="1860"/>
                        </a:lnSpc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Integration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860"/>
                        </a:lnSpc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Develop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Charter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860"/>
                        </a:lnSpc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Develop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1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600" spc="-7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 indent="-107950">
                        <a:lnSpc>
                          <a:spcPts val="1860"/>
                        </a:lnSpc>
                        <a:buChar char="-"/>
                        <a:tabLst>
                          <a:tab pos="13970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Direct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Work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750" marR="226060" indent="107950">
                        <a:lnSpc>
                          <a:spcPct val="106900"/>
                        </a:lnSpc>
                        <a:buChar char="-"/>
                        <a:tabLst>
                          <a:tab pos="13970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 Knowledge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 indent="-107950">
                        <a:lnSpc>
                          <a:spcPts val="1860"/>
                        </a:lnSpc>
                        <a:buChar char="-"/>
                        <a:tabLst>
                          <a:tab pos="13970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Monitor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Work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39700" indent="-107950">
                        <a:lnSpc>
                          <a:spcPct val="100000"/>
                        </a:lnSpc>
                        <a:spcBef>
                          <a:spcPts val="130"/>
                        </a:spcBef>
                        <a:buChar char="-"/>
                        <a:tabLst>
                          <a:tab pos="13970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Integrated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Change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Close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1029969">
                <a:tc>
                  <a:txBody>
                    <a:bodyPr/>
                    <a:lstStyle/>
                    <a:p>
                      <a:pPr marL="30480">
                        <a:lnSpc>
                          <a:spcPts val="1860"/>
                        </a:lnSpc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b="1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3048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065" indent="-107950">
                        <a:lnSpc>
                          <a:spcPts val="1860"/>
                        </a:lnSpc>
                        <a:buChar char="-"/>
                        <a:tabLst>
                          <a:tab pos="139065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39065" indent="-107950">
                        <a:lnSpc>
                          <a:spcPct val="100000"/>
                        </a:lnSpc>
                        <a:spcBef>
                          <a:spcPts val="140"/>
                        </a:spcBef>
                        <a:buChar char="-"/>
                        <a:tabLst>
                          <a:tab pos="139065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Collect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Requirements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39065" indent="-10795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39065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Define</a:t>
                      </a:r>
                      <a:r>
                        <a:rPr sz="16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39065" indent="-107950">
                        <a:lnSpc>
                          <a:spcPts val="1905"/>
                        </a:lnSpc>
                        <a:spcBef>
                          <a:spcPts val="130"/>
                        </a:spcBef>
                        <a:buChar char="-"/>
                        <a:tabLst>
                          <a:tab pos="139065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Create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WBS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39700" indent="-107950">
                        <a:lnSpc>
                          <a:spcPts val="1860"/>
                        </a:lnSpc>
                        <a:buChar char="-"/>
                        <a:tabLst>
                          <a:tab pos="13970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Validate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39700" indent="-107950">
                        <a:lnSpc>
                          <a:spcPct val="100000"/>
                        </a:lnSpc>
                        <a:spcBef>
                          <a:spcPts val="140"/>
                        </a:spcBef>
                        <a:buChar char="-"/>
                        <a:tabLst>
                          <a:tab pos="13970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Scope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1292860">
                <a:tc>
                  <a:txBody>
                    <a:bodyPr/>
                    <a:lstStyle/>
                    <a:p>
                      <a:pPr marL="68580">
                        <a:lnSpc>
                          <a:spcPts val="1860"/>
                        </a:lnSpc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 indent="-107950">
                        <a:lnSpc>
                          <a:spcPts val="1860"/>
                        </a:lnSpc>
                        <a:buChar char="-"/>
                        <a:tabLst>
                          <a:tab pos="17653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6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6530" indent="-107950">
                        <a:lnSpc>
                          <a:spcPct val="100000"/>
                        </a:lnSpc>
                        <a:spcBef>
                          <a:spcPts val="145"/>
                        </a:spcBef>
                        <a:buChar char="-"/>
                        <a:tabLst>
                          <a:tab pos="17653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Define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Activities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6530" indent="-10795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7653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Sequence</a:t>
                      </a:r>
                      <a:r>
                        <a:rPr sz="1600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Activities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6530" indent="-107950">
                        <a:lnSpc>
                          <a:spcPct val="100000"/>
                        </a:lnSpc>
                        <a:spcBef>
                          <a:spcPts val="130"/>
                        </a:spcBef>
                        <a:buChar char="-"/>
                        <a:tabLst>
                          <a:tab pos="176530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</a:t>
                      </a:r>
                      <a:r>
                        <a:rPr sz="16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r>
                        <a:rPr sz="16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Durations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221615" indent="-153035">
                        <a:lnSpc>
                          <a:spcPts val="1914"/>
                        </a:lnSpc>
                        <a:spcBef>
                          <a:spcPts val="130"/>
                        </a:spcBef>
                        <a:buChar char="-"/>
                        <a:tabLst>
                          <a:tab pos="221615" algn="l"/>
                        </a:tabLst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Develop</a:t>
                      </a:r>
                      <a:r>
                        <a:rPr sz="1600" spc="-6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endParaRPr sz="16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860"/>
                        </a:lnSpc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6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Schedule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1218" y="392048"/>
            <a:ext cx="10257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Mapping</a:t>
            </a:r>
            <a:r>
              <a:rPr spc="-229" dirty="0"/>
              <a:t> </a:t>
            </a:r>
            <a:r>
              <a:rPr dirty="0"/>
              <a:t>the</a:t>
            </a:r>
            <a:r>
              <a:rPr spc="-235" dirty="0"/>
              <a:t> </a:t>
            </a:r>
            <a:r>
              <a:rPr spc="-20" dirty="0"/>
              <a:t>process</a:t>
            </a:r>
            <a:r>
              <a:rPr spc="-245" dirty="0"/>
              <a:t> </a:t>
            </a:r>
            <a:r>
              <a:rPr spc="-10" dirty="0"/>
              <a:t>groups</a:t>
            </a:r>
            <a:r>
              <a:rPr spc="-225" dirty="0"/>
              <a:t> </a:t>
            </a:r>
            <a:r>
              <a:rPr dirty="0"/>
              <a:t>to</a:t>
            </a:r>
            <a:r>
              <a:rPr spc="-245" dirty="0"/>
              <a:t> </a:t>
            </a:r>
            <a:r>
              <a:rPr dirty="0"/>
              <a:t>the</a:t>
            </a:r>
            <a:r>
              <a:rPr spc="-240" dirty="0"/>
              <a:t> </a:t>
            </a:r>
            <a:r>
              <a:rPr spc="-10" dirty="0"/>
              <a:t>knowledge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90" y="1314996"/>
            <a:ext cx="11151108" cy="46192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218" y="989787"/>
            <a:ext cx="1560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0" spc="-1597" baseline="5555" dirty="0">
                <a:solidFill>
                  <a:srgbClr val="00B1BD"/>
                </a:solidFill>
                <a:latin typeface="Arial MT"/>
                <a:cs typeface="Arial MT"/>
              </a:rPr>
              <a:t>a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600" b="1" spc="-7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6000" spc="-989" baseline="5555" dirty="0">
                <a:solidFill>
                  <a:srgbClr val="00B1BD"/>
                </a:solidFill>
                <a:latin typeface="Arial MT"/>
                <a:cs typeface="Arial MT"/>
              </a:rPr>
              <a:t>r</a:t>
            </a:r>
            <a:r>
              <a:rPr sz="1600" b="1" spc="-2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6000" spc="-3060" baseline="5555" dirty="0">
                <a:solidFill>
                  <a:srgbClr val="00B1BD"/>
                </a:solidFill>
                <a:latin typeface="Arial MT"/>
                <a:cs typeface="Arial MT"/>
              </a:rPr>
              <a:t>e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00" b="1" spc="-40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000" spc="-2797" baseline="5555" dirty="0">
                <a:solidFill>
                  <a:srgbClr val="00B1BD"/>
                </a:solidFill>
                <a:latin typeface="Arial MT"/>
                <a:cs typeface="Arial MT"/>
              </a:rPr>
              <a:t>a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dg</a:t>
            </a:r>
            <a:r>
              <a:rPr sz="1600" b="1" spc="-6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000" spc="-1620" baseline="5555" dirty="0">
                <a:solidFill>
                  <a:srgbClr val="00B1BD"/>
                </a:solidFill>
                <a:latin typeface="Arial MT"/>
                <a:cs typeface="Arial MT"/>
              </a:rPr>
              <a:t>s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22343"/>
              </p:ext>
            </p:extLst>
          </p:nvPr>
        </p:nvGraphicFramePr>
        <p:xfrm>
          <a:off x="529628" y="1310195"/>
          <a:ext cx="11148693" cy="4616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4805"/>
                <a:gridCol w="1496059"/>
                <a:gridCol w="2564765"/>
                <a:gridCol w="1673860"/>
                <a:gridCol w="2328545"/>
                <a:gridCol w="1470659"/>
              </a:tblGrid>
              <a:tr h="2476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905" algn="ctr">
                        <a:lnSpc>
                          <a:spcPts val="185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Groups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711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Initiating</a:t>
                      </a:r>
                      <a:r>
                        <a:rPr sz="1600" u="sng" spc="-6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307340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1600" u="sng" spc="-4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2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Executing</a:t>
                      </a:r>
                      <a:r>
                        <a:rPr sz="1600" u="sng" spc="-6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600" u="sng" spc="-4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u="sng" spc="-4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Controlling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-4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Closing</a:t>
                      </a:r>
                      <a:r>
                        <a:rPr sz="1600" u="sng" spc="-5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1139190"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5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500" b="1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 indent="-101600">
                        <a:lnSpc>
                          <a:spcPts val="1745"/>
                        </a:lnSpc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</a:t>
                      </a:r>
                      <a:r>
                        <a:rPr sz="15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0180" indent="-101600">
                        <a:lnSpc>
                          <a:spcPct val="100000"/>
                        </a:lnSpc>
                        <a:spcBef>
                          <a:spcPts val="130"/>
                        </a:spcBef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69545" indent="-10096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-"/>
                        <a:tabLst>
                          <a:tab pos="169545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Determine</a:t>
                      </a:r>
                      <a:r>
                        <a:rPr sz="1500" spc="-7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Budget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Costs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852805"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5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500" b="1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5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 Manage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852805">
                <a:tc>
                  <a:txBody>
                    <a:bodyPr/>
                    <a:lstStyle/>
                    <a:p>
                      <a:pPr marL="68580">
                        <a:lnSpc>
                          <a:spcPts val="1750"/>
                        </a:lnSpc>
                      </a:pPr>
                      <a:r>
                        <a:rPr sz="15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500" b="1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 indent="-101600">
                        <a:lnSpc>
                          <a:spcPts val="1750"/>
                        </a:lnSpc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Resource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0180" indent="-101600">
                        <a:lnSpc>
                          <a:spcPct val="100000"/>
                        </a:lnSpc>
                        <a:spcBef>
                          <a:spcPts val="130"/>
                        </a:spcBef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Estimate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Activity</a:t>
                      </a:r>
                      <a:r>
                        <a:rPr sz="15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Resources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815" indent="-101600">
                        <a:lnSpc>
                          <a:spcPts val="1750"/>
                        </a:lnSpc>
                        <a:buChar char="-"/>
                        <a:tabLst>
                          <a:tab pos="170815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Acquire</a:t>
                      </a:r>
                      <a:r>
                        <a:rPr sz="1500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Resources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212725" indent="-143510">
                        <a:lnSpc>
                          <a:spcPct val="100000"/>
                        </a:lnSpc>
                        <a:spcBef>
                          <a:spcPts val="130"/>
                        </a:spcBef>
                        <a:buChar char="-"/>
                        <a:tabLst>
                          <a:tab pos="212725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Develop</a:t>
                      </a:r>
                      <a:r>
                        <a:rPr sz="15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0815" indent="-101600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-"/>
                        <a:tabLst>
                          <a:tab pos="170815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750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Resources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852805">
                <a:tc>
                  <a:txBody>
                    <a:bodyPr/>
                    <a:lstStyle/>
                    <a:p>
                      <a:pPr marL="68580">
                        <a:lnSpc>
                          <a:spcPts val="1750"/>
                        </a:lnSpc>
                      </a:pPr>
                      <a:r>
                        <a:rPr sz="15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 marR="207010">
                        <a:lnSpc>
                          <a:spcPct val="106700"/>
                        </a:lnSpc>
                        <a:spcBef>
                          <a:spcPts val="10"/>
                        </a:spcBef>
                      </a:pPr>
                      <a:r>
                        <a:rPr sz="15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Communications Management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50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1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Communications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50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Communications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750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Monitor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Communications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1218" y="392048"/>
            <a:ext cx="10257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Mapping</a:t>
            </a:r>
            <a:r>
              <a:rPr spc="-229" dirty="0"/>
              <a:t> </a:t>
            </a:r>
            <a:r>
              <a:rPr dirty="0"/>
              <a:t>the</a:t>
            </a:r>
            <a:r>
              <a:rPr spc="-235" dirty="0"/>
              <a:t> </a:t>
            </a:r>
            <a:r>
              <a:rPr spc="-20" dirty="0"/>
              <a:t>process</a:t>
            </a:r>
            <a:r>
              <a:rPr spc="-245" dirty="0"/>
              <a:t> </a:t>
            </a:r>
            <a:r>
              <a:rPr spc="-10" dirty="0"/>
              <a:t>groups</a:t>
            </a:r>
            <a:r>
              <a:rPr spc="-225" dirty="0"/>
              <a:t> </a:t>
            </a:r>
            <a:r>
              <a:rPr dirty="0"/>
              <a:t>to</a:t>
            </a:r>
            <a:r>
              <a:rPr spc="-245" dirty="0"/>
              <a:t> </a:t>
            </a:r>
            <a:r>
              <a:rPr dirty="0"/>
              <a:t>the</a:t>
            </a:r>
            <a:r>
              <a:rPr spc="-240" dirty="0"/>
              <a:t> </a:t>
            </a:r>
            <a:r>
              <a:rPr spc="-10" dirty="0"/>
              <a:t>knowledge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390" y="1314996"/>
            <a:ext cx="11151108" cy="45933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1218" y="989787"/>
            <a:ext cx="1560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0" spc="-1597" baseline="5555" dirty="0">
                <a:solidFill>
                  <a:srgbClr val="00B1BD"/>
                </a:solidFill>
                <a:latin typeface="Arial MT"/>
                <a:cs typeface="Arial MT"/>
              </a:rPr>
              <a:t>a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600" b="1" spc="-72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6000" spc="-989" baseline="5555" dirty="0">
                <a:solidFill>
                  <a:srgbClr val="00B1BD"/>
                </a:solidFill>
                <a:latin typeface="Arial MT"/>
                <a:cs typeface="Arial MT"/>
              </a:rPr>
              <a:t>r</a:t>
            </a:r>
            <a:r>
              <a:rPr sz="1600" b="1" spc="-25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6000" spc="-3060" baseline="5555" dirty="0">
                <a:solidFill>
                  <a:srgbClr val="00B1BD"/>
                </a:solidFill>
                <a:latin typeface="Arial MT"/>
                <a:cs typeface="Arial MT"/>
              </a:rPr>
              <a:t>e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00" b="1" spc="-409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000" spc="-2797" baseline="5555" dirty="0">
                <a:solidFill>
                  <a:srgbClr val="00B1BD"/>
                </a:solidFill>
                <a:latin typeface="Arial MT"/>
                <a:cs typeface="Arial MT"/>
              </a:rPr>
              <a:t>a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dg</a:t>
            </a:r>
            <a:r>
              <a:rPr sz="1600" b="1" spc="-60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6000" spc="-1620" baseline="5555" dirty="0">
                <a:solidFill>
                  <a:srgbClr val="00B1BD"/>
                </a:solidFill>
                <a:latin typeface="Arial MT"/>
                <a:cs typeface="Arial MT"/>
              </a:rPr>
              <a:t>s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557163"/>
              </p:ext>
            </p:extLst>
          </p:nvPr>
        </p:nvGraphicFramePr>
        <p:xfrm>
          <a:off x="529628" y="1310195"/>
          <a:ext cx="11149964" cy="4658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4805"/>
                <a:gridCol w="1306195"/>
                <a:gridCol w="2897504"/>
                <a:gridCol w="1804670"/>
                <a:gridCol w="2220595"/>
                <a:gridCol w="1306195"/>
              </a:tblGrid>
              <a:tr h="2476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905" algn="ctr">
                        <a:lnSpc>
                          <a:spcPts val="1850"/>
                        </a:lnSpc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600" b="1" spc="-5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600" b="1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b="1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Groups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519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T w="9525">
                      <a:solidFill>
                        <a:srgbClr val="5597D2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60"/>
                        </a:lnSpc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Initiating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-4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73709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1600" u="sng" spc="-6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Executing</a:t>
                      </a:r>
                      <a:r>
                        <a:rPr sz="1600" u="sng" spc="-6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860"/>
                        </a:lnSpc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600" u="sng" spc="-7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2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and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Controlling</a:t>
                      </a:r>
                      <a:r>
                        <a:rPr sz="1600" u="sng" spc="-7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-3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2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860"/>
                        </a:lnSpc>
                      </a:pP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Closing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600" u="sng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u="sng" spc="-45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u="sng" spc="-10" dirty="0">
                          <a:solidFill>
                            <a:schemeClr val="bg1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  <a:cs typeface="Calibri"/>
                        </a:rPr>
                        <a:t>Group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marL="68580">
                        <a:lnSpc>
                          <a:spcPts val="1630"/>
                        </a:lnSpc>
                      </a:pPr>
                      <a:r>
                        <a:rPr sz="14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400" b="1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0180" indent="-101600">
                        <a:lnSpc>
                          <a:spcPts val="1745"/>
                        </a:lnSpc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0180" indent="-101600">
                        <a:lnSpc>
                          <a:spcPct val="100000"/>
                        </a:lnSpc>
                        <a:spcBef>
                          <a:spcPts val="130"/>
                        </a:spcBef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1500" spc="-6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69545" indent="-10096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-"/>
                        <a:tabLst>
                          <a:tab pos="169545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qualitative</a:t>
                      </a:r>
                      <a:r>
                        <a:rPr sz="15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0180" indent="-10160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quantitative</a:t>
                      </a:r>
                      <a:r>
                        <a:rPr sz="1500" spc="-7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212090" indent="-143510">
                        <a:lnSpc>
                          <a:spcPts val="1795"/>
                        </a:lnSpc>
                        <a:spcBef>
                          <a:spcPts val="120"/>
                        </a:spcBef>
                        <a:buChar char="-"/>
                        <a:tabLst>
                          <a:tab pos="21209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responses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Implement</a:t>
                      </a:r>
                      <a:r>
                        <a:rPr sz="15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responses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Monitor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marL="68580">
                        <a:lnSpc>
                          <a:spcPts val="1630"/>
                        </a:lnSpc>
                      </a:pPr>
                      <a:r>
                        <a:rPr sz="14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 marR="544830">
                        <a:lnSpc>
                          <a:spcPct val="107100"/>
                        </a:lnSpc>
                      </a:pPr>
                      <a:r>
                        <a:rPr sz="14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Procurement Management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procurement</a:t>
                      </a:r>
                      <a:r>
                        <a:rPr sz="15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Conduct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procurements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Conduct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procurements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68580">
                        <a:lnSpc>
                          <a:spcPts val="1630"/>
                        </a:lnSpc>
                      </a:pPr>
                      <a:r>
                        <a:rPr sz="14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400" b="1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Stakeholder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Identify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stakeholders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stakeholder</a:t>
                      </a:r>
                      <a:r>
                        <a:rPr sz="15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engagement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stakeholder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engagement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Monitor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stakeholder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engagement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marL="68580">
                        <a:lnSpc>
                          <a:spcPts val="1630"/>
                        </a:lnSpc>
                      </a:pPr>
                      <a:r>
                        <a:rPr sz="14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400" b="1" spc="-5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b="1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4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28575">
                      <a:solidFill>
                        <a:srgbClr val="5B9BD4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B9BD4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0180" indent="-101600">
                        <a:lnSpc>
                          <a:spcPts val="1745"/>
                        </a:lnSpc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management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0180" indent="-101600">
                        <a:lnSpc>
                          <a:spcPct val="100000"/>
                        </a:lnSpc>
                        <a:spcBef>
                          <a:spcPts val="130"/>
                        </a:spcBef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Identify</a:t>
                      </a:r>
                      <a:r>
                        <a:rPr sz="1500" spc="-6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69545" indent="-10096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-"/>
                        <a:tabLst>
                          <a:tab pos="169545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qualitative</a:t>
                      </a:r>
                      <a:r>
                        <a:rPr sz="1500" spc="-6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170180" indent="-101600">
                        <a:lnSpc>
                          <a:spcPct val="100000"/>
                        </a:lnSpc>
                        <a:spcBef>
                          <a:spcPts val="135"/>
                        </a:spcBef>
                        <a:buChar char="-"/>
                        <a:tabLst>
                          <a:tab pos="17018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Perform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quantitative</a:t>
                      </a:r>
                      <a:r>
                        <a:rPr sz="1500" spc="-7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212090" indent="-143510">
                        <a:lnSpc>
                          <a:spcPts val="1789"/>
                        </a:lnSpc>
                        <a:spcBef>
                          <a:spcPts val="120"/>
                        </a:spcBef>
                        <a:buChar char="-"/>
                        <a:tabLst>
                          <a:tab pos="212090" algn="l"/>
                        </a:tabLst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Plan</a:t>
                      </a:r>
                      <a:r>
                        <a:rPr sz="15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r>
                        <a:rPr sz="15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responses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Implement</a:t>
                      </a:r>
                      <a:r>
                        <a:rPr sz="15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5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responses</a:t>
                      </a:r>
                      <a:endParaRPr sz="150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745"/>
                        </a:lnSpc>
                      </a:pP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Monitor</a:t>
                      </a:r>
                      <a:r>
                        <a:rPr sz="15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risks</a:t>
                      </a:r>
                      <a:endParaRPr sz="15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20" dirty="0"/>
              <a:t>Developing</a:t>
            </a:r>
            <a:r>
              <a:rPr spc="-215" dirty="0"/>
              <a:t> </a:t>
            </a:r>
            <a:r>
              <a:rPr dirty="0"/>
              <a:t>an</a:t>
            </a:r>
            <a:r>
              <a:rPr spc="-225" dirty="0"/>
              <a:t> </a:t>
            </a:r>
            <a:r>
              <a:rPr dirty="0"/>
              <a:t>IT</a:t>
            </a:r>
            <a:r>
              <a:rPr spc="-250" dirty="0"/>
              <a:t> </a:t>
            </a:r>
            <a:r>
              <a:rPr spc="-10" dirty="0"/>
              <a:t>Project</a:t>
            </a:r>
            <a:r>
              <a:rPr spc="-220" dirty="0"/>
              <a:t> </a:t>
            </a:r>
            <a:r>
              <a:rPr spc="-10" dirty="0"/>
              <a:t>Management 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10855960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Just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unique,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approaches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43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organizations</a:t>
            </a:r>
            <a:r>
              <a:rPr sz="2400" spc="4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</a:t>
            </a:r>
            <a:r>
              <a:rPr sz="2400" spc="43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their</a:t>
            </a:r>
            <a:r>
              <a:rPr sz="2400" spc="4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own</a:t>
            </a:r>
            <a:r>
              <a:rPr sz="2400" spc="4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4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management</a:t>
            </a:r>
            <a:r>
              <a:rPr sz="2400" spc="43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methodologies, 	especially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projects.</a:t>
            </a:r>
            <a:endParaRPr sz="2400">
              <a:latin typeface="Arial MT"/>
              <a:cs typeface="Arial MT"/>
            </a:endParaRP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methodology</a:t>
            </a:r>
            <a:r>
              <a:rPr sz="2400" spc="3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describes</a:t>
            </a:r>
            <a:r>
              <a:rPr sz="2400" spc="3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things</a:t>
            </a:r>
            <a:r>
              <a:rPr sz="2400" spc="3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done;</a:t>
            </a:r>
            <a:r>
              <a:rPr sz="2400" spc="3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standard</a:t>
            </a:r>
            <a:r>
              <a:rPr sz="2400" spc="3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describes 	what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should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done.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pc="-20" dirty="0"/>
              <a:t>Developing</a:t>
            </a:r>
            <a:r>
              <a:rPr spc="-215" dirty="0"/>
              <a:t> </a:t>
            </a:r>
            <a:r>
              <a:rPr dirty="0"/>
              <a:t>an</a:t>
            </a:r>
            <a:r>
              <a:rPr spc="-225" dirty="0"/>
              <a:t> </a:t>
            </a:r>
            <a:r>
              <a:rPr dirty="0"/>
              <a:t>IT</a:t>
            </a:r>
            <a:r>
              <a:rPr spc="-250" dirty="0"/>
              <a:t> </a:t>
            </a:r>
            <a:r>
              <a:rPr spc="-10" dirty="0"/>
              <a:t>Project</a:t>
            </a:r>
            <a:r>
              <a:rPr spc="-220" dirty="0"/>
              <a:t> </a:t>
            </a:r>
            <a:r>
              <a:rPr spc="-10" dirty="0"/>
              <a:t>Management 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10857865" cy="2840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400" spc="-10" dirty="0">
                <a:latin typeface="Arial MT"/>
                <a:cs typeface="Arial MT"/>
              </a:rPr>
              <a:t>many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other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guides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methods,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such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following:</a:t>
            </a:r>
            <a:endParaRPr sz="2400">
              <a:latin typeface="Arial MT"/>
              <a:cs typeface="Arial MT"/>
            </a:endParaRPr>
          </a:p>
          <a:p>
            <a:pPr marL="736600" marR="8255" lvl="1" indent="-266700">
              <a:lnSpc>
                <a:spcPct val="150000"/>
              </a:lnSpc>
              <a:spcBef>
                <a:spcPts val="1000"/>
              </a:spcBef>
              <a:buFont typeface="Wingdings"/>
              <a:buChar char=""/>
              <a:tabLst>
                <a:tab pos="736600" algn="l"/>
              </a:tabLst>
            </a:pPr>
            <a:r>
              <a:rPr sz="2400" spc="-30" dirty="0">
                <a:latin typeface="Arial MT"/>
                <a:cs typeface="Arial MT"/>
              </a:rPr>
              <a:t>PRINCE2,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Agile,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RUP,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Six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Sigma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provide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different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management methodologies.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PMI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estimates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poor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$109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million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every</a:t>
            </a:r>
            <a:endParaRPr sz="24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spc="-40" dirty="0">
                <a:latin typeface="Arial MT"/>
                <a:cs typeface="Arial MT"/>
              </a:rPr>
              <a:t>$1</a:t>
            </a:r>
            <a:r>
              <a:rPr sz="2400" spc="-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billion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invested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projects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783313"/>
            <a:ext cx="10742295" cy="357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329">
              <a:lnSpc>
                <a:spcPct val="15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fictitious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elements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involved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	</a:t>
            </a:r>
            <a:r>
              <a:rPr sz="2400" spc="-10" dirty="0">
                <a:latin typeface="Arial MT"/>
                <a:cs typeface="Arial MT"/>
              </a:rPr>
              <a:t>managing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from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start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finish.</a:t>
            </a:r>
            <a:endParaRPr sz="2400">
              <a:latin typeface="Arial MT"/>
              <a:cs typeface="Arial MT"/>
            </a:endParaRPr>
          </a:p>
          <a:p>
            <a:pPr marL="240029" marR="635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  <a:tab pos="1036955" algn="l"/>
                <a:tab pos="2406650" algn="l"/>
                <a:tab pos="3176905" algn="l"/>
                <a:tab pos="4039235" algn="l"/>
                <a:tab pos="5493385" algn="l"/>
                <a:tab pos="6654800" algn="l"/>
                <a:tab pos="7125970" algn="l"/>
                <a:tab pos="9040495" algn="l"/>
                <a:tab pos="9811385" algn="l"/>
              </a:tabLst>
            </a:pPr>
            <a:r>
              <a:rPr sz="2400" spc="-20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example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also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uses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Microsoft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to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demonstrate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how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project 	management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software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assist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several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aspects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managing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project.</a:t>
            </a:r>
            <a:endParaRPr sz="2400">
              <a:latin typeface="Arial MT"/>
              <a:cs typeface="Arial MT"/>
            </a:endParaRPr>
          </a:p>
          <a:p>
            <a:pPr marL="240029" marR="5715" indent="-227329">
              <a:lnSpc>
                <a:spcPct val="150000"/>
              </a:lnSpc>
              <a:spcBef>
                <a:spcPts val="1010"/>
              </a:spcBef>
              <a:buChar char="•"/>
              <a:tabLst>
                <a:tab pos="241300" algn="l"/>
                <a:tab pos="1495425" algn="l"/>
                <a:tab pos="3035300" algn="l"/>
                <a:tab pos="4386580" algn="l"/>
                <a:tab pos="5164455" algn="l"/>
                <a:tab pos="6297930" algn="l"/>
                <a:tab pos="7340600" algn="l"/>
                <a:tab pos="8608695" algn="l"/>
                <a:tab pos="9810115" algn="l"/>
              </a:tabLst>
            </a:pPr>
            <a:r>
              <a:rPr sz="2400" spc="-10" dirty="0">
                <a:latin typeface="Arial MT"/>
                <a:cs typeface="Arial MT"/>
              </a:rPr>
              <a:t>Several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templates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illustrate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how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teams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prepare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various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project 	management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documents.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20" dirty="0"/>
              <a:t> </a:t>
            </a:r>
            <a:r>
              <a:rPr spc="-10" dirty="0"/>
              <a:t>Study</a:t>
            </a:r>
            <a:r>
              <a:rPr spc="-229" dirty="0"/>
              <a:t> </a:t>
            </a:r>
            <a:r>
              <a:rPr sz="2200" spc="-10" dirty="0"/>
              <a:t>(JWD</a:t>
            </a:r>
            <a:r>
              <a:rPr sz="2200" spc="-120" dirty="0"/>
              <a:t> </a:t>
            </a:r>
            <a:r>
              <a:rPr sz="2200" spc="-10" dirty="0"/>
              <a:t>Consulting’s</a:t>
            </a:r>
            <a:r>
              <a:rPr sz="2200" spc="-120" dirty="0"/>
              <a:t> </a:t>
            </a:r>
            <a:r>
              <a:rPr sz="2200" spc="-10" dirty="0"/>
              <a:t>Project</a:t>
            </a:r>
            <a:r>
              <a:rPr sz="2200" spc="-125" dirty="0"/>
              <a:t> </a:t>
            </a:r>
            <a:r>
              <a:rPr sz="2200" spc="-10" dirty="0"/>
              <a:t>Management</a:t>
            </a:r>
            <a:r>
              <a:rPr sz="2200" spc="-75" dirty="0"/>
              <a:t> </a:t>
            </a:r>
            <a:r>
              <a:rPr sz="2200" spc="-10" dirty="0"/>
              <a:t>Intranet</a:t>
            </a:r>
            <a:r>
              <a:rPr sz="2200" spc="-110" dirty="0"/>
              <a:t> </a:t>
            </a:r>
            <a:r>
              <a:rPr sz="2200" dirty="0"/>
              <a:t>Site</a:t>
            </a:r>
            <a:r>
              <a:rPr sz="2200" spc="-11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521238"/>
          </a:xfrm>
          <a:prstGeom prst="rect">
            <a:avLst/>
          </a:prstGeom>
        </p:spPr>
        <p:txBody>
          <a:bodyPr vert="horz" wrap="square" lIns="0" tIns="78232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Calibri"/>
                <a:cs typeface="Calibri"/>
              </a:rPr>
              <a:t>Project</a:t>
            </a:r>
            <a:r>
              <a:rPr b="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chemeClr val="bg1"/>
                </a:solidFill>
                <a:latin typeface="Calibri"/>
                <a:cs typeface="Calibri"/>
              </a:rPr>
              <a:t>Pre-</a:t>
            </a:r>
            <a:r>
              <a:rPr b="0" spc="-10" dirty="0">
                <a:solidFill>
                  <a:schemeClr val="bg1"/>
                </a:solidFill>
                <a:latin typeface="Calibri"/>
                <a:cs typeface="Calibri"/>
              </a:rPr>
              <a:t>initiation</a:t>
            </a:r>
          </a:p>
          <a:p>
            <a:pPr marL="240029" marR="889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b="0" spc="4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4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management,</a:t>
            </a:r>
            <a:r>
              <a:rPr b="0" spc="5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initiating</a:t>
            </a:r>
            <a:r>
              <a:rPr b="0" spc="5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includes</a:t>
            </a:r>
            <a:r>
              <a:rPr b="0" spc="5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recognizing</a:t>
            </a:r>
            <a:r>
              <a:rPr b="0" spc="5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b="0" spc="4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starting</a:t>
            </a:r>
            <a:r>
              <a:rPr b="0" spc="50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b="0" spc="48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25" dirty="0">
                <a:solidFill>
                  <a:schemeClr val="bg1"/>
                </a:solidFill>
                <a:latin typeface="Arial MT"/>
                <a:cs typeface="Arial MT"/>
              </a:rPr>
              <a:t>new 	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project.</a:t>
            </a:r>
          </a:p>
          <a:p>
            <a:pPr marL="240029" marR="5080" indent="-227329">
              <a:lnSpc>
                <a:spcPct val="1501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An</a:t>
            </a:r>
            <a:r>
              <a:rPr b="0" spc="4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organization</a:t>
            </a:r>
            <a:r>
              <a:rPr b="0" spc="4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may</a:t>
            </a:r>
            <a:r>
              <a:rPr b="0" spc="4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initiate</a:t>
            </a:r>
            <a:r>
              <a:rPr b="0" spc="45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IT</a:t>
            </a:r>
            <a:r>
              <a:rPr b="0" spc="3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projects</a:t>
            </a:r>
            <a:r>
              <a:rPr b="0" spc="4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b="0" spc="4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several</a:t>
            </a:r>
            <a:r>
              <a:rPr b="0" spc="4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reasons,</a:t>
            </a:r>
            <a:r>
              <a:rPr b="0" spc="4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but</a:t>
            </a:r>
            <a:r>
              <a:rPr b="0" spc="4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45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20" dirty="0">
                <a:solidFill>
                  <a:schemeClr val="bg1"/>
                </a:solidFill>
                <a:latin typeface="Arial MT"/>
                <a:cs typeface="Arial MT"/>
              </a:rPr>
              <a:t>most 	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important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reason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support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business</a:t>
            </a:r>
            <a:r>
              <a:rPr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objectives.</a:t>
            </a: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It</a:t>
            </a:r>
            <a:r>
              <a:rPr b="0" spc="-1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good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practice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lay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groundwork</a:t>
            </a:r>
            <a:r>
              <a:rPr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b="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before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it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officially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starts.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2553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0" dirty="0">
                <a:solidFill>
                  <a:schemeClr val="bg1"/>
                </a:solidFill>
                <a:latin typeface="Calibri"/>
                <a:cs typeface="Calibri"/>
              </a:rPr>
              <a:t>Project</a:t>
            </a:r>
            <a:r>
              <a:rPr sz="1900" b="0" spc="-4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900" b="0" spc="-10" dirty="0">
                <a:solidFill>
                  <a:schemeClr val="bg1"/>
                </a:solidFill>
                <a:latin typeface="Calibri"/>
                <a:cs typeface="Calibri"/>
              </a:rPr>
              <a:t>Pre-initiation</a:t>
            </a:r>
            <a:endParaRPr sz="19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689"/>
              </a:spcBef>
              <a:buChar char="•"/>
              <a:tabLst>
                <a:tab pos="240029" algn="l"/>
              </a:tabLst>
            </a:pPr>
            <a:r>
              <a:rPr sz="1900" b="0" dirty="0">
                <a:solidFill>
                  <a:schemeClr val="bg1"/>
                </a:solidFill>
                <a:latin typeface="Arial MT"/>
                <a:cs typeface="Arial MT"/>
              </a:rPr>
              <a:t>Senior</a:t>
            </a:r>
            <a:r>
              <a:rPr sz="1900"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spc="-10" dirty="0">
                <a:solidFill>
                  <a:schemeClr val="bg1"/>
                </a:solidFill>
                <a:latin typeface="Arial MT"/>
                <a:cs typeface="Arial MT"/>
              </a:rPr>
              <a:t>managers</a:t>
            </a:r>
            <a:r>
              <a:rPr sz="1900" b="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spc="-10" dirty="0">
                <a:solidFill>
                  <a:schemeClr val="bg1"/>
                </a:solidFill>
                <a:latin typeface="Arial MT"/>
                <a:cs typeface="Arial MT"/>
              </a:rPr>
              <a:t>often</a:t>
            </a:r>
            <a:r>
              <a:rPr sz="1900"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dirty="0">
                <a:solidFill>
                  <a:schemeClr val="bg1"/>
                </a:solidFill>
                <a:latin typeface="Arial MT"/>
                <a:cs typeface="Arial MT"/>
              </a:rPr>
              <a:t>perform</a:t>
            </a:r>
            <a:r>
              <a:rPr sz="1900"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dirty="0">
                <a:solidFill>
                  <a:schemeClr val="bg1"/>
                </a:solidFill>
                <a:latin typeface="Arial MT"/>
                <a:cs typeface="Arial MT"/>
              </a:rPr>
              <a:t>several</a:t>
            </a:r>
            <a:r>
              <a:rPr sz="1900" b="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spc="-10" dirty="0">
                <a:solidFill>
                  <a:schemeClr val="bg1"/>
                </a:solidFill>
                <a:latin typeface="Arial MT"/>
                <a:cs typeface="Arial MT"/>
              </a:rPr>
              <a:t>pre-</a:t>
            </a:r>
            <a:r>
              <a:rPr sz="1900" b="0" dirty="0">
                <a:solidFill>
                  <a:schemeClr val="bg1"/>
                </a:solidFill>
                <a:latin typeface="Arial MT"/>
                <a:cs typeface="Arial MT"/>
              </a:rPr>
              <a:t>initiation</a:t>
            </a:r>
            <a:r>
              <a:rPr sz="1900" b="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spc="-10" dirty="0">
                <a:solidFill>
                  <a:schemeClr val="bg1"/>
                </a:solidFill>
                <a:latin typeface="Arial MT"/>
                <a:cs typeface="Arial MT"/>
              </a:rPr>
              <a:t>tasks,</a:t>
            </a:r>
            <a:r>
              <a:rPr sz="19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dirty="0">
                <a:solidFill>
                  <a:schemeClr val="bg1"/>
                </a:solidFill>
                <a:latin typeface="Arial MT"/>
                <a:cs typeface="Arial MT"/>
              </a:rPr>
              <a:t>including</a:t>
            </a:r>
            <a:r>
              <a:rPr sz="1900" b="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b="0" spc="-10" dirty="0">
                <a:solidFill>
                  <a:schemeClr val="bg1"/>
                </a:solidFill>
                <a:latin typeface="Arial MT"/>
                <a:cs typeface="Arial MT"/>
              </a:rPr>
              <a:t>following:</a:t>
            </a:r>
            <a:endParaRPr sz="19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85"/>
              </a:spcBef>
              <a:buFont typeface="Wingdings"/>
              <a:buChar char=""/>
              <a:tabLst>
                <a:tab pos="736600" algn="l"/>
              </a:tabLst>
            </a:pP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Determine</a:t>
            </a:r>
            <a:r>
              <a:rPr sz="1900" spc="-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scope,</a:t>
            </a:r>
            <a:r>
              <a:rPr sz="190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time,</a:t>
            </a:r>
            <a:r>
              <a:rPr sz="19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19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cost</a:t>
            </a:r>
            <a:r>
              <a:rPr sz="19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constraints</a:t>
            </a:r>
            <a:r>
              <a:rPr sz="19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19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endParaRPr sz="19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80"/>
              </a:spcBef>
              <a:buFont typeface="Wingdings"/>
              <a:buChar char=""/>
              <a:tabLst>
                <a:tab pos="736600" algn="l"/>
              </a:tabLst>
            </a:pP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Identify</a:t>
            </a:r>
            <a:r>
              <a:rPr sz="19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19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sponsor</a:t>
            </a:r>
            <a:endParaRPr sz="19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89"/>
              </a:spcBef>
              <a:buFont typeface="Wingdings"/>
              <a:buChar char=""/>
              <a:tabLst>
                <a:tab pos="736600" algn="l"/>
              </a:tabLst>
            </a:pP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Select</a:t>
            </a:r>
            <a:r>
              <a:rPr sz="19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19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manager</a:t>
            </a:r>
            <a:endParaRPr sz="19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85"/>
              </a:spcBef>
              <a:buFont typeface="Wingdings"/>
              <a:buChar char=""/>
              <a:tabLst>
                <a:tab pos="736600" algn="l"/>
              </a:tabLst>
            </a:pP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Develop</a:t>
            </a:r>
            <a:r>
              <a:rPr sz="190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9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business</a:t>
            </a:r>
            <a:r>
              <a:rPr sz="19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case</a:t>
            </a:r>
            <a:r>
              <a:rPr sz="19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19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19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19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(see</a:t>
            </a:r>
            <a:r>
              <a:rPr sz="19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Table</a:t>
            </a:r>
            <a:r>
              <a:rPr sz="19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chemeClr val="bg1"/>
                </a:solidFill>
                <a:latin typeface="Arial MT"/>
                <a:cs typeface="Arial MT"/>
              </a:rPr>
              <a:t>3-</a:t>
            </a:r>
            <a:r>
              <a:rPr sz="1900" spc="-20" dirty="0">
                <a:solidFill>
                  <a:schemeClr val="bg1"/>
                </a:solidFill>
                <a:latin typeface="Arial MT"/>
                <a:cs typeface="Arial MT"/>
              </a:rPr>
              <a:t>2</a:t>
            </a:r>
            <a:r>
              <a:rPr sz="190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19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an</a:t>
            </a:r>
            <a:r>
              <a:rPr sz="190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example)</a:t>
            </a:r>
            <a:endParaRPr sz="19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6600" marR="5080" lvl="1" indent="-266700">
              <a:lnSpc>
                <a:spcPct val="130000"/>
              </a:lnSpc>
              <a:spcBef>
                <a:spcPts val="994"/>
              </a:spcBef>
              <a:buFont typeface="Wingdings"/>
              <a:buChar char=""/>
              <a:tabLst>
                <a:tab pos="736600" algn="l"/>
              </a:tabLst>
            </a:pP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Meet</a:t>
            </a:r>
            <a:r>
              <a:rPr sz="1900" spc="3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with</a:t>
            </a:r>
            <a:r>
              <a:rPr sz="1900" spc="3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spc="3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1900" spc="3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manager</a:t>
            </a:r>
            <a:r>
              <a:rPr sz="1900" spc="3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1900" spc="3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review</a:t>
            </a:r>
            <a:r>
              <a:rPr sz="1900" spc="3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spc="3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process</a:t>
            </a:r>
            <a:r>
              <a:rPr sz="1900" spc="3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1900" spc="3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expectations</a:t>
            </a:r>
            <a:r>
              <a:rPr sz="1900" spc="3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1900" spc="3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managing</a:t>
            </a:r>
            <a:r>
              <a:rPr sz="1900" spc="3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chemeClr val="bg1"/>
                </a:solidFill>
                <a:latin typeface="Arial MT"/>
                <a:cs typeface="Arial MT"/>
              </a:rPr>
              <a:t>the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endParaRPr sz="19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89"/>
              </a:spcBef>
              <a:buFont typeface="Wingdings"/>
              <a:buChar char=""/>
              <a:tabLst>
                <a:tab pos="736600" algn="l"/>
              </a:tabLst>
            </a:pP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Determine</a:t>
            </a:r>
            <a:r>
              <a:rPr sz="1900" spc="-8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if</a:t>
            </a:r>
            <a:r>
              <a:rPr sz="19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19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190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should</a:t>
            </a:r>
            <a:r>
              <a:rPr sz="19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be</a:t>
            </a:r>
            <a:r>
              <a:rPr sz="19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divided</a:t>
            </a:r>
            <a:r>
              <a:rPr sz="1900" spc="-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into</a:t>
            </a:r>
            <a:r>
              <a:rPr sz="19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two</a:t>
            </a:r>
            <a:r>
              <a:rPr sz="190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or</a:t>
            </a:r>
            <a:r>
              <a:rPr sz="190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chemeClr val="bg1"/>
                </a:solidFill>
                <a:latin typeface="Arial MT"/>
                <a:cs typeface="Arial MT"/>
              </a:rPr>
              <a:t>more</a:t>
            </a:r>
            <a:r>
              <a:rPr sz="190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smaller</a:t>
            </a:r>
            <a:r>
              <a:rPr sz="190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chemeClr val="bg1"/>
                </a:solidFill>
                <a:latin typeface="Arial MT"/>
                <a:cs typeface="Arial MT"/>
              </a:rPr>
              <a:t>projects</a:t>
            </a:r>
            <a:endParaRPr sz="19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20" dirty="0"/>
              <a:t> </a:t>
            </a:r>
            <a:r>
              <a:rPr spc="-10" dirty="0"/>
              <a:t>Study</a:t>
            </a:r>
            <a:r>
              <a:rPr spc="-229" dirty="0"/>
              <a:t> </a:t>
            </a:r>
            <a:r>
              <a:rPr sz="2200" spc="-10" dirty="0"/>
              <a:t>(JWD</a:t>
            </a:r>
            <a:r>
              <a:rPr sz="2200" spc="-120" dirty="0"/>
              <a:t> </a:t>
            </a:r>
            <a:r>
              <a:rPr sz="2200" spc="-10" dirty="0"/>
              <a:t>Consulting’s</a:t>
            </a:r>
            <a:r>
              <a:rPr sz="2200" spc="-120" dirty="0"/>
              <a:t> </a:t>
            </a:r>
            <a:r>
              <a:rPr sz="2200" spc="-10" dirty="0"/>
              <a:t>Project</a:t>
            </a:r>
            <a:r>
              <a:rPr sz="2200" spc="-125" dirty="0"/>
              <a:t> </a:t>
            </a:r>
            <a:r>
              <a:rPr sz="2200" spc="-10" dirty="0"/>
              <a:t>Management</a:t>
            </a:r>
            <a:r>
              <a:rPr sz="2200" spc="-75" dirty="0"/>
              <a:t> </a:t>
            </a:r>
            <a:r>
              <a:rPr sz="2200" spc="-10" dirty="0"/>
              <a:t>Intranet</a:t>
            </a:r>
            <a:r>
              <a:rPr sz="2200" spc="-110" dirty="0"/>
              <a:t> </a:t>
            </a:r>
            <a:r>
              <a:rPr sz="2200" dirty="0"/>
              <a:t>Site</a:t>
            </a:r>
            <a:r>
              <a:rPr sz="2200" spc="-11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3408112"/>
          </a:xfrm>
          <a:prstGeom prst="rect">
            <a:avLst/>
          </a:prstGeom>
        </p:spPr>
        <p:txBody>
          <a:bodyPr vert="horz" wrap="square" lIns="0" tIns="782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chemeClr val="bg1"/>
                </a:solidFill>
                <a:latin typeface="Calibri"/>
                <a:cs typeface="Calibri"/>
              </a:rPr>
              <a:t>Project</a:t>
            </a:r>
            <a:r>
              <a:rPr b="0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b="0" spc="-10" dirty="0">
                <a:solidFill>
                  <a:schemeClr val="bg1"/>
                </a:solidFill>
                <a:latin typeface="Calibri"/>
                <a:cs typeface="Calibri"/>
              </a:rPr>
              <a:t>initiation</a:t>
            </a: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main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goal</a:t>
            </a:r>
            <a:r>
              <a:rPr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is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formally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select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start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off</a:t>
            </a:r>
            <a:r>
              <a:rPr b="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projects.</a:t>
            </a:r>
          </a:p>
          <a:p>
            <a:pPr marL="240029" marR="5080" indent="-227329">
              <a:lnSpc>
                <a:spcPct val="15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main</a:t>
            </a:r>
            <a:r>
              <a:rPr b="0" spc="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tasks</a:t>
            </a:r>
            <a:r>
              <a:rPr b="0" spc="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were</a:t>
            </a:r>
            <a:r>
              <a:rPr b="0" spc="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identify</a:t>
            </a:r>
            <a:r>
              <a:rPr b="0" spc="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all</a:t>
            </a:r>
            <a:r>
              <a:rPr b="0" spc="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b="0" spc="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stakeholders</a:t>
            </a:r>
            <a:r>
              <a:rPr b="0" spc="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b="0" spc="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develop </a:t>
            </a:r>
            <a:r>
              <a:rPr b="0" dirty="0" smtClean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-160" dirty="0" smtClean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charter.</a:t>
            </a: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main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outputs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are</a:t>
            </a:r>
            <a:r>
              <a:rPr b="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b="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charter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b="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stakeholder</a:t>
            </a:r>
            <a:r>
              <a:rPr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register.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2083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initiation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84069"/>
            <a:ext cx="10799064" cy="287883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209384"/>
              </p:ext>
            </p:extLst>
          </p:nvPr>
        </p:nvGraphicFramePr>
        <p:xfrm>
          <a:off x="833437" y="2574544"/>
          <a:ext cx="10799444" cy="2882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9815"/>
                <a:gridCol w="3599815"/>
                <a:gridCol w="3599814"/>
              </a:tblGrid>
              <a:tr h="4895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Knowledge</a:t>
                      </a:r>
                      <a:r>
                        <a:rPr sz="1800" b="1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9525">
                      <a:solidFill>
                        <a:srgbClr val="5597D2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Initiating</a:t>
                      </a:r>
                      <a:r>
                        <a:rPr sz="1800" b="1" spc="-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Process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Outputs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R w="9525">
                      <a:solidFill>
                        <a:srgbClr val="5597D2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837565">
                <a:tc>
                  <a:txBody>
                    <a:bodyPr/>
                    <a:lstStyle/>
                    <a:p>
                      <a:pPr marL="91440" marR="14808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800" b="1" i="1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Integration Management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Develop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charter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4881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charter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Assumption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log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1555115">
                <a:tc>
                  <a:txBody>
                    <a:bodyPr/>
                    <a:lstStyle/>
                    <a:p>
                      <a:pPr marL="91440" marR="13544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800" b="1" i="1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Stakeholder Management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Identify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stakeholders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4674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Stakeholder</a:t>
                      </a:r>
                      <a:r>
                        <a:rPr sz="1800" spc="-114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register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requests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8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management</a:t>
                      </a:r>
                      <a:r>
                        <a:rPr sz="1800" spc="-6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plan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updates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documents</a:t>
                      </a:r>
                      <a:r>
                        <a:rPr sz="18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updates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609213" y="5510885"/>
            <a:ext cx="52635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Arial MT"/>
                <a:cs typeface="Arial MT"/>
              </a:rPr>
              <a:t>Project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initiation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knowledge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areas,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processes,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outputs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32177"/>
            <a:ext cx="10740390" cy="40278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Project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initiation</a:t>
            </a:r>
            <a:endParaRPr sz="2200">
              <a:latin typeface="Arial"/>
              <a:cs typeface="Arial"/>
            </a:endParaRPr>
          </a:p>
          <a:p>
            <a:pPr marL="240665" indent="-227965" algn="just">
              <a:lnSpc>
                <a:spcPct val="100000"/>
              </a:lnSpc>
              <a:spcBef>
                <a:spcPts val="205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3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stakeholder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analysis</a:t>
            </a:r>
            <a:r>
              <a:rPr sz="2200" spc="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3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2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technique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managers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4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use</a:t>
            </a:r>
            <a:r>
              <a:rPr sz="2200" spc="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30" dirty="0">
                <a:latin typeface="Arial MT"/>
                <a:cs typeface="Arial MT"/>
              </a:rPr>
              <a:t>  </a:t>
            </a:r>
            <a:r>
              <a:rPr sz="2200" spc="-20" dirty="0">
                <a:latin typeface="Arial MT"/>
                <a:cs typeface="Arial MT"/>
              </a:rPr>
              <a:t>help</a:t>
            </a:r>
            <a:endParaRPr sz="220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  <a:spcBef>
                <a:spcPts val="1060"/>
              </a:spcBef>
            </a:pPr>
            <a:r>
              <a:rPr sz="2200" spc="-10" dirty="0">
                <a:latin typeface="Arial MT"/>
                <a:cs typeface="Arial MT"/>
              </a:rPr>
              <a:t>understand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increase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support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stakeholders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throughout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project.</a:t>
            </a:r>
            <a:endParaRPr sz="2200">
              <a:latin typeface="Arial MT"/>
              <a:cs typeface="Arial MT"/>
            </a:endParaRPr>
          </a:p>
          <a:p>
            <a:pPr marL="240665" indent="-227965" algn="just">
              <a:lnSpc>
                <a:spcPct val="100000"/>
              </a:lnSpc>
              <a:spcBef>
                <a:spcPts val="206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Results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stakeholder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analysis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documented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stakeholder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register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in</a:t>
            </a:r>
            <a:endParaRPr sz="220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  <a:spcBef>
                <a:spcPts val="1055"/>
              </a:spcBef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separate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stakeholder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strategy.</a:t>
            </a:r>
            <a:endParaRPr sz="2200">
              <a:latin typeface="Arial MT"/>
              <a:cs typeface="Arial MT"/>
            </a:endParaRPr>
          </a:p>
          <a:p>
            <a:pPr marL="241300" marR="6350" indent="-228600" algn="just">
              <a:lnSpc>
                <a:spcPct val="14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strategy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includes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basic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information such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stakeholder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names,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level 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interest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project,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level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influence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project,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potential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strategies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gaining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support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reducing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obstacles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each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stakeholder.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2083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initiation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84069"/>
            <a:ext cx="10799064" cy="294741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681577"/>
              </p:ext>
            </p:extLst>
          </p:nvPr>
        </p:nvGraphicFramePr>
        <p:xfrm>
          <a:off x="833437" y="2574544"/>
          <a:ext cx="10863580" cy="29495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/>
                <a:gridCol w="1924050"/>
                <a:gridCol w="2178050"/>
                <a:gridCol w="1816735"/>
                <a:gridCol w="3360420"/>
              </a:tblGrid>
              <a:tr h="4895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Name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9525">
                      <a:solidFill>
                        <a:srgbClr val="5597D2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Position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778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Internal/</a:t>
                      </a: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External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800" b="1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role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Contact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information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R w="9525">
                      <a:solidFill>
                        <a:srgbClr val="5597D2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37401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Joe</a:t>
                      </a:r>
                      <a:r>
                        <a:rPr sz="18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Fleming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CEO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77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Sponsor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3"/>
                        </a:rPr>
                        <a:t>joe_fleming@jwdconsulting.com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Erica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Bell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PMO</a:t>
                      </a:r>
                      <a:r>
                        <a:rPr sz="18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Director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77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166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 Manager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4"/>
                        </a:rPr>
                        <a:t>erica_bell@jwdconsulting.com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Michael</a:t>
                      </a:r>
                      <a:r>
                        <a:rPr sz="1800" spc="-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Chen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346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Senior Consultant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77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Internal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Team</a:t>
                      </a:r>
                      <a:r>
                        <a:rPr sz="1800" spc="-1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Member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5"/>
                        </a:rPr>
                        <a:t>michael_chen@jwdconsulting.com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Kim</a:t>
                      </a:r>
                      <a:r>
                        <a:rPr sz="1800" spc="-1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Phuong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Business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Analyst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77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external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Advisor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6"/>
                        </a:rPr>
                        <a:t>kim_phuong@client1.com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Louise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Mills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</a:t>
                      </a:r>
                      <a:r>
                        <a:rPr sz="18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Director</a:t>
                      </a:r>
                      <a:endParaRPr sz="18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700" spc="-15" baseline="6172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Inter</a:t>
                      </a:r>
                      <a:r>
                        <a:rPr sz="2700" spc="-1439" baseline="6172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sz="1800" spc="-2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sz="2700" spc="-1132" baseline="6172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r>
                        <a:rPr sz="1800" spc="-7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2700" spc="-15" baseline="6172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</a:t>
                      </a:r>
                      <a:r>
                        <a:rPr sz="2700" spc="-172" baseline="6172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keholder</a:t>
                      </a:r>
                      <a:r>
                        <a:rPr sz="1800" spc="6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reg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654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700" spc="-179" baseline="-6172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sz="1800" spc="-1115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2700" spc="-15" baseline="-6172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sz="2700" spc="-465" baseline="-6172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r>
                        <a:rPr sz="1800" spc="-715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</a:t>
                      </a:r>
                      <a:r>
                        <a:rPr sz="2700" spc="-480" baseline="-6172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r>
                        <a:rPr sz="1800" spc="-605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v</a:t>
                      </a:r>
                      <a:r>
                        <a:rPr sz="2700" spc="-30" baseline="-6172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sz="1800" spc="-10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sz="1800" spc="-20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sz="1800" spc="-10" dirty="0" smtClean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  <a:hlinkClick r:id="rId7"/>
                        </a:rPr>
                        <a:t>louise_mills@jwdconsulting.com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2083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initiation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631567"/>
            <a:ext cx="10917936" cy="2225039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181103"/>
              </p:ext>
            </p:extLst>
          </p:nvPr>
        </p:nvGraphicFramePr>
        <p:xfrm>
          <a:off x="833437" y="2622042"/>
          <a:ext cx="10918189" cy="222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955"/>
                <a:gridCol w="1935480"/>
                <a:gridCol w="1947544"/>
                <a:gridCol w="5617210"/>
              </a:tblGrid>
              <a:tr h="339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9525">
                      <a:solidFill>
                        <a:srgbClr val="5597D2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sz="1600" b="1" spc="-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600" b="1" spc="-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interest</a:t>
                      </a:r>
                      <a:endParaRPr sz="16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sz="1600" b="1" spc="-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sz="1600" b="1" spc="-3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influence</a:t>
                      </a:r>
                      <a:endParaRPr sz="16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Potential</a:t>
                      </a:r>
                      <a:r>
                        <a:rPr sz="1600" b="1" spc="-7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Management</a:t>
                      </a:r>
                      <a:r>
                        <a:rPr sz="1600" b="1" spc="-6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Strategies</a:t>
                      </a:r>
                      <a:endParaRPr sz="16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B="0">
                    <a:lnR w="9525">
                      <a:solidFill>
                        <a:srgbClr val="5597D2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Joe</a:t>
                      </a:r>
                      <a:r>
                        <a:rPr sz="1600" spc="-114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Fleming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6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6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346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Joe</a:t>
                      </a:r>
                      <a:r>
                        <a:rPr sz="16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likes</a:t>
                      </a:r>
                      <a:r>
                        <a:rPr sz="1600" spc="-10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stay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top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8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key</a:t>
                      </a:r>
                      <a:r>
                        <a:rPr sz="1600" spc="-10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projects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make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money.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Have</a:t>
                      </a:r>
                      <a:r>
                        <a:rPr sz="16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lot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short,</a:t>
                      </a:r>
                      <a:r>
                        <a:rPr sz="1600" spc="-7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face-to-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face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meetings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focus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on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achieving</a:t>
                      </a:r>
                      <a:r>
                        <a:rPr sz="16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7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financial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benefits</a:t>
                      </a:r>
                      <a:r>
                        <a:rPr sz="1600" spc="-6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6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600" spc="-7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project.</a:t>
                      </a:r>
                      <a:endParaRPr sz="16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Louise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Mills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Low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835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Louise</a:t>
                      </a:r>
                      <a:r>
                        <a:rPr sz="1600" spc="-10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lot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things</a:t>
                      </a:r>
                      <a:r>
                        <a:rPr sz="1600" spc="-8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her</a:t>
                      </a:r>
                      <a:r>
                        <a:rPr sz="1600" spc="-8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plate,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she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does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not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seem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excited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about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project.</a:t>
                      </a:r>
                      <a:r>
                        <a:rPr sz="1600" spc="-7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She</a:t>
                      </a:r>
                      <a:r>
                        <a:rPr sz="1600" spc="-8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may</a:t>
                      </a:r>
                      <a:r>
                        <a:rPr sz="1600" spc="-7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looking</a:t>
                      </a:r>
                      <a:r>
                        <a:rPr sz="1600" spc="-1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at</a:t>
                      </a:r>
                      <a:r>
                        <a:rPr sz="1600" spc="-7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other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job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opportunities.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Show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her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how</a:t>
                      </a:r>
                      <a:r>
                        <a:rPr sz="16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this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600" spc="-7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sz="1600" spc="-10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help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company</a:t>
                      </a:r>
                      <a:r>
                        <a:rPr sz="16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sz="16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her</a:t>
                      </a:r>
                      <a:r>
                        <a:rPr sz="16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resume.</a:t>
                      </a:r>
                      <a:endParaRPr sz="16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483989" y="5095113"/>
            <a:ext cx="35166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Stakeholder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management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strategy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4415155" cy="161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Drafting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the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Project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Charter</a:t>
            </a:r>
            <a:endParaRPr sz="2400">
              <a:latin typeface="Arial"/>
              <a:cs typeface="Arial"/>
            </a:endParaRP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  <a:tab pos="1649095" algn="l"/>
                <a:tab pos="2334895" algn="l"/>
                <a:tab pos="3726815" algn="l"/>
              </a:tabLst>
            </a:pPr>
            <a:r>
              <a:rPr sz="2400" spc="-10" dirty="0">
                <a:latin typeface="Arial MT"/>
                <a:cs typeface="Arial MT"/>
              </a:rPr>
              <a:t>Charters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normally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short 	</a:t>
            </a:r>
            <a:r>
              <a:rPr sz="2400" spc="-10" dirty="0">
                <a:latin typeface="Arial MT"/>
                <a:cs typeface="Arial MT"/>
              </a:rPr>
              <a:t>stakeholder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signatures.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98719" y="2641219"/>
            <a:ext cx="6113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175" algn="l"/>
                <a:tab pos="1972310" algn="l"/>
                <a:tab pos="2687320" algn="l"/>
                <a:tab pos="3841115" algn="l"/>
                <a:tab pos="5592445" algn="l"/>
              </a:tabLst>
            </a:pPr>
            <a:r>
              <a:rPr sz="2400" spc="-25" dirty="0">
                <a:latin typeface="Arial MT"/>
                <a:cs typeface="Arial MT"/>
              </a:rPr>
              <a:t>and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include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key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information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1219" y="3683380"/>
            <a:ext cx="1074166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227329" algn="just">
              <a:lnSpc>
                <a:spcPct val="15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practice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hold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kick-</a:t>
            </a:r>
            <a:r>
              <a:rPr sz="2400" dirty="0">
                <a:latin typeface="Arial MT"/>
                <a:cs typeface="Arial MT"/>
              </a:rPr>
              <a:t>off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meeting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beginning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	</a:t>
            </a:r>
            <a:r>
              <a:rPr sz="2400" dirty="0">
                <a:latin typeface="Arial MT"/>
                <a:cs typeface="Arial MT"/>
              </a:rPr>
              <a:t>stakeholders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meet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other,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review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goals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project,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discuss 	</a:t>
            </a:r>
            <a:r>
              <a:rPr sz="2400" dirty="0">
                <a:latin typeface="Arial MT"/>
                <a:cs typeface="Arial MT"/>
              </a:rPr>
              <a:t>future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20" dirty="0"/>
              <a:t> </a:t>
            </a:r>
            <a:r>
              <a:rPr spc="-10" dirty="0"/>
              <a:t>Study</a:t>
            </a:r>
            <a:r>
              <a:rPr spc="-229" dirty="0"/>
              <a:t> </a:t>
            </a:r>
            <a:r>
              <a:rPr sz="2200" spc="-10" dirty="0"/>
              <a:t>(JWD</a:t>
            </a:r>
            <a:r>
              <a:rPr sz="2200" spc="-120" dirty="0"/>
              <a:t> </a:t>
            </a:r>
            <a:r>
              <a:rPr sz="2200" spc="-10" dirty="0"/>
              <a:t>Consulting’s</a:t>
            </a:r>
            <a:r>
              <a:rPr sz="2200" spc="-120" dirty="0"/>
              <a:t> </a:t>
            </a:r>
            <a:r>
              <a:rPr sz="2200" spc="-10" dirty="0"/>
              <a:t>Project</a:t>
            </a:r>
            <a:r>
              <a:rPr sz="2200" spc="-125" dirty="0"/>
              <a:t> </a:t>
            </a:r>
            <a:r>
              <a:rPr sz="2200" spc="-10" dirty="0"/>
              <a:t>Management</a:t>
            </a:r>
            <a:r>
              <a:rPr sz="2200" spc="-75" dirty="0"/>
              <a:t> </a:t>
            </a:r>
            <a:r>
              <a:rPr sz="2200" spc="-10" dirty="0"/>
              <a:t>Intranet</a:t>
            </a:r>
            <a:r>
              <a:rPr sz="2200" spc="-110" dirty="0"/>
              <a:t> </a:t>
            </a:r>
            <a:r>
              <a:rPr sz="2200" dirty="0"/>
              <a:t>Site</a:t>
            </a:r>
            <a:r>
              <a:rPr sz="2200" spc="-11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299126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chemeClr val="bg1"/>
                </a:solidFill>
              </a:rPr>
              <a:t>kick-</a:t>
            </a:r>
            <a:r>
              <a:rPr dirty="0">
                <a:solidFill>
                  <a:schemeClr val="bg1"/>
                </a:solidFill>
              </a:rPr>
              <a:t>off</a:t>
            </a:r>
            <a:r>
              <a:rPr spc="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meeting</a:t>
            </a:r>
          </a:p>
          <a:p>
            <a:pPr marL="240029" indent="-227329">
              <a:lnSpc>
                <a:spcPct val="100000"/>
              </a:lnSpc>
              <a:spcBef>
                <a:spcPts val="2145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main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topics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an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agenda:</a:t>
            </a:r>
          </a:p>
          <a:p>
            <a:pPr marL="850900" lvl="1" indent="-342900">
              <a:lnSpc>
                <a:spcPct val="100000"/>
              </a:lnSpc>
              <a:spcBef>
                <a:spcPts val="2165"/>
              </a:spcBef>
              <a:buFont typeface="Wingdings"/>
              <a:buChar char=""/>
              <a:tabLst>
                <a:tab pos="850900" algn="l"/>
              </a:tabLst>
            </a:pP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Meeting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objective.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50900" lvl="1" indent="-342900">
              <a:lnSpc>
                <a:spcPct val="100000"/>
              </a:lnSpc>
              <a:spcBef>
                <a:spcPts val="2150"/>
              </a:spcBef>
              <a:buFont typeface="Wingdings"/>
              <a:buChar char=""/>
              <a:tabLst>
                <a:tab pos="850900" algn="l"/>
              </a:tabLst>
            </a:pP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Agenda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(lists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order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0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topics</a:t>
            </a:r>
            <a:r>
              <a:rPr sz="24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400" spc="-1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be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discussed).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50900" marR="5080" lvl="1" indent="-342900">
              <a:lnSpc>
                <a:spcPct val="140000"/>
              </a:lnSpc>
              <a:spcBef>
                <a:spcPts val="994"/>
              </a:spcBef>
              <a:buFont typeface="Wingdings"/>
              <a:buChar char=""/>
              <a:tabLst>
                <a:tab pos="850900" algn="l"/>
              </a:tabLst>
            </a:pP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2400" spc="2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section</a:t>
            </a:r>
            <a:r>
              <a:rPr sz="2400" spc="2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sz="2400" spc="2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documenting</a:t>
            </a:r>
            <a:r>
              <a:rPr sz="2400" spc="2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action</a:t>
            </a:r>
            <a:r>
              <a:rPr sz="2400" spc="2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items,</a:t>
            </a:r>
            <a:r>
              <a:rPr sz="2400" spc="2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who</a:t>
            </a:r>
            <a:r>
              <a:rPr sz="2400" spc="2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they</a:t>
            </a:r>
            <a:r>
              <a:rPr sz="2400" spc="229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are</a:t>
            </a:r>
            <a:r>
              <a:rPr sz="2400" spc="2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assigned</a:t>
            </a:r>
            <a:r>
              <a:rPr sz="2400" spc="2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to,</a:t>
            </a:r>
            <a:r>
              <a:rPr sz="2400" spc="2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chemeClr val="bg1"/>
                </a:solidFill>
                <a:latin typeface="Arial MT"/>
                <a:cs typeface="Arial MT"/>
              </a:rPr>
              <a:t>and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when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each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person</a:t>
            </a:r>
            <a:r>
              <a:rPr sz="24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will</a:t>
            </a:r>
            <a:r>
              <a:rPr sz="240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complete</a:t>
            </a:r>
            <a:r>
              <a:rPr sz="24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0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action.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850900" lvl="1" indent="-342900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850900" algn="l"/>
              </a:tabLst>
            </a:pP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240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section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document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0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date</a:t>
            </a:r>
            <a:r>
              <a:rPr sz="24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40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time</a:t>
            </a:r>
            <a:r>
              <a:rPr sz="240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sz="240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400" spc="-1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chemeClr val="bg1"/>
                </a:solidFill>
                <a:latin typeface="Arial MT"/>
                <a:cs typeface="Arial MT"/>
              </a:rPr>
              <a:t>next</a:t>
            </a:r>
            <a:r>
              <a:rPr sz="240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chemeClr val="bg1"/>
                </a:solidFill>
                <a:latin typeface="Arial MT"/>
                <a:cs typeface="Arial MT"/>
              </a:rPr>
              <a:t>meeting.</a:t>
            </a:r>
            <a:endParaRPr sz="24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3048" y="470661"/>
            <a:ext cx="2623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60" dirty="0"/>
              <a:t> </a:t>
            </a:r>
            <a:r>
              <a:rPr spc="-10" dirty="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048" y="1052829"/>
            <a:ext cx="3243580" cy="15360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algn="just">
              <a:lnSpc>
                <a:spcPts val="2380"/>
              </a:lnSpc>
              <a:spcBef>
                <a:spcPts val="390"/>
              </a:spcBef>
            </a:pP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(JWD</a:t>
            </a:r>
            <a:r>
              <a:rPr sz="2200" spc="-114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Consulting’s</a:t>
            </a:r>
            <a:r>
              <a:rPr sz="2200" spc="-105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Project Management</a:t>
            </a:r>
            <a:r>
              <a:rPr sz="2200" spc="-8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Intranet</a:t>
            </a:r>
            <a:r>
              <a:rPr sz="2200" spc="-12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B1BD"/>
                </a:solidFill>
                <a:latin typeface="Arial MT"/>
                <a:cs typeface="Arial MT"/>
              </a:rPr>
              <a:t>Site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Project)</a:t>
            </a:r>
            <a:endParaRPr sz="22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585"/>
              </a:spcBef>
            </a:pPr>
            <a:r>
              <a:rPr sz="2400" b="1" spc="-20" dirty="0">
                <a:latin typeface="Arial"/>
                <a:cs typeface="Arial"/>
              </a:rPr>
              <a:t>kick-</a:t>
            </a:r>
            <a:r>
              <a:rPr sz="2400" b="1" dirty="0">
                <a:latin typeface="Arial"/>
                <a:cs typeface="Arial"/>
              </a:rPr>
              <a:t>off</a:t>
            </a:r>
            <a:r>
              <a:rPr sz="2400" b="1" spc="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meeting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3059" y="457200"/>
            <a:ext cx="6239255" cy="547268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895601"/>
            <a:ext cx="9417685" cy="3995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b="1" dirty="0">
                <a:latin typeface="Arial"/>
                <a:cs typeface="Arial"/>
              </a:rPr>
              <a:t>Project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planning</a:t>
            </a:r>
            <a:endParaRPr sz="17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605"/>
              </a:spcBef>
              <a:buChar char="•"/>
              <a:tabLst>
                <a:tab pos="240665" algn="l"/>
              </a:tabLst>
            </a:pPr>
            <a:r>
              <a:rPr sz="1700" dirty="0">
                <a:latin typeface="Arial MT"/>
                <a:cs typeface="Arial MT"/>
              </a:rPr>
              <a:t>Main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purpose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project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planning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guide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execution.</a:t>
            </a:r>
            <a:endParaRPr sz="17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610"/>
              </a:spcBef>
              <a:buChar char="•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Every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knowledge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area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includes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planning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information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(see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pages</a:t>
            </a:r>
            <a:r>
              <a:rPr sz="1700" spc="-70" dirty="0">
                <a:latin typeface="Arial MT"/>
                <a:cs typeface="Arial MT"/>
              </a:rPr>
              <a:t> 106-</a:t>
            </a:r>
            <a:r>
              <a:rPr sz="1700" spc="-114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108)</a:t>
            </a:r>
            <a:endParaRPr sz="17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620"/>
              </a:spcBef>
              <a:buChar char="•"/>
              <a:tabLst>
                <a:tab pos="240665" algn="l"/>
              </a:tabLst>
            </a:pPr>
            <a:r>
              <a:rPr sz="1700" spc="-10" dirty="0">
                <a:latin typeface="Arial MT"/>
                <a:cs typeface="Arial MT"/>
              </a:rPr>
              <a:t>Key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outputs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included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JWD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project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include:</a:t>
            </a:r>
            <a:endParaRPr sz="17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10"/>
              </a:spcBef>
              <a:buFont typeface="Wingdings"/>
              <a:buChar char=""/>
              <a:tabLst>
                <a:tab pos="736600" algn="l"/>
              </a:tabLst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team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contract</a:t>
            </a:r>
            <a:endParaRPr sz="17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10"/>
              </a:spcBef>
              <a:buFont typeface="Wingdings"/>
              <a:buChar char=""/>
              <a:tabLst>
                <a:tab pos="736600" algn="l"/>
              </a:tabLst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project</a:t>
            </a:r>
            <a:r>
              <a:rPr sz="1700" spc="-1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scope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statement</a:t>
            </a:r>
            <a:endParaRPr sz="17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20"/>
              </a:spcBef>
              <a:buFont typeface="Wingdings"/>
              <a:buChar char=""/>
              <a:tabLst>
                <a:tab pos="736600" algn="l"/>
              </a:tabLst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work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breakdown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structure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(WBS)</a:t>
            </a:r>
            <a:endParaRPr sz="17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10"/>
              </a:spcBef>
              <a:buFont typeface="Wingdings"/>
              <a:buChar char=""/>
              <a:tabLst>
                <a:tab pos="736600" algn="l"/>
              </a:tabLst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project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schedule,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form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Gantt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chart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7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all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dependencies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9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resources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entered</a:t>
            </a:r>
            <a:endParaRPr sz="1700">
              <a:latin typeface="Arial MT"/>
              <a:cs typeface="Arial MT"/>
            </a:endParaRPr>
          </a:p>
          <a:p>
            <a:pPr marL="736600" lvl="1" indent="-266700">
              <a:lnSpc>
                <a:spcPct val="100000"/>
              </a:lnSpc>
              <a:spcBef>
                <a:spcPts val="1605"/>
              </a:spcBef>
              <a:buFont typeface="Wingdings"/>
              <a:buChar char=""/>
              <a:tabLst>
                <a:tab pos="736600" algn="l"/>
              </a:tabLst>
            </a:pPr>
            <a:r>
              <a:rPr sz="1700" dirty="0">
                <a:latin typeface="Arial MT"/>
                <a:cs typeface="Arial MT"/>
              </a:rPr>
              <a:t>A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list</a:t>
            </a:r>
            <a:r>
              <a:rPr sz="1700" spc="-10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prioritized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risks</a:t>
            </a:r>
            <a:r>
              <a:rPr sz="1700" spc="-9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(part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8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8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risk</a:t>
            </a:r>
            <a:r>
              <a:rPr sz="1700" spc="-10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register)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3048" y="470661"/>
            <a:ext cx="2623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60" dirty="0"/>
              <a:t> </a:t>
            </a:r>
            <a:r>
              <a:rPr spc="-10" dirty="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048" y="1052829"/>
            <a:ext cx="3505835" cy="33089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269240" algn="just">
              <a:lnSpc>
                <a:spcPts val="2380"/>
              </a:lnSpc>
              <a:spcBef>
                <a:spcPts val="390"/>
              </a:spcBef>
            </a:pP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(JWD</a:t>
            </a:r>
            <a:r>
              <a:rPr sz="2200" spc="-125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Consulting’s</a:t>
            </a:r>
            <a:r>
              <a:rPr sz="2200" spc="-13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Project Management</a:t>
            </a:r>
            <a:r>
              <a:rPr sz="2200" spc="-8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Intranet</a:t>
            </a:r>
            <a:r>
              <a:rPr sz="2200" spc="-12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B1BD"/>
                </a:solidFill>
                <a:latin typeface="Arial MT"/>
                <a:cs typeface="Arial MT"/>
              </a:rPr>
              <a:t>Site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Project)</a:t>
            </a:r>
            <a:endParaRPr sz="22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585"/>
              </a:spcBef>
            </a:pPr>
            <a:r>
              <a:rPr sz="2400" b="1" dirty="0">
                <a:latin typeface="Arial"/>
                <a:cs typeface="Arial"/>
              </a:rPr>
              <a:t>Project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planning</a:t>
            </a:r>
            <a:endParaRPr sz="2400">
              <a:latin typeface="Arial"/>
              <a:cs typeface="Arial"/>
            </a:endParaRPr>
          </a:p>
          <a:p>
            <a:pPr marL="12700" marR="5080" indent="-6350" algn="just">
              <a:lnSpc>
                <a:spcPct val="150000"/>
              </a:lnSpc>
              <a:spcBef>
                <a:spcPts val="994"/>
              </a:spcBef>
              <a:buSzPct val="95833"/>
              <a:buFont typeface="Wingdings"/>
              <a:buChar char=""/>
              <a:tabLst>
                <a:tab pos="152400" algn="l"/>
              </a:tabLst>
            </a:pPr>
            <a:r>
              <a:rPr sz="2400" spc="-10" dirty="0">
                <a:latin typeface="Arial MT"/>
                <a:cs typeface="Arial MT"/>
              </a:rPr>
              <a:t>	JWD</a:t>
            </a:r>
            <a:r>
              <a:rPr sz="2400" spc="-1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Consulting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intranet </a:t>
            </a:r>
            <a:r>
              <a:rPr sz="2400" dirty="0">
                <a:latin typeface="Arial MT"/>
                <a:cs typeface="Arial MT"/>
              </a:rPr>
              <a:t>site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baseline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Gantt chart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1644" y="639567"/>
            <a:ext cx="7112212" cy="464327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3048" y="470661"/>
            <a:ext cx="2623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60" dirty="0"/>
              <a:t> </a:t>
            </a:r>
            <a:r>
              <a:rPr spc="-10" dirty="0"/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048" y="1052829"/>
            <a:ext cx="3241675" cy="15360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algn="just">
              <a:lnSpc>
                <a:spcPts val="2380"/>
              </a:lnSpc>
              <a:spcBef>
                <a:spcPts val="390"/>
              </a:spcBef>
            </a:pP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(JWD</a:t>
            </a:r>
            <a:r>
              <a:rPr sz="2200" spc="-125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Consulting’s</a:t>
            </a:r>
            <a:r>
              <a:rPr sz="2200" spc="-13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Project Management</a:t>
            </a:r>
            <a:r>
              <a:rPr sz="2200" spc="-8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Intranet</a:t>
            </a:r>
            <a:r>
              <a:rPr sz="2200" spc="-120" dirty="0">
                <a:solidFill>
                  <a:srgbClr val="00B1BD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00B1BD"/>
                </a:solidFill>
                <a:latin typeface="Arial MT"/>
                <a:cs typeface="Arial MT"/>
              </a:rPr>
              <a:t>Site </a:t>
            </a:r>
            <a:r>
              <a:rPr sz="2200" spc="-10" dirty="0">
                <a:solidFill>
                  <a:srgbClr val="00B1BD"/>
                </a:solidFill>
                <a:latin typeface="Arial MT"/>
                <a:cs typeface="Arial MT"/>
              </a:rPr>
              <a:t>Project)</a:t>
            </a:r>
            <a:endParaRPr sz="22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585"/>
              </a:spcBef>
            </a:pP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planning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8421" y="579018"/>
            <a:ext cx="7652004" cy="5058156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813062"/>
              </p:ext>
            </p:extLst>
          </p:nvPr>
        </p:nvGraphicFramePr>
        <p:xfrm>
          <a:off x="4133659" y="569468"/>
          <a:ext cx="7653020" cy="5058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665"/>
                <a:gridCol w="6650355"/>
              </a:tblGrid>
              <a:tr h="4641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Ranking</a:t>
                      </a:r>
                      <a:endParaRPr sz="16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9525">
                      <a:solidFill>
                        <a:srgbClr val="5597D2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600" b="1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Potential</a:t>
                      </a:r>
                      <a:r>
                        <a:rPr sz="1600" b="1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R w="9525">
                      <a:solidFill>
                        <a:srgbClr val="5597D2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6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Lack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inputs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internal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consultants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Lack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inputs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600" spc="-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client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representatives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Outsourcing/purchasing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article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retrieval</a:t>
                      </a:r>
                      <a:r>
                        <a:rPr sz="1600" spc="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Ask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Expert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Features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Outsourcing/purchasing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for processing online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transactions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Organizing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templates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examples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useful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fashion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Providing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efficient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search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feature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Getting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good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feedback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Michael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Chen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senior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consultants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  <a:tr h="4591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Effectively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promoting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3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endParaRPr sz="160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Realizing</a:t>
                      </a:r>
                      <a:r>
                        <a:rPr sz="1600" spc="-4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benefits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1600" spc="-1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within</a:t>
                      </a:r>
                      <a:r>
                        <a:rPr sz="1600" spc="-4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one</a:t>
                      </a:r>
                      <a:r>
                        <a:rPr sz="1600" spc="-25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600" dirty="0">
                        <a:solidFill>
                          <a:schemeClr val="bg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9525">
                      <a:solidFill>
                        <a:srgbClr val="5597D2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857238" y="5664809"/>
            <a:ext cx="2221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List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prioritized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risks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087145"/>
          </a:xfrm>
          <a:prstGeom prst="rect">
            <a:avLst/>
          </a:prstGeom>
        </p:spPr>
        <p:txBody>
          <a:bodyPr vert="horz" wrap="square" lIns="0" tIns="6997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chemeClr val="bg1"/>
                </a:solidFill>
              </a:rPr>
              <a:t>Project</a:t>
            </a:r>
            <a:r>
              <a:rPr sz="2200" spc="-60" dirty="0">
                <a:solidFill>
                  <a:schemeClr val="bg1"/>
                </a:solidFill>
              </a:rPr>
              <a:t> </a:t>
            </a:r>
            <a:r>
              <a:rPr sz="2200" spc="-10" dirty="0">
                <a:solidFill>
                  <a:schemeClr val="bg1"/>
                </a:solidFill>
              </a:rPr>
              <a:t>Execution</a:t>
            </a:r>
            <a:endParaRPr sz="2200" dirty="0">
              <a:solidFill>
                <a:schemeClr val="bg1"/>
              </a:solidFill>
            </a:endParaRPr>
          </a:p>
          <a:p>
            <a:pPr marL="240665" indent="-227965">
              <a:lnSpc>
                <a:spcPct val="100000"/>
              </a:lnSpc>
              <a:spcBef>
                <a:spcPts val="2315"/>
              </a:spcBef>
              <a:buChar char="•"/>
              <a:tabLst>
                <a:tab pos="240665" algn="l"/>
              </a:tabLst>
            </a:pP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Executing</a:t>
            </a:r>
            <a:r>
              <a:rPr sz="2200"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involves</a:t>
            </a:r>
            <a:r>
              <a:rPr sz="2200" b="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taking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necessary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actions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complete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activities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320"/>
              </a:spcBef>
              <a:buChar char="•"/>
              <a:tabLst>
                <a:tab pos="240665" algn="l"/>
              </a:tabLst>
            </a:pP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sz="2200"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200"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20" dirty="0">
                <a:solidFill>
                  <a:schemeClr val="bg1"/>
                </a:solidFill>
                <a:latin typeface="Arial MT"/>
                <a:cs typeface="Arial MT"/>
              </a:rPr>
              <a:t>plan.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325"/>
              </a:spcBef>
              <a:buChar char="•"/>
              <a:tabLst>
                <a:tab pos="240665" algn="l"/>
              </a:tabLst>
            </a:pP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Usually</a:t>
            </a:r>
            <a:r>
              <a:rPr sz="2200"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takes</a:t>
            </a:r>
            <a:r>
              <a:rPr sz="2200"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most</a:t>
            </a:r>
            <a:r>
              <a:rPr sz="2200"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time</a:t>
            </a:r>
            <a:r>
              <a:rPr sz="2200" b="0" spc="-1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resources</a:t>
            </a:r>
            <a:r>
              <a:rPr sz="2200"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200"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perform</a:t>
            </a:r>
            <a:r>
              <a:rPr sz="2200" b="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execution</a:t>
            </a:r>
            <a:r>
              <a:rPr sz="2200"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50" dirty="0">
                <a:solidFill>
                  <a:schemeClr val="bg1"/>
                </a:solidFill>
                <a:latin typeface="Arial MT"/>
                <a:cs typeface="Arial MT"/>
              </a:rPr>
              <a:t>.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41300" marR="5080" indent="-228600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200" b="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managers</a:t>
            </a:r>
            <a:r>
              <a:rPr sz="2200" b="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must</a:t>
            </a:r>
            <a:r>
              <a:rPr sz="2200" b="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use</a:t>
            </a:r>
            <a:r>
              <a:rPr sz="2200" b="0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their</a:t>
            </a:r>
            <a:r>
              <a:rPr sz="2200" b="0" spc="-6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leadership</a:t>
            </a:r>
            <a:r>
              <a:rPr sz="2200" b="0" spc="-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skills</a:t>
            </a:r>
            <a:r>
              <a:rPr sz="2200" b="0" spc="-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sz="2200" b="0" spc="-7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handle</a:t>
            </a:r>
            <a:r>
              <a:rPr sz="2200" b="0" spc="-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sz="2200" b="0" spc="-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many</a:t>
            </a:r>
            <a:r>
              <a:rPr sz="2200" b="0" spc="-7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challenges</a:t>
            </a:r>
            <a:r>
              <a:rPr sz="2200" b="0" spc="-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20" dirty="0">
                <a:solidFill>
                  <a:schemeClr val="bg1"/>
                </a:solidFill>
                <a:latin typeface="Arial MT"/>
                <a:cs typeface="Arial MT"/>
              </a:rPr>
              <a:t>that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occur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during</a:t>
            </a:r>
            <a:r>
              <a:rPr sz="2200"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execution.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315"/>
              </a:spcBef>
              <a:buChar char="•"/>
              <a:tabLst>
                <a:tab pos="240665" algn="l"/>
              </a:tabLst>
            </a:pP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sz="2200"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milestone</a:t>
            </a:r>
            <a:r>
              <a:rPr sz="2200"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report</a:t>
            </a:r>
            <a:r>
              <a:rPr sz="2200"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can</a:t>
            </a:r>
            <a:r>
              <a:rPr sz="2200"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help</a:t>
            </a:r>
            <a:r>
              <a:rPr sz="2200"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focus</a:t>
            </a:r>
            <a:r>
              <a:rPr sz="2200"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dirty="0">
                <a:solidFill>
                  <a:schemeClr val="bg1"/>
                </a:solidFill>
                <a:latin typeface="Arial MT"/>
                <a:cs typeface="Arial MT"/>
              </a:rPr>
              <a:t>on</a:t>
            </a:r>
            <a:r>
              <a:rPr sz="2200"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completing</a:t>
            </a:r>
            <a:r>
              <a:rPr sz="2200"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major</a:t>
            </a:r>
            <a:r>
              <a:rPr sz="2200" b="0" spc="-11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sz="2200" b="0" spc="-10" dirty="0">
                <a:solidFill>
                  <a:schemeClr val="bg1"/>
                </a:solidFill>
                <a:latin typeface="Arial MT"/>
                <a:cs typeface="Arial MT"/>
              </a:rPr>
              <a:t>milestones.</a:t>
            </a:r>
            <a:endParaRPr sz="2200" dirty="0">
              <a:solidFill>
                <a:schemeClr val="bg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20" dirty="0"/>
              <a:t> </a:t>
            </a:r>
            <a:r>
              <a:rPr spc="-10" dirty="0"/>
              <a:t>Study</a:t>
            </a:r>
            <a:r>
              <a:rPr spc="-229" dirty="0"/>
              <a:t> </a:t>
            </a:r>
            <a:r>
              <a:rPr sz="2200" spc="-10" dirty="0"/>
              <a:t>(JWD</a:t>
            </a:r>
            <a:r>
              <a:rPr sz="2200" spc="-120" dirty="0"/>
              <a:t> </a:t>
            </a:r>
            <a:r>
              <a:rPr sz="2200" spc="-10" dirty="0"/>
              <a:t>Consulting’s</a:t>
            </a:r>
            <a:r>
              <a:rPr sz="2200" spc="-120" dirty="0"/>
              <a:t> </a:t>
            </a:r>
            <a:r>
              <a:rPr sz="2200" spc="-10" dirty="0"/>
              <a:t>Project</a:t>
            </a:r>
            <a:r>
              <a:rPr sz="2200" spc="-125" dirty="0"/>
              <a:t> </a:t>
            </a:r>
            <a:r>
              <a:rPr sz="2200" spc="-10" dirty="0"/>
              <a:t>Management</a:t>
            </a:r>
            <a:r>
              <a:rPr sz="2200" spc="-75" dirty="0"/>
              <a:t> </a:t>
            </a:r>
            <a:r>
              <a:rPr sz="2200" spc="-10" dirty="0"/>
              <a:t>Intranet</a:t>
            </a:r>
            <a:r>
              <a:rPr sz="2200" spc="-110" dirty="0"/>
              <a:t> </a:t>
            </a:r>
            <a:r>
              <a:rPr sz="2200" dirty="0"/>
              <a:t>Site</a:t>
            </a:r>
            <a:r>
              <a:rPr sz="2200" spc="-11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8241030" cy="174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Project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Execution</a:t>
            </a:r>
            <a:endParaRPr sz="2400">
              <a:latin typeface="Arial"/>
              <a:cs typeface="Arial"/>
            </a:endParaRP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Executing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processes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and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outputs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(see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pages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118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119).</a:t>
            </a:r>
            <a:endParaRPr sz="2400">
              <a:latin typeface="Arial MT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Milestone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report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(see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pages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5" dirty="0">
                <a:latin typeface="Arial MT"/>
                <a:cs typeface="Arial MT"/>
              </a:rPr>
              <a:t>120-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121).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20" dirty="0"/>
              <a:t> </a:t>
            </a:r>
            <a:r>
              <a:rPr spc="-10" dirty="0"/>
              <a:t>Study</a:t>
            </a:r>
            <a:r>
              <a:rPr spc="-229" dirty="0"/>
              <a:t> </a:t>
            </a:r>
            <a:r>
              <a:rPr sz="2200" spc="-10" dirty="0"/>
              <a:t>(JWD</a:t>
            </a:r>
            <a:r>
              <a:rPr sz="2200" spc="-120" dirty="0"/>
              <a:t> </a:t>
            </a:r>
            <a:r>
              <a:rPr sz="2200" spc="-10" dirty="0"/>
              <a:t>Consulting’s</a:t>
            </a:r>
            <a:r>
              <a:rPr sz="2200" spc="-120" dirty="0"/>
              <a:t> </a:t>
            </a:r>
            <a:r>
              <a:rPr sz="2200" spc="-10" dirty="0"/>
              <a:t>Project</a:t>
            </a:r>
            <a:r>
              <a:rPr sz="2200" spc="-125" dirty="0"/>
              <a:t> </a:t>
            </a:r>
            <a:r>
              <a:rPr sz="2200" spc="-10" dirty="0"/>
              <a:t>Management</a:t>
            </a:r>
            <a:r>
              <a:rPr sz="2200" spc="-75" dirty="0"/>
              <a:t> </a:t>
            </a:r>
            <a:r>
              <a:rPr sz="2200" spc="-10" dirty="0"/>
              <a:t>Intranet</a:t>
            </a:r>
            <a:r>
              <a:rPr sz="2200" spc="-110" dirty="0"/>
              <a:t> </a:t>
            </a:r>
            <a:r>
              <a:rPr sz="2200" dirty="0"/>
              <a:t>Site</a:t>
            </a:r>
            <a:r>
              <a:rPr sz="2200" spc="-11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07793"/>
            <a:ext cx="10741025" cy="39198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Project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Monitoring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and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Controlling</a:t>
            </a:r>
            <a:endParaRPr sz="2200">
              <a:latin typeface="Arial"/>
              <a:cs typeface="Arial"/>
            </a:endParaRPr>
          </a:p>
          <a:p>
            <a:pPr marL="241300" marR="5080" indent="-228600" algn="just">
              <a:lnSpc>
                <a:spcPct val="1301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Monitoring</a:t>
            </a:r>
            <a:r>
              <a:rPr sz="2200" spc="5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2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controlling</a:t>
            </a:r>
            <a:r>
              <a:rPr sz="2200" spc="-2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5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-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5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measuring</a:t>
            </a:r>
            <a:r>
              <a:rPr sz="2200" spc="-3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progress</a:t>
            </a:r>
            <a:r>
              <a:rPr sz="2200" spc="-1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toward</a:t>
            </a:r>
            <a:r>
              <a:rPr sz="2200" spc="-20" dirty="0">
                <a:latin typeface="Arial MT"/>
                <a:cs typeface="Arial MT"/>
              </a:rPr>
              <a:t>  </a:t>
            </a:r>
            <a:r>
              <a:rPr sz="2200" spc="-10" dirty="0">
                <a:latin typeface="Arial MT"/>
                <a:cs typeface="Arial MT"/>
              </a:rPr>
              <a:t>project </a:t>
            </a:r>
            <a:r>
              <a:rPr sz="2200" dirty="0">
                <a:latin typeface="Arial MT"/>
                <a:cs typeface="Arial MT"/>
              </a:rPr>
              <a:t>objectives,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monitoring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deviation from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current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plan,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taking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corrective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match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progress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current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plan.</a:t>
            </a:r>
            <a:endParaRPr sz="2200">
              <a:latin typeface="Arial MT"/>
              <a:cs typeface="Arial MT"/>
            </a:endParaRPr>
          </a:p>
          <a:p>
            <a:pPr marL="241300" marR="10795" indent="-228600" algn="just">
              <a:lnSpc>
                <a:spcPct val="130100"/>
              </a:lnSpc>
              <a:spcBef>
                <a:spcPts val="990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Monitoring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controlling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done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throughout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life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involves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 </a:t>
            </a:r>
            <a:r>
              <a:rPr sz="2200" spc="-25" dirty="0">
                <a:latin typeface="Arial MT"/>
                <a:cs typeface="Arial MT"/>
              </a:rPr>
              <a:t>10 </a:t>
            </a:r>
            <a:r>
              <a:rPr sz="2200" spc="-10" dirty="0">
                <a:latin typeface="Arial MT"/>
                <a:cs typeface="Arial MT"/>
              </a:rPr>
              <a:t>project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knowledge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areas.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800"/>
              </a:spcBef>
              <a:buChar char="•"/>
              <a:tabLst>
                <a:tab pos="240665" algn="l"/>
              </a:tabLst>
            </a:pPr>
            <a:r>
              <a:rPr sz="2200" spc="-10" dirty="0">
                <a:latin typeface="Arial MT"/>
                <a:cs typeface="Arial MT"/>
              </a:rPr>
              <a:t>Affects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other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groups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occurs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during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phases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life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cycle.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1789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Monitoring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controlling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processes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outputs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(see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pages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123-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124).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782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</a:rPr>
              <a:t>Project</a:t>
            </a:r>
            <a:r>
              <a:rPr spc="-35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Monitoring</a:t>
            </a:r>
            <a:r>
              <a:rPr spc="-60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and</a:t>
            </a:r>
            <a:r>
              <a:rPr spc="-4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Controlling</a:t>
            </a: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2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team</a:t>
            </a:r>
            <a:r>
              <a:rPr b="0" spc="3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members</a:t>
            </a:r>
            <a:r>
              <a:rPr b="0" spc="3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submitted</a:t>
            </a:r>
            <a:r>
              <a:rPr b="0" spc="3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b="0" spc="29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brief</a:t>
            </a:r>
            <a:r>
              <a:rPr b="0" spc="2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progress</a:t>
            </a:r>
            <a:r>
              <a:rPr b="0" spc="31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report</a:t>
            </a:r>
            <a:r>
              <a:rPr b="0" spc="30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every</a:t>
            </a:r>
            <a:r>
              <a:rPr b="0" spc="26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Friday</a:t>
            </a:r>
            <a:r>
              <a:rPr b="0" spc="3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(that 	may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vary)</a:t>
            </a:r>
            <a:r>
              <a:rPr b="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show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work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performance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information.</a:t>
            </a:r>
          </a:p>
          <a:p>
            <a:pPr marL="240029" indent="-227329">
              <a:lnSpc>
                <a:spcPct val="100000"/>
              </a:lnSpc>
              <a:spcBef>
                <a:spcPts val="2445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In</a:t>
            </a:r>
            <a:r>
              <a:rPr b="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addition</a:t>
            </a:r>
            <a:r>
              <a:rPr b="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progress</a:t>
            </a:r>
            <a:r>
              <a:rPr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reports,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an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important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tool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monitoring</a:t>
            </a:r>
            <a:r>
              <a:rPr b="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controlling</a:t>
            </a:r>
          </a:p>
          <a:p>
            <a:pPr marL="240029" indent="-227329">
              <a:lnSpc>
                <a:spcPct val="100000"/>
              </a:lnSpc>
              <a:spcBef>
                <a:spcPts val="2440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was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using</a:t>
            </a:r>
            <a:r>
              <a:rPr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20" dirty="0">
                <a:solidFill>
                  <a:schemeClr val="bg1"/>
                </a:solidFill>
                <a:latin typeface="Arial MT"/>
                <a:cs typeface="Arial MT"/>
              </a:rPr>
              <a:t>management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software.</a:t>
            </a: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Sample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weekly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progress</a:t>
            </a:r>
            <a:r>
              <a:rPr b="0" spc="-13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report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(see</a:t>
            </a:r>
            <a:r>
              <a:rPr b="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page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125).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32177"/>
            <a:ext cx="10741025" cy="4497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rial"/>
                <a:cs typeface="Arial"/>
              </a:rPr>
              <a:t>Project</a:t>
            </a:r>
            <a:r>
              <a:rPr sz="2200" b="1" spc="-60" dirty="0">
                <a:latin typeface="Arial"/>
                <a:cs typeface="Arial"/>
              </a:rPr>
              <a:t> </a:t>
            </a:r>
            <a:r>
              <a:rPr sz="2200" b="1" spc="-10" dirty="0">
                <a:latin typeface="Arial"/>
                <a:cs typeface="Arial"/>
              </a:rPr>
              <a:t>Closing</a:t>
            </a:r>
            <a:endParaRPr sz="2200" dirty="0">
              <a:latin typeface="Arial"/>
              <a:cs typeface="Arial"/>
            </a:endParaRPr>
          </a:p>
          <a:p>
            <a:pPr marL="241300" marR="6350" indent="-228600" algn="just">
              <a:lnSpc>
                <a:spcPct val="1401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2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closing</a:t>
            </a:r>
            <a:r>
              <a:rPr sz="2200" spc="2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involves</a:t>
            </a:r>
            <a:r>
              <a:rPr sz="2200" spc="2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gaining</a:t>
            </a:r>
            <a:r>
              <a:rPr sz="2200" spc="2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stakeholder</a:t>
            </a:r>
            <a:r>
              <a:rPr sz="2200" spc="2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customer</a:t>
            </a:r>
            <a:r>
              <a:rPr sz="2200" spc="2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acceptance</a:t>
            </a:r>
            <a:r>
              <a:rPr sz="2200" spc="2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204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final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products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services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then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bringing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the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phase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orderly </a:t>
            </a:r>
            <a:r>
              <a:rPr sz="2200" spc="-20" dirty="0">
                <a:latin typeface="Arial MT"/>
                <a:cs typeface="Arial MT"/>
              </a:rPr>
              <a:t>end.</a:t>
            </a:r>
            <a:endParaRPr sz="2200" dirty="0">
              <a:latin typeface="Arial MT"/>
              <a:cs typeface="Arial MT"/>
            </a:endParaRPr>
          </a:p>
          <a:p>
            <a:pPr marL="240665" indent="-227965" algn="just">
              <a:lnSpc>
                <a:spcPct val="100000"/>
              </a:lnSpc>
              <a:spcBef>
                <a:spcPts val="206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It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includes</a:t>
            </a:r>
            <a:r>
              <a:rPr sz="2200" spc="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verifying</a:t>
            </a:r>
            <a:r>
              <a:rPr sz="2200" spc="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deliverables</a:t>
            </a:r>
            <a:r>
              <a:rPr sz="2200" spc="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complete,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1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often</a:t>
            </a:r>
            <a:r>
              <a:rPr sz="2200" spc="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includes</a:t>
            </a:r>
            <a:r>
              <a:rPr sz="2200" spc="105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</a:t>
            </a:r>
            <a:endParaRPr sz="2200" dirty="0">
              <a:latin typeface="Arial MT"/>
              <a:cs typeface="Arial MT"/>
            </a:endParaRPr>
          </a:p>
          <a:p>
            <a:pPr marL="241300" algn="just">
              <a:lnSpc>
                <a:spcPct val="100000"/>
              </a:lnSpc>
              <a:spcBef>
                <a:spcPts val="1060"/>
              </a:spcBef>
            </a:pPr>
            <a:r>
              <a:rPr sz="2200" dirty="0">
                <a:latin typeface="Arial MT"/>
                <a:cs typeface="Arial MT"/>
              </a:rPr>
              <a:t>final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project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report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presentation.</a:t>
            </a:r>
            <a:endParaRPr sz="2200" dirty="0">
              <a:latin typeface="Arial MT"/>
              <a:cs typeface="Arial MT"/>
            </a:endParaRPr>
          </a:p>
          <a:p>
            <a:pPr marL="241300" marR="5080" indent="-228600" algn="just">
              <a:lnSpc>
                <a:spcPct val="140000"/>
              </a:lnSpc>
              <a:spcBef>
                <a:spcPts val="994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Even</a:t>
            </a:r>
            <a:r>
              <a:rPr sz="2200" spc="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though</a:t>
            </a:r>
            <a:r>
              <a:rPr sz="2200" spc="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many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projects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canceled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before</a:t>
            </a:r>
            <a:r>
              <a:rPr sz="2200" spc="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completion,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still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important</a:t>
            </a:r>
            <a:r>
              <a:rPr sz="2200" spc="9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formally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close</a:t>
            </a:r>
            <a:r>
              <a:rPr sz="2200" spc="4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any</a:t>
            </a:r>
            <a:r>
              <a:rPr sz="2200" spc="4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4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reflect</a:t>
            </a:r>
            <a:r>
              <a:rPr sz="2200" spc="4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what</a:t>
            </a:r>
            <a:r>
              <a:rPr sz="2200" spc="4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learned</a:t>
            </a:r>
            <a:r>
              <a:rPr sz="2200" spc="4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4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improve</a:t>
            </a:r>
            <a:r>
              <a:rPr sz="2200" spc="4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future projects.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71219" y="1965705"/>
            <a:ext cx="2260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Project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Closing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631567"/>
            <a:ext cx="10799064" cy="1819655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70119"/>
              </p:ext>
            </p:extLst>
          </p:nvPr>
        </p:nvGraphicFramePr>
        <p:xfrm>
          <a:off x="833437" y="2622042"/>
          <a:ext cx="10798810" cy="182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5500"/>
                <a:gridCol w="2564765"/>
                <a:gridCol w="4868545"/>
              </a:tblGrid>
              <a:tr h="4603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Knowledge</a:t>
                      </a:r>
                      <a:r>
                        <a:rPr sz="1800" b="1" spc="-45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9525">
                      <a:solidFill>
                        <a:srgbClr val="5597D2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Closing</a:t>
                      </a: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Process</a:t>
                      </a:r>
                      <a:endParaRPr sz="1800" dirty="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Outputs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R w="9525">
                      <a:solidFill>
                        <a:srgbClr val="5597D2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363345">
                <a:tc>
                  <a:txBody>
                    <a:bodyPr/>
                    <a:lstStyle/>
                    <a:p>
                      <a:pPr marL="91440" marR="12465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i="1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Project</a:t>
                      </a:r>
                      <a:r>
                        <a:rPr sz="1800" b="1" i="1" spc="-2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" dirty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Integration Management</a:t>
                      </a:r>
                      <a:endParaRPr sz="1800">
                        <a:solidFill>
                          <a:schemeClr val="bg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Close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phase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9075" indent="-127000">
                        <a:lnSpc>
                          <a:spcPct val="100000"/>
                        </a:lnSpc>
                        <a:spcBef>
                          <a:spcPts val="315"/>
                        </a:spcBef>
                        <a:buChar char="-"/>
                        <a:tabLst>
                          <a:tab pos="219075" algn="l"/>
                        </a:tabLst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Project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documents</a:t>
                      </a:r>
                      <a:r>
                        <a:rPr sz="18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updates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buChar char="-"/>
                        <a:tabLst>
                          <a:tab pos="219075" algn="l"/>
                        </a:tabLst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Final</a:t>
                      </a:r>
                      <a:r>
                        <a:rPr sz="18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product,</a:t>
                      </a:r>
                      <a:r>
                        <a:rPr sz="1800" spc="-9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service,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transition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  <a:p>
                      <a:pPr marL="219710" indent="-127635">
                        <a:lnSpc>
                          <a:spcPct val="100000"/>
                        </a:lnSpc>
                        <a:buChar char="-"/>
                        <a:tabLst>
                          <a:tab pos="219710" algn="l"/>
                        </a:tabLst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Final</a:t>
                      </a:r>
                      <a:r>
                        <a:rPr sz="1800" spc="-10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report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  <a:p>
                      <a:pPr marL="219075" indent="-12700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-"/>
                        <a:tabLst>
                          <a:tab pos="219075" algn="l"/>
                        </a:tabLst>
                      </a:pP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Organizational</a:t>
                      </a:r>
                      <a:r>
                        <a:rPr sz="1800" spc="-8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process</a:t>
                      </a:r>
                      <a:r>
                        <a:rPr sz="1800" spc="-95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assets</a:t>
                      </a:r>
                      <a:r>
                        <a:rPr sz="1800" spc="-10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bg1"/>
                          </a:solidFill>
                          <a:latin typeface="Arial MT"/>
                          <a:cs typeface="Arial MT"/>
                        </a:rPr>
                        <a:t>updates</a:t>
                      </a:r>
                      <a:endParaRPr sz="1800" dirty="0">
                        <a:solidFill>
                          <a:schemeClr val="bg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9525">
                      <a:solidFill>
                        <a:srgbClr val="5597D2"/>
                      </a:solidFill>
                      <a:prstDash val="solid"/>
                    </a:lnL>
                    <a:lnR w="9525">
                      <a:solidFill>
                        <a:srgbClr val="5597D2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5597D2"/>
                      </a:solidFill>
                      <a:prstDash val="solid"/>
                    </a:lnB>
                    <a:solidFill>
                      <a:srgbClr val="5B9BD4">
                        <a:alpha val="3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723257" y="5095113"/>
            <a:ext cx="3034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Closing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output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Case</a:t>
            </a:r>
            <a:r>
              <a:rPr spc="-250" dirty="0"/>
              <a:t> </a:t>
            </a:r>
            <a:r>
              <a:rPr spc="-10" dirty="0"/>
              <a:t>Study</a:t>
            </a:r>
            <a:r>
              <a:rPr spc="-260" dirty="0"/>
              <a:t> </a:t>
            </a:r>
            <a:r>
              <a:rPr sz="2200" spc="-10" dirty="0"/>
              <a:t>(JWD</a:t>
            </a:r>
            <a:r>
              <a:rPr sz="2200" spc="-135" dirty="0"/>
              <a:t> </a:t>
            </a:r>
            <a:r>
              <a:rPr sz="2200" spc="-10" dirty="0"/>
              <a:t>Consulting’s</a:t>
            </a:r>
            <a:r>
              <a:rPr sz="2200" spc="-140" dirty="0"/>
              <a:t> </a:t>
            </a:r>
            <a:r>
              <a:rPr sz="2200" spc="-10" dirty="0"/>
              <a:t>Project</a:t>
            </a:r>
            <a:r>
              <a:rPr sz="2200" spc="-145" dirty="0"/>
              <a:t> </a:t>
            </a:r>
            <a:r>
              <a:rPr sz="2200" spc="-10" dirty="0"/>
              <a:t>Management</a:t>
            </a:r>
            <a:r>
              <a:rPr sz="2200" spc="-95" dirty="0"/>
              <a:t> </a:t>
            </a:r>
            <a:r>
              <a:rPr sz="2200" spc="-10" dirty="0"/>
              <a:t>Intranet</a:t>
            </a:r>
            <a:r>
              <a:rPr sz="2200" spc="-135" dirty="0"/>
              <a:t> </a:t>
            </a:r>
            <a:r>
              <a:rPr sz="2200" dirty="0"/>
              <a:t>Site</a:t>
            </a:r>
            <a:r>
              <a:rPr sz="2200" spc="-130" dirty="0"/>
              <a:t> </a:t>
            </a:r>
            <a:r>
              <a:rPr sz="2200" spc="-10" dirty="0"/>
              <a:t>Project)</a:t>
            </a:r>
            <a:endParaRPr sz="22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4090351"/>
          </a:xfrm>
          <a:prstGeom prst="rect">
            <a:avLst/>
          </a:prstGeom>
        </p:spPr>
        <p:txBody>
          <a:bodyPr vert="horz" wrap="square" lIns="0" tIns="7823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chemeClr val="bg1"/>
                </a:solidFill>
              </a:rPr>
              <a:t>Project</a:t>
            </a:r>
            <a:r>
              <a:rPr spc="-9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Closing</a:t>
            </a:r>
          </a:p>
          <a:p>
            <a:pPr marL="240029" marR="5080" indent="-227329">
              <a:lnSpc>
                <a:spcPct val="150000"/>
              </a:lnSpc>
              <a:spcBef>
                <a:spcPts val="1000"/>
              </a:spcBef>
              <a:buChar char="•"/>
              <a:tabLst>
                <a:tab pos="241300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Outputs</a:t>
            </a:r>
            <a:r>
              <a:rPr b="0" spc="2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include</a:t>
            </a:r>
            <a:r>
              <a:rPr b="0" spc="2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20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archives</a:t>
            </a:r>
            <a:r>
              <a:rPr b="0" spc="2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b="0" spc="20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lessons</a:t>
            </a:r>
            <a:r>
              <a:rPr b="0" spc="2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learned,</a:t>
            </a:r>
            <a:r>
              <a:rPr b="0" spc="2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part</a:t>
            </a:r>
            <a:r>
              <a:rPr b="0" spc="204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b="0" spc="2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organizational 	process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assets.</a:t>
            </a:r>
          </a:p>
          <a:p>
            <a:pPr marL="240029" marR="6350" indent="-227329">
              <a:lnSpc>
                <a:spcPct val="1501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Most</a:t>
            </a:r>
            <a:r>
              <a:rPr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projects</a:t>
            </a:r>
            <a:r>
              <a:rPr b="0" spc="-11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also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include</a:t>
            </a:r>
            <a:r>
              <a:rPr b="0" spc="-10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final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report</a:t>
            </a:r>
            <a:r>
              <a:rPr b="0" spc="-9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and</a:t>
            </a:r>
            <a:r>
              <a:rPr b="0" spc="-12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presentation</a:t>
            </a:r>
            <a:r>
              <a:rPr b="0" spc="-8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to</a:t>
            </a:r>
            <a:r>
              <a:rPr b="0" spc="-15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the</a:t>
            </a:r>
            <a:r>
              <a:rPr b="0" spc="-12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sponsor/senior 	management.</a:t>
            </a:r>
          </a:p>
          <a:p>
            <a:pPr marL="240029" indent="-227329">
              <a:lnSpc>
                <a:spcPct val="100000"/>
              </a:lnSpc>
              <a:spcBef>
                <a:spcPts val="2435"/>
              </a:spcBef>
              <a:buChar char="•"/>
              <a:tabLst>
                <a:tab pos="240029" algn="l"/>
              </a:tabLst>
            </a:pP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For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Final</a:t>
            </a:r>
            <a:r>
              <a:rPr b="0" spc="-14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project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report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table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of</a:t>
            </a:r>
            <a:r>
              <a:rPr b="0" spc="-150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contents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chemeClr val="bg1"/>
                </a:solidFill>
                <a:latin typeface="Arial MT"/>
                <a:cs typeface="Arial MT"/>
              </a:rPr>
              <a:t>(see</a:t>
            </a:r>
            <a:r>
              <a:rPr b="0" spc="-13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page</a:t>
            </a:r>
            <a:r>
              <a:rPr b="0" spc="-145" dirty="0">
                <a:solidFill>
                  <a:schemeClr val="bg1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chemeClr val="bg1"/>
                </a:solidFill>
                <a:latin typeface="Arial MT"/>
                <a:cs typeface="Arial MT"/>
              </a:rPr>
              <a:t>129).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608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Chapter</a:t>
            </a:r>
            <a:r>
              <a:rPr spc="-26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790325"/>
            <a:ext cx="10776585" cy="392747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1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five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groups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initiating,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planning,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executing,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Arial MT"/>
                <a:cs typeface="Arial MT"/>
              </a:rPr>
              <a:t>monitoring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controlling,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closing.</a:t>
            </a:r>
            <a:endParaRPr sz="2200">
              <a:latin typeface="Arial MT"/>
              <a:cs typeface="Arial MT"/>
            </a:endParaRPr>
          </a:p>
          <a:p>
            <a:pPr marL="240665" indent="-227965">
              <a:lnSpc>
                <a:spcPct val="100000"/>
              </a:lnSpc>
              <a:spcBef>
                <a:spcPts val="2320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Arial MT"/>
                <a:cs typeface="Arial MT"/>
              </a:rPr>
              <a:t>You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map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main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activities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process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group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nine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knowledge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areas.</a:t>
            </a:r>
            <a:endParaRPr sz="2200">
              <a:latin typeface="Arial MT"/>
              <a:cs typeface="Arial MT"/>
            </a:endParaRPr>
          </a:p>
          <a:p>
            <a:pPr marL="241300" marR="371475" indent="-228600">
              <a:lnSpc>
                <a:spcPct val="150100"/>
              </a:lnSpc>
              <a:spcBef>
                <a:spcPts val="995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Some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organizations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develop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their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own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information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technology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management methodologies.</a:t>
            </a:r>
            <a:endParaRPr sz="2200">
              <a:latin typeface="Arial MT"/>
              <a:cs typeface="Arial MT"/>
            </a:endParaRPr>
          </a:p>
          <a:p>
            <a:pPr marL="241300" marR="5080" indent="-228600">
              <a:lnSpc>
                <a:spcPct val="150000"/>
              </a:lnSpc>
              <a:spcBef>
                <a:spcPts val="1005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JWD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Consulting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case</a:t>
            </a:r>
            <a:r>
              <a:rPr sz="2200" spc="-1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study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provides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example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using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groups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spc="-10" dirty="0">
                <a:latin typeface="Arial MT"/>
                <a:cs typeface="Arial MT"/>
              </a:rPr>
              <a:t>shows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several</a:t>
            </a:r>
            <a:r>
              <a:rPr sz="2200" spc="-1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important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project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documents.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</TotalTime>
  <Words>1850</Words>
  <Application>Microsoft Office PowerPoint</Application>
  <PresentationFormat>Custom</PresentationFormat>
  <Paragraphs>372</Paragraphs>
  <Slides>35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Apex</vt:lpstr>
      <vt:lpstr>Chapter 3: The Project Management Process Groups</vt:lpstr>
      <vt:lpstr>Contents:</vt:lpstr>
      <vt:lpstr>Week Learning Outcome:</vt:lpstr>
      <vt:lpstr>Project management process groups</vt:lpstr>
      <vt:lpstr>Project management process groups</vt:lpstr>
      <vt:lpstr>Project management process groups</vt:lpstr>
      <vt:lpstr>Project management process groups</vt:lpstr>
      <vt:lpstr>Mapping the process groups to the knowledge areas</vt:lpstr>
      <vt:lpstr>Mapping the process groups to the knowledge</vt:lpstr>
      <vt:lpstr>Mapping the process groups to the knowledge</vt:lpstr>
      <vt:lpstr>Mapping the process groups to the knowledge</vt:lpstr>
      <vt:lpstr>Developing an IT Project Management Methodology</vt:lpstr>
      <vt:lpstr>Developing an IT Project Management Methodology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</vt:lpstr>
      <vt:lpstr>Case Study (JWD Consulting’s Project Management Intranet Site Project)</vt:lpstr>
      <vt:lpstr>Case Study</vt:lpstr>
      <vt:lpstr>Case Study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Case Study (JWD Consulting’s Project Management Intranet Site Project)</vt:lpstr>
      <vt:lpstr>Chapter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The Project Management Process Groups</dc:title>
  <cp:lastModifiedBy>Rashid</cp:lastModifiedBy>
  <cp:revision>7</cp:revision>
  <dcterms:created xsi:type="dcterms:W3CDTF">2026-09-28T15:53:07Z</dcterms:created>
  <dcterms:modified xsi:type="dcterms:W3CDTF">2026-09-29T11:36:54Z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2026-09-28T00:00:00Z</vt:filetime>
  </property>
  <property fmtid="{D5CDD505-2E9C-101B-9397-08002B2CF9AE}" pid="4" name="LastSaved">
    <vt:filetime>2026-09-28T00:00:00Z</vt:filetime>
  </property>
  <property fmtid="{D5CDD505-2E9C-101B-9397-08002B2CF9AE}" pid="5" name="Producer">
    <vt:lpwstr>Pdftools SDK</vt:lpwstr>
  </property>
</Properties>
</file>