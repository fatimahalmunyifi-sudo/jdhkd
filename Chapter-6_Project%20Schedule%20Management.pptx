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2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62707" y="1371600"/>
            <a:ext cx="109728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828800" y="3331698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609600"/>
            <a:ext cx="94488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2507786"/>
            <a:ext cx="94488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66400" y="6416676"/>
            <a:ext cx="10160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535113"/>
            <a:ext cx="5389033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362201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1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1" y="1524001"/>
            <a:ext cx="4011084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609600"/>
            <a:ext cx="73152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38400" y="1831975"/>
            <a:ext cx="73152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8400" y="1166787"/>
            <a:ext cx="73152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165600" y="6416676"/>
            <a:ext cx="38608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566400" y="6416676"/>
            <a:ext cx="1016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rtboard 3@2x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7" y="0"/>
            <a:ext cx="12185904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102610" y="2407482"/>
            <a:ext cx="6193790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US" sz="3200" dirty="0" smtClean="0">
                <a:solidFill>
                  <a:schemeClr val="bg1"/>
                </a:solidFill>
                <a:latin typeface="Arial MT"/>
                <a:cs typeface="Arial MT"/>
              </a:rPr>
              <a:t>Chapter</a:t>
            </a:r>
            <a:r>
              <a:rPr sz="3200" spc="-65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z="3200" spc="-25" dirty="0">
                <a:solidFill>
                  <a:schemeClr val="bg1"/>
                </a:solidFill>
                <a:latin typeface="Arial MT"/>
                <a:cs typeface="Arial MT"/>
              </a:rPr>
              <a:t>6</a:t>
            </a:r>
            <a:r>
              <a:rPr sz="3200" spc="-25" dirty="0" smtClean="0">
                <a:solidFill>
                  <a:schemeClr val="bg1"/>
                </a:solidFill>
                <a:latin typeface="Arial MT"/>
                <a:cs typeface="Arial MT"/>
              </a:rPr>
              <a:t>:</a:t>
            </a:r>
            <a:endParaRPr sz="32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320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sz="3200" spc="-6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chemeClr val="bg1"/>
                </a:solidFill>
                <a:latin typeface="Arial MT"/>
                <a:cs typeface="Arial MT"/>
              </a:rPr>
              <a:t>schedule</a:t>
            </a:r>
            <a:r>
              <a:rPr sz="3200" spc="-10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chemeClr val="bg1"/>
                </a:solidFill>
                <a:latin typeface="Arial MT"/>
                <a:cs typeface="Arial MT"/>
              </a:rPr>
              <a:t>Management</a:t>
            </a:r>
            <a:endParaRPr sz="32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Contents: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9615170" cy="3769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Importance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Schedules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Planning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Schedule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Defining</a:t>
            </a:r>
            <a:r>
              <a:rPr sz="2400" spc="-6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Activities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Sequencing</a:t>
            </a:r>
            <a:r>
              <a:rPr sz="2400" spc="-6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Activities.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Developing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and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controlling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Schedule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3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Using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Software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Assist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Schedule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Week</a:t>
            </a:r>
            <a:r>
              <a:rPr spc="-1235" dirty="0"/>
              <a:t> </a:t>
            </a:r>
            <a:r>
              <a:rPr spc="-10" dirty="0"/>
              <a:t>Learning</a:t>
            </a:r>
            <a:r>
              <a:rPr spc="-1275" dirty="0"/>
              <a:t> </a:t>
            </a:r>
            <a:r>
              <a:rPr spc="-10" dirty="0"/>
              <a:t>Outcome: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10611485" cy="4867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Discuss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importance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having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good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time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the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processes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used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ensure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timely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completion.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Describe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process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used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elements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activity</a:t>
            </a:r>
            <a:endParaRPr sz="24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1445"/>
              </a:spcBef>
            </a:pPr>
            <a:r>
              <a:rPr sz="2400" spc="-10" dirty="0">
                <a:latin typeface="Courier New"/>
                <a:cs typeface="Courier New"/>
              </a:rPr>
              <a:t>sequencing</a:t>
            </a:r>
            <a:endParaRPr sz="2400">
              <a:latin typeface="Courier New"/>
              <a:cs typeface="Courier New"/>
            </a:endParaRPr>
          </a:p>
          <a:p>
            <a:pPr marL="240029" marR="5080" indent="-227329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Identify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tools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techniques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used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developing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 	schedules.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Describe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different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components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schedule.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3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Explain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how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schedules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are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controlled.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The</a:t>
            </a:r>
            <a:r>
              <a:rPr spc="-1230" dirty="0"/>
              <a:t> </a:t>
            </a:r>
            <a:r>
              <a:rPr spc="-10" dirty="0"/>
              <a:t>Importance</a:t>
            </a:r>
            <a:r>
              <a:rPr spc="-1275" dirty="0"/>
              <a:t> </a:t>
            </a:r>
            <a:r>
              <a:rPr spc="-10" dirty="0"/>
              <a:t>of</a:t>
            </a:r>
            <a:r>
              <a:rPr spc="-1300" dirty="0"/>
              <a:t> </a:t>
            </a:r>
            <a:r>
              <a:rPr spc="-10" dirty="0"/>
              <a:t>Project</a:t>
            </a:r>
            <a:r>
              <a:rPr spc="-1290" dirty="0"/>
              <a:t> </a:t>
            </a:r>
            <a:r>
              <a:rPr spc="-10" dirty="0"/>
              <a:t>Schedules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5532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pc="-25" dirty="0">
                <a:solidFill>
                  <a:schemeClr val="bg1"/>
                </a:solidFill>
              </a:rPr>
              <a:t>Managers</a:t>
            </a:r>
            <a:r>
              <a:rPr spc="-335" dirty="0">
                <a:solidFill>
                  <a:schemeClr val="bg1"/>
                </a:solidFill>
              </a:rPr>
              <a:t> </a:t>
            </a:r>
            <a:r>
              <a:rPr spc="-85" dirty="0">
                <a:solidFill>
                  <a:schemeClr val="bg1"/>
                </a:solidFill>
              </a:rPr>
              <a:t>often</a:t>
            </a:r>
            <a:r>
              <a:rPr spc="-275" dirty="0">
                <a:solidFill>
                  <a:schemeClr val="bg1"/>
                </a:solidFill>
              </a:rPr>
              <a:t> </a:t>
            </a:r>
            <a:r>
              <a:rPr spc="-110" dirty="0">
                <a:solidFill>
                  <a:schemeClr val="bg1"/>
                </a:solidFill>
              </a:rPr>
              <a:t>cite</a:t>
            </a:r>
            <a:r>
              <a:rPr spc="-250" dirty="0">
                <a:solidFill>
                  <a:schemeClr val="bg1"/>
                </a:solidFill>
              </a:rPr>
              <a:t> </a:t>
            </a:r>
            <a:r>
              <a:rPr spc="-150" dirty="0">
                <a:solidFill>
                  <a:schemeClr val="bg1"/>
                </a:solidFill>
              </a:rPr>
              <a:t>the</a:t>
            </a:r>
            <a:r>
              <a:rPr spc="-210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need</a:t>
            </a:r>
            <a:r>
              <a:rPr spc="-260" dirty="0">
                <a:solidFill>
                  <a:schemeClr val="bg1"/>
                </a:solidFill>
              </a:rPr>
              <a:t> </a:t>
            </a:r>
            <a:r>
              <a:rPr spc="-305" dirty="0">
                <a:solidFill>
                  <a:schemeClr val="bg1"/>
                </a:solidFill>
              </a:rPr>
              <a:t>to</a:t>
            </a:r>
            <a:r>
              <a:rPr spc="-55" dirty="0">
                <a:solidFill>
                  <a:schemeClr val="bg1"/>
                </a:solidFill>
              </a:rPr>
              <a:t> </a:t>
            </a:r>
            <a:r>
              <a:rPr spc="-70" dirty="0">
                <a:solidFill>
                  <a:schemeClr val="bg1"/>
                </a:solidFill>
              </a:rPr>
              <a:t>deliver</a:t>
            </a:r>
            <a:r>
              <a:rPr spc="-290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projects</a:t>
            </a:r>
            <a:r>
              <a:rPr spc="-280" dirty="0">
                <a:solidFill>
                  <a:schemeClr val="bg1"/>
                </a:solidFill>
              </a:rPr>
              <a:t> </a:t>
            </a:r>
            <a:r>
              <a:rPr spc="-204" dirty="0">
                <a:solidFill>
                  <a:schemeClr val="bg1"/>
                </a:solidFill>
              </a:rPr>
              <a:t>on</a:t>
            </a:r>
            <a:r>
              <a:rPr spc="-155" dirty="0">
                <a:solidFill>
                  <a:schemeClr val="bg1"/>
                </a:solidFill>
              </a:rPr>
              <a:t> </a:t>
            </a:r>
            <a:r>
              <a:rPr spc="-80" dirty="0">
                <a:solidFill>
                  <a:schemeClr val="bg1"/>
                </a:solidFill>
              </a:rPr>
              <a:t>time</a:t>
            </a:r>
            <a:r>
              <a:rPr spc="-130" dirty="0">
                <a:solidFill>
                  <a:schemeClr val="bg1"/>
                </a:solidFill>
              </a:rPr>
              <a:t> </a:t>
            </a:r>
            <a:r>
              <a:rPr spc="-204" dirty="0">
                <a:solidFill>
                  <a:schemeClr val="bg1"/>
                </a:solidFill>
              </a:rPr>
              <a:t>as</a:t>
            </a:r>
            <a:r>
              <a:rPr spc="-150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one 	</a:t>
            </a:r>
            <a:r>
              <a:rPr spc="-10" dirty="0">
                <a:solidFill>
                  <a:schemeClr val="bg1"/>
                </a:solidFill>
              </a:rPr>
              <a:t>of</a:t>
            </a:r>
            <a:r>
              <a:rPr spc="-71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their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biggest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challenges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and</a:t>
            </a:r>
            <a:r>
              <a:rPr spc="-7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main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cause</a:t>
            </a:r>
            <a:r>
              <a:rPr spc="-7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of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conflict.</a:t>
            </a:r>
          </a:p>
          <a:p>
            <a:pPr marL="240029" indent="-227329" algn="just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pc="-10" dirty="0">
                <a:solidFill>
                  <a:schemeClr val="bg1"/>
                </a:solidFill>
              </a:rPr>
              <a:t>Time</a:t>
            </a:r>
            <a:r>
              <a:rPr spc="-72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is</a:t>
            </a:r>
            <a:r>
              <a:rPr spc="-7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7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variable</a:t>
            </a:r>
            <a:r>
              <a:rPr spc="-7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that</a:t>
            </a:r>
            <a:r>
              <a:rPr spc="-7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has</a:t>
            </a:r>
            <a:r>
              <a:rPr spc="-79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78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least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amount</a:t>
            </a:r>
            <a:r>
              <a:rPr spc="-7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of</a:t>
            </a:r>
            <a:r>
              <a:rPr spc="-7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flexibility.</a:t>
            </a:r>
          </a:p>
          <a:p>
            <a:pPr marL="240029" marR="5080" indent="-227329" algn="just">
              <a:lnSpc>
                <a:spcPct val="15010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spc="-30" dirty="0">
                <a:solidFill>
                  <a:schemeClr val="bg1"/>
                </a:solidFill>
              </a:rPr>
              <a:t>Individual</a:t>
            </a:r>
            <a:r>
              <a:rPr spc="-330" dirty="0">
                <a:solidFill>
                  <a:schemeClr val="bg1"/>
                </a:solidFill>
              </a:rPr>
              <a:t> </a:t>
            </a:r>
            <a:r>
              <a:rPr spc="-125" dirty="0">
                <a:solidFill>
                  <a:schemeClr val="bg1"/>
                </a:solidFill>
              </a:rPr>
              <a:t>work</a:t>
            </a:r>
            <a:r>
              <a:rPr spc="-235" dirty="0">
                <a:solidFill>
                  <a:schemeClr val="bg1"/>
                </a:solidFill>
              </a:rPr>
              <a:t> </a:t>
            </a:r>
            <a:r>
              <a:rPr spc="-80" dirty="0">
                <a:solidFill>
                  <a:schemeClr val="bg1"/>
                </a:solidFill>
              </a:rPr>
              <a:t>styles</a:t>
            </a:r>
            <a:r>
              <a:rPr spc="-280" dirty="0">
                <a:solidFill>
                  <a:schemeClr val="bg1"/>
                </a:solidFill>
              </a:rPr>
              <a:t> </a:t>
            </a:r>
            <a:r>
              <a:rPr spc="-195" dirty="0">
                <a:solidFill>
                  <a:schemeClr val="bg1"/>
                </a:solidFill>
              </a:rPr>
              <a:t>and</a:t>
            </a:r>
            <a:r>
              <a:rPr spc="-165" dirty="0">
                <a:solidFill>
                  <a:schemeClr val="bg1"/>
                </a:solidFill>
              </a:rPr>
              <a:t> </a:t>
            </a:r>
            <a:r>
              <a:rPr spc="-95" dirty="0">
                <a:solidFill>
                  <a:schemeClr val="bg1"/>
                </a:solidFill>
              </a:rPr>
              <a:t>cultural</a:t>
            </a:r>
            <a:r>
              <a:rPr spc="-265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differences</a:t>
            </a:r>
            <a:r>
              <a:rPr spc="-295" dirty="0">
                <a:solidFill>
                  <a:schemeClr val="bg1"/>
                </a:solidFill>
              </a:rPr>
              <a:t> </a:t>
            </a:r>
            <a:r>
              <a:rPr spc="-140" dirty="0">
                <a:solidFill>
                  <a:schemeClr val="bg1"/>
                </a:solidFill>
              </a:rPr>
              <a:t>may</a:t>
            </a:r>
            <a:r>
              <a:rPr spc="-215" dirty="0">
                <a:solidFill>
                  <a:schemeClr val="bg1"/>
                </a:solidFill>
              </a:rPr>
              <a:t> </a:t>
            </a:r>
            <a:r>
              <a:rPr spc="-85" dirty="0">
                <a:solidFill>
                  <a:schemeClr val="bg1"/>
                </a:solidFill>
              </a:rPr>
              <a:t>also</a:t>
            </a:r>
            <a:r>
              <a:rPr spc="-11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cause 	schedule</a:t>
            </a:r>
            <a:r>
              <a:rPr spc="-68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conflicts.</a:t>
            </a:r>
          </a:p>
          <a:p>
            <a:pPr marL="240029" marR="51435" indent="-227329" algn="just">
              <a:lnSpc>
                <a:spcPct val="14920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Project</a:t>
            </a:r>
            <a:r>
              <a:rPr spc="1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schedule</a:t>
            </a:r>
            <a:r>
              <a:rPr spc="32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management,</a:t>
            </a:r>
            <a:r>
              <a:rPr spc="17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simply</a:t>
            </a:r>
            <a:r>
              <a:rPr spc="1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defined,</a:t>
            </a:r>
            <a:r>
              <a:rPr spc="175" dirty="0">
                <a:solidFill>
                  <a:schemeClr val="bg1"/>
                </a:solidFill>
              </a:rPr>
              <a:t> </a:t>
            </a:r>
            <a:r>
              <a:rPr i="1" dirty="0">
                <a:solidFill>
                  <a:schemeClr val="bg1"/>
                </a:solidFill>
                <a:latin typeface="Courier New"/>
                <a:cs typeface="Courier New"/>
              </a:rPr>
              <a:t>involves</a:t>
            </a:r>
            <a:r>
              <a:rPr i="1" spc="2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i="1" spc="-25" dirty="0">
                <a:solidFill>
                  <a:schemeClr val="bg1"/>
                </a:solidFill>
                <a:latin typeface="Courier New"/>
                <a:cs typeface="Courier New"/>
              </a:rPr>
              <a:t>the 	</a:t>
            </a:r>
            <a:r>
              <a:rPr i="1" dirty="0">
                <a:solidFill>
                  <a:schemeClr val="bg1"/>
                </a:solidFill>
                <a:latin typeface="Courier New"/>
                <a:cs typeface="Courier New"/>
              </a:rPr>
              <a:t>processes</a:t>
            </a:r>
            <a:r>
              <a:rPr i="1" spc="-3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i="1" dirty="0" smtClean="0">
                <a:solidFill>
                  <a:schemeClr val="bg1"/>
                </a:solidFill>
                <a:latin typeface="Courier New"/>
                <a:cs typeface="Courier New"/>
              </a:rPr>
              <a:t>required</a:t>
            </a:r>
            <a:r>
              <a:rPr i="1" spc="-15" dirty="0" smtClean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i="1" dirty="0" smtClean="0">
                <a:solidFill>
                  <a:schemeClr val="bg1"/>
                </a:solidFill>
                <a:latin typeface="Courier New"/>
                <a:cs typeface="Courier New"/>
              </a:rPr>
              <a:t>to</a:t>
            </a:r>
            <a:r>
              <a:rPr lang="en-US" i="1" spc="-1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i="1" dirty="0" smtClean="0">
                <a:solidFill>
                  <a:schemeClr val="bg1"/>
                </a:solidFill>
                <a:latin typeface="Courier New"/>
                <a:cs typeface="Courier New"/>
              </a:rPr>
              <a:t>ensure</a:t>
            </a:r>
            <a:r>
              <a:rPr lang="en-US" i="1" spc="-1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i="1" dirty="0" smtClean="0">
                <a:solidFill>
                  <a:schemeClr val="bg1"/>
                </a:solidFill>
                <a:latin typeface="Courier New"/>
                <a:cs typeface="Courier New"/>
              </a:rPr>
              <a:t>timely</a:t>
            </a:r>
            <a:r>
              <a:rPr i="1" spc="-15" dirty="0" smtClean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i="1" dirty="0">
                <a:solidFill>
                  <a:schemeClr val="bg1"/>
                </a:solidFill>
                <a:latin typeface="Courier New"/>
                <a:cs typeface="Courier New"/>
              </a:rPr>
              <a:t>completion</a:t>
            </a:r>
            <a:r>
              <a:rPr i="1" spc="-30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i="1" dirty="0">
                <a:solidFill>
                  <a:schemeClr val="bg1"/>
                </a:solidFill>
                <a:latin typeface="Courier New"/>
                <a:cs typeface="Courier New"/>
              </a:rPr>
              <a:t>of</a:t>
            </a:r>
            <a:r>
              <a:rPr i="1" spc="-15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i="1" spc="-50" dirty="0">
                <a:solidFill>
                  <a:schemeClr val="bg1"/>
                </a:solidFill>
                <a:latin typeface="Courier New"/>
                <a:cs typeface="Courier New"/>
              </a:rPr>
              <a:t>a 	</a:t>
            </a:r>
            <a:r>
              <a:rPr i="1" spc="-10" dirty="0">
                <a:solidFill>
                  <a:schemeClr val="bg1"/>
                </a:solidFill>
                <a:latin typeface="Courier New"/>
                <a:cs typeface="Courier New"/>
              </a:rPr>
              <a:t>project.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Planning</a:t>
            </a:r>
            <a:r>
              <a:rPr spc="-1225" dirty="0"/>
              <a:t> </a:t>
            </a:r>
            <a:r>
              <a:rPr spc="-10" dirty="0"/>
              <a:t>Schedule</a:t>
            </a:r>
            <a:r>
              <a:rPr spc="-127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03196"/>
            <a:ext cx="10626090" cy="1841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5080" indent="-226695">
              <a:lnSpc>
                <a:spcPct val="14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54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first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step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in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schedule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management</a:t>
            </a:r>
            <a:r>
              <a:rPr sz="2000" spc="-63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is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planning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how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schedule 	</a:t>
            </a:r>
            <a:r>
              <a:rPr sz="2000" spc="-20" dirty="0">
                <a:latin typeface="Courier New"/>
                <a:cs typeface="Courier New"/>
              </a:rPr>
              <a:t>will</a:t>
            </a:r>
            <a:r>
              <a:rPr sz="2000" spc="-54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be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managed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throughout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life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of</a:t>
            </a:r>
            <a:r>
              <a:rPr sz="2000" spc="-63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project.</a:t>
            </a:r>
            <a:endParaRPr sz="200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Six</a:t>
            </a:r>
            <a:r>
              <a:rPr sz="2000" spc="-54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main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processes</a:t>
            </a:r>
            <a:r>
              <a:rPr sz="2000" spc="-6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are</a:t>
            </a:r>
            <a:r>
              <a:rPr sz="2000" spc="-6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involved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in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64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schedule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management:</a:t>
            </a:r>
            <a:endParaRPr sz="2000">
              <a:latin typeface="Courier New"/>
              <a:cs typeface="Courier New"/>
            </a:endParaRPr>
          </a:p>
          <a:p>
            <a:pPr marL="1423670">
              <a:lnSpc>
                <a:spcPct val="100000"/>
              </a:lnSpc>
              <a:spcBef>
                <a:spcPts val="1760"/>
              </a:spcBef>
            </a:pPr>
            <a:r>
              <a:rPr sz="1200" spc="-20" dirty="0">
                <a:latin typeface="Courier New"/>
                <a:cs typeface="Courier New"/>
              </a:rPr>
              <a:t>(see</a:t>
            </a:r>
            <a:r>
              <a:rPr sz="1200" spc="-405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page</a:t>
            </a:r>
            <a:r>
              <a:rPr sz="1200" spc="-325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245)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8297" y="3763950"/>
            <a:ext cx="8159115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834">
              <a:lnSpc>
                <a:spcPct val="140100"/>
              </a:lnSpc>
              <a:spcBef>
                <a:spcPts val="100"/>
              </a:spcBef>
            </a:pPr>
            <a:r>
              <a:rPr sz="2000" b="1" dirty="0">
                <a:latin typeface="Courier New"/>
                <a:cs typeface="Courier New"/>
              </a:rPr>
              <a:t>1.</a:t>
            </a:r>
            <a:r>
              <a:rPr sz="2000" b="1" spc="-6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Planning</a:t>
            </a:r>
            <a:r>
              <a:rPr sz="2000" b="1" spc="36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schedule</a:t>
            </a:r>
            <a:r>
              <a:rPr sz="2000" b="1" spc="36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management</a:t>
            </a:r>
            <a:r>
              <a:rPr sz="2000" b="1" spc="37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involves</a:t>
            </a:r>
            <a:r>
              <a:rPr sz="2000" spc="18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determining </a:t>
            </a:r>
            <a:r>
              <a:rPr sz="2000" dirty="0">
                <a:latin typeface="Courier New"/>
                <a:cs typeface="Courier New"/>
              </a:rPr>
              <a:t>procedures,</a:t>
            </a:r>
            <a:r>
              <a:rPr sz="2000" spc="-325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and</a:t>
            </a:r>
            <a:r>
              <a:rPr sz="2000" spc="-34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documentation</a:t>
            </a:r>
            <a:r>
              <a:rPr sz="2000" spc="-32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that</a:t>
            </a:r>
            <a:r>
              <a:rPr sz="2000" spc="-335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will</a:t>
            </a:r>
            <a:r>
              <a:rPr sz="2000" spc="-32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be</a:t>
            </a:r>
            <a:r>
              <a:rPr sz="2000" spc="47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used executing,</a:t>
            </a:r>
            <a:r>
              <a:rPr sz="2000" spc="-5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and</a:t>
            </a:r>
            <a:r>
              <a:rPr sz="2000" spc="-59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controlling</a:t>
            </a:r>
            <a:r>
              <a:rPr sz="2000" spc="-58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59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schedule.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67113" y="3763950"/>
            <a:ext cx="2092960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2545">
              <a:lnSpc>
                <a:spcPct val="14010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the</a:t>
            </a:r>
            <a:r>
              <a:rPr sz="2000" spc="3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policies, </a:t>
            </a:r>
            <a:r>
              <a:rPr sz="2000" dirty="0">
                <a:latin typeface="Courier New"/>
                <a:cs typeface="Courier New"/>
              </a:rPr>
              <a:t>for</a:t>
            </a:r>
            <a:r>
              <a:rPr sz="2000" spc="-285" dirty="0">
                <a:latin typeface="Courier New"/>
                <a:cs typeface="Courier New"/>
              </a:rPr>
              <a:t>  </a:t>
            </a:r>
            <a:r>
              <a:rPr sz="2000" spc="-10" dirty="0">
                <a:latin typeface="Courier New"/>
                <a:cs typeface="Courier New"/>
              </a:rPr>
              <a:t>planning,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68297" y="5172811"/>
            <a:ext cx="10389235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834" algn="just">
              <a:lnSpc>
                <a:spcPct val="140100"/>
              </a:lnSpc>
              <a:spcBef>
                <a:spcPts val="100"/>
              </a:spcBef>
            </a:pPr>
            <a:r>
              <a:rPr sz="2000" b="1" dirty="0">
                <a:latin typeface="Courier New"/>
                <a:cs typeface="Courier New"/>
              </a:rPr>
              <a:t>2.</a:t>
            </a:r>
            <a:r>
              <a:rPr sz="2000" b="1" spc="-1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Defining</a:t>
            </a:r>
            <a:r>
              <a:rPr sz="2000" b="1" spc="1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activities</a:t>
            </a:r>
            <a:r>
              <a:rPr sz="2000" b="1" spc="1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involves</a:t>
            </a:r>
            <a:r>
              <a:rPr sz="2000" spc="1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identifying</a:t>
            </a:r>
            <a:r>
              <a:rPr sz="2000" spc="1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the</a:t>
            </a:r>
            <a:r>
              <a:rPr sz="2000" spc="7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specific</a:t>
            </a:r>
            <a:r>
              <a:rPr sz="2000" spc="1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activities </a:t>
            </a:r>
            <a:r>
              <a:rPr sz="2000" spc="-70" dirty="0">
                <a:latin typeface="Courier New"/>
                <a:cs typeface="Courier New"/>
              </a:rPr>
              <a:t>that</a:t>
            </a:r>
            <a:r>
              <a:rPr sz="2000" spc="-229" dirty="0">
                <a:latin typeface="Courier New"/>
                <a:cs typeface="Courier New"/>
              </a:rPr>
              <a:t> </a:t>
            </a:r>
            <a:r>
              <a:rPr sz="2000" spc="-165" dirty="0">
                <a:latin typeface="Courier New"/>
                <a:cs typeface="Courier New"/>
              </a:rPr>
              <a:t>the</a:t>
            </a:r>
            <a:r>
              <a:rPr sz="2000" spc="-135" dirty="0">
                <a:latin typeface="Courier New"/>
                <a:cs typeface="Courier New"/>
              </a:rPr>
              <a:t> </a:t>
            </a:r>
            <a:r>
              <a:rPr sz="2000" spc="-80" dirty="0">
                <a:latin typeface="Courier New"/>
                <a:cs typeface="Courier New"/>
              </a:rPr>
              <a:t>project</a:t>
            </a:r>
            <a:r>
              <a:rPr sz="2000" spc="-220" dirty="0">
                <a:latin typeface="Courier New"/>
                <a:cs typeface="Courier New"/>
              </a:rPr>
              <a:t> </a:t>
            </a:r>
            <a:r>
              <a:rPr sz="2000" spc="-190" dirty="0">
                <a:latin typeface="Courier New"/>
                <a:cs typeface="Courier New"/>
              </a:rPr>
              <a:t>team</a:t>
            </a:r>
            <a:r>
              <a:rPr sz="2000" spc="-110" dirty="0">
                <a:latin typeface="Courier New"/>
                <a:cs typeface="Courier New"/>
              </a:rPr>
              <a:t> </a:t>
            </a:r>
            <a:r>
              <a:rPr sz="2000" spc="-40" dirty="0">
                <a:latin typeface="Courier New"/>
                <a:cs typeface="Courier New"/>
              </a:rPr>
              <a:t>members</a:t>
            </a:r>
            <a:r>
              <a:rPr sz="2000" spc="-260" dirty="0">
                <a:latin typeface="Courier New"/>
                <a:cs typeface="Courier New"/>
              </a:rPr>
              <a:t> </a:t>
            </a:r>
            <a:r>
              <a:rPr sz="2000" spc="-165" dirty="0">
                <a:latin typeface="Courier New"/>
                <a:cs typeface="Courier New"/>
              </a:rPr>
              <a:t>and</a:t>
            </a:r>
            <a:r>
              <a:rPr sz="2000" spc="-135" dirty="0">
                <a:latin typeface="Courier New"/>
                <a:cs typeface="Courier New"/>
              </a:rPr>
              <a:t> </a:t>
            </a:r>
            <a:r>
              <a:rPr sz="2000" spc="-45" dirty="0">
                <a:latin typeface="Courier New"/>
                <a:cs typeface="Courier New"/>
              </a:rPr>
              <a:t>stakeholders</a:t>
            </a:r>
            <a:r>
              <a:rPr sz="2000" spc="-254" dirty="0">
                <a:latin typeface="Courier New"/>
                <a:cs typeface="Courier New"/>
              </a:rPr>
              <a:t> </a:t>
            </a:r>
            <a:r>
              <a:rPr sz="2000" spc="-130" dirty="0">
                <a:latin typeface="Courier New"/>
                <a:cs typeface="Courier New"/>
              </a:rPr>
              <a:t>must</a:t>
            </a:r>
            <a:r>
              <a:rPr sz="2000" spc="-165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perform</a:t>
            </a:r>
            <a:r>
              <a:rPr sz="2000" spc="-95" dirty="0">
                <a:latin typeface="Courier New"/>
                <a:cs typeface="Courier New"/>
              </a:rPr>
              <a:t> </a:t>
            </a:r>
            <a:r>
              <a:rPr sz="2000" spc="-275" dirty="0">
                <a:latin typeface="Courier New"/>
                <a:cs typeface="Courier New"/>
              </a:rPr>
              <a:t>to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produce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54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deliverables.</a:t>
            </a:r>
            <a:endParaRPr sz="20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Planning</a:t>
            </a:r>
            <a:r>
              <a:rPr spc="-1225" dirty="0"/>
              <a:t> </a:t>
            </a:r>
            <a:r>
              <a:rPr spc="-10" dirty="0"/>
              <a:t>Schedule</a:t>
            </a:r>
            <a:r>
              <a:rPr spc="-127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68297" y="1803196"/>
            <a:ext cx="10394315" cy="4676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8630" marR="5080" indent="-456565" algn="just">
              <a:lnSpc>
                <a:spcPct val="140100"/>
              </a:lnSpc>
              <a:spcBef>
                <a:spcPts val="100"/>
              </a:spcBef>
              <a:buAutoNum type="arabicPeriod" startAt="3"/>
              <a:tabLst>
                <a:tab pos="469900" algn="l"/>
              </a:tabLst>
            </a:pPr>
            <a:r>
              <a:rPr sz="2000" b="1" dirty="0">
                <a:latin typeface="Courier New"/>
                <a:cs typeface="Courier New"/>
              </a:rPr>
              <a:t>Sequencing</a:t>
            </a:r>
            <a:r>
              <a:rPr sz="2000" b="1" spc="-330" dirty="0">
                <a:latin typeface="Courier New"/>
                <a:cs typeface="Courier New"/>
              </a:rPr>
              <a:t>  </a:t>
            </a:r>
            <a:r>
              <a:rPr sz="2000" b="1" dirty="0">
                <a:latin typeface="Courier New"/>
                <a:cs typeface="Courier New"/>
              </a:rPr>
              <a:t>activities</a:t>
            </a:r>
            <a:r>
              <a:rPr sz="2000" b="1" spc="-33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involves</a:t>
            </a:r>
            <a:r>
              <a:rPr sz="2000" spc="-35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identifying</a:t>
            </a:r>
            <a:r>
              <a:rPr sz="2000" spc="-345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and</a:t>
            </a:r>
            <a:r>
              <a:rPr sz="2000" spc="47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documenting</a:t>
            </a:r>
            <a:r>
              <a:rPr sz="2000" spc="-320" dirty="0">
                <a:latin typeface="Courier New"/>
                <a:cs typeface="Courier New"/>
              </a:rPr>
              <a:t>  </a:t>
            </a:r>
            <a:r>
              <a:rPr sz="2000" spc="-25" dirty="0">
                <a:latin typeface="Courier New"/>
                <a:cs typeface="Courier New"/>
              </a:rPr>
              <a:t>the 	</a:t>
            </a:r>
            <a:r>
              <a:rPr sz="2000" dirty="0">
                <a:latin typeface="Courier New"/>
                <a:cs typeface="Courier New"/>
              </a:rPr>
              <a:t>relationships</a:t>
            </a:r>
            <a:r>
              <a:rPr sz="2000" spc="-2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between</a:t>
            </a:r>
            <a:r>
              <a:rPr sz="2000" spc="-21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project</a:t>
            </a:r>
            <a:r>
              <a:rPr sz="2000" spc="-22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activities.</a:t>
            </a:r>
            <a:r>
              <a:rPr sz="2000" spc="-21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Requirements,</a:t>
            </a:r>
            <a:r>
              <a:rPr sz="2000" spc="-18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</a:t>
            </a:r>
            <a:r>
              <a:rPr sz="2000" spc="-29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resource 	</a:t>
            </a:r>
            <a:r>
              <a:rPr sz="2000" spc="-20" dirty="0">
                <a:latin typeface="Courier New"/>
                <a:cs typeface="Courier New"/>
              </a:rPr>
              <a:t>breakdown</a:t>
            </a:r>
            <a:r>
              <a:rPr sz="2000" spc="-5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structure,</a:t>
            </a:r>
            <a:r>
              <a:rPr sz="2000" spc="-59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and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project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documents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updates.</a:t>
            </a:r>
            <a:endParaRPr sz="2000">
              <a:latin typeface="Courier New"/>
              <a:cs typeface="Courier New"/>
            </a:endParaRPr>
          </a:p>
          <a:p>
            <a:pPr marL="468630" marR="7620" indent="-456565" algn="just">
              <a:lnSpc>
                <a:spcPct val="140100"/>
              </a:lnSpc>
              <a:spcBef>
                <a:spcPts val="1010"/>
              </a:spcBef>
              <a:buAutoNum type="arabicPeriod" startAt="3"/>
              <a:tabLst>
                <a:tab pos="469900" algn="l"/>
              </a:tabLst>
            </a:pPr>
            <a:r>
              <a:rPr sz="2000" b="1" dirty="0">
                <a:latin typeface="Courier New"/>
                <a:cs typeface="Courier New"/>
              </a:rPr>
              <a:t>Estimating</a:t>
            </a:r>
            <a:r>
              <a:rPr sz="2000" b="1" spc="25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activity</a:t>
            </a:r>
            <a:r>
              <a:rPr sz="2000" b="1" spc="254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durations</a:t>
            </a:r>
            <a:r>
              <a:rPr sz="2000" b="1" spc="2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involves</a:t>
            </a:r>
            <a:r>
              <a:rPr sz="2000" spc="40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estimating</a:t>
            </a:r>
            <a:r>
              <a:rPr sz="2000" spc="2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the</a:t>
            </a:r>
            <a:r>
              <a:rPr sz="2000" spc="2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number</a:t>
            </a:r>
            <a:r>
              <a:rPr sz="2000" spc="26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of 	</a:t>
            </a:r>
            <a:r>
              <a:rPr sz="2000" spc="-20" dirty="0">
                <a:latin typeface="Courier New"/>
                <a:cs typeface="Courier New"/>
              </a:rPr>
              <a:t>work</a:t>
            </a:r>
            <a:r>
              <a:rPr sz="2000" spc="-53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periods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that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are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needed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to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complete</a:t>
            </a:r>
            <a:r>
              <a:rPr sz="2000" spc="-63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individual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activities.</a:t>
            </a:r>
            <a:endParaRPr sz="2000">
              <a:latin typeface="Courier New"/>
              <a:cs typeface="Courier New"/>
            </a:endParaRPr>
          </a:p>
          <a:p>
            <a:pPr marL="468630" marR="5080" indent="-456565" algn="just">
              <a:lnSpc>
                <a:spcPct val="140000"/>
              </a:lnSpc>
              <a:spcBef>
                <a:spcPts val="985"/>
              </a:spcBef>
              <a:buAutoNum type="arabicPeriod" startAt="3"/>
              <a:tabLst>
                <a:tab pos="469900" algn="l"/>
              </a:tabLst>
            </a:pPr>
            <a:r>
              <a:rPr sz="2000" b="1" dirty="0">
                <a:latin typeface="Courier New"/>
                <a:cs typeface="Courier New"/>
              </a:rPr>
              <a:t>Developing</a:t>
            </a:r>
            <a:r>
              <a:rPr sz="2000" b="1" spc="-345" dirty="0">
                <a:latin typeface="Courier New"/>
                <a:cs typeface="Courier New"/>
              </a:rPr>
              <a:t>  </a:t>
            </a:r>
            <a:r>
              <a:rPr sz="2000" b="1" dirty="0">
                <a:latin typeface="Courier New"/>
                <a:cs typeface="Courier New"/>
              </a:rPr>
              <a:t>the</a:t>
            </a:r>
            <a:r>
              <a:rPr sz="2000" b="1" spc="-340" dirty="0">
                <a:latin typeface="Courier New"/>
                <a:cs typeface="Courier New"/>
              </a:rPr>
              <a:t>  </a:t>
            </a:r>
            <a:r>
              <a:rPr sz="2000" b="1" dirty="0">
                <a:latin typeface="Courier New"/>
                <a:cs typeface="Courier New"/>
              </a:rPr>
              <a:t>schedule</a:t>
            </a:r>
            <a:r>
              <a:rPr sz="2000" b="1" spc="-345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involves</a:t>
            </a:r>
            <a:r>
              <a:rPr sz="2000" spc="-35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analyzing</a:t>
            </a:r>
            <a:r>
              <a:rPr sz="2000" spc="-35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activity</a:t>
            </a:r>
            <a:r>
              <a:rPr sz="2000" spc="-340" dirty="0">
                <a:latin typeface="Courier New"/>
                <a:cs typeface="Courier New"/>
              </a:rPr>
              <a:t>  </a:t>
            </a:r>
            <a:r>
              <a:rPr sz="2000" spc="-10" dirty="0">
                <a:latin typeface="Courier New"/>
                <a:cs typeface="Courier New"/>
              </a:rPr>
              <a:t>sequences, 	</a:t>
            </a:r>
            <a:r>
              <a:rPr sz="2000" spc="-20" dirty="0">
                <a:latin typeface="Courier New"/>
                <a:cs typeface="Courier New"/>
              </a:rPr>
              <a:t>resource</a:t>
            </a:r>
            <a:r>
              <a:rPr sz="2000" spc="-280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requirements,</a:t>
            </a:r>
            <a:r>
              <a:rPr sz="2000" spc="-265" dirty="0">
                <a:latin typeface="Courier New"/>
                <a:cs typeface="Courier New"/>
              </a:rPr>
              <a:t> </a:t>
            </a:r>
            <a:r>
              <a:rPr sz="2000" spc="-100" dirty="0">
                <a:latin typeface="Courier New"/>
                <a:cs typeface="Courier New"/>
              </a:rPr>
              <a:t>and</a:t>
            </a:r>
            <a:r>
              <a:rPr sz="2000" spc="-200" dirty="0">
                <a:latin typeface="Courier New"/>
                <a:cs typeface="Courier New"/>
              </a:rPr>
              <a:t> </a:t>
            </a:r>
            <a:r>
              <a:rPr sz="2000" spc="-45" dirty="0">
                <a:latin typeface="Courier New"/>
                <a:cs typeface="Courier New"/>
              </a:rPr>
              <a:t>activity</a:t>
            </a:r>
            <a:r>
              <a:rPr sz="2000" spc="-250" dirty="0">
                <a:latin typeface="Courier New"/>
                <a:cs typeface="Courier New"/>
              </a:rPr>
              <a:t> </a:t>
            </a:r>
            <a:r>
              <a:rPr sz="2000" spc="-45" dirty="0">
                <a:latin typeface="Courier New"/>
                <a:cs typeface="Courier New"/>
              </a:rPr>
              <a:t>duration</a:t>
            </a:r>
            <a:r>
              <a:rPr sz="2000" spc="-204" dirty="0">
                <a:latin typeface="Courier New"/>
                <a:cs typeface="Courier New"/>
              </a:rPr>
              <a:t> </a:t>
            </a:r>
            <a:r>
              <a:rPr sz="2000" spc="-40" dirty="0">
                <a:latin typeface="Courier New"/>
                <a:cs typeface="Courier New"/>
              </a:rPr>
              <a:t>estimates</a:t>
            </a:r>
            <a:r>
              <a:rPr sz="2000" spc="-225" dirty="0">
                <a:latin typeface="Courier New"/>
                <a:cs typeface="Courier New"/>
              </a:rPr>
              <a:t> </a:t>
            </a:r>
            <a:r>
              <a:rPr sz="2000" spc="-160" dirty="0">
                <a:latin typeface="Courier New"/>
                <a:cs typeface="Courier New"/>
              </a:rPr>
              <a:t>to</a:t>
            </a:r>
            <a:r>
              <a:rPr sz="2000" spc="-14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create</a:t>
            </a:r>
            <a:r>
              <a:rPr sz="2000" spc="-15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the 	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52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schedule.</a:t>
            </a:r>
            <a:endParaRPr sz="2000">
              <a:latin typeface="Courier New"/>
              <a:cs typeface="Courier New"/>
            </a:endParaRPr>
          </a:p>
          <a:p>
            <a:pPr marL="469265" indent="-456565">
              <a:lnSpc>
                <a:spcPct val="100000"/>
              </a:lnSpc>
              <a:spcBef>
                <a:spcPts val="1970"/>
              </a:spcBef>
              <a:buAutoNum type="arabicPeriod" startAt="3"/>
              <a:tabLst>
                <a:tab pos="469265" algn="l"/>
              </a:tabLst>
            </a:pPr>
            <a:r>
              <a:rPr sz="2000" b="1" dirty="0">
                <a:latin typeface="Courier New"/>
                <a:cs typeface="Courier New"/>
              </a:rPr>
              <a:t>Controlling</a:t>
            </a:r>
            <a:r>
              <a:rPr sz="2000" b="1" spc="-10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the</a:t>
            </a:r>
            <a:r>
              <a:rPr sz="2000" b="1" spc="-10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schedule</a:t>
            </a:r>
            <a:r>
              <a:rPr sz="2000" b="1" spc="-2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involves</a:t>
            </a:r>
            <a:r>
              <a:rPr sz="2000" spc="-229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controlling</a:t>
            </a:r>
            <a:r>
              <a:rPr sz="2000" spc="-204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and</a:t>
            </a:r>
            <a:r>
              <a:rPr sz="2000" spc="-254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managing</a:t>
            </a:r>
            <a:r>
              <a:rPr sz="2000" spc="-18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changes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960"/>
              </a:spcBef>
            </a:pPr>
            <a:r>
              <a:rPr sz="2000" spc="-20" dirty="0">
                <a:latin typeface="Courier New"/>
                <a:cs typeface="Courier New"/>
              </a:rPr>
              <a:t>to</a:t>
            </a:r>
            <a:r>
              <a:rPr sz="2000" spc="-54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schedule.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Planning</a:t>
            </a:r>
            <a:r>
              <a:rPr spc="-1225" dirty="0"/>
              <a:t> </a:t>
            </a:r>
            <a:r>
              <a:rPr spc="-10" dirty="0"/>
              <a:t>Schedule</a:t>
            </a:r>
            <a:r>
              <a:rPr spc="-127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0124" y="4290186"/>
            <a:ext cx="22205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information: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524" y="1783079"/>
            <a:ext cx="10900410" cy="2613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37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schedule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management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plan,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140" dirty="0">
                <a:latin typeface="Courier New"/>
                <a:cs typeface="Courier New"/>
              </a:rPr>
              <a:t>like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scope</a:t>
            </a:r>
            <a:r>
              <a:rPr sz="2400" spc="-2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management</a:t>
            </a:r>
            <a:r>
              <a:rPr sz="2400" spc="-1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plan, 	</a:t>
            </a:r>
            <a:r>
              <a:rPr sz="2400" dirty="0">
                <a:latin typeface="Courier New"/>
                <a:cs typeface="Courier New"/>
              </a:rPr>
              <a:t>can</a:t>
            </a:r>
            <a:r>
              <a:rPr sz="2400" spc="-370" dirty="0">
                <a:latin typeface="Courier New"/>
                <a:cs typeface="Courier New"/>
              </a:rPr>
              <a:t> </a:t>
            </a:r>
            <a:r>
              <a:rPr sz="2400" spc="-155" dirty="0">
                <a:latin typeface="Courier New"/>
                <a:cs typeface="Courier New"/>
              </a:rPr>
              <a:t>be</a:t>
            </a:r>
            <a:r>
              <a:rPr sz="2400" spc="-204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informal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and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broad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160" dirty="0">
                <a:latin typeface="Courier New"/>
                <a:cs typeface="Courier New"/>
              </a:rPr>
              <a:t>or</a:t>
            </a:r>
            <a:r>
              <a:rPr sz="2400" spc="-200" dirty="0">
                <a:latin typeface="Courier New"/>
                <a:cs typeface="Courier New"/>
              </a:rPr>
              <a:t> </a:t>
            </a:r>
            <a:r>
              <a:rPr sz="2400" spc="-90" dirty="0">
                <a:latin typeface="Courier New"/>
                <a:cs typeface="Courier New"/>
              </a:rPr>
              <a:t>formal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35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detailed,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based</a:t>
            </a:r>
            <a:r>
              <a:rPr sz="2400" spc="-180" dirty="0">
                <a:latin typeface="Courier New"/>
                <a:cs typeface="Courier New"/>
              </a:rPr>
              <a:t> </a:t>
            </a:r>
            <a:r>
              <a:rPr sz="2400" spc="-90" dirty="0">
                <a:latin typeface="Courier New"/>
                <a:cs typeface="Courier New"/>
              </a:rPr>
              <a:t>on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the 	</a:t>
            </a:r>
            <a:r>
              <a:rPr sz="2400" spc="-10" dirty="0">
                <a:latin typeface="Courier New"/>
                <a:cs typeface="Courier New"/>
              </a:rPr>
              <a:t>needs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ts val="2595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ourier New"/>
                <a:cs typeface="Courier New"/>
              </a:rPr>
              <a:t>In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general,</a:t>
            </a:r>
            <a:r>
              <a:rPr sz="2400" spc="-3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465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schedule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management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plan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includes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the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following</a:t>
            </a:r>
            <a:endParaRPr sz="2400">
              <a:latin typeface="Courier New"/>
              <a:cs typeface="Courier New"/>
            </a:endParaRPr>
          </a:p>
          <a:p>
            <a:pPr marL="532130" lvl="1" indent="-344805">
              <a:lnSpc>
                <a:spcPts val="2355"/>
              </a:lnSpc>
              <a:buFont typeface="Wingdings"/>
              <a:buChar char=""/>
              <a:tabLst>
                <a:tab pos="532130" algn="l"/>
              </a:tabLst>
            </a:pP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schedule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model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91158" y="4537075"/>
            <a:ext cx="203708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10" dirty="0">
                <a:latin typeface="Courier New"/>
                <a:cs typeface="Courier New"/>
              </a:rPr>
              <a:t>development.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6480" y="5168265"/>
            <a:ext cx="497459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56870" algn="l"/>
              </a:tabLst>
            </a:pPr>
            <a:r>
              <a:rPr sz="2200" spc="-10" dirty="0">
                <a:latin typeface="Courier New"/>
                <a:cs typeface="Courier New"/>
              </a:rPr>
              <a:t>Level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accuracy</a:t>
            </a:r>
            <a:r>
              <a:rPr sz="2200" spc="-6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units</a:t>
            </a:r>
            <a:r>
              <a:rPr sz="2200" spc="-68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of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91158" y="5671515"/>
            <a:ext cx="136652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10" dirty="0">
                <a:latin typeface="Courier New"/>
                <a:cs typeface="Courier New"/>
              </a:rPr>
              <a:t>measure.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6480" y="6302755"/>
            <a:ext cx="347345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56870" algn="l"/>
              </a:tabLst>
            </a:pPr>
            <a:r>
              <a:rPr sz="2200" spc="-10" dirty="0">
                <a:latin typeface="Courier New"/>
                <a:cs typeface="Courier New"/>
              </a:rPr>
              <a:t>Control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thresholds.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80707" y="4497991"/>
            <a:ext cx="3808729" cy="229171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420"/>
              </a:spcBef>
              <a:buFont typeface="Wingdings"/>
              <a:buChar char=""/>
              <a:tabLst>
                <a:tab pos="356870" algn="l"/>
              </a:tabLst>
            </a:pPr>
            <a:r>
              <a:rPr sz="2200" spc="-10" dirty="0">
                <a:latin typeface="Courier New"/>
                <a:cs typeface="Courier New"/>
              </a:rPr>
              <a:t>Rules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performance</a:t>
            </a:r>
            <a:endParaRPr sz="2200">
              <a:latin typeface="Courier New"/>
              <a:cs typeface="Courier New"/>
            </a:endParaRPr>
          </a:p>
          <a:p>
            <a:pPr marL="356870">
              <a:lnSpc>
                <a:spcPct val="100000"/>
              </a:lnSpc>
              <a:spcBef>
                <a:spcPts val="1325"/>
              </a:spcBef>
            </a:pPr>
            <a:r>
              <a:rPr sz="2200" spc="-10" dirty="0">
                <a:latin typeface="Courier New"/>
                <a:cs typeface="Courier New"/>
              </a:rPr>
              <a:t>measurement.</a:t>
            </a:r>
            <a:endParaRPr sz="2200">
              <a:latin typeface="Courier New"/>
              <a:cs typeface="Courier New"/>
            </a:endParaRPr>
          </a:p>
          <a:p>
            <a:pPr marL="356870" indent="-344170">
              <a:lnSpc>
                <a:spcPct val="100000"/>
              </a:lnSpc>
              <a:spcBef>
                <a:spcPts val="2330"/>
              </a:spcBef>
              <a:buFont typeface="Wingdings"/>
              <a:buChar char=""/>
              <a:tabLst>
                <a:tab pos="356870" algn="l"/>
              </a:tabLst>
            </a:pPr>
            <a:r>
              <a:rPr sz="2200" spc="-10" dirty="0">
                <a:latin typeface="Courier New"/>
                <a:cs typeface="Courier New"/>
              </a:rPr>
              <a:t>Reporting</a:t>
            </a:r>
            <a:r>
              <a:rPr sz="2200" spc="-60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formats.</a:t>
            </a:r>
            <a:endParaRPr sz="2200">
              <a:latin typeface="Courier New"/>
              <a:cs typeface="Courier New"/>
            </a:endParaRPr>
          </a:p>
          <a:p>
            <a:pPr marL="356870" indent="-344170">
              <a:lnSpc>
                <a:spcPct val="100000"/>
              </a:lnSpc>
              <a:spcBef>
                <a:spcPts val="2305"/>
              </a:spcBef>
              <a:buFont typeface="Wingdings"/>
              <a:buChar char=""/>
              <a:tabLst>
                <a:tab pos="356870" algn="l"/>
              </a:tabLst>
            </a:pPr>
            <a:r>
              <a:rPr sz="2200" spc="-10" dirty="0">
                <a:latin typeface="Courier New"/>
                <a:cs typeface="Courier New"/>
              </a:rPr>
              <a:t>Process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descriptions.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Defining</a:t>
            </a:r>
            <a:r>
              <a:rPr spc="-1225" dirty="0"/>
              <a:t> </a:t>
            </a:r>
            <a:r>
              <a:rPr spc="-10" dirty="0"/>
              <a:t>Activities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9175"/>
            <a:ext cx="10854690" cy="39839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0029" marR="5080" indent="-227329" algn="just">
              <a:lnSpc>
                <a:spcPct val="149300"/>
              </a:lnSpc>
              <a:spcBef>
                <a:spcPts val="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An</a:t>
            </a:r>
            <a:r>
              <a:rPr sz="2400" spc="-1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activity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or</a:t>
            </a:r>
            <a:r>
              <a:rPr sz="2400" spc="-229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task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an</a:t>
            </a:r>
            <a:r>
              <a:rPr sz="2400" i="1" spc="-16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element</a:t>
            </a:r>
            <a:r>
              <a:rPr sz="2400" i="1" spc="-120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of</a:t>
            </a:r>
            <a:r>
              <a:rPr sz="2400" i="1" spc="-100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work</a:t>
            </a:r>
            <a:r>
              <a:rPr sz="2400" i="1" spc="-9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normally</a:t>
            </a:r>
            <a:r>
              <a:rPr sz="2400" i="1" spc="-120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found</a:t>
            </a:r>
            <a:r>
              <a:rPr sz="2400" i="1" spc="-95" dirty="0">
                <a:latin typeface="Courier New"/>
                <a:cs typeface="Courier New"/>
              </a:rPr>
              <a:t> </a:t>
            </a:r>
            <a:r>
              <a:rPr sz="2400" i="1" spc="-25" dirty="0">
                <a:latin typeface="Courier New"/>
                <a:cs typeface="Courier New"/>
              </a:rPr>
              <a:t>on 	</a:t>
            </a:r>
            <a:r>
              <a:rPr sz="2400" i="1" dirty="0">
                <a:latin typeface="Courier New"/>
                <a:cs typeface="Courier New"/>
              </a:rPr>
              <a:t>the</a:t>
            </a:r>
            <a:r>
              <a:rPr sz="2400" i="1" spc="520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work</a:t>
            </a:r>
            <a:r>
              <a:rPr sz="2400" i="1" spc="500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breakdown</a:t>
            </a:r>
            <a:r>
              <a:rPr sz="2400" i="1" spc="52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structure</a:t>
            </a:r>
            <a:r>
              <a:rPr sz="2400" i="1" spc="52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(WBS)</a:t>
            </a:r>
            <a:r>
              <a:rPr sz="2400" i="1" spc="520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that</a:t>
            </a:r>
            <a:r>
              <a:rPr sz="2400" i="1" spc="51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has</a:t>
            </a:r>
            <a:r>
              <a:rPr sz="2400" i="1" spc="52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an</a:t>
            </a:r>
            <a:r>
              <a:rPr sz="2400" i="1" spc="475" dirty="0">
                <a:latin typeface="Courier New"/>
                <a:cs typeface="Courier New"/>
              </a:rPr>
              <a:t> </a:t>
            </a:r>
            <a:r>
              <a:rPr sz="2400" i="1" spc="-10" dirty="0">
                <a:latin typeface="Courier New"/>
                <a:cs typeface="Courier New"/>
              </a:rPr>
              <a:t>expected 	</a:t>
            </a:r>
            <a:r>
              <a:rPr sz="2400" i="1" dirty="0">
                <a:latin typeface="Courier New"/>
                <a:cs typeface="Courier New"/>
              </a:rPr>
              <a:t>duration,</a:t>
            </a:r>
            <a:r>
              <a:rPr sz="2400" i="1" spc="-60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a</a:t>
            </a:r>
            <a:r>
              <a:rPr sz="2400" i="1" spc="-20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cost,</a:t>
            </a:r>
            <a:r>
              <a:rPr sz="2400" i="1" spc="-4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and</a:t>
            </a:r>
            <a:r>
              <a:rPr sz="2400" i="1" spc="-2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resource</a:t>
            </a:r>
            <a:r>
              <a:rPr sz="2400" i="1" spc="-45" dirty="0">
                <a:latin typeface="Courier New"/>
                <a:cs typeface="Courier New"/>
              </a:rPr>
              <a:t> </a:t>
            </a:r>
            <a:r>
              <a:rPr sz="2400" i="1" spc="-10" dirty="0">
                <a:latin typeface="Courier New"/>
                <a:cs typeface="Courier New"/>
              </a:rPr>
              <a:t>requirements.</a:t>
            </a:r>
            <a:endParaRPr sz="2400">
              <a:latin typeface="Courier New"/>
              <a:cs typeface="Courier New"/>
            </a:endParaRPr>
          </a:p>
          <a:p>
            <a:pPr marL="240029" marR="5080" indent="-227329" algn="just">
              <a:lnSpc>
                <a:spcPct val="149500"/>
              </a:lnSpc>
              <a:spcBef>
                <a:spcPts val="107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Activity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definition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involves</a:t>
            </a:r>
            <a:r>
              <a:rPr sz="2400" spc="-33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developing</a:t>
            </a:r>
            <a:r>
              <a:rPr sz="2400" i="1" spc="-6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a</a:t>
            </a:r>
            <a:r>
              <a:rPr sz="2400" i="1" spc="-6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more</a:t>
            </a:r>
            <a:r>
              <a:rPr sz="2400" i="1" spc="-6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detailed</a:t>
            </a:r>
            <a:r>
              <a:rPr sz="2400" i="1" spc="-60" dirty="0">
                <a:latin typeface="Courier New"/>
                <a:cs typeface="Courier New"/>
              </a:rPr>
              <a:t> </a:t>
            </a:r>
            <a:r>
              <a:rPr sz="2400" i="1" spc="-25" dirty="0">
                <a:latin typeface="Courier New"/>
                <a:cs typeface="Courier New"/>
              </a:rPr>
              <a:t>WBS 	</a:t>
            </a:r>
            <a:r>
              <a:rPr sz="2400" i="1" dirty="0">
                <a:latin typeface="Courier New"/>
                <a:cs typeface="Courier New"/>
              </a:rPr>
              <a:t>and</a:t>
            </a:r>
            <a:r>
              <a:rPr sz="2400" i="1" spc="150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supporting</a:t>
            </a:r>
            <a:r>
              <a:rPr sz="2400" i="1" spc="15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explanations</a:t>
            </a:r>
            <a:r>
              <a:rPr sz="2400" i="1" spc="140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to</a:t>
            </a:r>
            <a:r>
              <a:rPr sz="2400" i="1" spc="15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understand</a:t>
            </a:r>
            <a:r>
              <a:rPr sz="2400" i="1" spc="15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all</a:t>
            </a:r>
            <a:r>
              <a:rPr sz="2400" i="1" spc="15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the</a:t>
            </a:r>
            <a:r>
              <a:rPr sz="2400" i="1" spc="15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work</a:t>
            </a:r>
            <a:r>
              <a:rPr sz="2400" i="1" spc="150" dirty="0">
                <a:latin typeface="Courier New"/>
                <a:cs typeface="Courier New"/>
              </a:rPr>
              <a:t> </a:t>
            </a:r>
            <a:r>
              <a:rPr sz="2400" i="1" spc="-25" dirty="0">
                <a:latin typeface="Courier New"/>
                <a:cs typeface="Courier New"/>
              </a:rPr>
              <a:t>to 	</a:t>
            </a:r>
            <a:r>
              <a:rPr sz="2400" i="1" dirty="0">
                <a:latin typeface="Courier New"/>
                <a:cs typeface="Courier New"/>
              </a:rPr>
              <a:t>be</a:t>
            </a:r>
            <a:r>
              <a:rPr sz="2400" i="1" spc="-405" dirty="0">
                <a:latin typeface="Courier New"/>
                <a:cs typeface="Courier New"/>
              </a:rPr>
              <a:t>  </a:t>
            </a:r>
            <a:r>
              <a:rPr sz="2400" i="1" dirty="0">
                <a:latin typeface="Courier New"/>
                <a:cs typeface="Courier New"/>
              </a:rPr>
              <a:t>done</a:t>
            </a:r>
            <a:r>
              <a:rPr sz="2400" i="1" spc="-409" dirty="0">
                <a:latin typeface="Courier New"/>
                <a:cs typeface="Courier New"/>
              </a:rPr>
              <a:t>  </a:t>
            </a:r>
            <a:r>
              <a:rPr sz="2400" i="1" dirty="0">
                <a:latin typeface="Courier New"/>
                <a:cs typeface="Courier New"/>
              </a:rPr>
              <a:t>so</a:t>
            </a:r>
            <a:r>
              <a:rPr sz="2400" i="1" spc="-415" dirty="0">
                <a:latin typeface="Courier New"/>
                <a:cs typeface="Courier New"/>
              </a:rPr>
              <a:t>  </a:t>
            </a:r>
            <a:r>
              <a:rPr sz="2400" i="1" dirty="0">
                <a:latin typeface="Courier New"/>
                <a:cs typeface="Courier New"/>
              </a:rPr>
              <a:t>you</a:t>
            </a:r>
            <a:r>
              <a:rPr sz="2400" i="1" spc="-415" dirty="0">
                <a:latin typeface="Courier New"/>
                <a:cs typeface="Courier New"/>
              </a:rPr>
              <a:t>  </a:t>
            </a:r>
            <a:r>
              <a:rPr sz="2400" i="1" dirty="0">
                <a:latin typeface="Courier New"/>
                <a:cs typeface="Courier New"/>
              </a:rPr>
              <a:t>can</a:t>
            </a:r>
            <a:r>
              <a:rPr sz="2400" i="1" spc="-409" dirty="0">
                <a:latin typeface="Courier New"/>
                <a:cs typeface="Courier New"/>
              </a:rPr>
              <a:t>  </a:t>
            </a:r>
            <a:r>
              <a:rPr sz="2400" i="1" dirty="0">
                <a:latin typeface="Courier New"/>
                <a:cs typeface="Courier New"/>
              </a:rPr>
              <a:t>develop</a:t>
            </a:r>
            <a:r>
              <a:rPr sz="2400" i="1" spc="-415" dirty="0">
                <a:latin typeface="Courier New"/>
                <a:cs typeface="Courier New"/>
              </a:rPr>
              <a:t>  </a:t>
            </a:r>
            <a:r>
              <a:rPr sz="2400" i="1" dirty="0">
                <a:latin typeface="Courier New"/>
                <a:cs typeface="Courier New"/>
              </a:rPr>
              <a:t>realistic</a:t>
            </a:r>
            <a:r>
              <a:rPr sz="2400" i="1" spc="-405" dirty="0">
                <a:latin typeface="Courier New"/>
                <a:cs typeface="Courier New"/>
              </a:rPr>
              <a:t>  </a:t>
            </a:r>
            <a:r>
              <a:rPr sz="2400" i="1" dirty="0">
                <a:latin typeface="Courier New"/>
                <a:cs typeface="Courier New"/>
              </a:rPr>
              <a:t>cost</a:t>
            </a:r>
            <a:r>
              <a:rPr sz="2400" i="1" spc="-415" dirty="0">
                <a:latin typeface="Courier New"/>
                <a:cs typeface="Courier New"/>
              </a:rPr>
              <a:t>  </a:t>
            </a:r>
            <a:r>
              <a:rPr sz="2400" i="1" dirty="0">
                <a:latin typeface="Courier New"/>
                <a:cs typeface="Courier New"/>
              </a:rPr>
              <a:t>and</a:t>
            </a:r>
            <a:r>
              <a:rPr sz="2400" i="1" spc="-420" dirty="0">
                <a:latin typeface="Courier New"/>
                <a:cs typeface="Courier New"/>
              </a:rPr>
              <a:t>  </a:t>
            </a:r>
            <a:r>
              <a:rPr sz="2400" i="1" spc="-10" dirty="0">
                <a:latin typeface="Courier New"/>
                <a:cs typeface="Courier New"/>
              </a:rPr>
              <a:t>duration 	estimates.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Defining</a:t>
            </a:r>
            <a:r>
              <a:rPr spc="-1225" dirty="0"/>
              <a:t> </a:t>
            </a:r>
            <a:r>
              <a:rPr spc="-10" dirty="0"/>
              <a:t>Activities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27330" y="1799538"/>
            <a:ext cx="11835765" cy="4666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9825" marR="34925" indent="-228600" algn="just">
              <a:lnSpc>
                <a:spcPct val="140100"/>
              </a:lnSpc>
              <a:spcBef>
                <a:spcPts val="95"/>
              </a:spcBef>
              <a:buFont typeface="Arial MT"/>
              <a:buChar char="•"/>
              <a:tabLst>
                <a:tab pos="1139825" algn="l"/>
              </a:tabLst>
            </a:pPr>
            <a:r>
              <a:rPr sz="2200" b="1" spc="-5" dirty="0">
                <a:latin typeface="Courier New"/>
                <a:cs typeface="Courier New"/>
              </a:rPr>
              <a:t>Th</a:t>
            </a:r>
            <a:r>
              <a:rPr sz="2200" b="1" dirty="0">
                <a:latin typeface="Courier New"/>
                <a:cs typeface="Courier New"/>
              </a:rPr>
              <a:t>e</a:t>
            </a:r>
            <a:r>
              <a:rPr sz="2200" b="1" spc="-10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Ac</a:t>
            </a:r>
            <a:r>
              <a:rPr sz="2200" b="1" spc="15" dirty="0">
                <a:latin typeface="Courier New"/>
                <a:cs typeface="Courier New"/>
              </a:rPr>
              <a:t>t</a:t>
            </a:r>
            <a:r>
              <a:rPr sz="2200" b="1" spc="-5" dirty="0">
                <a:latin typeface="Courier New"/>
                <a:cs typeface="Courier New"/>
              </a:rPr>
              <a:t>iv</a:t>
            </a:r>
            <a:r>
              <a:rPr sz="2200" b="1" spc="-10" dirty="0">
                <a:latin typeface="Courier New"/>
                <a:cs typeface="Courier New"/>
              </a:rPr>
              <a:t>i</a:t>
            </a:r>
            <a:r>
              <a:rPr sz="2200" b="1" spc="15" dirty="0">
                <a:latin typeface="Courier New"/>
                <a:cs typeface="Courier New"/>
              </a:rPr>
              <a:t>t</a:t>
            </a:r>
            <a:r>
              <a:rPr sz="2200" b="1" dirty="0">
                <a:latin typeface="Courier New"/>
                <a:cs typeface="Courier New"/>
              </a:rPr>
              <a:t>y</a:t>
            </a:r>
            <a:r>
              <a:rPr sz="2200" b="1" spc="-15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L</a:t>
            </a:r>
            <a:r>
              <a:rPr sz="2200" b="1" spc="-10" dirty="0">
                <a:latin typeface="Courier New"/>
                <a:cs typeface="Courier New"/>
              </a:rPr>
              <a:t>i</a:t>
            </a:r>
            <a:r>
              <a:rPr sz="2200" b="1" spc="15" dirty="0">
                <a:latin typeface="Courier New"/>
                <a:cs typeface="Courier New"/>
              </a:rPr>
              <a:t>s</a:t>
            </a:r>
            <a:r>
              <a:rPr sz="2200" b="1" dirty="0">
                <a:latin typeface="Courier New"/>
                <a:cs typeface="Courier New"/>
              </a:rPr>
              <a:t>t</a:t>
            </a:r>
            <a:r>
              <a:rPr sz="2200" b="1" spc="15" dirty="0">
                <a:latin typeface="Courier New"/>
                <a:cs typeface="Courier New"/>
              </a:rPr>
              <a:t> </a:t>
            </a:r>
            <a:r>
              <a:rPr sz="2200" spc="-5" dirty="0">
                <a:latin typeface="Courier New"/>
                <a:cs typeface="Courier New"/>
              </a:rPr>
              <a:t>i</a:t>
            </a: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-3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535" dirty="0">
                <a:latin typeface="Courier New"/>
                <a:cs typeface="Courier New"/>
              </a:rPr>
              <a:t> </a:t>
            </a:r>
            <a:r>
              <a:rPr sz="2200" spc="-130" dirty="0">
                <a:latin typeface="Courier New"/>
                <a:cs typeface="Courier New"/>
              </a:rPr>
              <a:t>t</a:t>
            </a:r>
            <a:r>
              <a:rPr sz="2200" spc="-55" dirty="0">
                <a:latin typeface="Courier New"/>
                <a:cs typeface="Courier New"/>
              </a:rPr>
              <a:t>a</a:t>
            </a:r>
            <a:r>
              <a:rPr sz="2200" spc="-30" dirty="0">
                <a:latin typeface="Courier New"/>
                <a:cs typeface="Courier New"/>
              </a:rPr>
              <a:t>b</a:t>
            </a:r>
            <a:r>
              <a:rPr sz="2200" spc="-5" dirty="0">
                <a:latin typeface="Courier New"/>
                <a:cs typeface="Courier New"/>
              </a:rPr>
              <a:t>u</a:t>
            </a:r>
            <a:r>
              <a:rPr sz="2200" spc="-10" dirty="0">
                <a:latin typeface="Courier New"/>
                <a:cs typeface="Courier New"/>
              </a:rPr>
              <a:t>l</a:t>
            </a:r>
            <a:r>
              <a:rPr sz="2200" spc="-5" dirty="0">
                <a:latin typeface="Courier New"/>
                <a:cs typeface="Courier New"/>
              </a:rPr>
              <a:t>a</a:t>
            </a:r>
            <a:r>
              <a:rPr sz="2200" spc="-10" dirty="0">
                <a:latin typeface="Courier New"/>
                <a:cs typeface="Courier New"/>
              </a:rPr>
              <a:t>t</a:t>
            </a:r>
            <a:r>
              <a:rPr sz="2200" spc="-5" dirty="0">
                <a:latin typeface="Courier New"/>
                <a:cs typeface="Courier New"/>
              </a:rPr>
              <a:t>i</a:t>
            </a:r>
            <a:r>
              <a:rPr sz="2200" spc="-10" dirty="0">
                <a:latin typeface="Courier New"/>
                <a:cs typeface="Courier New"/>
              </a:rPr>
              <a:t>o</a:t>
            </a:r>
            <a:r>
              <a:rPr sz="2200" dirty="0">
                <a:latin typeface="Courier New"/>
                <a:cs typeface="Courier New"/>
              </a:rPr>
              <a:t>n</a:t>
            </a:r>
            <a:r>
              <a:rPr sz="2200" spc="-415" dirty="0">
                <a:latin typeface="Courier New"/>
                <a:cs typeface="Courier New"/>
              </a:rPr>
              <a:t> </a:t>
            </a:r>
            <a:r>
              <a:rPr sz="2200" spc="-100" dirty="0">
                <a:latin typeface="Courier New"/>
                <a:cs typeface="Courier New"/>
              </a:rPr>
              <a:t>o</a:t>
            </a:r>
            <a:r>
              <a:rPr sz="2200" dirty="0">
                <a:latin typeface="Courier New"/>
                <a:cs typeface="Courier New"/>
              </a:rPr>
              <a:t>f</a:t>
            </a:r>
            <a:r>
              <a:rPr sz="2200" spc="-465" dirty="0">
                <a:latin typeface="Courier New"/>
                <a:cs typeface="Courier New"/>
              </a:rPr>
              <a:t> </a:t>
            </a:r>
            <a:r>
              <a:rPr sz="2200" spc="-225" dirty="0">
                <a:latin typeface="Courier New"/>
                <a:cs typeface="Courier New"/>
              </a:rPr>
              <a:t>a</a:t>
            </a:r>
            <a:r>
              <a:rPr sz="2200" spc="-5" dirty="0">
                <a:latin typeface="Courier New"/>
                <a:cs typeface="Courier New"/>
              </a:rPr>
              <a:t>c</a:t>
            </a:r>
            <a:r>
              <a:rPr sz="2200" spc="-10" dirty="0">
                <a:latin typeface="Courier New"/>
                <a:cs typeface="Courier New"/>
              </a:rPr>
              <a:t>t</a:t>
            </a:r>
            <a:r>
              <a:rPr sz="2200" spc="-5" dirty="0">
                <a:latin typeface="Courier New"/>
                <a:cs typeface="Courier New"/>
              </a:rPr>
              <a:t>i</a:t>
            </a:r>
            <a:r>
              <a:rPr sz="2200" spc="-10" dirty="0">
                <a:latin typeface="Courier New"/>
                <a:cs typeface="Courier New"/>
              </a:rPr>
              <a:t>v</a:t>
            </a:r>
            <a:r>
              <a:rPr sz="2200" spc="-5" dirty="0">
                <a:latin typeface="Courier New"/>
                <a:cs typeface="Courier New"/>
              </a:rPr>
              <a:t>i</a:t>
            </a:r>
            <a:r>
              <a:rPr sz="2200" spc="-10" dirty="0">
                <a:latin typeface="Courier New"/>
                <a:cs typeface="Courier New"/>
              </a:rPr>
              <a:t>t</a:t>
            </a:r>
            <a:r>
              <a:rPr sz="2200" spc="15" dirty="0">
                <a:latin typeface="Courier New"/>
                <a:cs typeface="Courier New"/>
              </a:rPr>
              <a:t>i</a:t>
            </a:r>
            <a:r>
              <a:rPr sz="2200" spc="-5" dirty="0">
                <a:latin typeface="Courier New"/>
                <a:cs typeface="Courier New"/>
              </a:rPr>
              <a:t>e</a:t>
            </a: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-39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t</a:t>
            </a:r>
            <a:r>
              <a:rPr sz="2200" dirty="0">
                <a:latin typeface="Courier New"/>
                <a:cs typeface="Courier New"/>
              </a:rPr>
              <a:t>o</a:t>
            </a:r>
            <a:r>
              <a:rPr sz="2200" spc="-484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b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-484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i</a:t>
            </a:r>
            <a:r>
              <a:rPr sz="2200" spc="-55" dirty="0">
                <a:latin typeface="Courier New"/>
                <a:cs typeface="Courier New"/>
              </a:rPr>
              <a:t>nc</a:t>
            </a:r>
            <a:r>
              <a:rPr sz="2200" spc="15" dirty="0">
                <a:latin typeface="Courier New"/>
                <a:cs typeface="Courier New"/>
              </a:rPr>
              <a:t>lude</a:t>
            </a:r>
            <a:r>
              <a:rPr sz="2200" dirty="0">
                <a:latin typeface="Courier New"/>
                <a:cs typeface="Courier New"/>
              </a:rPr>
              <a:t>d</a:t>
            </a:r>
            <a:r>
              <a:rPr sz="2200" spc="-335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o</a:t>
            </a:r>
            <a:r>
              <a:rPr sz="2200" dirty="0">
                <a:latin typeface="Courier New"/>
                <a:cs typeface="Courier New"/>
              </a:rPr>
              <a:t>n</a:t>
            </a:r>
            <a:r>
              <a:rPr sz="2200" spc="-4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 </a:t>
            </a:r>
            <a:r>
              <a:rPr sz="2200" spc="-5" dirty="0">
                <a:latin typeface="Courier New"/>
                <a:cs typeface="Courier New"/>
              </a:rPr>
              <a:t>projec</a:t>
            </a:r>
            <a:r>
              <a:rPr sz="2200" dirty="0">
                <a:latin typeface="Courier New"/>
                <a:cs typeface="Courier New"/>
              </a:rPr>
              <a:t>t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5" dirty="0">
                <a:latin typeface="Courier New"/>
                <a:cs typeface="Courier New"/>
              </a:rPr>
              <a:t>schedule</a:t>
            </a:r>
            <a:r>
              <a:rPr sz="2200" dirty="0">
                <a:latin typeface="Courier New"/>
                <a:cs typeface="Courier New"/>
              </a:rPr>
              <a:t>.</a:t>
            </a:r>
          </a:p>
          <a:p>
            <a:pPr marL="1139190" indent="-227965" algn="just">
              <a:lnSpc>
                <a:spcPct val="100000"/>
              </a:lnSpc>
              <a:spcBef>
                <a:spcPts val="2045"/>
              </a:spcBef>
              <a:buFont typeface="Arial MT"/>
              <a:buChar char="•"/>
              <a:tabLst>
                <a:tab pos="1139190" algn="l"/>
              </a:tabLst>
            </a:pP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44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list</a:t>
            </a:r>
            <a:r>
              <a:rPr sz="2200" spc="-495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should</a:t>
            </a:r>
            <a:r>
              <a:rPr sz="2200" spc="-459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include</a:t>
            </a:r>
            <a:r>
              <a:rPr sz="2200" spc="-434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the</a:t>
            </a:r>
            <a:r>
              <a:rPr sz="2200" spc="-515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activity</a:t>
            </a:r>
            <a:r>
              <a:rPr sz="2200" spc="-480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name,</a:t>
            </a:r>
            <a:r>
              <a:rPr sz="2200" spc="-445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an</a:t>
            </a:r>
            <a:r>
              <a:rPr sz="2200" spc="-509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activity</a:t>
            </a:r>
            <a:r>
              <a:rPr sz="2200" spc="-459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identifier</a:t>
            </a:r>
            <a:r>
              <a:rPr sz="2200" spc="-38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or</a:t>
            </a:r>
            <a:endParaRPr sz="2200" dirty="0">
              <a:latin typeface="Courier New"/>
              <a:cs typeface="Courier New"/>
            </a:endParaRPr>
          </a:p>
          <a:p>
            <a:pPr marL="1139825" algn="just">
              <a:lnSpc>
                <a:spcPct val="100000"/>
              </a:lnSpc>
              <a:spcBef>
                <a:spcPts val="1055"/>
              </a:spcBef>
            </a:pPr>
            <a:r>
              <a:rPr sz="2200" spc="-10" dirty="0">
                <a:latin typeface="Courier New"/>
                <a:cs typeface="Courier New"/>
              </a:rPr>
              <a:t>number,</a:t>
            </a:r>
            <a:r>
              <a:rPr sz="2200" spc="-66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brief</a:t>
            </a:r>
            <a:r>
              <a:rPr sz="2200" spc="-70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description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activity.</a:t>
            </a:r>
            <a:endParaRPr sz="2200" dirty="0">
              <a:latin typeface="Courier New"/>
              <a:cs typeface="Courier New"/>
            </a:endParaRPr>
          </a:p>
          <a:p>
            <a:pPr marL="1139825" marR="46990" indent="-228600" algn="just">
              <a:lnSpc>
                <a:spcPct val="140100"/>
              </a:lnSpc>
              <a:spcBef>
                <a:spcPts val="1010"/>
              </a:spcBef>
              <a:buFont typeface="Arial MT"/>
              <a:buChar char="•"/>
              <a:tabLst>
                <a:tab pos="1139825" algn="l"/>
              </a:tabLst>
            </a:pPr>
            <a:r>
              <a:rPr sz="2200" b="1" dirty="0">
                <a:latin typeface="Courier New"/>
                <a:cs typeface="Courier New"/>
              </a:rPr>
              <a:t>The</a:t>
            </a:r>
            <a:r>
              <a:rPr sz="2200" b="1" spc="-245" dirty="0">
                <a:latin typeface="Courier New"/>
                <a:cs typeface="Courier New"/>
              </a:rPr>
              <a:t>  </a:t>
            </a:r>
            <a:r>
              <a:rPr sz="2200" b="1" dirty="0">
                <a:latin typeface="Courier New"/>
                <a:cs typeface="Courier New"/>
              </a:rPr>
              <a:t>Activity</a:t>
            </a:r>
            <a:r>
              <a:rPr sz="2200" b="1" spc="-235" dirty="0">
                <a:latin typeface="Courier New"/>
                <a:cs typeface="Courier New"/>
              </a:rPr>
              <a:t>  </a:t>
            </a:r>
            <a:r>
              <a:rPr sz="2200" b="1" dirty="0">
                <a:latin typeface="Courier New"/>
                <a:cs typeface="Courier New"/>
              </a:rPr>
              <a:t>Attributes</a:t>
            </a:r>
            <a:r>
              <a:rPr sz="2200" b="1" spc="-23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provide</a:t>
            </a:r>
            <a:r>
              <a:rPr sz="2200" spc="-250" dirty="0">
                <a:latin typeface="Courier New"/>
                <a:cs typeface="Courier New"/>
              </a:rPr>
              <a:t>  </a:t>
            </a:r>
            <a:r>
              <a:rPr sz="2200" spc="-25" dirty="0">
                <a:latin typeface="Courier New"/>
                <a:cs typeface="Courier New"/>
              </a:rPr>
              <a:t>schedule-</a:t>
            </a:r>
            <a:r>
              <a:rPr sz="2200" dirty="0">
                <a:latin typeface="Courier New"/>
                <a:cs typeface="Courier New"/>
              </a:rPr>
              <a:t>related</a:t>
            </a:r>
            <a:r>
              <a:rPr sz="2200" spc="-215" dirty="0">
                <a:latin typeface="Courier New"/>
                <a:cs typeface="Courier New"/>
              </a:rPr>
              <a:t>  </a:t>
            </a:r>
            <a:r>
              <a:rPr sz="2200" spc="-10" dirty="0">
                <a:latin typeface="Courier New"/>
                <a:cs typeface="Courier New"/>
              </a:rPr>
              <a:t>information </a:t>
            </a:r>
            <a:r>
              <a:rPr sz="2200" dirty="0">
                <a:latin typeface="Courier New"/>
                <a:cs typeface="Courier New"/>
              </a:rPr>
              <a:t>about</a:t>
            </a:r>
            <a:r>
              <a:rPr sz="2200" spc="2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each</a:t>
            </a:r>
            <a:r>
              <a:rPr sz="2200" spc="2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activity,</a:t>
            </a:r>
            <a:r>
              <a:rPr sz="2200" spc="2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such</a:t>
            </a:r>
            <a:r>
              <a:rPr sz="2200" spc="2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as</a:t>
            </a:r>
            <a:r>
              <a:rPr sz="2200" spc="1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predecessors,</a:t>
            </a:r>
            <a:r>
              <a:rPr sz="2200" spc="2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successors,</a:t>
            </a:r>
            <a:r>
              <a:rPr sz="2200" spc="45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logical </a:t>
            </a:r>
            <a:r>
              <a:rPr sz="2200" spc="-20" dirty="0">
                <a:latin typeface="Courier New"/>
                <a:cs typeface="Courier New"/>
              </a:rPr>
              <a:t>relationships,</a:t>
            </a:r>
            <a:r>
              <a:rPr sz="2200" spc="-325" dirty="0">
                <a:latin typeface="Courier New"/>
                <a:cs typeface="Courier New"/>
              </a:rPr>
              <a:t> </a:t>
            </a:r>
            <a:r>
              <a:rPr sz="2200" spc="-90" dirty="0">
                <a:latin typeface="Courier New"/>
                <a:cs typeface="Courier New"/>
              </a:rPr>
              <a:t>leads</a:t>
            </a:r>
            <a:r>
              <a:rPr sz="2200" spc="-240" dirty="0">
                <a:latin typeface="Courier New"/>
                <a:cs typeface="Courier New"/>
              </a:rPr>
              <a:t> </a:t>
            </a:r>
            <a:r>
              <a:rPr sz="2200" spc="-165" dirty="0">
                <a:latin typeface="Courier New"/>
                <a:cs typeface="Courier New"/>
              </a:rPr>
              <a:t>and </a:t>
            </a:r>
            <a:r>
              <a:rPr sz="2200" spc="-90" dirty="0">
                <a:latin typeface="Courier New"/>
                <a:cs typeface="Courier New"/>
              </a:rPr>
              <a:t>lags,</a:t>
            </a:r>
            <a:r>
              <a:rPr sz="2200" spc="-240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resource</a:t>
            </a:r>
            <a:r>
              <a:rPr sz="2200" spc="-18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requirements,</a:t>
            </a:r>
            <a:r>
              <a:rPr sz="2200" spc="-1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constraints, imposed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dates,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assumptions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related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activity.</a:t>
            </a:r>
            <a:endParaRPr sz="2200" dirty="0">
              <a:latin typeface="Courier New"/>
              <a:cs typeface="Courier New"/>
            </a:endParaRPr>
          </a:p>
          <a:p>
            <a:pPr marL="1139190" indent="-227965" algn="just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1139190" algn="l"/>
              </a:tabLst>
            </a:pP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32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activity</a:t>
            </a:r>
            <a:r>
              <a:rPr sz="2200" spc="-325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list</a:t>
            </a:r>
            <a:r>
              <a:rPr sz="2200" spc="-330" dirty="0">
                <a:latin typeface="Courier New"/>
                <a:cs typeface="Courier New"/>
              </a:rPr>
              <a:t> </a:t>
            </a:r>
            <a:r>
              <a:rPr sz="2200" spc="-75" dirty="0">
                <a:latin typeface="Courier New"/>
                <a:cs typeface="Courier New"/>
              </a:rPr>
              <a:t>and</a:t>
            </a:r>
            <a:r>
              <a:rPr sz="2200" spc="-315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activity</a:t>
            </a:r>
            <a:r>
              <a:rPr sz="2200" spc="-300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attributes</a:t>
            </a:r>
            <a:r>
              <a:rPr sz="2200" spc="-30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should</a:t>
            </a:r>
            <a:r>
              <a:rPr sz="2200" spc="-300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agree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with</a:t>
            </a:r>
            <a:r>
              <a:rPr sz="2200" spc="-254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the</a:t>
            </a:r>
            <a:r>
              <a:rPr sz="2200" spc="-305" dirty="0">
                <a:latin typeface="Courier New"/>
                <a:cs typeface="Courier New"/>
              </a:rPr>
              <a:t> </a:t>
            </a:r>
            <a:r>
              <a:rPr sz="2200" spc="-25" dirty="0" smtClean="0">
                <a:latin typeface="Courier New"/>
                <a:cs typeface="Courier New"/>
              </a:rPr>
              <a:t>WBS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Defining</a:t>
            </a:r>
            <a:r>
              <a:rPr spc="-1225" dirty="0"/>
              <a:t> </a:t>
            </a:r>
            <a:r>
              <a:rPr spc="-10" dirty="0"/>
              <a:t>Activities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27330" y="1792224"/>
            <a:ext cx="11834495" cy="4539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8555" marR="85725" indent="-227329" algn="just">
              <a:lnSpc>
                <a:spcPct val="140100"/>
              </a:lnSpc>
              <a:spcBef>
                <a:spcPts val="100"/>
              </a:spcBef>
              <a:buFont typeface="Arial MT"/>
              <a:buChar char="•"/>
              <a:tabLst>
                <a:tab pos="1139825" algn="l"/>
              </a:tabLst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24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milestone</a:t>
            </a:r>
            <a:r>
              <a:rPr sz="2400" spc="-24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on</a:t>
            </a:r>
            <a:r>
              <a:rPr sz="2400" spc="-39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23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245" dirty="0">
                <a:latin typeface="Courier New"/>
                <a:cs typeface="Courier New"/>
              </a:rPr>
              <a:t>  </a:t>
            </a:r>
            <a:r>
              <a:rPr sz="2400" i="1" dirty="0">
                <a:latin typeface="Courier New"/>
                <a:cs typeface="Courier New"/>
              </a:rPr>
              <a:t>is</a:t>
            </a:r>
            <a:r>
              <a:rPr sz="2400" i="1" spc="-250" dirty="0">
                <a:latin typeface="Courier New"/>
                <a:cs typeface="Courier New"/>
              </a:rPr>
              <a:t>  </a:t>
            </a:r>
            <a:r>
              <a:rPr sz="2400" i="1" dirty="0">
                <a:latin typeface="Courier New"/>
                <a:cs typeface="Courier New"/>
              </a:rPr>
              <a:t>a</a:t>
            </a:r>
            <a:r>
              <a:rPr sz="2400" i="1" spc="-235" dirty="0">
                <a:latin typeface="Courier New"/>
                <a:cs typeface="Courier New"/>
              </a:rPr>
              <a:t>  </a:t>
            </a:r>
            <a:r>
              <a:rPr sz="2400" i="1" dirty="0">
                <a:latin typeface="Courier New"/>
                <a:cs typeface="Courier New"/>
              </a:rPr>
              <a:t>significant</a:t>
            </a:r>
            <a:r>
              <a:rPr sz="2400" i="1" spc="-210" dirty="0">
                <a:latin typeface="Courier New"/>
                <a:cs typeface="Courier New"/>
              </a:rPr>
              <a:t>  </a:t>
            </a:r>
            <a:r>
              <a:rPr sz="2400" i="1" dirty="0">
                <a:latin typeface="Courier New"/>
                <a:cs typeface="Courier New"/>
              </a:rPr>
              <a:t>event</a:t>
            </a:r>
            <a:r>
              <a:rPr sz="2400" i="1" spc="-210" dirty="0">
                <a:latin typeface="Courier New"/>
                <a:cs typeface="Courier New"/>
              </a:rPr>
              <a:t>  </a:t>
            </a:r>
            <a:r>
              <a:rPr sz="2400" i="1" spc="-20" dirty="0">
                <a:latin typeface="Courier New"/>
                <a:cs typeface="Courier New"/>
              </a:rPr>
              <a:t>that 	</a:t>
            </a:r>
            <a:r>
              <a:rPr sz="2400" i="1" dirty="0">
                <a:latin typeface="Courier New"/>
                <a:cs typeface="Courier New"/>
              </a:rPr>
              <a:t>normally</a:t>
            </a:r>
            <a:r>
              <a:rPr sz="2400" i="1" spc="-5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has</a:t>
            </a:r>
            <a:r>
              <a:rPr sz="2400" i="1" spc="-1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no</a:t>
            </a:r>
            <a:r>
              <a:rPr sz="2400" i="1" spc="-40" dirty="0">
                <a:latin typeface="Courier New"/>
                <a:cs typeface="Courier New"/>
              </a:rPr>
              <a:t> </a:t>
            </a:r>
            <a:r>
              <a:rPr sz="2400" i="1" spc="-10" dirty="0">
                <a:latin typeface="Courier New"/>
                <a:cs typeface="Courier New"/>
              </a:rPr>
              <a:t>duration</a:t>
            </a:r>
            <a:r>
              <a:rPr sz="2400" spc="-10" dirty="0">
                <a:latin typeface="Courier New"/>
                <a:cs typeface="Courier New"/>
              </a:rPr>
              <a:t>.</a:t>
            </a:r>
            <a:endParaRPr sz="2400" dirty="0">
              <a:latin typeface="Courier New"/>
              <a:cs typeface="Courier New"/>
            </a:endParaRPr>
          </a:p>
          <a:p>
            <a:pPr marL="1138555" marR="43180" indent="-227329" algn="just">
              <a:lnSpc>
                <a:spcPct val="140000"/>
              </a:lnSpc>
              <a:spcBef>
                <a:spcPts val="1010"/>
              </a:spcBef>
              <a:buFont typeface="Arial MT"/>
              <a:buChar char="•"/>
              <a:tabLst>
                <a:tab pos="1139825" algn="l"/>
              </a:tabLst>
            </a:pPr>
            <a:r>
              <a:rPr sz="2400" spc="-5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459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o</a:t>
            </a:r>
            <a:r>
              <a:rPr sz="2400" spc="-50" dirty="0">
                <a:latin typeface="Courier New"/>
                <a:cs typeface="Courier New"/>
              </a:rPr>
              <a:t>f</a:t>
            </a:r>
            <a:r>
              <a:rPr sz="2400" spc="-25" dirty="0">
                <a:latin typeface="Courier New"/>
                <a:cs typeface="Courier New"/>
              </a:rPr>
              <a:t>te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45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spc="-50" dirty="0">
                <a:latin typeface="Courier New"/>
                <a:cs typeface="Courier New"/>
              </a:rPr>
              <a:t>a</a:t>
            </a:r>
            <a:r>
              <a:rPr sz="2400" spc="-25" dirty="0">
                <a:latin typeface="Courier New"/>
                <a:cs typeface="Courier New"/>
              </a:rPr>
              <a:t>ke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48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s</a:t>
            </a:r>
            <a:r>
              <a:rPr sz="2400" spc="-50" dirty="0">
                <a:latin typeface="Courier New"/>
                <a:cs typeface="Courier New"/>
              </a:rPr>
              <a:t>e</a:t>
            </a:r>
            <a:r>
              <a:rPr sz="2400" spc="-75" dirty="0">
                <a:latin typeface="Courier New"/>
                <a:cs typeface="Courier New"/>
              </a:rPr>
              <a:t>v</a:t>
            </a:r>
            <a:r>
              <a:rPr sz="2400" spc="-5" dirty="0">
                <a:latin typeface="Courier New"/>
                <a:cs typeface="Courier New"/>
              </a:rPr>
              <a:t>era</a:t>
            </a:r>
            <a:r>
              <a:rPr sz="2400" dirty="0">
                <a:latin typeface="Courier New"/>
                <a:cs typeface="Courier New"/>
              </a:rPr>
              <a:t>l</a:t>
            </a:r>
            <a:r>
              <a:rPr sz="2400" spc="-45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a</a:t>
            </a:r>
            <a:r>
              <a:rPr sz="2400" spc="-50" dirty="0">
                <a:latin typeface="Courier New"/>
                <a:cs typeface="Courier New"/>
              </a:rPr>
              <a:t>c</a:t>
            </a:r>
            <a:r>
              <a:rPr sz="2400" spc="-25" dirty="0">
                <a:latin typeface="Courier New"/>
                <a:cs typeface="Courier New"/>
              </a:rPr>
              <a:t>ti</a:t>
            </a:r>
            <a:r>
              <a:rPr sz="2400" spc="-5" dirty="0">
                <a:latin typeface="Courier New"/>
                <a:cs typeface="Courier New"/>
              </a:rPr>
              <a:t>viti</a:t>
            </a:r>
            <a:r>
              <a:rPr sz="2400" spc="-25" dirty="0">
                <a:latin typeface="Courier New"/>
                <a:cs typeface="Courier New"/>
              </a:rPr>
              <a:t>e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455" dirty="0">
                <a:latin typeface="Courier New"/>
                <a:cs typeface="Courier New"/>
              </a:rPr>
              <a:t> </a:t>
            </a:r>
            <a:r>
              <a:rPr sz="2400" spc="-220" dirty="0">
                <a:latin typeface="Courier New"/>
                <a:cs typeface="Courier New"/>
              </a:rPr>
              <a:t>a</a:t>
            </a:r>
            <a:r>
              <a:rPr sz="2400" spc="-5" dirty="0">
                <a:latin typeface="Courier New"/>
                <a:cs typeface="Courier New"/>
              </a:rPr>
              <a:t>n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459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605" dirty="0">
                <a:latin typeface="Courier New"/>
                <a:cs typeface="Courier New"/>
              </a:rPr>
              <a:t> </a:t>
            </a:r>
            <a:r>
              <a:rPr sz="2400" spc="-120" dirty="0">
                <a:latin typeface="Courier New"/>
                <a:cs typeface="Courier New"/>
              </a:rPr>
              <a:t>l</a:t>
            </a:r>
            <a:r>
              <a:rPr sz="2400" spc="-70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509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f</a:t>
            </a:r>
            <a:r>
              <a:rPr sz="2400" spc="-530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w</a:t>
            </a:r>
            <a:r>
              <a:rPr sz="2400" spc="-50" dirty="0">
                <a:latin typeface="Courier New"/>
                <a:cs typeface="Courier New"/>
              </a:rPr>
              <a:t>o</a:t>
            </a:r>
            <a:r>
              <a:rPr sz="2400" spc="-5" dirty="0">
                <a:latin typeface="Courier New"/>
                <a:cs typeface="Courier New"/>
              </a:rPr>
              <a:t>r</a:t>
            </a:r>
            <a:r>
              <a:rPr sz="2400" dirty="0">
                <a:latin typeface="Courier New"/>
                <a:cs typeface="Courier New"/>
              </a:rPr>
              <a:t>k</a:t>
            </a:r>
            <a:r>
              <a:rPr sz="2400" spc="-434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t</a:t>
            </a:r>
            <a:r>
              <a:rPr sz="2400" dirty="0">
                <a:latin typeface="Courier New"/>
                <a:cs typeface="Courier New"/>
              </a:rPr>
              <a:t>o</a:t>
            </a:r>
            <a:r>
              <a:rPr sz="2400" spc="-340" dirty="0">
                <a:latin typeface="Courier New"/>
                <a:cs typeface="Courier New"/>
              </a:rPr>
              <a:t> </a:t>
            </a:r>
            <a:r>
              <a:rPr sz="2400" spc="-170" dirty="0">
                <a:latin typeface="Courier New"/>
                <a:cs typeface="Courier New"/>
              </a:rPr>
              <a:t>c</a:t>
            </a:r>
            <a:r>
              <a:rPr sz="2400" spc="-75" dirty="0">
                <a:latin typeface="Courier New"/>
                <a:cs typeface="Courier New"/>
              </a:rPr>
              <a:t>o</a:t>
            </a:r>
            <a:r>
              <a:rPr sz="2400" spc="-25" dirty="0">
                <a:latin typeface="Courier New"/>
                <a:cs typeface="Courier New"/>
              </a:rPr>
              <a:t>m</a:t>
            </a:r>
            <a:r>
              <a:rPr sz="2400" spc="-5" dirty="0">
                <a:latin typeface="Courier New"/>
                <a:cs typeface="Courier New"/>
              </a:rPr>
              <a:t>pl</a:t>
            </a:r>
            <a:r>
              <a:rPr sz="2400" spc="20" dirty="0">
                <a:latin typeface="Courier New"/>
                <a:cs typeface="Courier New"/>
              </a:rPr>
              <a:t>et</a:t>
            </a:r>
            <a:r>
              <a:rPr sz="2400" dirty="0">
                <a:latin typeface="Courier New"/>
                <a:cs typeface="Courier New"/>
              </a:rPr>
              <a:t>e 	a</a:t>
            </a:r>
            <a:r>
              <a:rPr sz="2400" spc="-5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m</a:t>
            </a:r>
            <a:r>
              <a:rPr sz="2400" spc="-50" dirty="0">
                <a:latin typeface="Courier New"/>
                <a:cs typeface="Courier New"/>
              </a:rPr>
              <a:t>i</a:t>
            </a:r>
            <a:r>
              <a:rPr sz="2400" spc="-25" dirty="0">
                <a:latin typeface="Courier New"/>
                <a:cs typeface="Courier New"/>
              </a:rPr>
              <a:t>les</a:t>
            </a:r>
            <a:r>
              <a:rPr sz="2400" spc="-5" dirty="0">
                <a:latin typeface="Courier New"/>
                <a:cs typeface="Courier New"/>
              </a:rPr>
              <a:t>tone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-7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b</a:t>
            </a:r>
            <a:r>
              <a:rPr sz="2400" spc="-50" dirty="0">
                <a:latin typeface="Courier New"/>
                <a:cs typeface="Courier New"/>
              </a:rPr>
              <a:t>u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34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th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5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m</a:t>
            </a:r>
            <a:r>
              <a:rPr sz="2400" spc="-50" dirty="0">
                <a:latin typeface="Courier New"/>
                <a:cs typeface="Courier New"/>
              </a:rPr>
              <a:t>il</a:t>
            </a:r>
            <a:r>
              <a:rPr sz="2400" spc="-25" dirty="0">
                <a:latin typeface="Courier New"/>
                <a:cs typeface="Courier New"/>
              </a:rPr>
              <a:t>e</a:t>
            </a:r>
            <a:r>
              <a:rPr sz="2400" spc="-5" dirty="0">
                <a:latin typeface="Courier New"/>
                <a:cs typeface="Courier New"/>
              </a:rPr>
              <a:t>ston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75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i</a:t>
            </a:r>
            <a:r>
              <a:rPr sz="2400" spc="-50" dirty="0">
                <a:latin typeface="Courier New"/>
                <a:cs typeface="Courier New"/>
              </a:rPr>
              <a:t>t</a:t>
            </a:r>
            <a:r>
              <a:rPr sz="2400" spc="-70" dirty="0">
                <a:latin typeface="Courier New"/>
                <a:cs typeface="Courier New"/>
              </a:rPr>
              <a:t>s</a:t>
            </a:r>
            <a:r>
              <a:rPr sz="2400" spc="-5" dirty="0">
                <a:latin typeface="Courier New"/>
                <a:cs typeface="Courier New"/>
              </a:rPr>
              <a:t>el</a:t>
            </a:r>
            <a:r>
              <a:rPr sz="2400" dirty="0">
                <a:latin typeface="Courier New"/>
                <a:cs typeface="Courier New"/>
              </a:rPr>
              <a:t>f</a:t>
            </a:r>
            <a:r>
              <a:rPr sz="2400" spc="-55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1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24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m</a:t>
            </a:r>
            <a:r>
              <a:rPr sz="2400" spc="-75" dirty="0">
                <a:latin typeface="Courier New"/>
                <a:cs typeface="Courier New"/>
              </a:rPr>
              <a:t>a</a:t>
            </a:r>
            <a:r>
              <a:rPr sz="2400" spc="-25" dirty="0">
                <a:latin typeface="Courier New"/>
                <a:cs typeface="Courier New"/>
              </a:rPr>
              <a:t>r</a:t>
            </a:r>
            <a:r>
              <a:rPr sz="2400" spc="-5" dirty="0">
                <a:latin typeface="Courier New"/>
                <a:cs typeface="Courier New"/>
              </a:rPr>
              <a:t>ke</a:t>
            </a:r>
            <a:r>
              <a:rPr sz="2400" dirty="0">
                <a:latin typeface="Courier New"/>
                <a:cs typeface="Courier New"/>
              </a:rPr>
              <a:t>r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spc="-195" dirty="0">
                <a:latin typeface="Courier New"/>
                <a:cs typeface="Courier New"/>
              </a:rPr>
              <a:t>t</a:t>
            </a:r>
            <a:r>
              <a:rPr sz="2400" dirty="0">
                <a:latin typeface="Courier New"/>
                <a:cs typeface="Courier New"/>
              </a:rPr>
              <a:t>o </a:t>
            </a:r>
            <a:r>
              <a:rPr sz="2400" spc="-75" dirty="0">
                <a:latin typeface="Courier New"/>
                <a:cs typeface="Courier New"/>
              </a:rPr>
              <a:t>h</a:t>
            </a:r>
            <a:r>
              <a:rPr sz="2400" spc="-25" dirty="0">
                <a:latin typeface="Courier New"/>
                <a:cs typeface="Courier New"/>
              </a:rPr>
              <a:t>e</a:t>
            </a:r>
            <a:r>
              <a:rPr sz="2400" spc="-5" dirty="0">
                <a:latin typeface="Courier New"/>
                <a:cs typeface="Courier New"/>
              </a:rPr>
              <a:t>l</a:t>
            </a:r>
            <a:r>
              <a:rPr sz="2400" dirty="0">
                <a:latin typeface="Courier New"/>
                <a:cs typeface="Courier New"/>
              </a:rPr>
              <a:t>p</a:t>
            </a:r>
            <a:r>
              <a:rPr sz="2400" spc="-5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in 	</a:t>
            </a:r>
            <a:r>
              <a:rPr sz="2400" spc="-5" dirty="0">
                <a:latin typeface="Courier New"/>
                <a:cs typeface="Courier New"/>
              </a:rPr>
              <a:t>identifyin</a:t>
            </a:r>
            <a:r>
              <a:rPr sz="2400" dirty="0">
                <a:latin typeface="Courier New"/>
                <a:cs typeface="Courier New"/>
              </a:rPr>
              <a:t>g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necessar</a:t>
            </a:r>
            <a:r>
              <a:rPr sz="2400" dirty="0">
                <a:latin typeface="Courier New"/>
                <a:cs typeface="Courier New"/>
              </a:rPr>
              <a:t>y</a:t>
            </a:r>
            <a:r>
              <a:rPr sz="2400" spc="-79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activ</a:t>
            </a:r>
            <a:r>
              <a:rPr sz="2400" spc="-10" dirty="0">
                <a:latin typeface="Courier New"/>
                <a:cs typeface="Courier New"/>
              </a:rPr>
              <a:t>i</a:t>
            </a:r>
            <a:r>
              <a:rPr sz="2400" spc="-30" dirty="0">
                <a:latin typeface="Courier New"/>
                <a:cs typeface="Courier New"/>
              </a:rPr>
              <a:t>t</a:t>
            </a:r>
            <a:r>
              <a:rPr sz="2400" spc="-5" dirty="0">
                <a:latin typeface="Courier New"/>
                <a:cs typeface="Courier New"/>
              </a:rPr>
              <a:t>ies</a:t>
            </a:r>
            <a:r>
              <a:rPr sz="2400" dirty="0">
                <a:latin typeface="Courier New"/>
                <a:cs typeface="Courier New"/>
              </a:rPr>
              <a:t>.</a:t>
            </a:r>
          </a:p>
          <a:p>
            <a:pPr marL="1138555" indent="-227329">
              <a:lnSpc>
                <a:spcPct val="100000"/>
              </a:lnSpc>
              <a:spcBef>
                <a:spcPts val="2140"/>
              </a:spcBef>
              <a:buFont typeface="Arial MT"/>
              <a:buChar char="•"/>
              <a:tabLst>
                <a:tab pos="1138555" algn="l"/>
              </a:tabLst>
            </a:pPr>
            <a:r>
              <a:rPr sz="2400" dirty="0">
                <a:latin typeface="Courier New"/>
                <a:cs typeface="Courier New"/>
              </a:rPr>
              <a:t>Milestones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-1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also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useful</a:t>
            </a:r>
            <a:r>
              <a:rPr sz="2400" spc="-1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tools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setting</a:t>
            </a:r>
            <a:r>
              <a:rPr sz="2400" spc="-1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schedule</a:t>
            </a:r>
            <a:r>
              <a:rPr sz="2400" spc="-114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goals</a:t>
            </a:r>
            <a:endParaRPr sz="2400" dirty="0">
              <a:latin typeface="Courier New"/>
              <a:cs typeface="Courier New"/>
            </a:endParaRPr>
          </a:p>
          <a:p>
            <a:pPr marL="1139825">
              <a:lnSpc>
                <a:spcPct val="100000"/>
              </a:lnSpc>
              <a:spcBef>
                <a:spcPts val="1150"/>
              </a:spcBef>
            </a:pP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monitoring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progress.</a:t>
            </a:r>
            <a:endParaRPr sz="2400" dirty="0">
              <a:latin typeface="Courier New"/>
              <a:cs typeface="Courier New"/>
            </a:endParaRPr>
          </a:p>
          <a:p>
            <a:pPr marL="1138555" indent="-227329">
              <a:lnSpc>
                <a:spcPct val="100000"/>
              </a:lnSpc>
              <a:spcBef>
                <a:spcPts val="2165"/>
              </a:spcBef>
              <a:buFont typeface="Arial MT"/>
              <a:buChar char="•"/>
              <a:tabLst>
                <a:tab pos="1138555" algn="l"/>
              </a:tabLst>
            </a:pPr>
            <a:r>
              <a:rPr sz="2400" b="1" spc="-10" dirty="0">
                <a:latin typeface="Courier New"/>
                <a:cs typeface="Courier New"/>
              </a:rPr>
              <a:t>Not</a:t>
            </a:r>
            <a:r>
              <a:rPr sz="2400" b="1" spc="-47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every</a:t>
            </a:r>
            <a:r>
              <a:rPr sz="2400" spc="-509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deliverable</a:t>
            </a:r>
            <a:r>
              <a:rPr sz="2400" spc="-46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or</a:t>
            </a:r>
            <a:r>
              <a:rPr sz="2400" spc="-58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output</a:t>
            </a:r>
            <a:r>
              <a:rPr sz="2400" spc="-495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created</a:t>
            </a:r>
            <a:r>
              <a:rPr sz="2400" spc="-475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Courier New"/>
                <a:cs typeface="Courier New"/>
              </a:rPr>
              <a:t>for</a:t>
            </a:r>
            <a:r>
              <a:rPr sz="2400" spc="-5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65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project</a:t>
            </a:r>
            <a:r>
              <a:rPr sz="2400" spc="-440" dirty="0">
                <a:latin typeface="Courier New"/>
                <a:cs typeface="Courier New"/>
              </a:rPr>
              <a:t> </a:t>
            </a:r>
            <a:r>
              <a:rPr sz="2400" spc="-105" dirty="0">
                <a:latin typeface="Courier New"/>
                <a:cs typeface="Courier New"/>
              </a:rPr>
              <a:t>is</a:t>
            </a:r>
            <a:r>
              <a:rPr sz="2400" spc="-420" dirty="0">
                <a:latin typeface="Courier New"/>
                <a:cs typeface="Courier New"/>
              </a:rPr>
              <a:t> </a:t>
            </a:r>
            <a:r>
              <a:rPr sz="2400" spc="-10" dirty="0" smtClean="0">
                <a:latin typeface="Courier New"/>
                <a:cs typeface="Courier New"/>
              </a:rPr>
              <a:t>really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Defining</a:t>
            </a:r>
            <a:r>
              <a:rPr spc="-1225" dirty="0"/>
              <a:t> </a:t>
            </a:r>
            <a:r>
              <a:rPr spc="-10" dirty="0"/>
              <a:t>Activities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02315" cy="3447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9525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370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goal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of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defining</a:t>
            </a:r>
            <a:r>
              <a:rPr sz="2400" spc="-34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activities</a:t>
            </a:r>
            <a:r>
              <a:rPr sz="2400" spc="-3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225" dirty="0">
                <a:latin typeface="Courier New"/>
                <a:cs typeface="Courier New"/>
              </a:rPr>
              <a:t>to</a:t>
            </a:r>
            <a:r>
              <a:rPr sz="2400" spc="-135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ensure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that</a:t>
            </a:r>
            <a:r>
              <a:rPr sz="2400" spc="-2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 	</a:t>
            </a:r>
            <a:r>
              <a:rPr sz="2400" dirty="0">
                <a:latin typeface="Courier New"/>
                <a:cs typeface="Courier New"/>
              </a:rPr>
              <a:t>team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completely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understands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all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the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work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160" dirty="0">
                <a:latin typeface="Courier New"/>
                <a:cs typeface="Courier New"/>
              </a:rPr>
              <a:t>it</a:t>
            </a:r>
            <a:r>
              <a:rPr sz="2400" spc="-20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must</a:t>
            </a:r>
            <a:r>
              <a:rPr sz="2400" spc="-295" dirty="0">
                <a:latin typeface="Courier New"/>
                <a:cs typeface="Courier New"/>
              </a:rPr>
              <a:t> </a:t>
            </a:r>
            <a:r>
              <a:rPr sz="2400" spc="-330" dirty="0">
                <a:latin typeface="Courier New"/>
                <a:cs typeface="Courier New"/>
              </a:rPr>
              <a:t>do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as</a:t>
            </a:r>
            <a:r>
              <a:rPr sz="2400" spc="-17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part</a:t>
            </a:r>
            <a:r>
              <a:rPr sz="2400" spc="-19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of 	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scope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so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they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can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start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scheduling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work.</a:t>
            </a:r>
            <a:endParaRPr sz="2400">
              <a:latin typeface="Courier New"/>
              <a:cs typeface="Courier New"/>
            </a:endParaRPr>
          </a:p>
          <a:p>
            <a:pPr marL="240029" marR="5080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We</a:t>
            </a:r>
            <a:r>
              <a:rPr sz="2400" spc="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need</a:t>
            </a:r>
            <a:r>
              <a:rPr sz="2400" spc="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have</a:t>
            </a:r>
            <a:r>
              <a:rPr sz="2400" spc="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good</a:t>
            </a:r>
            <a:r>
              <a:rPr sz="2400" spc="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understanding</a:t>
            </a:r>
            <a:r>
              <a:rPr sz="2400" spc="-1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activities</a:t>
            </a:r>
            <a:r>
              <a:rPr sz="2400" spc="14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in 	</a:t>
            </a:r>
            <a:r>
              <a:rPr sz="2400" dirty="0">
                <a:latin typeface="Courier New"/>
                <a:cs typeface="Courier New"/>
              </a:rPr>
              <a:t>order</a:t>
            </a:r>
            <a:r>
              <a:rPr sz="2400" spc="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determine</a:t>
            </a:r>
            <a:r>
              <a:rPr sz="2400" spc="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activity</a:t>
            </a:r>
            <a:r>
              <a:rPr sz="2400" spc="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sequencing,</a:t>
            </a:r>
            <a:r>
              <a:rPr sz="2400" spc="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durations,</a:t>
            </a:r>
            <a:r>
              <a:rPr sz="2400" spc="-114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develop 	the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schedule,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control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schedule.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Sequencing</a:t>
            </a:r>
            <a:r>
              <a:rPr spc="-1225" dirty="0"/>
              <a:t> </a:t>
            </a:r>
            <a:r>
              <a:rPr spc="-10" dirty="0"/>
              <a:t>Activities.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62015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3340" indent="-227329">
              <a:lnSpc>
                <a:spcPct val="1484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The</a:t>
            </a:r>
            <a:r>
              <a:rPr spc="-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sequencing</a:t>
            </a:r>
            <a:r>
              <a:rPr spc="-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process</a:t>
            </a:r>
            <a:r>
              <a:rPr spc="-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involves</a:t>
            </a:r>
            <a:r>
              <a:rPr spc="-70" dirty="0">
                <a:solidFill>
                  <a:schemeClr val="bg1"/>
                </a:solidFill>
              </a:rPr>
              <a:t> </a:t>
            </a:r>
            <a:r>
              <a:rPr i="1" dirty="0">
                <a:solidFill>
                  <a:schemeClr val="bg1"/>
                </a:solidFill>
                <a:latin typeface="Courier New"/>
                <a:cs typeface="Courier New"/>
              </a:rPr>
              <a:t>evaluating</a:t>
            </a:r>
            <a:r>
              <a:rPr i="1" spc="-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i="1" dirty="0">
                <a:solidFill>
                  <a:schemeClr val="bg1"/>
                </a:solidFill>
                <a:latin typeface="Courier New"/>
                <a:cs typeface="Courier New"/>
              </a:rPr>
              <a:t>the</a:t>
            </a:r>
            <a:r>
              <a:rPr i="1" spc="-2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i="1" dirty="0">
                <a:solidFill>
                  <a:schemeClr val="bg1"/>
                </a:solidFill>
                <a:latin typeface="Courier New"/>
                <a:cs typeface="Courier New"/>
              </a:rPr>
              <a:t>reasons </a:t>
            </a:r>
            <a:r>
              <a:rPr i="1" spc="-25" dirty="0">
                <a:solidFill>
                  <a:schemeClr val="bg1"/>
                </a:solidFill>
                <a:latin typeface="Courier New"/>
                <a:cs typeface="Courier New"/>
              </a:rPr>
              <a:t>for 	</a:t>
            </a:r>
            <a:r>
              <a:rPr i="1" dirty="0">
                <a:solidFill>
                  <a:schemeClr val="bg1"/>
                </a:solidFill>
                <a:latin typeface="Courier New"/>
                <a:cs typeface="Courier New"/>
              </a:rPr>
              <a:t>dependencies</a:t>
            </a:r>
            <a:r>
              <a:rPr i="1" spc="-5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i="1" dirty="0">
                <a:solidFill>
                  <a:schemeClr val="bg1"/>
                </a:solidFill>
                <a:latin typeface="Courier New"/>
                <a:cs typeface="Courier New"/>
              </a:rPr>
              <a:t>and</a:t>
            </a:r>
            <a:r>
              <a:rPr i="1" spc="-4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i="1" dirty="0">
                <a:solidFill>
                  <a:schemeClr val="bg1"/>
                </a:solidFill>
                <a:latin typeface="Courier New"/>
                <a:cs typeface="Courier New"/>
              </a:rPr>
              <a:t>the</a:t>
            </a:r>
            <a:r>
              <a:rPr i="1" spc="-2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i="1" dirty="0">
                <a:solidFill>
                  <a:schemeClr val="bg1"/>
                </a:solidFill>
                <a:latin typeface="Courier New"/>
                <a:cs typeface="Courier New"/>
              </a:rPr>
              <a:t>different</a:t>
            </a:r>
            <a:r>
              <a:rPr i="1" spc="-4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i="1" dirty="0">
                <a:solidFill>
                  <a:schemeClr val="bg1"/>
                </a:solidFill>
                <a:latin typeface="Courier New"/>
                <a:cs typeface="Courier New"/>
              </a:rPr>
              <a:t>types</a:t>
            </a:r>
            <a:r>
              <a:rPr i="1" spc="-4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i="1" dirty="0">
                <a:solidFill>
                  <a:schemeClr val="bg1"/>
                </a:solidFill>
                <a:latin typeface="Courier New"/>
                <a:cs typeface="Courier New"/>
              </a:rPr>
              <a:t>of</a:t>
            </a:r>
            <a:r>
              <a:rPr i="1" spc="-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i="1" spc="-10" dirty="0">
                <a:solidFill>
                  <a:schemeClr val="bg1"/>
                </a:solidFill>
                <a:latin typeface="Courier New"/>
                <a:cs typeface="Courier New"/>
              </a:rPr>
              <a:t>dependencies.</a:t>
            </a:r>
          </a:p>
          <a:p>
            <a:pPr marL="240029" marR="7620" indent="-227329">
              <a:lnSpc>
                <a:spcPct val="15010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A</a:t>
            </a:r>
            <a:r>
              <a:rPr spc="55" dirty="0">
                <a:solidFill>
                  <a:schemeClr val="bg1"/>
                </a:solidFill>
              </a:rPr>
              <a:t>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dependency</a:t>
            </a:r>
            <a:r>
              <a:rPr b="1" spc="4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chemeClr val="bg1"/>
                </a:solidFill>
              </a:rPr>
              <a:t>or</a:t>
            </a:r>
            <a:r>
              <a:rPr spc="-30" dirty="0">
                <a:solidFill>
                  <a:schemeClr val="bg1"/>
                </a:solidFill>
              </a:rPr>
              <a:t>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relationship</a:t>
            </a:r>
            <a:r>
              <a:rPr b="1" spc="4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chemeClr val="bg1"/>
                </a:solidFill>
              </a:rPr>
              <a:t>pertains</a:t>
            </a:r>
            <a:r>
              <a:rPr spc="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-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sequencing</a:t>
            </a:r>
            <a:r>
              <a:rPr spc="114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of 	</a:t>
            </a:r>
            <a:r>
              <a:rPr spc="-10" dirty="0">
                <a:solidFill>
                  <a:schemeClr val="bg1"/>
                </a:solidFill>
              </a:rPr>
              <a:t>project</a:t>
            </a:r>
            <a:r>
              <a:rPr spc="-70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activities</a:t>
            </a:r>
            <a:r>
              <a:rPr spc="-76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or</a:t>
            </a:r>
            <a:r>
              <a:rPr spc="-7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tasks.</a:t>
            </a:r>
          </a:p>
          <a:p>
            <a:pPr marL="240029" marR="5080" indent="-227329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You</a:t>
            </a:r>
            <a:r>
              <a:rPr spc="-275" dirty="0">
                <a:solidFill>
                  <a:schemeClr val="bg1"/>
                </a:solidFill>
              </a:rPr>
              <a:t> </a:t>
            </a:r>
            <a:r>
              <a:rPr spc="-55" dirty="0">
                <a:solidFill>
                  <a:schemeClr val="bg1"/>
                </a:solidFill>
              </a:rPr>
              <a:t>must</a:t>
            </a:r>
            <a:r>
              <a:rPr spc="-320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determine</a:t>
            </a:r>
            <a:r>
              <a:rPr spc="-260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dependencies</a:t>
            </a:r>
            <a:r>
              <a:rPr spc="-290" dirty="0">
                <a:solidFill>
                  <a:schemeClr val="bg1"/>
                </a:solidFill>
              </a:rPr>
              <a:t> </a:t>
            </a:r>
            <a:r>
              <a:rPr spc="-55" dirty="0">
                <a:solidFill>
                  <a:schemeClr val="bg1"/>
                </a:solidFill>
              </a:rPr>
              <a:t>in</a:t>
            </a:r>
            <a:r>
              <a:rPr spc="-60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order</a:t>
            </a:r>
            <a:r>
              <a:rPr spc="-265" dirty="0">
                <a:solidFill>
                  <a:schemeClr val="bg1"/>
                </a:solidFill>
              </a:rPr>
              <a:t> </a:t>
            </a:r>
            <a:r>
              <a:rPr spc="-70" dirty="0">
                <a:solidFill>
                  <a:schemeClr val="bg1"/>
                </a:solidFill>
              </a:rPr>
              <a:t>to</a:t>
            </a:r>
            <a:r>
              <a:rPr spc="-340" dirty="0">
                <a:solidFill>
                  <a:schemeClr val="bg1"/>
                </a:solidFill>
              </a:rPr>
              <a:t> </a:t>
            </a:r>
            <a:r>
              <a:rPr spc="-75" dirty="0">
                <a:solidFill>
                  <a:schemeClr val="bg1"/>
                </a:solidFill>
              </a:rPr>
              <a:t>use</a:t>
            </a:r>
            <a:r>
              <a:rPr spc="-29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critical</a:t>
            </a:r>
            <a:r>
              <a:rPr spc="-204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path 	</a:t>
            </a:r>
            <a:r>
              <a:rPr spc="-10" dirty="0">
                <a:solidFill>
                  <a:schemeClr val="bg1"/>
                </a:solidFill>
              </a:rPr>
              <a:t>analysis.</a:t>
            </a:r>
          </a:p>
          <a:p>
            <a:pPr marL="240029" marR="7620" indent="-227329">
              <a:lnSpc>
                <a:spcPct val="15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It</a:t>
            </a:r>
            <a:r>
              <a:rPr spc="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important</a:t>
            </a:r>
            <a:r>
              <a:rPr spc="2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that</a:t>
            </a:r>
            <a:r>
              <a:rPr spc="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project</a:t>
            </a:r>
            <a:r>
              <a:rPr spc="2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stakeholders</a:t>
            </a:r>
            <a:r>
              <a:rPr spc="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work</a:t>
            </a:r>
            <a:r>
              <a:rPr spc="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together</a:t>
            </a:r>
            <a:r>
              <a:rPr spc="100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to 	</a:t>
            </a:r>
            <a:r>
              <a:rPr spc="-10" dirty="0">
                <a:solidFill>
                  <a:schemeClr val="bg1"/>
                </a:solidFill>
              </a:rPr>
              <a:t>define</a:t>
            </a:r>
            <a:r>
              <a:rPr spc="-70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78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activity</a:t>
            </a:r>
            <a:r>
              <a:rPr spc="-79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dependencies</a:t>
            </a:r>
            <a:r>
              <a:rPr spc="-785" dirty="0">
                <a:solidFill>
                  <a:schemeClr val="bg1"/>
                </a:solidFill>
              </a:rPr>
              <a:t> </a:t>
            </a:r>
            <a:r>
              <a:rPr dirty="0"/>
              <a:t>in</a:t>
            </a:r>
            <a:r>
              <a:rPr spc="-760" dirty="0"/>
              <a:t> </a:t>
            </a:r>
            <a:r>
              <a:rPr spc="-10" dirty="0"/>
              <a:t>their</a:t>
            </a:r>
            <a:r>
              <a:rPr spc="-750" dirty="0"/>
              <a:t> </a:t>
            </a:r>
            <a:r>
              <a:rPr spc="-10" dirty="0"/>
              <a:t>project.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Sequencing</a:t>
            </a:r>
            <a:r>
              <a:rPr spc="-1225" dirty="0"/>
              <a:t> </a:t>
            </a:r>
            <a:r>
              <a:rPr spc="-10" dirty="0"/>
              <a:t>Activities.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05381"/>
            <a:ext cx="10891520" cy="4799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There</a:t>
            </a:r>
            <a:r>
              <a:rPr sz="2000" spc="-5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are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several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types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of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dependencies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among</a:t>
            </a:r>
            <a:r>
              <a:rPr sz="2000" spc="-64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activities:</a:t>
            </a:r>
            <a:endParaRPr sz="2000" dirty="0">
              <a:latin typeface="Courier New"/>
              <a:cs typeface="Courier New"/>
            </a:endParaRPr>
          </a:p>
          <a:p>
            <a:pPr marL="734695" lvl="1" indent="-265430" algn="just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734695" algn="l"/>
              </a:tabLst>
            </a:pPr>
            <a:r>
              <a:rPr sz="2000" b="1" dirty="0">
                <a:latin typeface="Courier New"/>
                <a:cs typeface="Courier New"/>
              </a:rPr>
              <a:t>Mandatory</a:t>
            </a:r>
            <a:r>
              <a:rPr sz="2000" b="1" spc="-8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Dependencies</a:t>
            </a:r>
            <a:r>
              <a:rPr sz="2000" b="1" spc="-8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are</a:t>
            </a:r>
            <a:r>
              <a:rPr sz="2000" spc="-10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inherent</a:t>
            </a:r>
            <a:r>
              <a:rPr sz="2000" spc="-114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</a:t>
            </a:r>
            <a:r>
              <a:rPr sz="2000" spc="-17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the</a:t>
            </a:r>
            <a:r>
              <a:rPr sz="2000" spc="-9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nature</a:t>
            </a:r>
            <a:r>
              <a:rPr sz="2000" spc="-1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of</a:t>
            </a:r>
            <a:r>
              <a:rPr sz="2000" spc="-16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the</a:t>
            </a:r>
            <a:r>
              <a:rPr sz="2000" spc="-8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work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being</a:t>
            </a:r>
            <a:endParaRPr sz="2000" dirty="0">
              <a:latin typeface="Courier New"/>
              <a:cs typeface="Courier New"/>
            </a:endParaRPr>
          </a:p>
          <a:p>
            <a:pPr marL="737870" algn="just">
              <a:lnSpc>
                <a:spcPct val="100000"/>
              </a:lnSpc>
              <a:spcBef>
                <a:spcPts val="720"/>
              </a:spcBef>
            </a:pPr>
            <a:r>
              <a:rPr sz="2000" spc="-20" dirty="0">
                <a:latin typeface="Courier New"/>
                <a:cs typeface="Courier New"/>
              </a:rPr>
              <a:t>performed</a:t>
            </a:r>
            <a:r>
              <a:rPr sz="2000" spc="-53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on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project.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They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are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sometimes</a:t>
            </a:r>
            <a:r>
              <a:rPr sz="2000" spc="-63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referred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to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as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hard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logic.</a:t>
            </a:r>
            <a:endParaRPr sz="2000" dirty="0">
              <a:latin typeface="Courier New"/>
              <a:cs typeface="Courier New"/>
            </a:endParaRPr>
          </a:p>
          <a:p>
            <a:pPr marL="734695" marR="5080" lvl="1" indent="-265430" algn="just">
              <a:lnSpc>
                <a:spcPct val="130100"/>
              </a:lnSpc>
              <a:spcBef>
                <a:spcPts val="101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b="1" dirty="0">
                <a:latin typeface="Courier New"/>
                <a:cs typeface="Courier New"/>
              </a:rPr>
              <a:t>Discretionary</a:t>
            </a:r>
            <a:r>
              <a:rPr sz="2000" b="1" spc="25" dirty="0">
                <a:latin typeface="Courier New"/>
                <a:cs typeface="Courier New"/>
              </a:rPr>
              <a:t>  </a:t>
            </a:r>
            <a:r>
              <a:rPr sz="2000" b="1" dirty="0">
                <a:latin typeface="Courier New"/>
                <a:cs typeface="Courier New"/>
              </a:rPr>
              <a:t>Dependencies</a:t>
            </a:r>
            <a:r>
              <a:rPr sz="2000" b="1" spc="3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are</a:t>
            </a:r>
            <a:r>
              <a:rPr sz="2000" spc="5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defined</a:t>
            </a:r>
            <a:r>
              <a:rPr sz="2000" spc="2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by</a:t>
            </a:r>
            <a:r>
              <a:rPr sz="2000" spc="-3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the</a:t>
            </a:r>
            <a:r>
              <a:rPr sz="2000" spc="5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project</a:t>
            </a:r>
            <a:r>
              <a:rPr sz="2000" spc="114" dirty="0">
                <a:latin typeface="Courier New"/>
                <a:cs typeface="Courier New"/>
              </a:rPr>
              <a:t>  </a:t>
            </a:r>
            <a:r>
              <a:rPr sz="2000" spc="-10" dirty="0">
                <a:latin typeface="Courier New"/>
                <a:cs typeface="Courier New"/>
              </a:rPr>
              <a:t>team. 	</a:t>
            </a:r>
            <a:r>
              <a:rPr sz="2000" spc="-20" dirty="0">
                <a:latin typeface="Courier New"/>
                <a:cs typeface="Courier New"/>
              </a:rPr>
              <a:t>Discretionary</a:t>
            </a:r>
            <a:r>
              <a:rPr sz="2000" spc="-280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dependencies</a:t>
            </a:r>
            <a:r>
              <a:rPr sz="2000" spc="-265" dirty="0">
                <a:latin typeface="Courier New"/>
                <a:cs typeface="Courier New"/>
              </a:rPr>
              <a:t> </a:t>
            </a:r>
            <a:r>
              <a:rPr sz="2000" spc="-110" dirty="0">
                <a:latin typeface="Courier New"/>
                <a:cs typeface="Courier New"/>
              </a:rPr>
              <a:t>are</a:t>
            </a:r>
            <a:r>
              <a:rPr sz="2000" spc="-19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sometimes</a:t>
            </a:r>
            <a:r>
              <a:rPr sz="2000" spc="-24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referred</a:t>
            </a:r>
            <a:r>
              <a:rPr sz="2000" spc="-275" dirty="0">
                <a:latin typeface="Courier New"/>
                <a:cs typeface="Courier New"/>
              </a:rPr>
              <a:t> </a:t>
            </a:r>
            <a:r>
              <a:rPr sz="2000" spc="-175" dirty="0">
                <a:latin typeface="Courier New"/>
                <a:cs typeface="Courier New"/>
              </a:rPr>
              <a:t>to</a:t>
            </a:r>
            <a:r>
              <a:rPr sz="2000" spc="-125" dirty="0">
                <a:latin typeface="Courier New"/>
                <a:cs typeface="Courier New"/>
              </a:rPr>
              <a:t> </a:t>
            </a:r>
            <a:r>
              <a:rPr sz="2000" spc="-225" dirty="0">
                <a:latin typeface="Courier New"/>
                <a:cs typeface="Courier New"/>
              </a:rPr>
              <a:t>as</a:t>
            </a:r>
            <a:r>
              <a:rPr sz="2000" spc="-75" dirty="0">
                <a:latin typeface="Courier New"/>
                <a:cs typeface="Courier New"/>
              </a:rPr>
              <a:t> </a:t>
            </a:r>
            <a:r>
              <a:rPr sz="2000" spc="-70" dirty="0">
                <a:latin typeface="Courier New"/>
                <a:cs typeface="Courier New"/>
              </a:rPr>
              <a:t>soft</a:t>
            </a:r>
            <a:r>
              <a:rPr sz="2000" spc="-180" dirty="0">
                <a:latin typeface="Courier New"/>
                <a:cs typeface="Courier New"/>
              </a:rPr>
              <a:t> </a:t>
            </a:r>
            <a:r>
              <a:rPr sz="2000" spc="-30" dirty="0">
                <a:latin typeface="Courier New"/>
                <a:cs typeface="Courier New"/>
              </a:rPr>
              <a:t>logic</a:t>
            </a:r>
            <a:r>
              <a:rPr sz="2000" spc="-114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and 	</a:t>
            </a:r>
            <a:r>
              <a:rPr sz="2000" b="1" dirty="0">
                <a:latin typeface="Courier New"/>
                <a:cs typeface="Courier New"/>
              </a:rPr>
              <a:t>should</a:t>
            </a:r>
            <a:r>
              <a:rPr sz="2000" b="1" spc="254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be</a:t>
            </a:r>
            <a:r>
              <a:rPr sz="2000" spc="2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used</a:t>
            </a:r>
            <a:r>
              <a:rPr sz="2000" spc="2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with</a:t>
            </a:r>
            <a:r>
              <a:rPr sz="2000" spc="38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care</a:t>
            </a:r>
            <a:r>
              <a:rPr sz="2000" spc="2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because</a:t>
            </a:r>
            <a:r>
              <a:rPr sz="2000" spc="2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they</a:t>
            </a:r>
            <a:r>
              <a:rPr sz="2000" spc="8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may</a:t>
            </a:r>
            <a:r>
              <a:rPr sz="2000" spc="26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limit</a:t>
            </a:r>
            <a:r>
              <a:rPr sz="2000" spc="254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later</a:t>
            </a:r>
            <a:r>
              <a:rPr sz="2000" spc="28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scheduling 	options.</a:t>
            </a:r>
            <a:endParaRPr sz="2000" dirty="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b="1" dirty="0">
                <a:latin typeface="Courier New"/>
                <a:cs typeface="Courier New"/>
              </a:rPr>
              <a:t>External</a:t>
            </a:r>
            <a:r>
              <a:rPr sz="2000" b="1" spc="-9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Dependencies</a:t>
            </a:r>
            <a:r>
              <a:rPr sz="2000" b="1" spc="-114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involve</a:t>
            </a:r>
            <a:r>
              <a:rPr sz="2000" spc="-1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relationships</a:t>
            </a:r>
            <a:r>
              <a:rPr sz="2000" spc="-1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between</a:t>
            </a:r>
            <a:r>
              <a:rPr sz="2000" spc="-1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project</a:t>
            </a:r>
            <a:r>
              <a:rPr sz="2000" spc="-254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and</a:t>
            </a:r>
            <a:r>
              <a:rPr sz="2000" spc="-9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non</a:t>
            </a:r>
            <a:endParaRPr sz="2000" dirty="0">
              <a:latin typeface="Courier New"/>
              <a:cs typeface="Courier New"/>
            </a:endParaRPr>
          </a:p>
          <a:p>
            <a:pPr marL="737870">
              <a:lnSpc>
                <a:spcPct val="100000"/>
              </a:lnSpc>
              <a:spcBef>
                <a:spcPts val="720"/>
              </a:spcBef>
            </a:pP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5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activities.</a:t>
            </a:r>
            <a:endParaRPr sz="2000" dirty="0">
              <a:latin typeface="Courier New"/>
              <a:cs typeface="Courier New"/>
            </a:endParaRPr>
          </a:p>
          <a:p>
            <a:pPr marL="737870" marR="5080" lvl="1" indent="-268605">
              <a:lnSpc>
                <a:spcPct val="130100"/>
              </a:lnSpc>
              <a:spcBef>
                <a:spcPts val="985"/>
              </a:spcBef>
              <a:buFont typeface="Arial MT"/>
              <a:buChar char="•"/>
              <a:tabLst>
                <a:tab pos="737870" algn="l"/>
                <a:tab pos="2347595" algn="l"/>
                <a:tab pos="4566920" algn="l"/>
                <a:tab pos="6018530" algn="l"/>
                <a:tab pos="8362950" algn="l"/>
              </a:tabLst>
            </a:pPr>
            <a:r>
              <a:rPr sz="2000" b="1" spc="-10" dirty="0">
                <a:latin typeface="Courier New"/>
                <a:cs typeface="Courier New"/>
              </a:rPr>
              <a:t>Internal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10" dirty="0">
                <a:latin typeface="Courier New"/>
                <a:cs typeface="Courier New"/>
              </a:rPr>
              <a:t>Dependencies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involve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relationships</a:t>
            </a:r>
            <a:r>
              <a:rPr sz="2000" dirty="0">
                <a:latin typeface="Courier New"/>
                <a:cs typeface="Courier New"/>
              </a:rPr>
              <a:t>	between</a:t>
            </a:r>
            <a:r>
              <a:rPr sz="2000" spc="180" dirty="0">
                <a:latin typeface="Courier New"/>
                <a:cs typeface="Courier New"/>
              </a:rPr>
              <a:t>  </a:t>
            </a:r>
            <a:r>
              <a:rPr sz="2000" spc="-10" dirty="0">
                <a:latin typeface="Courier New"/>
                <a:cs typeface="Courier New"/>
              </a:rPr>
              <a:t>project </a:t>
            </a:r>
            <a:r>
              <a:rPr sz="2000" spc="-20" dirty="0">
                <a:latin typeface="Courier New"/>
                <a:cs typeface="Courier New"/>
              </a:rPr>
              <a:t>activities</a:t>
            </a:r>
            <a:r>
              <a:rPr sz="2000" spc="-5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that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are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generally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inside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6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team's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control.</a:t>
            </a:r>
            <a:endParaRPr sz="20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Sequencing</a:t>
            </a:r>
            <a:r>
              <a:rPr spc="-1225" dirty="0"/>
              <a:t> </a:t>
            </a:r>
            <a:r>
              <a:rPr spc="-10" dirty="0"/>
              <a:t>Activities.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402844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Network</a:t>
            </a:r>
            <a:r>
              <a:rPr sz="2400" spc="4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diagrams</a:t>
            </a:r>
            <a:r>
              <a:rPr sz="2400" spc="-390" dirty="0">
                <a:latin typeface="Courier New"/>
                <a:cs typeface="Courier New"/>
              </a:rPr>
              <a:t>  </a:t>
            </a:r>
            <a:r>
              <a:rPr sz="2400" spc="-75" dirty="0">
                <a:latin typeface="Courier New"/>
                <a:cs typeface="Courier New"/>
              </a:rPr>
              <a:t>are 	</a:t>
            </a:r>
            <a:r>
              <a:rPr sz="2400" spc="-10" dirty="0">
                <a:latin typeface="Courier New"/>
                <a:cs typeface="Courier New"/>
              </a:rPr>
              <a:t>activity</a:t>
            </a:r>
            <a:r>
              <a:rPr sz="2400" spc="-6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sequencing.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24450" y="1966340"/>
            <a:ext cx="2424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36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preferred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85861" y="1966340"/>
            <a:ext cx="3985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technique</a:t>
            </a:r>
            <a:r>
              <a:rPr sz="2400" spc="509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-400" dirty="0">
                <a:latin typeface="Courier New"/>
                <a:cs typeface="Courier New"/>
              </a:rPr>
              <a:t>  </a:t>
            </a:r>
            <a:r>
              <a:rPr sz="2400" spc="-20" dirty="0">
                <a:latin typeface="Courier New"/>
                <a:cs typeface="Courier New"/>
              </a:rPr>
              <a:t>showing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1524" y="3015233"/>
            <a:ext cx="4092575" cy="233997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4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network</a:t>
            </a:r>
            <a:r>
              <a:rPr sz="2400" spc="3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diagram</a:t>
            </a:r>
            <a:r>
              <a:rPr sz="2400" spc="40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is 	</a:t>
            </a:r>
            <a:r>
              <a:rPr sz="2400" i="1" dirty="0">
                <a:latin typeface="Courier New"/>
                <a:cs typeface="Courier New"/>
              </a:rPr>
              <a:t>relationships</a:t>
            </a:r>
            <a:r>
              <a:rPr sz="2400" i="1" spc="-20" dirty="0">
                <a:latin typeface="Courier New"/>
                <a:cs typeface="Courier New"/>
              </a:rPr>
              <a:t>   </a:t>
            </a:r>
            <a:r>
              <a:rPr sz="2400" i="1" spc="-10" dirty="0">
                <a:latin typeface="Courier New"/>
                <a:cs typeface="Courier New"/>
              </a:rPr>
              <a:t>among 	sequencing</a:t>
            </a:r>
            <a:r>
              <a:rPr sz="2400" spc="-10" dirty="0">
                <a:latin typeface="Courier New"/>
                <a:cs typeface="Courier New"/>
              </a:rPr>
              <a:t>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ourier New"/>
                <a:cs typeface="Courier New"/>
              </a:rPr>
              <a:t>Some</a:t>
            </a:r>
            <a:r>
              <a:rPr sz="2400" spc="2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people</a:t>
            </a:r>
            <a:r>
              <a:rPr sz="2400" spc="2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refer</a:t>
            </a:r>
            <a:r>
              <a:rPr sz="2400" spc="24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to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45785" y="3015233"/>
            <a:ext cx="4238625" cy="1111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marR="5080" indent="-341630">
              <a:lnSpc>
                <a:spcPct val="148400"/>
              </a:lnSpc>
              <a:spcBef>
                <a:spcPts val="100"/>
              </a:spcBef>
              <a:tabLst>
                <a:tab pos="2179955" algn="l"/>
              </a:tabLst>
            </a:pPr>
            <a:r>
              <a:rPr sz="2400" i="1" dirty="0">
                <a:latin typeface="Courier New"/>
                <a:cs typeface="Courier New"/>
              </a:rPr>
              <a:t>a</a:t>
            </a:r>
            <a:r>
              <a:rPr sz="2400" i="1" spc="360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schematic</a:t>
            </a:r>
            <a:r>
              <a:rPr sz="2400" i="1" spc="530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display</a:t>
            </a:r>
            <a:r>
              <a:rPr sz="2400" i="1" spc="535" dirty="0">
                <a:latin typeface="Courier New"/>
                <a:cs typeface="Courier New"/>
              </a:rPr>
              <a:t> </a:t>
            </a:r>
            <a:r>
              <a:rPr sz="2400" i="1" spc="-25" dirty="0">
                <a:latin typeface="Courier New"/>
                <a:cs typeface="Courier New"/>
              </a:rPr>
              <a:t>of </a:t>
            </a:r>
            <a:r>
              <a:rPr sz="2400" i="1" spc="-10" dirty="0">
                <a:latin typeface="Courier New"/>
                <a:cs typeface="Courier New"/>
              </a:rPr>
              <a:t>project</a:t>
            </a:r>
            <a:r>
              <a:rPr sz="2400" i="1" dirty="0">
                <a:latin typeface="Courier New"/>
                <a:cs typeface="Courier New"/>
              </a:rPr>
              <a:t>	</a:t>
            </a:r>
            <a:r>
              <a:rPr sz="2400" i="1" spc="-10" dirty="0">
                <a:latin typeface="Courier New"/>
                <a:cs typeface="Courier New"/>
              </a:rPr>
              <a:t>activities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15296" y="3015233"/>
            <a:ext cx="2112645" cy="1111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5080" indent="-76200">
              <a:lnSpc>
                <a:spcPct val="148400"/>
              </a:lnSpc>
              <a:spcBef>
                <a:spcPts val="100"/>
              </a:spcBef>
              <a:tabLst>
                <a:tab pos="1183005" algn="l"/>
              </a:tabLst>
            </a:pPr>
            <a:r>
              <a:rPr sz="2400" i="1" dirty="0">
                <a:latin typeface="Courier New"/>
                <a:cs typeface="Courier New"/>
              </a:rPr>
              <a:t>the</a:t>
            </a:r>
            <a:r>
              <a:rPr sz="2400" i="1" spc="565" dirty="0">
                <a:latin typeface="Courier New"/>
                <a:cs typeface="Courier New"/>
              </a:rPr>
              <a:t> </a:t>
            </a:r>
            <a:r>
              <a:rPr sz="2400" i="1" spc="-10" dirty="0">
                <a:latin typeface="Courier New"/>
                <a:cs typeface="Courier New"/>
              </a:rPr>
              <a:t>logical </a:t>
            </a:r>
            <a:r>
              <a:rPr sz="2400" i="1" spc="-25" dirty="0">
                <a:latin typeface="Courier New"/>
                <a:cs typeface="Courier New"/>
              </a:rPr>
              <a:t>and</a:t>
            </a:r>
            <a:r>
              <a:rPr sz="2400" i="1" dirty="0">
                <a:latin typeface="Courier New"/>
                <a:cs typeface="Courier New"/>
              </a:rPr>
              <a:t>	</a:t>
            </a:r>
            <a:r>
              <a:rPr sz="2400" i="1" spc="-10" dirty="0">
                <a:latin typeface="Courier New"/>
                <a:cs typeface="Courier New"/>
              </a:rPr>
              <a:t>their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60441" y="4964048"/>
            <a:ext cx="5015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network</a:t>
            </a:r>
            <a:r>
              <a:rPr sz="2400" spc="1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diagrams</a:t>
            </a:r>
            <a:r>
              <a:rPr sz="2400" spc="1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as</a:t>
            </a:r>
            <a:r>
              <a:rPr sz="2400" spc="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0241" y="4964048"/>
            <a:ext cx="1463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ourier New"/>
                <a:cs typeface="Courier New"/>
              </a:rPr>
              <a:t>schedule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00124" y="5512409"/>
            <a:ext cx="54864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network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diagrams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PERT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charts.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Sequencing</a:t>
            </a:r>
            <a:r>
              <a:rPr spc="-1225" dirty="0"/>
              <a:t> </a:t>
            </a:r>
            <a:r>
              <a:rPr spc="-10" dirty="0"/>
              <a:t>Activities.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4216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The</a:t>
            </a:r>
            <a:r>
              <a:rPr spc="-325" dirty="0">
                <a:solidFill>
                  <a:schemeClr val="bg1"/>
                </a:solidFill>
              </a:rPr>
              <a:t> </a:t>
            </a:r>
            <a:r>
              <a:rPr spc="-40" dirty="0">
                <a:solidFill>
                  <a:schemeClr val="bg1"/>
                </a:solidFill>
              </a:rPr>
              <a:t>format</a:t>
            </a:r>
            <a:r>
              <a:rPr spc="-350" dirty="0">
                <a:solidFill>
                  <a:schemeClr val="bg1"/>
                </a:solidFill>
              </a:rPr>
              <a:t> </a:t>
            </a:r>
            <a:r>
              <a:rPr spc="-55" dirty="0">
                <a:solidFill>
                  <a:schemeClr val="bg1"/>
                </a:solidFill>
              </a:rPr>
              <a:t>of</a:t>
            </a:r>
            <a:r>
              <a:rPr spc="-39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this</a:t>
            </a:r>
            <a:r>
              <a:rPr spc="-170" dirty="0">
                <a:solidFill>
                  <a:schemeClr val="bg1"/>
                </a:solidFill>
              </a:rPr>
              <a:t> </a:t>
            </a:r>
            <a:r>
              <a:rPr spc="-60" dirty="0">
                <a:solidFill>
                  <a:schemeClr val="bg1"/>
                </a:solidFill>
              </a:rPr>
              <a:t>network</a:t>
            </a:r>
            <a:r>
              <a:rPr spc="-315" dirty="0">
                <a:solidFill>
                  <a:schemeClr val="bg1"/>
                </a:solidFill>
              </a:rPr>
              <a:t> </a:t>
            </a:r>
            <a:r>
              <a:rPr spc="-40" dirty="0">
                <a:solidFill>
                  <a:schemeClr val="bg1"/>
                </a:solidFill>
              </a:rPr>
              <a:t>diagram</a:t>
            </a:r>
            <a:r>
              <a:rPr spc="-320" dirty="0">
                <a:solidFill>
                  <a:schemeClr val="bg1"/>
                </a:solidFill>
              </a:rPr>
              <a:t> </a:t>
            </a:r>
            <a:r>
              <a:rPr spc="-60" dirty="0">
                <a:solidFill>
                  <a:schemeClr val="bg1"/>
                </a:solidFill>
              </a:rPr>
              <a:t>uses</a:t>
            </a:r>
            <a:r>
              <a:rPr spc="-320" dirty="0">
                <a:solidFill>
                  <a:schemeClr val="bg1"/>
                </a:solidFill>
              </a:rPr>
              <a:t> </a:t>
            </a:r>
            <a:r>
              <a:rPr spc="-55" dirty="0">
                <a:solidFill>
                  <a:schemeClr val="bg1"/>
                </a:solidFill>
              </a:rPr>
              <a:t>the</a:t>
            </a:r>
            <a:r>
              <a:rPr spc="-37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Activity-</a:t>
            </a:r>
            <a:r>
              <a:rPr dirty="0">
                <a:solidFill>
                  <a:schemeClr val="bg1"/>
                </a:solidFill>
              </a:rPr>
              <a:t>On-</a:t>
            </a:r>
            <a:r>
              <a:rPr spc="-10" dirty="0">
                <a:solidFill>
                  <a:schemeClr val="bg1"/>
                </a:solidFill>
              </a:rPr>
              <a:t>Arrow 	(AOA)</a:t>
            </a:r>
            <a:r>
              <a:rPr spc="-70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approach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or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Arrow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Diagramming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Method</a:t>
            </a:r>
            <a:r>
              <a:rPr spc="-7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(ADM)</a:t>
            </a:r>
          </a:p>
          <a:p>
            <a:pPr marL="240029" marR="7620" indent="-227329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All</a:t>
            </a:r>
            <a:r>
              <a:rPr spc="21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activities</a:t>
            </a:r>
            <a:r>
              <a:rPr spc="21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are</a:t>
            </a:r>
            <a:r>
              <a:rPr spc="21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represented</a:t>
            </a:r>
            <a:r>
              <a:rPr spc="21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by</a:t>
            </a:r>
            <a:r>
              <a:rPr spc="2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arrows</a:t>
            </a:r>
            <a:r>
              <a:rPr spc="1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and</a:t>
            </a:r>
            <a:r>
              <a:rPr spc="19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connected</a:t>
            </a:r>
            <a:r>
              <a:rPr spc="275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at 	</a:t>
            </a:r>
            <a:r>
              <a:rPr spc="-10" dirty="0">
                <a:solidFill>
                  <a:schemeClr val="bg1"/>
                </a:solidFill>
              </a:rPr>
              <a:t>points</a:t>
            </a:r>
            <a:r>
              <a:rPr spc="-70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called</a:t>
            </a:r>
            <a:r>
              <a:rPr spc="-7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nodes</a:t>
            </a:r>
            <a:r>
              <a:rPr spc="-7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to</a:t>
            </a:r>
            <a:r>
              <a:rPr spc="-7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illustrate</a:t>
            </a:r>
            <a:r>
              <a:rPr spc="-76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sequence</a:t>
            </a:r>
            <a:r>
              <a:rPr spc="-76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of</a:t>
            </a:r>
            <a:r>
              <a:rPr spc="-7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activities.</a:t>
            </a:r>
          </a:p>
          <a:p>
            <a:pPr marL="240029" indent="-227329">
              <a:lnSpc>
                <a:spcPct val="100000"/>
              </a:lnSpc>
              <a:spcBef>
                <a:spcPts val="243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>
                <a:solidFill>
                  <a:schemeClr val="bg1"/>
                </a:solidFill>
              </a:rPr>
              <a:t>A</a:t>
            </a:r>
            <a:r>
              <a:rPr spc="-68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node</a:t>
            </a:r>
            <a:r>
              <a:rPr spc="-7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is</a:t>
            </a:r>
            <a:r>
              <a:rPr spc="-7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simply</a:t>
            </a:r>
            <a:r>
              <a:rPr spc="-78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starting</a:t>
            </a:r>
            <a:r>
              <a:rPr spc="-7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and</a:t>
            </a:r>
            <a:r>
              <a:rPr spc="-78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ending</a:t>
            </a:r>
            <a:r>
              <a:rPr spc="-78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point</a:t>
            </a:r>
            <a:r>
              <a:rPr spc="-7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of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an</a:t>
            </a:r>
            <a:r>
              <a:rPr spc="-7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activity.</a:t>
            </a: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>
                <a:solidFill>
                  <a:schemeClr val="bg1"/>
                </a:solidFill>
              </a:rPr>
              <a:t>The</a:t>
            </a:r>
            <a:r>
              <a:rPr spc="-31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first</a:t>
            </a:r>
            <a:r>
              <a:rPr spc="-22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node</a:t>
            </a:r>
            <a:r>
              <a:rPr spc="-2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signifies</a:t>
            </a:r>
            <a:r>
              <a:rPr spc="-22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-2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start</a:t>
            </a:r>
            <a:r>
              <a:rPr spc="-55" dirty="0">
                <a:solidFill>
                  <a:schemeClr val="bg1"/>
                </a:solidFill>
              </a:rPr>
              <a:t> </a:t>
            </a:r>
            <a:r>
              <a:rPr spc="-60" dirty="0">
                <a:solidFill>
                  <a:schemeClr val="bg1"/>
                </a:solidFill>
              </a:rPr>
              <a:t>of</a:t>
            </a:r>
            <a:r>
              <a:rPr spc="-30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3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project</a:t>
            </a:r>
            <a:r>
              <a:rPr spc="-18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and</a:t>
            </a:r>
            <a:r>
              <a:rPr spc="-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-25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last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0124" y="5692083"/>
            <a:ext cx="4123054" cy="370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80"/>
              </a:lnSpc>
            </a:pPr>
            <a:r>
              <a:rPr sz="2400" spc="-10" dirty="0">
                <a:latin typeface="Courier New"/>
                <a:cs typeface="Courier New"/>
              </a:rPr>
              <a:t>node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represents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end.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Sequencing</a:t>
            </a:r>
            <a:r>
              <a:rPr spc="-1225" dirty="0"/>
              <a:t> </a:t>
            </a:r>
            <a:r>
              <a:rPr spc="-10" dirty="0"/>
              <a:t>Activities.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96237"/>
            <a:ext cx="10883900" cy="41643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935" indent="-22923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935" algn="l"/>
              </a:tabLst>
            </a:pPr>
            <a:r>
              <a:rPr sz="1700" spc="-10" dirty="0">
                <a:latin typeface="Courier New"/>
                <a:cs typeface="Courier New"/>
              </a:rPr>
              <a:t>Process</a:t>
            </a:r>
            <a:r>
              <a:rPr sz="1700" spc="-47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for</a:t>
            </a:r>
            <a:r>
              <a:rPr sz="1700" spc="-50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Creating</a:t>
            </a:r>
            <a:r>
              <a:rPr sz="1700" spc="-52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AOA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Diagrams:</a:t>
            </a:r>
            <a:endParaRPr sz="1700">
              <a:latin typeface="Courier New"/>
              <a:cs typeface="Courier New"/>
            </a:endParaRPr>
          </a:p>
          <a:p>
            <a:pPr marL="966469" marR="5080" lvl="1" indent="-457834" algn="just">
              <a:lnSpc>
                <a:spcPct val="130000"/>
              </a:lnSpc>
              <a:spcBef>
                <a:spcPts val="994"/>
              </a:spcBef>
              <a:buAutoNum type="arabicPeriod"/>
              <a:tabLst>
                <a:tab pos="966469" algn="l"/>
              </a:tabLst>
            </a:pPr>
            <a:r>
              <a:rPr sz="1700" spc="-10" dirty="0">
                <a:latin typeface="Courier New"/>
                <a:cs typeface="Courier New"/>
              </a:rPr>
              <a:t>Find</a:t>
            </a:r>
            <a:r>
              <a:rPr sz="1700" spc="-220" dirty="0">
                <a:latin typeface="Courier New"/>
                <a:cs typeface="Courier New"/>
              </a:rPr>
              <a:t> </a:t>
            </a:r>
            <a:r>
              <a:rPr sz="1700" spc="-50" dirty="0">
                <a:latin typeface="Courier New"/>
                <a:cs typeface="Courier New"/>
              </a:rPr>
              <a:t>all</a:t>
            </a:r>
            <a:r>
              <a:rPr sz="1700" spc="-220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of</a:t>
            </a:r>
            <a:r>
              <a:rPr sz="1700" spc="-270" dirty="0">
                <a:latin typeface="Courier New"/>
                <a:cs typeface="Courier New"/>
              </a:rPr>
              <a:t> </a:t>
            </a:r>
            <a:r>
              <a:rPr sz="1700" spc="-55" dirty="0">
                <a:latin typeface="Courier New"/>
                <a:cs typeface="Courier New"/>
              </a:rPr>
              <a:t>the</a:t>
            </a:r>
            <a:r>
              <a:rPr sz="1700" spc="-220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activities</a:t>
            </a:r>
            <a:r>
              <a:rPr sz="1700" spc="-195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that</a:t>
            </a:r>
            <a:r>
              <a:rPr sz="1700" spc="-220" dirty="0">
                <a:latin typeface="Courier New"/>
                <a:cs typeface="Courier New"/>
              </a:rPr>
              <a:t> </a:t>
            </a:r>
            <a:r>
              <a:rPr sz="1700" spc="-40" dirty="0">
                <a:latin typeface="Courier New"/>
                <a:cs typeface="Courier New"/>
              </a:rPr>
              <a:t>start</a:t>
            </a:r>
            <a:r>
              <a:rPr sz="1700" spc="-195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at</a:t>
            </a:r>
            <a:r>
              <a:rPr sz="1700" spc="-265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node</a:t>
            </a:r>
            <a:r>
              <a:rPr sz="1700" spc="-270" dirty="0">
                <a:latin typeface="Courier New"/>
                <a:cs typeface="Courier New"/>
              </a:rPr>
              <a:t> </a:t>
            </a:r>
            <a:r>
              <a:rPr sz="1700" spc="-60" dirty="0">
                <a:latin typeface="Courier New"/>
                <a:cs typeface="Courier New"/>
              </a:rPr>
              <a:t>1.</a:t>
            </a:r>
            <a:r>
              <a:rPr sz="1700" spc="-270" dirty="0">
                <a:latin typeface="Courier New"/>
                <a:cs typeface="Courier New"/>
              </a:rPr>
              <a:t> </a:t>
            </a:r>
            <a:r>
              <a:rPr sz="1700" spc="-55" dirty="0">
                <a:latin typeface="Courier New"/>
                <a:cs typeface="Courier New"/>
              </a:rPr>
              <a:t>Draw</a:t>
            </a:r>
            <a:r>
              <a:rPr sz="1700" spc="-190" dirty="0">
                <a:latin typeface="Courier New"/>
                <a:cs typeface="Courier New"/>
              </a:rPr>
              <a:t> </a:t>
            </a:r>
            <a:r>
              <a:rPr sz="1700" spc="-40" dirty="0">
                <a:latin typeface="Courier New"/>
                <a:cs typeface="Courier New"/>
              </a:rPr>
              <a:t>their</a:t>
            </a:r>
            <a:r>
              <a:rPr sz="1700" spc="-220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finish</a:t>
            </a:r>
            <a:r>
              <a:rPr sz="1700" spc="-229" dirty="0">
                <a:latin typeface="Courier New"/>
                <a:cs typeface="Courier New"/>
              </a:rPr>
              <a:t> </a:t>
            </a:r>
            <a:r>
              <a:rPr sz="1700" spc="-40" dirty="0">
                <a:latin typeface="Courier New"/>
                <a:cs typeface="Courier New"/>
              </a:rPr>
              <a:t>nodes</a:t>
            </a:r>
            <a:r>
              <a:rPr sz="1700" spc="-170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and</a:t>
            </a:r>
            <a:r>
              <a:rPr sz="1700" spc="-55" dirty="0">
                <a:latin typeface="Courier New"/>
                <a:cs typeface="Courier New"/>
              </a:rPr>
              <a:t> draw</a:t>
            </a:r>
            <a:r>
              <a:rPr sz="1700" spc="-1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arrows</a:t>
            </a:r>
            <a:r>
              <a:rPr sz="1700" spc="-240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between</a:t>
            </a:r>
            <a:r>
              <a:rPr sz="1700" spc="-220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node</a:t>
            </a:r>
            <a:r>
              <a:rPr sz="1700" spc="-290" dirty="0">
                <a:latin typeface="Courier New"/>
                <a:cs typeface="Courier New"/>
              </a:rPr>
              <a:t> </a:t>
            </a:r>
            <a:r>
              <a:rPr sz="1700" spc="-15" dirty="0">
                <a:latin typeface="Courier New"/>
                <a:cs typeface="Courier New"/>
              </a:rPr>
              <a:t>1</a:t>
            </a:r>
            <a:r>
              <a:rPr sz="1700" spc="-365" dirty="0">
                <a:latin typeface="Courier New"/>
                <a:cs typeface="Courier New"/>
              </a:rPr>
              <a:t> </a:t>
            </a:r>
            <a:r>
              <a:rPr sz="1700" spc="-55" dirty="0">
                <a:latin typeface="Courier New"/>
                <a:cs typeface="Courier New"/>
              </a:rPr>
              <a:t>and</a:t>
            </a:r>
            <a:r>
              <a:rPr sz="1700" spc="-150" dirty="0">
                <a:latin typeface="Courier New"/>
                <a:cs typeface="Courier New"/>
              </a:rPr>
              <a:t> </a:t>
            </a:r>
            <a:r>
              <a:rPr sz="1700" spc="-65" dirty="0">
                <a:latin typeface="Courier New"/>
                <a:cs typeface="Courier New"/>
              </a:rPr>
              <a:t>those</a:t>
            </a:r>
            <a:r>
              <a:rPr sz="1700" spc="-240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finish</a:t>
            </a:r>
            <a:r>
              <a:rPr sz="1700" spc="-245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nodes.</a:t>
            </a:r>
            <a:r>
              <a:rPr sz="1700" spc="-245" dirty="0">
                <a:latin typeface="Courier New"/>
                <a:cs typeface="Courier New"/>
              </a:rPr>
              <a:t> </a:t>
            </a:r>
            <a:r>
              <a:rPr sz="1700" spc="-50" dirty="0">
                <a:latin typeface="Courier New"/>
                <a:cs typeface="Courier New"/>
              </a:rPr>
              <a:t>Put</a:t>
            </a:r>
            <a:r>
              <a:rPr sz="1700" spc="-409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the</a:t>
            </a:r>
            <a:r>
              <a:rPr sz="1700" spc="-245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activity</a:t>
            </a:r>
            <a:r>
              <a:rPr sz="1700" spc="-240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letter</a:t>
            </a:r>
            <a:r>
              <a:rPr sz="1700" spc="-220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or</a:t>
            </a:r>
            <a:r>
              <a:rPr sz="1700" spc="-270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name</a:t>
            </a:r>
            <a:r>
              <a:rPr sz="1700" spc="-170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and</a:t>
            </a:r>
            <a:r>
              <a:rPr sz="1700" spc="-1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duration</a:t>
            </a:r>
            <a:r>
              <a:rPr sz="1700" spc="-53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estimate</a:t>
            </a:r>
            <a:r>
              <a:rPr sz="1700" spc="-54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on</a:t>
            </a:r>
            <a:r>
              <a:rPr sz="1700" spc="-55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the</a:t>
            </a:r>
            <a:r>
              <a:rPr sz="1700" spc="-555" dirty="0">
                <a:latin typeface="Courier New"/>
                <a:cs typeface="Courier New"/>
              </a:rPr>
              <a:t> </a:t>
            </a:r>
            <a:r>
              <a:rPr sz="1700" spc="-15" dirty="0">
                <a:latin typeface="Courier New"/>
                <a:cs typeface="Courier New"/>
              </a:rPr>
              <a:t>associated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15" dirty="0">
                <a:latin typeface="Courier New"/>
                <a:cs typeface="Courier New"/>
              </a:rPr>
              <a:t>arrow.</a:t>
            </a:r>
            <a:endParaRPr sz="1700">
              <a:latin typeface="Courier New"/>
              <a:cs typeface="Courier New"/>
            </a:endParaRPr>
          </a:p>
          <a:p>
            <a:pPr marL="966469" marR="5080" lvl="1" indent="-457834" algn="just">
              <a:lnSpc>
                <a:spcPct val="130000"/>
              </a:lnSpc>
              <a:spcBef>
                <a:spcPts val="994"/>
              </a:spcBef>
              <a:buAutoNum type="arabicPeriod"/>
              <a:tabLst>
                <a:tab pos="966469" algn="l"/>
              </a:tabLst>
            </a:pPr>
            <a:r>
              <a:rPr sz="1700" spc="-10" dirty="0">
                <a:latin typeface="Courier New"/>
                <a:cs typeface="Courier New"/>
              </a:rPr>
              <a:t>Continue</a:t>
            </a:r>
            <a:r>
              <a:rPr sz="1700" spc="-285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drawing</a:t>
            </a:r>
            <a:r>
              <a:rPr sz="1700" spc="-305" dirty="0">
                <a:latin typeface="Courier New"/>
                <a:cs typeface="Courier New"/>
              </a:rPr>
              <a:t> </a:t>
            </a:r>
            <a:r>
              <a:rPr sz="1700" spc="-50" dirty="0">
                <a:latin typeface="Courier New"/>
                <a:cs typeface="Courier New"/>
              </a:rPr>
              <a:t>the</a:t>
            </a:r>
            <a:r>
              <a:rPr sz="1700" spc="-340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network</a:t>
            </a:r>
            <a:r>
              <a:rPr sz="1700" spc="-295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diagram,</a:t>
            </a:r>
            <a:r>
              <a:rPr sz="1700" spc="-305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working</a:t>
            </a:r>
            <a:r>
              <a:rPr sz="1700" spc="-295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from</a:t>
            </a:r>
            <a:r>
              <a:rPr sz="1700" spc="-175" dirty="0">
                <a:latin typeface="Courier New"/>
                <a:cs typeface="Courier New"/>
              </a:rPr>
              <a:t> </a:t>
            </a:r>
            <a:r>
              <a:rPr sz="1700" spc="-75" dirty="0">
                <a:latin typeface="Courier New"/>
                <a:cs typeface="Courier New"/>
              </a:rPr>
              <a:t>left</a:t>
            </a:r>
            <a:r>
              <a:rPr sz="1700" spc="-320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to</a:t>
            </a:r>
            <a:r>
              <a:rPr sz="1700" spc="-365" dirty="0">
                <a:latin typeface="Courier New"/>
                <a:cs typeface="Courier New"/>
              </a:rPr>
              <a:t> </a:t>
            </a:r>
            <a:r>
              <a:rPr sz="1700" spc="-40" dirty="0">
                <a:latin typeface="Courier New"/>
                <a:cs typeface="Courier New"/>
              </a:rPr>
              <a:t>right.</a:t>
            </a:r>
            <a:r>
              <a:rPr sz="1700" spc="-295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Look</a:t>
            </a:r>
            <a:r>
              <a:rPr sz="1700" spc="-295" dirty="0">
                <a:latin typeface="Courier New"/>
                <a:cs typeface="Courier New"/>
              </a:rPr>
              <a:t> </a:t>
            </a:r>
            <a:r>
              <a:rPr sz="1700" spc="-40" dirty="0">
                <a:latin typeface="Courier New"/>
                <a:cs typeface="Courier New"/>
              </a:rPr>
              <a:t>for</a:t>
            </a:r>
            <a:r>
              <a:rPr sz="1700" spc="-270" dirty="0">
                <a:latin typeface="Courier New"/>
                <a:cs typeface="Courier New"/>
              </a:rPr>
              <a:t> </a:t>
            </a:r>
            <a:r>
              <a:rPr sz="1700" spc="-15" dirty="0">
                <a:latin typeface="Courier New"/>
                <a:cs typeface="Courier New"/>
              </a:rPr>
              <a:t>bursts </a:t>
            </a:r>
            <a:r>
              <a:rPr sz="1700" spc="-10" dirty="0">
                <a:latin typeface="Courier New"/>
                <a:cs typeface="Courier New"/>
              </a:rPr>
              <a:t>and</a:t>
            </a:r>
            <a:r>
              <a:rPr sz="1700" spc="-315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merges.</a:t>
            </a:r>
            <a:r>
              <a:rPr sz="1700" spc="-315" dirty="0">
                <a:latin typeface="Courier New"/>
                <a:cs typeface="Courier New"/>
              </a:rPr>
              <a:t> </a:t>
            </a:r>
            <a:r>
              <a:rPr sz="1700" b="1" spc="-35" dirty="0">
                <a:latin typeface="Courier New"/>
                <a:cs typeface="Courier New"/>
              </a:rPr>
              <a:t>Bursts</a:t>
            </a:r>
            <a:r>
              <a:rPr sz="1700" b="1" spc="-315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occur</a:t>
            </a:r>
            <a:r>
              <a:rPr sz="1700" spc="-49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when</a:t>
            </a:r>
            <a:r>
              <a:rPr sz="1700" spc="-315" dirty="0">
                <a:latin typeface="Courier New"/>
                <a:cs typeface="Courier New"/>
              </a:rPr>
              <a:t> </a:t>
            </a:r>
            <a:r>
              <a:rPr sz="1700" spc="-15" dirty="0">
                <a:latin typeface="Courier New"/>
                <a:cs typeface="Courier New"/>
              </a:rPr>
              <a:t>a</a:t>
            </a:r>
            <a:r>
              <a:rPr sz="1700" spc="-409" dirty="0">
                <a:latin typeface="Courier New"/>
                <a:cs typeface="Courier New"/>
              </a:rPr>
              <a:t> </a:t>
            </a:r>
            <a:r>
              <a:rPr sz="1700" spc="-40" dirty="0">
                <a:latin typeface="Courier New"/>
                <a:cs typeface="Courier New"/>
              </a:rPr>
              <a:t>single</a:t>
            </a:r>
            <a:r>
              <a:rPr sz="1700" spc="-315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node</a:t>
            </a:r>
            <a:r>
              <a:rPr sz="1700" spc="-315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is</a:t>
            </a:r>
            <a:r>
              <a:rPr sz="1700" spc="-390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followed</a:t>
            </a:r>
            <a:r>
              <a:rPr sz="1700" spc="-310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by</a:t>
            </a:r>
            <a:r>
              <a:rPr sz="1700" spc="-365" dirty="0">
                <a:latin typeface="Courier New"/>
                <a:cs typeface="Courier New"/>
              </a:rPr>
              <a:t> </a:t>
            </a:r>
            <a:r>
              <a:rPr sz="1700" spc="-55" dirty="0">
                <a:latin typeface="Courier New"/>
                <a:cs typeface="Courier New"/>
              </a:rPr>
              <a:t>two</a:t>
            </a:r>
            <a:r>
              <a:rPr sz="1700" spc="-315" dirty="0">
                <a:latin typeface="Courier New"/>
                <a:cs typeface="Courier New"/>
              </a:rPr>
              <a:t> </a:t>
            </a:r>
            <a:r>
              <a:rPr sz="1700" spc="-60" dirty="0">
                <a:latin typeface="Courier New"/>
                <a:cs typeface="Courier New"/>
              </a:rPr>
              <a:t>or</a:t>
            </a:r>
            <a:r>
              <a:rPr sz="1700" spc="-365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more</a:t>
            </a:r>
            <a:r>
              <a:rPr sz="1700" spc="-315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activities.</a:t>
            </a:r>
            <a:r>
              <a:rPr sz="1700" spc="-15" dirty="0">
                <a:latin typeface="Courier New"/>
                <a:cs typeface="Courier New"/>
              </a:rPr>
              <a:t> A</a:t>
            </a:r>
            <a:r>
              <a:rPr sz="1700" spc="-484" dirty="0">
                <a:latin typeface="Courier New"/>
                <a:cs typeface="Courier New"/>
              </a:rPr>
              <a:t> </a:t>
            </a:r>
            <a:r>
              <a:rPr sz="1700" b="1" spc="-15" dirty="0">
                <a:latin typeface="Courier New"/>
                <a:cs typeface="Courier New"/>
              </a:rPr>
              <a:t>merge</a:t>
            </a:r>
            <a:r>
              <a:rPr sz="1700" b="1" spc="-530" dirty="0">
                <a:latin typeface="Courier New"/>
                <a:cs typeface="Courier New"/>
              </a:rPr>
              <a:t> </a:t>
            </a:r>
            <a:r>
              <a:rPr sz="1700" spc="-15" dirty="0">
                <a:latin typeface="Courier New"/>
                <a:cs typeface="Courier New"/>
              </a:rPr>
              <a:t>occurs</a:t>
            </a:r>
            <a:r>
              <a:rPr sz="1700" spc="-530" dirty="0">
                <a:latin typeface="Courier New"/>
                <a:cs typeface="Courier New"/>
              </a:rPr>
              <a:t> </a:t>
            </a:r>
            <a:r>
              <a:rPr sz="1700" spc="-15" dirty="0">
                <a:latin typeface="Courier New"/>
                <a:cs typeface="Courier New"/>
              </a:rPr>
              <a:t>when</a:t>
            </a:r>
            <a:r>
              <a:rPr sz="1700" spc="-530" dirty="0">
                <a:latin typeface="Courier New"/>
                <a:cs typeface="Courier New"/>
              </a:rPr>
              <a:t> </a:t>
            </a:r>
            <a:r>
              <a:rPr sz="1700" spc="-15" dirty="0">
                <a:latin typeface="Courier New"/>
                <a:cs typeface="Courier New"/>
              </a:rPr>
              <a:t>two</a:t>
            </a:r>
            <a:r>
              <a:rPr sz="1700" spc="-56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or</a:t>
            </a:r>
            <a:r>
              <a:rPr sz="1700" spc="-535" dirty="0">
                <a:latin typeface="Courier New"/>
                <a:cs typeface="Courier New"/>
              </a:rPr>
              <a:t> </a:t>
            </a:r>
            <a:r>
              <a:rPr sz="1700" spc="-15" dirty="0">
                <a:latin typeface="Courier New"/>
                <a:cs typeface="Courier New"/>
              </a:rPr>
              <a:t>more</a:t>
            </a:r>
            <a:r>
              <a:rPr sz="1700" spc="-555" dirty="0">
                <a:latin typeface="Courier New"/>
                <a:cs typeface="Courier New"/>
              </a:rPr>
              <a:t> </a:t>
            </a:r>
            <a:r>
              <a:rPr sz="1700" spc="-15" dirty="0">
                <a:latin typeface="Courier New"/>
                <a:cs typeface="Courier New"/>
              </a:rPr>
              <a:t>nodes</a:t>
            </a:r>
            <a:r>
              <a:rPr sz="1700" spc="-535" dirty="0">
                <a:latin typeface="Courier New"/>
                <a:cs typeface="Courier New"/>
              </a:rPr>
              <a:t> </a:t>
            </a:r>
            <a:r>
              <a:rPr sz="1700" spc="-15" dirty="0">
                <a:latin typeface="Courier New"/>
                <a:cs typeface="Courier New"/>
              </a:rPr>
              <a:t>precede</a:t>
            </a:r>
            <a:r>
              <a:rPr sz="1700" spc="-550" dirty="0">
                <a:latin typeface="Courier New"/>
                <a:cs typeface="Courier New"/>
              </a:rPr>
              <a:t> </a:t>
            </a:r>
            <a:r>
              <a:rPr sz="1700" spc="-15" dirty="0">
                <a:latin typeface="Courier New"/>
                <a:cs typeface="Courier New"/>
              </a:rPr>
              <a:t>a</a:t>
            </a:r>
            <a:r>
              <a:rPr sz="1700" spc="-535" dirty="0">
                <a:latin typeface="Courier New"/>
                <a:cs typeface="Courier New"/>
              </a:rPr>
              <a:t> </a:t>
            </a:r>
            <a:r>
              <a:rPr sz="1700" spc="-15" dirty="0">
                <a:latin typeface="Courier New"/>
                <a:cs typeface="Courier New"/>
              </a:rPr>
              <a:t>single</a:t>
            </a:r>
            <a:r>
              <a:rPr sz="1700" spc="-530" dirty="0">
                <a:latin typeface="Courier New"/>
                <a:cs typeface="Courier New"/>
              </a:rPr>
              <a:t> </a:t>
            </a:r>
            <a:r>
              <a:rPr sz="1700" spc="-15" dirty="0">
                <a:latin typeface="Courier New"/>
                <a:cs typeface="Courier New"/>
              </a:rPr>
              <a:t>node.</a:t>
            </a:r>
            <a:endParaRPr sz="1700">
              <a:latin typeface="Courier New"/>
              <a:cs typeface="Courier New"/>
            </a:endParaRPr>
          </a:p>
          <a:p>
            <a:pPr marL="967105" lvl="1" indent="-457834">
              <a:lnSpc>
                <a:spcPct val="100000"/>
              </a:lnSpc>
              <a:spcBef>
                <a:spcPts val="1615"/>
              </a:spcBef>
              <a:buAutoNum type="arabicPeriod"/>
              <a:tabLst>
                <a:tab pos="967105" algn="l"/>
              </a:tabLst>
            </a:pPr>
            <a:r>
              <a:rPr sz="1700" spc="-10" dirty="0">
                <a:latin typeface="Courier New"/>
                <a:cs typeface="Courier New"/>
              </a:rPr>
              <a:t>Continue</a:t>
            </a:r>
            <a:r>
              <a:rPr sz="1700" spc="-290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drawing</a:t>
            </a:r>
            <a:r>
              <a:rPr sz="1700" spc="-315" dirty="0">
                <a:latin typeface="Courier New"/>
                <a:cs typeface="Courier New"/>
              </a:rPr>
              <a:t> </a:t>
            </a:r>
            <a:r>
              <a:rPr sz="1700" spc="-55" dirty="0">
                <a:latin typeface="Courier New"/>
                <a:cs typeface="Courier New"/>
              </a:rPr>
              <a:t>the</a:t>
            </a:r>
            <a:r>
              <a:rPr sz="1700" spc="-315" dirty="0">
                <a:latin typeface="Courier New"/>
                <a:cs typeface="Courier New"/>
              </a:rPr>
              <a:t> </a:t>
            </a:r>
            <a:r>
              <a:rPr sz="1700" spc="-40" dirty="0">
                <a:latin typeface="Courier New"/>
                <a:cs typeface="Courier New"/>
              </a:rPr>
              <a:t>project</a:t>
            </a:r>
            <a:r>
              <a:rPr sz="1700" spc="-295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network</a:t>
            </a:r>
            <a:r>
              <a:rPr sz="1700" spc="-305" dirty="0">
                <a:latin typeface="Courier New"/>
                <a:cs typeface="Courier New"/>
              </a:rPr>
              <a:t> </a:t>
            </a:r>
            <a:r>
              <a:rPr sz="1700" spc="-40" dirty="0">
                <a:latin typeface="Courier New"/>
                <a:cs typeface="Courier New"/>
              </a:rPr>
              <a:t>diagram</a:t>
            </a:r>
            <a:r>
              <a:rPr sz="1700" spc="-295" dirty="0">
                <a:latin typeface="Courier New"/>
                <a:cs typeface="Courier New"/>
              </a:rPr>
              <a:t> </a:t>
            </a:r>
            <a:r>
              <a:rPr sz="1700" spc="-40" dirty="0">
                <a:latin typeface="Courier New"/>
                <a:cs typeface="Courier New"/>
              </a:rPr>
              <a:t>until</a:t>
            </a:r>
            <a:r>
              <a:rPr sz="1700" spc="-170" dirty="0">
                <a:latin typeface="Courier New"/>
                <a:cs typeface="Courier New"/>
              </a:rPr>
              <a:t> </a:t>
            </a:r>
            <a:r>
              <a:rPr sz="1700" spc="-85" dirty="0">
                <a:latin typeface="Courier New"/>
                <a:cs typeface="Courier New"/>
              </a:rPr>
              <a:t>all</a:t>
            </a:r>
            <a:r>
              <a:rPr sz="1700" spc="-345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activities</a:t>
            </a:r>
            <a:r>
              <a:rPr sz="1700" spc="-295" dirty="0">
                <a:latin typeface="Courier New"/>
                <a:cs typeface="Courier New"/>
              </a:rPr>
              <a:t> </a:t>
            </a:r>
            <a:r>
              <a:rPr sz="1700" spc="-55" dirty="0">
                <a:latin typeface="Courier New"/>
                <a:cs typeface="Courier New"/>
              </a:rPr>
              <a:t>are</a:t>
            </a:r>
            <a:r>
              <a:rPr sz="1700" spc="-29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included</a:t>
            </a:r>
            <a:r>
              <a:rPr sz="1700" spc="-254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on</a:t>
            </a:r>
            <a:endParaRPr sz="1700">
              <a:latin typeface="Courier New"/>
              <a:cs typeface="Courier New"/>
            </a:endParaRPr>
          </a:p>
          <a:p>
            <a:pPr marL="966469">
              <a:lnSpc>
                <a:spcPct val="100000"/>
              </a:lnSpc>
              <a:spcBef>
                <a:spcPts val="620"/>
              </a:spcBef>
            </a:pPr>
            <a:r>
              <a:rPr sz="1700" spc="-10" dirty="0">
                <a:latin typeface="Courier New"/>
                <a:cs typeface="Courier New"/>
              </a:rPr>
              <a:t>the</a:t>
            </a:r>
            <a:r>
              <a:rPr sz="1700" spc="-45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diagram</a:t>
            </a:r>
            <a:r>
              <a:rPr sz="1700" spc="-50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that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have</a:t>
            </a:r>
            <a:r>
              <a:rPr sz="1700" spc="-50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dependencies.</a:t>
            </a:r>
            <a:endParaRPr sz="1700">
              <a:latin typeface="Courier New"/>
              <a:cs typeface="Courier New"/>
            </a:endParaRPr>
          </a:p>
          <a:p>
            <a:pPr marL="966469" marR="5715" lvl="1" indent="-457834">
              <a:lnSpc>
                <a:spcPct val="130700"/>
              </a:lnSpc>
              <a:spcBef>
                <a:spcPts val="985"/>
              </a:spcBef>
              <a:buAutoNum type="arabicPeriod" startAt="4"/>
              <a:tabLst>
                <a:tab pos="966469" algn="l"/>
              </a:tabLst>
            </a:pPr>
            <a:r>
              <a:rPr sz="1700" dirty="0">
                <a:latin typeface="Courier New"/>
                <a:cs typeface="Courier New"/>
              </a:rPr>
              <a:t>As</a:t>
            </a:r>
            <a:r>
              <a:rPr sz="1700" spc="-26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a</a:t>
            </a:r>
            <a:r>
              <a:rPr sz="1700" spc="-24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rule</a:t>
            </a:r>
            <a:r>
              <a:rPr sz="1700" spc="-15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of</a:t>
            </a:r>
            <a:r>
              <a:rPr sz="1700" spc="-19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thumb,</a:t>
            </a:r>
            <a:r>
              <a:rPr sz="1700" spc="-150" dirty="0">
                <a:latin typeface="Courier New"/>
                <a:cs typeface="Courier New"/>
              </a:rPr>
              <a:t> </a:t>
            </a:r>
            <a:r>
              <a:rPr sz="1700" spc="-40" dirty="0">
                <a:latin typeface="Courier New"/>
                <a:cs typeface="Courier New"/>
              </a:rPr>
              <a:t>all</a:t>
            </a:r>
            <a:r>
              <a:rPr sz="1700" spc="-21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arrowheads</a:t>
            </a:r>
            <a:r>
              <a:rPr sz="1700" spc="-15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should</a:t>
            </a:r>
            <a:r>
              <a:rPr sz="1700" spc="-13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face</a:t>
            </a:r>
            <a:r>
              <a:rPr sz="1700" spc="-15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toward</a:t>
            </a:r>
            <a:r>
              <a:rPr sz="1700" spc="-14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the</a:t>
            </a:r>
            <a:r>
              <a:rPr sz="1700" spc="-16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right,</a:t>
            </a:r>
            <a:r>
              <a:rPr sz="1700" spc="-16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and</a:t>
            </a:r>
            <a:r>
              <a:rPr sz="1700" spc="-10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no</a:t>
            </a:r>
            <a:r>
              <a:rPr sz="1700" spc="-254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arrows should</a:t>
            </a:r>
            <a:r>
              <a:rPr sz="1700" spc="-484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cross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on</a:t>
            </a:r>
            <a:r>
              <a:rPr sz="1700" spc="-505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an</a:t>
            </a:r>
            <a:r>
              <a:rPr sz="1700" spc="-509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AOA</a:t>
            </a:r>
            <a:r>
              <a:rPr sz="1700" spc="-50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network</a:t>
            </a:r>
            <a:r>
              <a:rPr sz="1700" spc="-53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diagram.</a:t>
            </a:r>
            <a:endParaRPr sz="1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Sequencing</a:t>
            </a:r>
            <a:r>
              <a:rPr spc="-1225" dirty="0"/>
              <a:t> </a:t>
            </a:r>
            <a:r>
              <a:rPr spc="-10" dirty="0"/>
              <a:t>Activities.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6903" y="1310639"/>
            <a:ext cx="9918192" cy="446227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051297" y="5794654"/>
            <a:ext cx="20358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Network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diagram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project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X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Sequencing</a:t>
            </a:r>
            <a:r>
              <a:rPr spc="-1225" dirty="0"/>
              <a:t> </a:t>
            </a:r>
            <a:r>
              <a:rPr spc="-10" dirty="0"/>
              <a:t>Activities.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21057"/>
            <a:ext cx="10883900" cy="43643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dirty="0">
                <a:latin typeface="Courier New"/>
                <a:cs typeface="Courier New"/>
              </a:rPr>
              <a:t>The</a:t>
            </a:r>
            <a:r>
              <a:rPr sz="1700" spc="-204" dirty="0">
                <a:latin typeface="Courier New"/>
                <a:cs typeface="Courier New"/>
              </a:rPr>
              <a:t> </a:t>
            </a:r>
            <a:r>
              <a:rPr sz="1700" b="1" dirty="0">
                <a:latin typeface="Courier New"/>
                <a:cs typeface="Courier New"/>
              </a:rPr>
              <a:t>precedence</a:t>
            </a:r>
            <a:r>
              <a:rPr sz="1700" b="1" spc="-70" dirty="0">
                <a:latin typeface="Courier New"/>
                <a:cs typeface="Courier New"/>
              </a:rPr>
              <a:t> </a:t>
            </a:r>
            <a:r>
              <a:rPr sz="1700" b="1" dirty="0">
                <a:latin typeface="Courier New"/>
                <a:cs typeface="Courier New"/>
              </a:rPr>
              <a:t>diagramming</a:t>
            </a:r>
            <a:r>
              <a:rPr sz="1700" b="1" spc="-85" dirty="0">
                <a:latin typeface="Courier New"/>
                <a:cs typeface="Courier New"/>
              </a:rPr>
              <a:t> </a:t>
            </a:r>
            <a:r>
              <a:rPr sz="1700" b="1" dirty="0">
                <a:latin typeface="Courier New"/>
                <a:cs typeface="Courier New"/>
              </a:rPr>
              <a:t>method</a:t>
            </a:r>
            <a:r>
              <a:rPr sz="1700" b="1" spc="-80" dirty="0">
                <a:latin typeface="Courier New"/>
                <a:cs typeface="Courier New"/>
              </a:rPr>
              <a:t> </a:t>
            </a:r>
            <a:r>
              <a:rPr sz="1700" b="1" dirty="0">
                <a:latin typeface="Courier New"/>
                <a:cs typeface="Courier New"/>
              </a:rPr>
              <a:t>(PDM)</a:t>
            </a:r>
            <a:r>
              <a:rPr sz="1700" b="1" spc="-10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is</a:t>
            </a:r>
            <a:r>
              <a:rPr sz="1700" spc="-18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a</a:t>
            </a:r>
            <a:r>
              <a:rPr sz="1700" spc="-26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network</a:t>
            </a:r>
            <a:r>
              <a:rPr sz="1700" spc="-18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diagramming</a:t>
            </a:r>
            <a:r>
              <a:rPr sz="1700" spc="-19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technique</a:t>
            </a:r>
            <a:r>
              <a:rPr sz="1700" spc="-14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in</a:t>
            </a:r>
            <a:r>
              <a:rPr sz="1700" spc="-18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which</a:t>
            </a:r>
            <a:endParaRPr sz="17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600"/>
              </a:spcBef>
            </a:pPr>
            <a:r>
              <a:rPr sz="1700" spc="-10" dirty="0">
                <a:latin typeface="Courier New"/>
                <a:cs typeface="Courier New"/>
              </a:rPr>
              <a:t>boxes</a:t>
            </a:r>
            <a:r>
              <a:rPr sz="1700" spc="-46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represent</a:t>
            </a:r>
            <a:r>
              <a:rPr sz="1700" spc="-47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activities.</a:t>
            </a:r>
            <a:endParaRPr sz="17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635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spc="-10" dirty="0">
                <a:latin typeface="Courier New"/>
                <a:cs typeface="Courier New"/>
              </a:rPr>
              <a:t>It</a:t>
            </a:r>
            <a:r>
              <a:rPr sz="1700" spc="-45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is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particularly</a:t>
            </a:r>
            <a:r>
              <a:rPr sz="1700" spc="-509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useful</a:t>
            </a:r>
            <a:r>
              <a:rPr sz="1700" spc="-49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for</a:t>
            </a:r>
            <a:r>
              <a:rPr sz="1700" spc="-50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visualizing</a:t>
            </a:r>
            <a:r>
              <a:rPr sz="1700" spc="-52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certain</a:t>
            </a:r>
            <a:r>
              <a:rPr sz="1700" spc="-52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types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of</a:t>
            </a:r>
            <a:r>
              <a:rPr sz="1700" spc="-50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time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relationships.</a:t>
            </a:r>
            <a:endParaRPr sz="17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dirty="0">
                <a:latin typeface="Courier New"/>
                <a:cs typeface="Courier New"/>
              </a:rPr>
              <a:t>The</a:t>
            </a:r>
            <a:r>
              <a:rPr sz="1700" spc="-7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precedence</a:t>
            </a:r>
            <a:r>
              <a:rPr sz="1700" spc="-6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diagramming</a:t>
            </a:r>
            <a:r>
              <a:rPr sz="1700" spc="-6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method</a:t>
            </a:r>
            <a:r>
              <a:rPr sz="1700" spc="-7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is</a:t>
            </a:r>
            <a:r>
              <a:rPr sz="1700" spc="-11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used</a:t>
            </a:r>
            <a:r>
              <a:rPr sz="1700" spc="-7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more</a:t>
            </a:r>
            <a:r>
              <a:rPr sz="1700" spc="-8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often</a:t>
            </a:r>
            <a:r>
              <a:rPr sz="1700" spc="-7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than</a:t>
            </a:r>
            <a:r>
              <a:rPr sz="1700" spc="-10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AOA</a:t>
            </a:r>
            <a:r>
              <a:rPr sz="1700" spc="-8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network</a:t>
            </a:r>
            <a:r>
              <a:rPr sz="1700" spc="-8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diagrams</a:t>
            </a:r>
            <a:r>
              <a:rPr sz="1700" spc="-20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and</a:t>
            </a:r>
            <a:endParaRPr sz="17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600"/>
              </a:spcBef>
            </a:pPr>
            <a:r>
              <a:rPr sz="1700" spc="-10" dirty="0">
                <a:latin typeface="Courier New"/>
                <a:cs typeface="Courier New"/>
              </a:rPr>
              <a:t>offers</a:t>
            </a:r>
            <a:r>
              <a:rPr sz="1700" spc="-484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a</a:t>
            </a:r>
            <a:r>
              <a:rPr sz="1700" spc="-509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number</a:t>
            </a:r>
            <a:r>
              <a:rPr sz="1700" spc="-505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of</a:t>
            </a:r>
            <a:r>
              <a:rPr sz="1700" spc="-509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advantages</a:t>
            </a:r>
            <a:r>
              <a:rPr sz="1700" spc="-50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over</a:t>
            </a:r>
            <a:r>
              <a:rPr sz="1700" spc="-53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the</a:t>
            </a:r>
            <a:r>
              <a:rPr sz="1700" spc="-53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AOA</a:t>
            </a:r>
            <a:r>
              <a:rPr sz="1700" spc="-53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technique.</a:t>
            </a:r>
            <a:endParaRPr sz="1700">
              <a:latin typeface="Courier New"/>
              <a:cs typeface="Courier New"/>
            </a:endParaRPr>
          </a:p>
          <a:p>
            <a:pPr marL="737870" lvl="1" indent="-268605" algn="just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737870" algn="l"/>
              </a:tabLst>
            </a:pPr>
            <a:r>
              <a:rPr sz="1700" spc="-10" dirty="0">
                <a:latin typeface="Courier New"/>
                <a:cs typeface="Courier New"/>
              </a:rPr>
              <a:t>most</a:t>
            </a:r>
            <a:r>
              <a:rPr sz="1700" spc="-434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project</a:t>
            </a:r>
            <a:r>
              <a:rPr sz="1700" spc="-509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management</a:t>
            </a:r>
            <a:r>
              <a:rPr sz="1700" spc="-51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software</a:t>
            </a:r>
            <a:r>
              <a:rPr sz="1700" spc="-48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uses</a:t>
            </a:r>
            <a:r>
              <a:rPr sz="1700" spc="-51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the</a:t>
            </a:r>
            <a:r>
              <a:rPr sz="1700" spc="-51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precedence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diagramming</a:t>
            </a:r>
            <a:r>
              <a:rPr sz="1700" spc="-48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method.</a:t>
            </a:r>
            <a:endParaRPr sz="1700">
              <a:latin typeface="Courier New"/>
              <a:cs typeface="Courier New"/>
            </a:endParaRPr>
          </a:p>
          <a:p>
            <a:pPr marL="737870" marR="5080" lvl="1" indent="-268605" algn="just">
              <a:lnSpc>
                <a:spcPct val="130000"/>
              </a:lnSpc>
              <a:spcBef>
                <a:spcPts val="1019"/>
              </a:spcBef>
              <a:buFont typeface="Arial MT"/>
              <a:buChar char="•"/>
              <a:tabLst>
                <a:tab pos="737870" algn="l"/>
              </a:tabLst>
            </a:pPr>
            <a:r>
              <a:rPr sz="1700" dirty="0">
                <a:latin typeface="Courier New"/>
                <a:cs typeface="Courier New"/>
              </a:rPr>
              <a:t>Help</a:t>
            </a:r>
            <a:r>
              <a:rPr sz="1700" spc="-270" dirty="0">
                <a:latin typeface="Courier New"/>
                <a:cs typeface="Courier New"/>
              </a:rPr>
              <a:t> </a:t>
            </a:r>
            <a:r>
              <a:rPr sz="1700" spc="-80" dirty="0">
                <a:latin typeface="Courier New"/>
                <a:cs typeface="Courier New"/>
              </a:rPr>
              <a:t>to</a:t>
            </a:r>
            <a:r>
              <a:rPr sz="1700" spc="-175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avoid</a:t>
            </a:r>
            <a:r>
              <a:rPr sz="1700" spc="-225" dirty="0">
                <a:latin typeface="Courier New"/>
                <a:cs typeface="Courier New"/>
              </a:rPr>
              <a:t> </a:t>
            </a:r>
            <a:r>
              <a:rPr sz="1700" spc="-50" dirty="0">
                <a:latin typeface="Courier New"/>
                <a:cs typeface="Courier New"/>
              </a:rPr>
              <a:t>the</a:t>
            </a:r>
            <a:r>
              <a:rPr sz="1700" spc="-204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need</a:t>
            </a:r>
            <a:r>
              <a:rPr sz="1700" spc="-23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to</a:t>
            </a:r>
            <a:r>
              <a:rPr sz="1700" spc="-254" dirty="0">
                <a:latin typeface="Courier New"/>
                <a:cs typeface="Courier New"/>
              </a:rPr>
              <a:t> </a:t>
            </a:r>
            <a:r>
              <a:rPr sz="1700" spc="-100" dirty="0">
                <a:latin typeface="Courier New"/>
                <a:cs typeface="Courier New"/>
              </a:rPr>
              <a:t>use</a:t>
            </a:r>
            <a:r>
              <a:rPr sz="1700" spc="-155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dummy</a:t>
            </a:r>
            <a:r>
              <a:rPr sz="1700" spc="-225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activities.</a:t>
            </a:r>
            <a:r>
              <a:rPr sz="1700" spc="-235" dirty="0">
                <a:latin typeface="Courier New"/>
                <a:cs typeface="Courier New"/>
              </a:rPr>
              <a:t> </a:t>
            </a:r>
            <a:r>
              <a:rPr sz="1700" b="1" dirty="0">
                <a:latin typeface="Courier New"/>
                <a:cs typeface="Courier New"/>
              </a:rPr>
              <a:t>Dummy</a:t>
            </a:r>
            <a:r>
              <a:rPr sz="1700" b="1" spc="-70" dirty="0">
                <a:latin typeface="Courier New"/>
                <a:cs typeface="Courier New"/>
              </a:rPr>
              <a:t> </a:t>
            </a:r>
            <a:r>
              <a:rPr sz="1700" b="1" dirty="0">
                <a:latin typeface="Courier New"/>
                <a:cs typeface="Courier New"/>
              </a:rPr>
              <a:t>activities</a:t>
            </a:r>
            <a:r>
              <a:rPr sz="1700" b="1" spc="-5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have</a:t>
            </a:r>
            <a:r>
              <a:rPr sz="1700" spc="-21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no</a:t>
            </a:r>
            <a:r>
              <a:rPr sz="1700" spc="-21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duration </a:t>
            </a:r>
            <a:r>
              <a:rPr sz="1700" dirty="0">
                <a:latin typeface="Courier New"/>
                <a:cs typeface="Courier New"/>
              </a:rPr>
              <a:t>and</a:t>
            </a:r>
            <a:r>
              <a:rPr sz="1700" spc="3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no</a:t>
            </a:r>
            <a:r>
              <a:rPr sz="1700" spc="-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resources,</a:t>
            </a:r>
            <a:r>
              <a:rPr sz="1700" spc="4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but</a:t>
            </a:r>
            <a:r>
              <a:rPr sz="1700" spc="3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are</a:t>
            </a:r>
            <a:r>
              <a:rPr sz="1700" spc="4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occasionally</a:t>
            </a:r>
            <a:r>
              <a:rPr sz="1700" spc="4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needed</a:t>
            </a:r>
            <a:r>
              <a:rPr sz="1700" spc="-10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on</a:t>
            </a:r>
            <a:r>
              <a:rPr sz="1700" spc="4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AOA</a:t>
            </a:r>
            <a:r>
              <a:rPr sz="1700" spc="3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network</a:t>
            </a:r>
            <a:r>
              <a:rPr sz="1700" spc="4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diagrams</a:t>
            </a:r>
            <a:r>
              <a:rPr sz="1700" spc="19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to</a:t>
            </a:r>
            <a:r>
              <a:rPr sz="1700" spc="-1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show </a:t>
            </a:r>
            <a:r>
              <a:rPr sz="1700" spc="-10" dirty="0">
                <a:latin typeface="Courier New"/>
                <a:cs typeface="Courier New"/>
              </a:rPr>
              <a:t>logical</a:t>
            </a:r>
            <a:r>
              <a:rPr sz="1700" spc="-44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relationships</a:t>
            </a:r>
            <a:r>
              <a:rPr sz="1700" spc="-459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between</a:t>
            </a:r>
            <a:r>
              <a:rPr sz="1700" spc="-47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activities.</a:t>
            </a:r>
            <a:endParaRPr sz="1700">
              <a:latin typeface="Courier New"/>
              <a:cs typeface="Courier New"/>
            </a:endParaRPr>
          </a:p>
          <a:p>
            <a:pPr marL="737870" lvl="1" indent="-268605" algn="just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737870" algn="l"/>
              </a:tabLst>
            </a:pPr>
            <a:r>
              <a:rPr sz="1700" spc="-10" dirty="0">
                <a:latin typeface="Courier New"/>
                <a:cs typeface="Courier New"/>
              </a:rPr>
              <a:t>PDM</a:t>
            </a:r>
            <a:r>
              <a:rPr sz="1700" spc="-325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shows</a:t>
            </a:r>
            <a:r>
              <a:rPr sz="1700" spc="-330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different</a:t>
            </a:r>
            <a:r>
              <a:rPr sz="1700" spc="-320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dependencies</a:t>
            </a:r>
            <a:r>
              <a:rPr sz="1700" spc="-315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among</a:t>
            </a:r>
            <a:r>
              <a:rPr sz="1700" spc="-325" dirty="0">
                <a:latin typeface="Courier New"/>
                <a:cs typeface="Courier New"/>
              </a:rPr>
              <a:t> </a:t>
            </a:r>
            <a:r>
              <a:rPr sz="1700" spc="-40" dirty="0">
                <a:latin typeface="Courier New"/>
                <a:cs typeface="Courier New"/>
              </a:rPr>
              <a:t>tasks,</a:t>
            </a:r>
            <a:r>
              <a:rPr sz="1700" spc="-325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whereas</a:t>
            </a:r>
            <a:r>
              <a:rPr sz="1700" spc="-320" dirty="0">
                <a:latin typeface="Courier New"/>
                <a:cs typeface="Courier New"/>
              </a:rPr>
              <a:t> </a:t>
            </a:r>
            <a:r>
              <a:rPr sz="1700" spc="-55" dirty="0">
                <a:latin typeface="Courier New"/>
                <a:cs typeface="Courier New"/>
              </a:rPr>
              <a:t>AOA</a:t>
            </a:r>
            <a:r>
              <a:rPr sz="1700" spc="-350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network</a:t>
            </a:r>
            <a:r>
              <a:rPr sz="1700" spc="-325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diagrams</a:t>
            </a:r>
            <a:r>
              <a:rPr sz="1700" spc="-45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use</a:t>
            </a:r>
            <a:r>
              <a:rPr sz="1700" spc="-27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only</a:t>
            </a:r>
            <a:endParaRPr sz="1700">
              <a:latin typeface="Courier New"/>
              <a:cs typeface="Courier New"/>
            </a:endParaRPr>
          </a:p>
          <a:p>
            <a:pPr marL="737870">
              <a:lnSpc>
                <a:spcPct val="100000"/>
              </a:lnSpc>
              <a:spcBef>
                <a:spcPts val="605"/>
              </a:spcBef>
            </a:pPr>
            <a:r>
              <a:rPr sz="1700" spc="-10" dirty="0">
                <a:latin typeface="Courier New"/>
                <a:cs typeface="Courier New"/>
              </a:rPr>
              <a:t>finish-to-start</a:t>
            </a:r>
            <a:r>
              <a:rPr sz="1700" spc="-49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dependencies.</a:t>
            </a:r>
            <a:endParaRPr sz="1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Sequencing</a:t>
            </a:r>
            <a:r>
              <a:rPr spc="-1225" dirty="0"/>
              <a:t> </a:t>
            </a:r>
            <a:r>
              <a:rPr spc="-10" dirty="0"/>
              <a:t>Activities.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3467" y="2124008"/>
            <a:ext cx="9725016" cy="31063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525139" y="5568797"/>
            <a:ext cx="5033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Precedence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Diagramming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Methods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(PDM) Network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Diagram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Project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X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Sequencing</a:t>
            </a:r>
            <a:r>
              <a:rPr spc="-1225" dirty="0"/>
              <a:t> </a:t>
            </a:r>
            <a:r>
              <a:rPr spc="-10" dirty="0"/>
              <a:t>Activities.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6049645" cy="112395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54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36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four</a:t>
            </a:r>
            <a:r>
              <a:rPr sz="2400" spc="-37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types</a:t>
            </a:r>
            <a:r>
              <a:rPr sz="2400" spc="4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365" dirty="0">
                <a:latin typeface="Courier New"/>
                <a:cs typeface="Courier New"/>
              </a:rPr>
              <a:t>  </a:t>
            </a:r>
            <a:r>
              <a:rPr sz="2400" b="1" spc="-10" dirty="0">
                <a:latin typeface="Courier New"/>
                <a:cs typeface="Courier New"/>
              </a:rPr>
              <a:t>dependencies</a:t>
            </a:r>
            <a:endParaRPr sz="24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1445"/>
              </a:spcBef>
            </a:pPr>
            <a:r>
              <a:rPr sz="2400" spc="-10" dirty="0">
                <a:latin typeface="Courier New"/>
                <a:cs typeface="Courier New"/>
              </a:rPr>
              <a:t>activities</a:t>
            </a:r>
            <a:r>
              <a:rPr sz="2400" spc="-6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include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following: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54926" y="1966340"/>
            <a:ext cx="3047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or</a:t>
            </a:r>
            <a:r>
              <a:rPr sz="2400" spc="-320" dirty="0">
                <a:latin typeface="Courier New"/>
                <a:cs typeface="Courier New"/>
              </a:rPr>
              <a:t>  </a:t>
            </a:r>
            <a:r>
              <a:rPr sz="2400" b="1" spc="-10" dirty="0">
                <a:latin typeface="Courier New"/>
                <a:cs typeface="Courier New"/>
              </a:rPr>
              <a:t>relationships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93502" y="1966340"/>
            <a:ext cx="1275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latin typeface="Courier New"/>
                <a:cs typeface="Courier New"/>
              </a:rPr>
              <a:t>between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8674" y="3192271"/>
            <a:ext cx="5507355" cy="2419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8630" indent="-45593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68630" algn="l"/>
              </a:tabLst>
            </a:pPr>
            <a:r>
              <a:rPr sz="2400" spc="-10" dirty="0">
                <a:latin typeface="Courier New"/>
                <a:cs typeface="Courier New"/>
              </a:rPr>
              <a:t>Finish-to-start</a:t>
            </a:r>
            <a:r>
              <a:rPr sz="2400" spc="-6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dependency.</a:t>
            </a:r>
            <a:endParaRPr sz="2400">
              <a:latin typeface="Courier New"/>
              <a:cs typeface="Courier New"/>
            </a:endParaRPr>
          </a:p>
          <a:p>
            <a:pPr marL="468630" indent="-455930">
              <a:lnSpc>
                <a:spcPct val="100000"/>
              </a:lnSpc>
              <a:spcBef>
                <a:spcPts val="2425"/>
              </a:spcBef>
              <a:buAutoNum type="arabicPeriod"/>
              <a:tabLst>
                <a:tab pos="468630" algn="l"/>
              </a:tabLst>
            </a:pPr>
            <a:r>
              <a:rPr sz="2400" spc="-10" dirty="0">
                <a:latin typeface="Courier New"/>
                <a:cs typeface="Courier New"/>
              </a:rPr>
              <a:t>Start-to-start</a:t>
            </a:r>
            <a:r>
              <a:rPr sz="2400" spc="-6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dependency.</a:t>
            </a:r>
            <a:endParaRPr sz="2400">
              <a:latin typeface="Courier New"/>
              <a:cs typeface="Courier New"/>
            </a:endParaRPr>
          </a:p>
          <a:p>
            <a:pPr marL="467995" indent="-455295">
              <a:lnSpc>
                <a:spcPct val="100000"/>
              </a:lnSpc>
              <a:spcBef>
                <a:spcPts val="2450"/>
              </a:spcBef>
              <a:buAutoNum type="arabicPeriod"/>
              <a:tabLst>
                <a:tab pos="467995" algn="l"/>
              </a:tabLst>
            </a:pPr>
            <a:r>
              <a:rPr sz="2400" spc="-10" dirty="0">
                <a:latin typeface="Courier New"/>
                <a:cs typeface="Courier New"/>
              </a:rPr>
              <a:t>Finish-to-finish</a:t>
            </a:r>
            <a:r>
              <a:rPr sz="2400" spc="-6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dependency.</a:t>
            </a:r>
            <a:endParaRPr sz="2400">
              <a:latin typeface="Courier New"/>
              <a:cs typeface="Courier New"/>
            </a:endParaRPr>
          </a:p>
          <a:p>
            <a:pPr marL="467995" indent="-455295">
              <a:lnSpc>
                <a:spcPct val="100000"/>
              </a:lnSpc>
              <a:spcBef>
                <a:spcPts val="2450"/>
              </a:spcBef>
              <a:buAutoNum type="arabicPeriod"/>
              <a:tabLst>
                <a:tab pos="467995" algn="l"/>
              </a:tabLst>
            </a:pPr>
            <a:r>
              <a:rPr sz="2400" spc="-10" dirty="0">
                <a:latin typeface="Courier New"/>
                <a:cs typeface="Courier New"/>
              </a:rPr>
              <a:t>Start-to-finish</a:t>
            </a:r>
            <a:r>
              <a:rPr sz="2400" spc="-6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dependency.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Sequencing</a:t>
            </a:r>
            <a:r>
              <a:rPr spc="-1225" dirty="0"/>
              <a:t> </a:t>
            </a:r>
            <a:r>
              <a:rPr spc="-10" dirty="0"/>
              <a:t>Activities.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791" y="1304544"/>
            <a:ext cx="10948416" cy="424891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051297" y="5794654"/>
            <a:ext cx="17094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Task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Dependency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Types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Estimating</a:t>
            </a:r>
            <a:r>
              <a:rPr spc="-1235" dirty="0"/>
              <a:t> </a:t>
            </a:r>
            <a:r>
              <a:rPr spc="-10" dirty="0"/>
              <a:t>Activity</a:t>
            </a:r>
            <a:r>
              <a:rPr spc="-1270" dirty="0"/>
              <a:t> </a:t>
            </a:r>
            <a:r>
              <a:rPr spc="-10" dirty="0"/>
              <a:t>Durations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90395"/>
            <a:ext cx="10891520" cy="1660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It</a:t>
            </a:r>
            <a:r>
              <a:rPr sz="2200" spc="-290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is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important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to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note</a:t>
            </a:r>
            <a:r>
              <a:rPr sz="2200" spc="-280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that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duration</a:t>
            </a:r>
            <a:r>
              <a:rPr sz="2200" spc="-28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includes</a:t>
            </a:r>
            <a:r>
              <a:rPr sz="2200" spc="-250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the</a:t>
            </a:r>
            <a:r>
              <a:rPr sz="2200" spc="-325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actual</a:t>
            </a:r>
            <a:r>
              <a:rPr sz="2200" spc="-4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amount</a:t>
            </a:r>
            <a:r>
              <a:rPr sz="2200" spc="-22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of </a:t>
            </a:r>
            <a:r>
              <a:rPr sz="2200" spc="-10" dirty="0">
                <a:latin typeface="Courier New"/>
                <a:cs typeface="Courier New"/>
              </a:rPr>
              <a:t>time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worked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on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activity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plus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elapsed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time.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231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Do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not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confuse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duration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with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effort.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524" y="3553894"/>
            <a:ext cx="10892155" cy="1031240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41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ourier New"/>
                <a:cs typeface="Courier New"/>
              </a:rPr>
              <a:t>One</a:t>
            </a:r>
            <a:r>
              <a:rPr sz="2200" spc="-30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-33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31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most</a:t>
            </a:r>
            <a:r>
              <a:rPr sz="2200" spc="5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important</a:t>
            </a:r>
            <a:r>
              <a:rPr sz="2200" spc="-29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considerations</a:t>
            </a:r>
            <a:r>
              <a:rPr sz="2200" spc="-29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in</a:t>
            </a:r>
            <a:r>
              <a:rPr sz="2200" spc="-32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making</a:t>
            </a:r>
            <a:r>
              <a:rPr sz="2200" spc="-370" dirty="0">
                <a:latin typeface="Courier New"/>
                <a:cs typeface="Courier New"/>
              </a:rPr>
              <a:t>  </a:t>
            </a:r>
            <a:r>
              <a:rPr sz="2200" spc="-10" dirty="0">
                <a:latin typeface="Courier New"/>
                <a:cs typeface="Courier New"/>
              </a:rPr>
              <a:t>activity</a:t>
            </a:r>
            <a:endParaRPr sz="22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Courier New"/>
                <a:cs typeface="Courier New"/>
              </a:rPr>
              <a:t>duration</a:t>
            </a:r>
            <a:r>
              <a:rPr sz="2200" spc="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estimates</a:t>
            </a:r>
            <a:r>
              <a:rPr sz="2200" spc="1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is</a:t>
            </a:r>
            <a:r>
              <a:rPr sz="2200" spc="-1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availability</a:t>
            </a:r>
            <a:r>
              <a:rPr sz="2200" spc="-1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of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91627" y="4222445"/>
            <a:ext cx="3569335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latin typeface="Courier New"/>
                <a:cs typeface="Courier New"/>
              </a:rPr>
              <a:t>resources,</a:t>
            </a:r>
            <a:r>
              <a:rPr sz="2200" spc="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especially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69" y="4725746"/>
            <a:ext cx="11765280" cy="149143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01725">
              <a:lnSpc>
                <a:spcPct val="100000"/>
              </a:lnSpc>
              <a:spcBef>
                <a:spcPts val="110"/>
              </a:spcBef>
            </a:pPr>
            <a:r>
              <a:rPr sz="2200" spc="-10" dirty="0">
                <a:latin typeface="Courier New"/>
                <a:cs typeface="Courier New"/>
              </a:rPr>
              <a:t>human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resources.</a:t>
            </a:r>
            <a:endParaRPr sz="2200" dirty="0">
              <a:latin typeface="Courier New"/>
              <a:cs typeface="Courier New"/>
            </a:endParaRPr>
          </a:p>
          <a:p>
            <a:pPr marL="1101090" indent="-227965">
              <a:lnSpc>
                <a:spcPct val="100000"/>
              </a:lnSpc>
              <a:spcBef>
                <a:spcPts val="2330"/>
              </a:spcBef>
              <a:buFont typeface="Arial MT"/>
              <a:buChar char="•"/>
              <a:tabLst>
                <a:tab pos="1101090" algn="l"/>
              </a:tabLst>
            </a:pPr>
            <a:r>
              <a:rPr sz="2200" spc="-10" dirty="0">
                <a:latin typeface="Courier New"/>
                <a:cs typeface="Courier New"/>
              </a:rPr>
              <a:t>Effort</a:t>
            </a:r>
            <a:r>
              <a:rPr sz="2200" spc="-440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is</a:t>
            </a:r>
            <a:r>
              <a:rPr sz="2200" spc="-509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the</a:t>
            </a:r>
            <a:r>
              <a:rPr sz="2200" spc="-51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number</a:t>
            </a:r>
            <a:r>
              <a:rPr sz="2200" spc="-254" dirty="0">
                <a:latin typeface="Courier New"/>
                <a:cs typeface="Courier New"/>
              </a:rPr>
              <a:t> </a:t>
            </a:r>
            <a:r>
              <a:rPr sz="2200" spc="-95" dirty="0">
                <a:latin typeface="Courier New"/>
                <a:cs typeface="Courier New"/>
              </a:rPr>
              <a:t>of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workdays</a:t>
            </a:r>
            <a:r>
              <a:rPr sz="2200" spc="-46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or</a:t>
            </a:r>
            <a:r>
              <a:rPr sz="2200" spc="-535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work</a:t>
            </a:r>
            <a:r>
              <a:rPr sz="2200" spc="-66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hours</a:t>
            </a:r>
            <a:r>
              <a:rPr sz="2200" spc="-434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required</a:t>
            </a:r>
            <a:r>
              <a:rPr sz="2200" spc="-434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to</a:t>
            </a:r>
            <a:r>
              <a:rPr sz="2200" spc="-53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complete</a:t>
            </a:r>
            <a:r>
              <a:rPr sz="2200" spc="-375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a</a:t>
            </a:r>
            <a:endParaRPr sz="2200" dirty="0">
              <a:latin typeface="Courier New"/>
              <a:cs typeface="Courier New"/>
            </a:endParaRPr>
          </a:p>
          <a:p>
            <a:pPr marL="1101725">
              <a:lnSpc>
                <a:spcPct val="100000"/>
              </a:lnSpc>
              <a:spcBef>
                <a:spcPts val="1320"/>
              </a:spcBef>
            </a:pPr>
            <a:r>
              <a:rPr sz="2200" spc="-20" dirty="0" smtClean="0">
                <a:latin typeface="Courier New"/>
                <a:cs typeface="Courier New"/>
              </a:rPr>
              <a:t>task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Estimating</a:t>
            </a:r>
            <a:r>
              <a:rPr spc="-1235" dirty="0"/>
              <a:t> </a:t>
            </a:r>
            <a:r>
              <a:rPr spc="-10" dirty="0"/>
              <a:t>Activity</a:t>
            </a:r>
            <a:r>
              <a:rPr spc="-1270" dirty="0"/>
              <a:t> </a:t>
            </a:r>
            <a:r>
              <a:rPr spc="-10" dirty="0"/>
              <a:t>Durations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3050" y="1783079"/>
            <a:ext cx="641858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8600">
              <a:lnSpc>
                <a:spcPct val="1501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1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based</a:t>
            </a:r>
            <a:r>
              <a:rPr sz="2400" spc="4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on</a:t>
            </a:r>
            <a:r>
              <a:rPr sz="2400" spc="1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10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best-</a:t>
            </a:r>
            <a:r>
              <a:rPr sz="2400" dirty="0">
                <a:latin typeface="Courier New"/>
                <a:cs typeface="Courier New"/>
              </a:rPr>
              <a:t>case</a:t>
            </a:r>
            <a:r>
              <a:rPr sz="2400" spc="1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scenario, estimate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524" y="1783079"/>
            <a:ext cx="4504055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25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optimistic</a:t>
            </a:r>
            <a:r>
              <a:rPr sz="2400" spc="26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estimate 	</a:t>
            </a:r>
            <a:r>
              <a:rPr sz="2400" dirty="0">
                <a:latin typeface="Courier New"/>
                <a:cs typeface="Courier New"/>
              </a:rPr>
              <a:t>while</a:t>
            </a:r>
            <a:r>
              <a:rPr sz="2400" spc="-3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5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pessimistic 	scenario.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66533" y="2515361"/>
            <a:ext cx="4705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41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based</a:t>
            </a:r>
            <a:r>
              <a:rPr sz="2400" spc="-409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on</a:t>
            </a:r>
            <a:r>
              <a:rPr sz="2400" spc="-42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484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worst-</a:t>
            </a:r>
            <a:r>
              <a:rPr sz="2400" spc="-20" dirty="0">
                <a:latin typeface="Courier New"/>
                <a:cs typeface="Courier New"/>
              </a:rPr>
              <a:t>case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1524" y="3557904"/>
            <a:ext cx="1091247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most</a:t>
            </a:r>
            <a:r>
              <a:rPr sz="2400" spc="-2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likely</a:t>
            </a:r>
            <a:r>
              <a:rPr sz="2400" spc="-2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estimate,</a:t>
            </a:r>
            <a:r>
              <a:rPr sz="2400" spc="-2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as</a:t>
            </a:r>
            <a:r>
              <a:rPr sz="2400" spc="-2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you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might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expect,</a:t>
            </a:r>
            <a:r>
              <a:rPr sz="2400" spc="-2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based</a:t>
            </a:r>
            <a:r>
              <a:rPr sz="2400" spc="-1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on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a 	</a:t>
            </a:r>
            <a:r>
              <a:rPr sz="2400" spc="-10" dirty="0">
                <a:latin typeface="Courier New"/>
                <a:cs typeface="Courier New"/>
              </a:rPr>
              <a:t>most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likely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expected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scenario.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controlling</a:t>
            </a:r>
            <a:r>
              <a:rPr spc="-1295" dirty="0"/>
              <a:t> </a:t>
            </a:r>
            <a:r>
              <a:rPr spc="-25" dirty="0"/>
              <a:t>the </a:t>
            </a:r>
            <a:r>
              <a:rPr spc="-10" dirty="0"/>
              <a:t>Schedule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90395"/>
            <a:ext cx="10895965" cy="4807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715" indent="-228600" algn="just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Schedule</a:t>
            </a:r>
            <a:r>
              <a:rPr sz="2200" spc="-33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development</a:t>
            </a:r>
            <a:r>
              <a:rPr sz="2200" spc="-310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uses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70" dirty="0">
                <a:latin typeface="Courier New"/>
                <a:cs typeface="Courier New"/>
              </a:rPr>
              <a:t>the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results</a:t>
            </a:r>
            <a:r>
              <a:rPr sz="2200" spc="-235" dirty="0">
                <a:latin typeface="Courier New"/>
                <a:cs typeface="Courier New"/>
              </a:rPr>
              <a:t> of</a:t>
            </a:r>
            <a:r>
              <a:rPr sz="2200" spc="-95" dirty="0">
                <a:latin typeface="Courier New"/>
                <a:cs typeface="Courier New"/>
              </a:rPr>
              <a:t> </a:t>
            </a:r>
            <a:r>
              <a:rPr sz="2200" spc="-90" dirty="0">
                <a:latin typeface="Courier New"/>
                <a:cs typeface="Courier New"/>
              </a:rPr>
              <a:t>all</a:t>
            </a:r>
            <a:r>
              <a:rPr sz="2200" spc="-240" dirty="0">
                <a:latin typeface="Courier New"/>
                <a:cs typeface="Courier New"/>
              </a:rPr>
              <a:t> </a:t>
            </a:r>
            <a:r>
              <a:rPr sz="2200" spc="-70" dirty="0">
                <a:latin typeface="Courier New"/>
                <a:cs typeface="Courier New"/>
              </a:rPr>
              <a:t>the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preceding</a:t>
            </a:r>
            <a:r>
              <a:rPr sz="2200" spc="-1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 </a:t>
            </a:r>
            <a:r>
              <a:rPr sz="2200" dirty="0">
                <a:latin typeface="Courier New"/>
                <a:cs typeface="Courier New"/>
              </a:rPr>
              <a:t>schedule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management</a:t>
            </a:r>
            <a:r>
              <a:rPr sz="2200" spc="-31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processes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95" dirty="0">
                <a:latin typeface="Courier New"/>
                <a:cs typeface="Courier New"/>
              </a:rPr>
              <a:t>to</a:t>
            </a:r>
            <a:r>
              <a:rPr sz="2200" spc="-23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determine</a:t>
            </a:r>
            <a:r>
              <a:rPr sz="2200" spc="-25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the</a:t>
            </a:r>
            <a:r>
              <a:rPr sz="2200" spc="-28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start</a:t>
            </a:r>
            <a:r>
              <a:rPr sz="2200" spc="-2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and</a:t>
            </a:r>
            <a:r>
              <a:rPr sz="2200" spc="-85" dirty="0">
                <a:latin typeface="Courier New"/>
                <a:cs typeface="Courier New"/>
              </a:rPr>
              <a:t> </a:t>
            </a:r>
            <a:r>
              <a:rPr sz="2200" spc="-90" dirty="0">
                <a:latin typeface="Courier New"/>
                <a:cs typeface="Courier New"/>
              </a:rPr>
              <a:t>end</a:t>
            </a:r>
            <a:r>
              <a:rPr sz="2200" spc="-2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dates of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its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activities.</a:t>
            </a:r>
            <a:endParaRPr sz="2200" dirty="0">
              <a:latin typeface="Courier New"/>
              <a:cs typeface="Courier New"/>
            </a:endParaRPr>
          </a:p>
          <a:p>
            <a:pPr marL="241300" marR="5080" indent="-228600" algn="just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10" dirty="0">
                <a:latin typeface="Courier New"/>
                <a:cs typeface="Courier New"/>
              </a:rPr>
              <a:t>Th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-200" dirty="0">
                <a:latin typeface="Courier New"/>
                <a:cs typeface="Courier New"/>
              </a:rPr>
              <a:t> </a:t>
            </a:r>
            <a:r>
              <a:rPr sz="2200" spc="-100" dirty="0">
                <a:latin typeface="Courier New"/>
                <a:cs typeface="Courier New"/>
              </a:rPr>
              <a:t>u</a:t>
            </a:r>
            <a:r>
              <a:rPr sz="2200" spc="-30" dirty="0">
                <a:latin typeface="Courier New"/>
                <a:cs typeface="Courier New"/>
              </a:rPr>
              <a:t>lt</a:t>
            </a:r>
            <a:r>
              <a:rPr sz="2200" spc="-5" dirty="0">
                <a:latin typeface="Courier New"/>
                <a:cs typeface="Courier New"/>
              </a:rPr>
              <a:t>i</a:t>
            </a:r>
            <a:r>
              <a:rPr sz="2200" spc="-10" dirty="0">
                <a:latin typeface="Courier New"/>
                <a:cs typeface="Courier New"/>
              </a:rPr>
              <a:t>m</a:t>
            </a:r>
            <a:r>
              <a:rPr sz="2200" spc="-5" dirty="0">
                <a:latin typeface="Courier New"/>
                <a:cs typeface="Courier New"/>
              </a:rPr>
              <a:t>a</a:t>
            </a:r>
            <a:r>
              <a:rPr sz="2200" spc="-10" dirty="0">
                <a:latin typeface="Courier New"/>
                <a:cs typeface="Courier New"/>
              </a:rPr>
              <a:t>t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-240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g</a:t>
            </a:r>
            <a:r>
              <a:rPr sz="2200" spc="-60" dirty="0">
                <a:latin typeface="Courier New"/>
                <a:cs typeface="Courier New"/>
              </a:rPr>
              <a:t>o</a:t>
            </a:r>
            <a:r>
              <a:rPr sz="2200" spc="-35" dirty="0">
                <a:latin typeface="Courier New"/>
                <a:cs typeface="Courier New"/>
              </a:rPr>
              <a:t>a</a:t>
            </a:r>
            <a:r>
              <a:rPr sz="2200" dirty="0">
                <a:latin typeface="Courier New"/>
                <a:cs typeface="Courier New"/>
              </a:rPr>
              <a:t>l</a:t>
            </a:r>
            <a:r>
              <a:rPr sz="2200" spc="-225" dirty="0">
                <a:latin typeface="Courier New"/>
                <a:cs typeface="Courier New"/>
              </a:rPr>
              <a:t> </a:t>
            </a:r>
            <a:r>
              <a:rPr sz="2200" spc="-200" dirty="0">
                <a:latin typeface="Courier New"/>
                <a:cs typeface="Courier New"/>
              </a:rPr>
              <a:t>o</a:t>
            </a:r>
            <a:r>
              <a:rPr sz="2200" dirty="0">
                <a:latin typeface="Courier New"/>
                <a:cs typeface="Courier New"/>
              </a:rPr>
              <a:t>f</a:t>
            </a:r>
            <a:r>
              <a:rPr sz="2200" spc="-20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d</a:t>
            </a:r>
            <a:r>
              <a:rPr sz="2200" spc="-60" dirty="0">
                <a:latin typeface="Courier New"/>
                <a:cs typeface="Courier New"/>
              </a:rPr>
              <a:t>e</a:t>
            </a:r>
            <a:r>
              <a:rPr sz="2200" spc="-35" dirty="0">
                <a:latin typeface="Courier New"/>
                <a:cs typeface="Courier New"/>
              </a:rPr>
              <a:t>v</a:t>
            </a:r>
            <a:r>
              <a:rPr sz="2200" spc="-5" dirty="0">
                <a:latin typeface="Courier New"/>
                <a:cs typeface="Courier New"/>
              </a:rPr>
              <a:t>e</a:t>
            </a:r>
            <a:r>
              <a:rPr sz="2200" spc="-15" dirty="0">
                <a:latin typeface="Courier New"/>
                <a:cs typeface="Courier New"/>
              </a:rPr>
              <a:t>l</a:t>
            </a:r>
            <a:r>
              <a:rPr sz="2200" spc="-5" dirty="0">
                <a:latin typeface="Courier New"/>
                <a:cs typeface="Courier New"/>
              </a:rPr>
              <a:t>o</a:t>
            </a:r>
            <a:r>
              <a:rPr sz="2200" spc="-15" dirty="0">
                <a:latin typeface="Courier New"/>
                <a:cs typeface="Courier New"/>
              </a:rPr>
              <a:t>p</a:t>
            </a:r>
            <a:r>
              <a:rPr sz="2200" spc="-5" dirty="0">
                <a:latin typeface="Courier New"/>
                <a:cs typeface="Courier New"/>
              </a:rPr>
              <a:t>i</a:t>
            </a:r>
            <a:r>
              <a:rPr sz="2200" spc="-15" dirty="0">
                <a:latin typeface="Courier New"/>
                <a:cs typeface="Courier New"/>
              </a:rPr>
              <a:t>n</a:t>
            </a:r>
            <a:r>
              <a:rPr sz="2200" dirty="0">
                <a:latin typeface="Courier New"/>
                <a:cs typeface="Courier New"/>
              </a:rPr>
              <a:t>g</a:t>
            </a:r>
            <a:r>
              <a:rPr sz="2200" spc="-1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spc="-130" dirty="0">
                <a:latin typeface="Courier New"/>
                <a:cs typeface="Courier New"/>
              </a:rPr>
              <a:t>r</a:t>
            </a:r>
            <a:r>
              <a:rPr sz="2200" spc="-60" dirty="0">
                <a:latin typeface="Courier New"/>
                <a:cs typeface="Courier New"/>
              </a:rPr>
              <a:t>e</a:t>
            </a:r>
            <a:r>
              <a:rPr sz="2200" spc="-35" dirty="0">
                <a:latin typeface="Courier New"/>
                <a:cs typeface="Courier New"/>
              </a:rPr>
              <a:t>al</a:t>
            </a:r>
            <a:r>
              <a:rPr sz="2200" spc="-5" dirty="0">
                <a:latin typeface="Courier New"/>
                <a:cs typeface="Courier New"/>
              </a:rPr>
              <a:t>i</a:t>
            </a:r>
            <a:r>
              <a:rPr sz="2200" spc="-15" dirty="0">
                <a:latin typeface="Courier New"/>
                <a:cs typeface="Courier New"/>
              </a:rPr>
              <a:t>s</a:t>
            </a:r>
            <a:r>
              <a:rPr sz="2200" spc="-5" dirty="0">
                <a:latin typeface="Courier New"/>
                <a:cs typeface="Courier New"/>
              </a:rPr>
              <a:t>t</a:t>
            </a:r>
            <a:r>
              <a:rPr sz="2200" spc="-15" dirty="0">
                <a:latin typeface="Courier New"/>
                <a:cs typeface="Courier New"/>
              </a:rPr>
              <a:t>i</a:t>
            </a:r>
            <a:r>
              <a:rPr sz="2200" dirty="0">
                <a:latin typeface="Courier New"/>
                <a:cs typeface="Courier New"/>
              </a:rPr>
              <a:t>c</a:t>
            </a:r>
            <a:r>
              <a:rPr sz="2200" spc="-190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p</a:t>
            </a:r>
            <a:r>
              <a:rPr sz="2200" spc="-60" dirty="0">
                <a:latin typeface="Courier New"/>
                <a:cs typeface="Courier New"/>
              </a:rPr>
              <a:t>r</a:t>
            </a:r>
            <a:r>
              <a:rPr sz="2200" spc="-35" dirty="0">
                <a:latin typeface="Courier New"/>
                <a:cs typeface="Courier New"/>
              </a:rPr>
              <a:t>o</a:t>
            </a:r>
            <a:r>
              <a:rPr sz="2200" spc="-5" dirty="0">
                <a:latin typeface="Courier New"/>
                <a:cs typeface="Courier New"/>
              </a:rPr>
              <a:t>j</a:t>
            </a:r>
            <a:r>
              <a:rPr sz="2200" spc="-15" dirty="0">
                <a:latin typeface="Courier New"/>
                <a:cs typeface="Courier New"/>
              </a:rPr>
              <a:t>e</a:t>
            </a:r>
            <a:r>
              <a:rPr sz="2200" spc="-5" dirty="0">
                <a:latin typeface="Courier New"/>
                <a:cs typeface="Courier New"/>
              </a:rPr>
              <a:t>c</a:t>
            </a:r>
            <a:r>
              <a:rPr sz="2200" dirty="0">
                <a:latin typeface="Courier New"/>
                <a:cs typeface="Courier New"/>
              </a:rPr>
              <a:t>t</a:t>
            </a:r>
            <a:r>
              <a:rPr sz="2200" spc="-229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s</a:t>
            </a:r>
            <a:r>
              <a:rPr sz="2200" spc="-60" dirty="0">
                <a:latin typeface="Courier New"/>
                <a:cs typeface="Courier New"/>
              </a:rPr>
              <a:t>c</a:t>
            </a:r>
            <a:r>
              <a:rPr sz="2200" spc="-5" dirty="0">
                <a:latin typeface="Courier New"/>
                <a:cs typeface="Courier New"/>
              </a:rPr>
              <a:t>h</a:t>
            </a:r>
            <a:r>
              <a:rPr sz="2200" spc="5" dirty="0">
                <a:latin typeface="Courier New"/>
                <a:cs typeface="Courier New"/>
              </a:rPr>
              <a:t>e</a:t>
            </a:r>
            <a:r>
              <a:rPr sz="2200" spc="-5" dirty="0">
                <a:latin typeface="Courier New"/>
                <a:cs typeface="Courier New"/>
              </a:rPr>
              <a:t>d</a:t>
            </a:r>
            <a:r>
              <a:rPr sz="2200" spc="5" dirty="0">
                <a:latin typeface="Courier New"/>
                <a:cs typeface="Courier New"/>
              </a:rPr>
              <a:t>u</a:t>
            </a:r>
            <a:r>
              <a:rPr sz="2200" spc="15" dirty="0">
                <a:latin typeface="Courier New"/>
                <a:cs typeface="Courier New"/>
              </a:rPr>
              <a:t>l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-140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i</a:t>
            </a: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-22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to </a:t>
            </a:r>
            <a:r>
              <a:rPr sz="2200" spc="-10" dirty="0">
                <a:latin typeface="Courier New"/>
                <a:cs typeface="Courier New"/>
              </a:rPr>
              <a:t>provid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6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495" dirty="0">
                <a:latin typeface="Courier New"/>
                <a:cs typeface="Courier New"/>
              </a:rPr>
              <a:t> </a:t>
            </a:r>
            <a:r>
              <a:rPr sz="2200" spc="-100" dirty="0">
                <a:latin typeface="Courier New"/>
                <a:cs typeface="Courier New"/>
              </a:rPr>
              <a:t>b</a:t>
            </a:r>
            <a:r>
              <a:rPr sz="2200" spc="-55" dirty="0">
                <a:latin typeface="Courier New"/>
                <a:cs typeface="Courier New"/>
              </a:rPr>
              <a:t>a</a:t>
            </a:r>
            <a:r>
              <a:rPr sz="2200" spc="-30" dirty="0">
                <a:latin typeface="Courier New"/>
                <a:cs typeface="Courier New"/>
              </a:rPr>
              <a:t>s</a:t>
            </a:r>
            <a:r>
              <a:rPr sz="2200" spc="-5" dirty="0">
                <a:latin typeface="Courier New"/>
                <a:cs typeface="Courier New"/>
              </a:rPr>
              <a:t>i</a:t>
            </a: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580" dirty="0">
                <a:latin typeface="Courier New"/>
                <a:cs typeface="Courier New"/>
              </a:rPr>
              <a:t> </a:t>
            </a:r>
            <a:r>
              <a:rPr sz="2200" spc="-200" dirty="0">
                <a:latin typeface="Courier New"/>
                <a:cs typeface="Courier New"/>
              </a:rPr>
              <a:t>f</a:t>
            </a:r>
            <a:r>
              <a:rPr sz="2200" spc="-5" dirty="0">
                <a:latin typeface="Courier New"/>
                <a:cs typeface="Courier New"/>
              </a:rPr>
              <a:t>o</a:t>
            </a:r>
            <a:r>
              <a:rPr sz="2200" dirty="0">
                <a:latin typeface="Courier New"/>
                <a:cs typeface="Courier New"/>
              </a:rPr>
              <a:t>r</a:t>
            </a:r>
            <a:r>
              <a:rPr sz="2200" spc="635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m</a:t>
            </a:r>
            <a:r>
              <a:rPr sz="2200" spc="-60" dirty="0">
                <a:latin typeface="Courier New"/>
                <a:cs typeface="Courier New"/>
              </a:rPr>
              <a:t>o</a:t>
            </a:r>
            <a:r>
              <a:rPr sz="2200" spc="-5" dirty="0">
                <a:latin typeface="Courier New"/>
                <a:cs typeface="Courier New"/>
              </a:rPr>
              <a:t>n</a:t>
            </a:r>
            <a:r>
              <a:rPr sz="2200" spc="-15" dirty="0">
                <a:latin typeface="Courier New"/>
                <a:cs typeface="Courier New"/>
              </a:rPr>
              <a:t>i</a:t>
            </a:r>
            <a:r>
              <a:rPr sz="2200" spc="-5" dirty="0">
                <a:latin typeface="Courier New"/>
                <a:cs typeface="Courier New"/>
              </a:rPr>
              <a:t>t</a:t>
            </a:r>
            <a:r>
              <a:rPr sz="2200" spc="-15" dirty="0">
                <a:latin typeface="Courier New"/>
                <a:cs typeface="Courier New"/>
              </a:rPr>
              <a:t>o</a:t>
            </a:r>
            <a:r>
              <a:rPr sz="2200" spc="-5" dirty="0">
                <a:latin typeface="Courier New"/>
                <a:cs typeface="Courier New"/>
              </a:rPr>
              <a:t>r</a:t>
            </a:r>
            <a:r>
              <a:rPr sz="2200" spc="-15" dirty="0">
                <a:latin typeface="Courier New"/>
                <a:cs typeface="Courier New"/>
              </a:rPr>
              <a:t>i</a:t>
            </a:r>
            <a:r>
              <a:rPr sz="2200" spc="-5" dirty="0">
                <a:latin typeface="Courier New"/>
                <a:cs typeface="Courier New"/>
              </a:rPr>
              <a:t>n</a:t>
            </a:r>
            <a:r>
              <a:rPr sz="2200" dirty="0">
                <a:latin typeface="Courier New"/>
                <a:cs typeface="Courier New"/>
              </a:rPr>
              <a:t>g</a:t>
            </a:r>
            <a:r>
              <a:rPr sz="2200" spc="61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p</a:t>
            </a:r>
            <a:r>
              <a:rPr sz="2200" spc="-55" dirty="0">
                <a:latin typeface="Courier New"/>
                <a:cs typeface="Courier New"/>
              </a:rPr>
              <a:t>ro</a:t>
            </a:r>
            <a:r>
              <a:rPr sz="2200" spc="-5" dirty="0">
                <a:latin typeface="Courier New"/>
                <a:cs typeface="Courier New"/>
              </a:rPr>
              <a:t>j</a:t>
            </a:r>
            <a:r>
              <a:rPr sz="2200" spc="-10" dirty="0">
                <a:latin typeface="Courier New"/>
                <a:cs typeface="Courier New"/>
              </a:rPr>
              <a:t>e</a:t>
            </a:r>
            <a:r>
              <a:rPr sz="2200" spc="-5" dirty="0">
                <a:latin typeface="Courier New"/>
                <a:cs typeface="Courier New"/>
              </a:rPr>
              <a:t>c</a:t>
            </a:r>
            <a:r>
              <a:rPr sz="2200" dirty="0">
                <a:latin typeface="Courier New"/>
                <a:cs typeface="Courier New"/>
              </a:rPr>
              <a:t>t</a:t>
            </a:r>
            <a:r>
              <a:rPr sz="2200" spc="620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p</a:t>
            </a:r>
            <a:r>
              <a:rPr sz="2200" spc="-60" dirty="0">
                <a:latin typeface="Courier New"/>
                <a:cs typeface="Courier New"/>
              </a:rPr>
              <a:t>r</a:t>
            </a:r>
            <a:r>
              <a:rPr sz="2200" spc="-35" dirty="0">
                <a:latin typeface="Courier New"/>
                <a:cs typeface="Courier New"/>
              </a:rPr>
              <a:t>o</a:t>
            </a:r>
            <a:r>
              <a:rPr sz="2200" spc="-5" dirty="0">
                <a:latin typeface="Courier New"/>
                <a:cs typeface="Courier New"/>
              </a:rPr>
              <a:t>g</a:t>
            </a:r>
            <a:r>
              <a:rPr sz="2200" spc="-15" dirty="0">
                <a:latin typeface="Courier New"/>
                <a:cs typeface="Courier New"/>
              </a:rPr>
              <a:t>r</a:t>
            </a:r>
            <a:r>
              <a:rPr sz="2200" spc="-5" dirty="0">
                <a:latin typeface="Courier New"/>
                <a:cs typeface="Courier New"/>
              </a:rPr>
              <a:t>e</a:t>
            </a:r>
            <a:r>
              <a:rPr sz="2200" spc="-15" dirty="0">
                <a:latin typeface="Courier New"/>
                <a:cs typeface="Courier New"/>
              </a:rPr>
              <a:t>s</a:t>
            </a: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670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f</a:t>
            </a:r>
            <a:r>
              <a:rPr sz="2200" spc="-35" dirty="0">
                <a:latin typeface="Courier New"/>
                <a:cs typeface="Courier New"/>
              </a:rPr>
              <a:t>o</a:t>
            </a:r>
            <a:r>
              <a:rPr sz="2200" dirty="0">
                <a:latin typeface="Courier New"/>
                <a:cs typeface="Courier New"/>
              </a:rPr>
              <a:t>r</a:t>
            </a:r>
            <a:r>
              <a:rPr sz="2200" spc="815" dirty="0">
                <a:latin typeface="Courier New"/>
                <a:cs typeface="Courier New"/>
              </a:rPr>
              <a:t> </a:t>
            </a:r>
            <a:r>
              <a:rPr sz="2200" spc="-150" dirty="0">
                <a:latin typeface="Courier New"/>
                <a:cs typeface="Courier New"/>
              </a:rPr>
              <a:t>t</a:t>
            </a:r>
            <a:r>
              <a:rPr sz="2200" spc="-80" dirty="0">
                <a:latin typeface="Courier New"/>
                <a:cs typeface="Courier New"/>
              </a:rPr>
              <a:t>h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590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t</a:t>
            </a:r>
            <a:r>
              <a:rPr sz="2200" spc="-35" dirty="0">
                <a:latin typeface="Courier New"/>
                <a:cs typeface="Courier New"/>
              </a:rPr>
              <a:t>i</a:t>
            </a:r>
            <a:r>
              <a:rPr sz="2200" spc="-5" dirty="0">
                <a:latin typeface="Courier New"/>
                <a:cs typeface="Courier New"/>
              </a:rPr>
              <a:t>me dimensio</a:t>
            </a:r>
            <a:r>
              <a:rPr sz="2200" dirty="0">
                <a:latin typeface="Courier New"/>
                <a:cs typeface="Courier New"/>
              </a:rPr>
              <a:t>n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5" dirty="0">
                <a:latin typeface="Courier New"/>
                <a:cs typeface="Courier New"/>
              </a:rPr>
              <a:t>o</a:t>
            </a:r>
            <a:r>
              <a:rPr sz="2200" dirty="0">
                <a:latin typeface="Courier New"/>
                <a:cs typeface="Courier New"/>
              </a:rPr>
              <a:t>f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5" dirty="0">
                <a:latin typeface="Courier New"/>
                <a:cs typeface="Courier New"/>
              </a:rPr>
              <a:t>th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-705" dirty="0">
                <a:latin typeface="Courier New"/>
                <a:cs typeface="Courier New"/>
              </a:rPr>
              <a:t> </a:t>
            </a:r>
            <a:r>
              <a:rPr sz="2200" spc="-5" dirty="0">
                <a:latin typeface="Courier New"/>
                <a:cs typeface="Courier New"/>
              </a:rPr>
              <a:t>project</a:t>
            </a:r>
            <a:r>
              <a:rPr sz="2200" dirty="0">
                <a:latin typeface="Courier New"/>
                <a:cs typeface="Courier New"/>
              </a:rPr>
              <a:t>.</a:t>
            </a:r>
          </a:p>
          <a:p>
            <a:pPr marL="241300" marR="6350" indent="-228600" algn="just">
              <a:lnSpc>
                <a:spcPct val="15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20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main</a:t>
            </a:r>
            <a:r>
              <a:rPr sz="2200" spc="-2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outputs</a:t>
            </a:r>
            <a:r>
              <a:rPr sz="2200" spc="-20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-13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this</a:t>
            </a:r>
            <a:r>
              <a:rPr sz="2200" spc="-2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process</a:t>
            </a:r>
            <a:r>
              <a:rPr sz="2200" spc="-2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are</a:t>
            </a:r>
            <a:r>
              <a:rPr sz="2200" spc="-2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22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schedule</a:t>
            </a:r>
            <a:r>
              <a:rPr sz="2200" spc="-2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baseline,</a:t>
            </a:r>
            <a:r>
              <a:rPr sz="2200" spc="-1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 </a:t>
            </a:r>
            <a:r>
              <a:rPr sz="2200" dirty="0">
                <a:latin typeface="Courier New"/>
                <a:cs typeface="Courier New"/>
              </a:rPr>
              <a:t>schedule,</a:t>
            </a:r>
            <a:r>
              <a:rPr sz="2200" spc="-33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schedule</a:t>
            </a:r>
            <a:r>
              <a:rPr sz="2200" spc="-24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data,</a:t>
            </a:r>
            <a:r>
              <a:rPr sz="2200" spc="-34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project</a:t>
            </a:r>
            <a:r>
              <a:rPr sz="2200" spc="-33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calendars,</a:t>
            </a:r>
            <a:r>
              <a:rPr sz="2200" spc="-32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change</a:t>
            </a:r>
            <a:r>
              <a:rPr sz="2200" spc="-305" dirty="0">
                <a:latin typeface="Courier New"/>
                <a:cs typeface="Courier New"/>
              </a:rPr>
              <a:t>  </a:t>
            </a:r>
            <a:r>
              <a:rPr sz="2200" spc="-10" dirty="0">
                <a:latin typeface="Courier New"/>
                <a:cs typeface="Courier New"/>
              </a:rPr>
              <a:t>requests, project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management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plan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updates,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70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documents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updates.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controlling</a:t>
            </a:r>
            <a:r>
              <a:rPr spc="-1295" dirty="0"/>
              <a:t> </a:t>
            </a:r>
            <a:r>
              <a:rPr spc="-25" dirty="0"/>
              <a:t>the </a:t>
            </a:r>
            <a:r>
              <a:rPr spc="-10" dirty="0"/>
              <a:t>Schedule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9" y="1790395"/>
            <a:ext cx="11755120" cy="4449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01725" marR="7620" indent="-228600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1101725" algn="l"/>
              </a:tabLst>
            </a:pP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320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few</a:t>
            </a:r>
            <a:r>
              <a:rPr sz="2200" spc="-29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of</a:t>
            </a:r>
            <a:r>
              <a:rPr sz="2200" spc="-28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the</a:t>
            </a:r>
            <a:r>
              <a:rPr sz="2200" spc="-28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tools</a:t>
            </a:r>
            <a:r>
              <a:rPr sz="2200" spc="-27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and</a:t>
            </a:r>
            <a:r>
              <a:rPr sz="2200" spc="-24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techniques</a:t>
            </a:r>
            <a:r>
              <a:rPr sz="2200" spc="-27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for</a:t>
            </a:r>
            <a:r>
              <a:rPr sz="2200" spc="-29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schedule</a:t>
            </a:r>
            <a:r>
              <a:rPr sz="2200" spc="-2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development</a:t>
            </a:r>
            <a:r>
              <a:rPr sz="2200" spc="-1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include the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following:</a:t>
            </a:r>
            <a:endParaRPr sz="2200" dirty="0">
              <a:latin typeface="Courier New"/>
              <a:cs typeface="Courier New"/>
            </a:endParaRPr>
          </a:p>
          <a:p>
            <a:pPr marL="1598295" lvl="1" indent="-267970">
              <a:lnSpc>
                <a:spcPct val="100000"/>
              </a:lnSpc>
              <a:spcBef>
                <a:spcPts val="2310"/>
              </a:spcBef>
              <a:buFont typeface="Wingdings"/>
              <a:buChar char=""/>
              <a:tabLst>
                <a:tab pos="1598295" algn="l"/>
              </a:tabLst>
            </a:pPr>
            <a:r>
              <a:rPr sz="2200" b="1" dirty="0">
                <a:latin typeface="Courier New"/>
                <a:cs typeface="Courier New"/>
              </a:rPr>
              <a:t>A</a:t>
            </a:r>
            <a:r>
              <a:rPr sz="2200" b="1" spc="-6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Gantt</a:t>
            </a:r>
            <a:r>
              <a:rPr sz="2200" b="1" spc="-2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Chart</a:t>
            </a:r>
            <a:r>
              <a:rPr sz="2200" b="1" spc="-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is</a:t>
            </a:r>
            <a:r>
              <a:rPr sz="2200" spc="-2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5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common</a:t>
            </a:r>
            <a:r>
              <a:rPr sz="2200" spc="-204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tool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for</a:t>
            </a:r>
            <a:r>
              <a:rPr sz="2200" spc="-254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displaying</a:t>
            </a:r>
            <a:r>
              <a:rPr sz="2200" spc="-20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project</a:t>
            </a:r>
            <a:r>
              <a:rPr sz="2200" spc="-1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schedule</a:t>
            </a:r>
            <a:endParaRPr sz="2200" dirty="0">
              <a:latin typeface="Courier New"/>
              <a:cs typeface="Courier New"/>
            </a:endParaRPr>
          </a:p>
          <a:p>
            <a:pPr marL="1598295">
              <a:lnSpc>
                <a:spcPct val="100000"/>
              </a:lnSpc>
              <a:spcBef>
                <a:spcPts val="1320"/>
              </a:spcBef>
            </a:pPr>
            <a:r>
              <a:rPr sz="2200" spc="-10" dirty="0">
                <a:latin typeface="Courier New"/>
                <a:cs typeface="Courier New"/>
              </a:rPr>
              <a:t>information.</a:t>
            </a:r>
            <a:endParaRPr sz="2200" dirty="0">
              <a:latin typeface="Courier New"/>
              <a:cs typeface="Courier New"/>
            </a:endParaRPr>
          </a:p>
          <a:p>
            <a:pPr marL="1598295" marR="8890" lvl="1" indent="-268605">
              <a:lnSpc>
                <a:spcPct val="150100"/>
              </a:lnSpc>
              <a:spcBef>
                <a:spcPts val="1005"/>
              </a:spcBef>
              <a:buFont typeface="Wingdings"/>
              <a:buChar char=""/>
              <a:tabLst>
                <a:tab pos="1598295" algn="l"/>
              </a:tabLst>
            </a:pPr>
            <a:r>
              <a:rPr sz="2200" b="1" dirty="0">
                <a:latin typeface="Courier New"/>
                <a:cs typeface="Courier New"/>
              </a:rPr>
              <a:t>Critical</a:t>
            </a:r>
            <a:r>
              <a:rPr sz="2200" b="1" spc="-7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Path</a:t>
            </a:r>
            <a:r>
              <a:rPr sz="2200" b="1" spc="-4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Analysis</a:t>
            </a:r>
            <a:r>
              <a:rPr sz="2200" b="1" spc="-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is</a:t>
            </a:r>
            <a:r>
              <a:rPr sz="2200" spc="-2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395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very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important</a:t>
            </a:r>
            <a:r>
              <a:rPr sz="2200" spc="-26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tool</a:t>
            </a:r>
            <a:r>
              <a:rPr sz="2200" spc="-2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for</a:t>
            </a:r>
            <a:r>
              <a:rPr sz="2200" spc="-2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developing and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controlling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schedules.</a:t>
            </a:r>
            <a:endParaRPr sz="2200" dirty="0">
              <a:latin typeface="Courier New"/>
              <a:cs typeface="Courier New"/>
            </a:endParaRPr>
          </a:p>
          <a:p>
            <a:pPr marL="1598295" lvl="1" indent="-267970">
              <a:lnSpc>
                <a:spcPct val="100000"/>
              </a:lnSpc>
              <a:spcBef>
                <a:spcPts val="2330"/>
              </a:spcBef>
              <a:buFont typeface="Wingdings"/>
              <a:buChar char=""/>
              <a:tabLst>
                <a:tab pos="1598295" algn="l"/>
              </a:tabLst>
            </a:pPr>
            <a:r>
              <a:rPr sz="2200" b="1" dirty="0">
                <a:latin typeface="Courier New"/>
                <a:cs typeface="Courier New"/>
              </a:rPr>
              <a:t>Critical</a:t>
            </a:r>
            <a:r>
              <a:rPr sz="2200" b="1" spc="-295" dirty="0">
                <a:latin typeface="Courier New"/>
                <a:cs typeface="Courier New"/>
              </a:rPr>
              <a:t>  </a:t>
            </a:r>
            <a:r>
              <a:rPr sz="2200" b="1" dirty="0">
                <a:latin typeface="Courier New"/>
                <a:cs typeface="Courier New"/>
              </a:rPr>
              <a:t>Chain</a:t>
            </a:r>
            <a:r>
              <a:rPr sz="2200" b="1" spc="-295" dirty="0">
                <a:latin typeface="Courier New"/>
                <a:cs typeface="Courier New"/>
              </a:rPr>
              <a:t>  </a:t>
            </a:r>
            <a:r>
              <a:rPr sz="2200" b="1" dirty="0">
                <a:latin typeface="Courier New"/>
                <a:cs typeface="Courier New"/>
              </a:rPr>
              <a:t>Scheduling</a:t>
            </a:r>
            <a:r>
              <a:rPr sz="2200" b="1" spc="-29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is</a:t>
            </a:r>
            <a:r>
              <a:rPr sz="2200" spc="-30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38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technique</a:t>
            </a:r>
            <a:r>
              <a:rPr sz="2200" spc="-31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that</a:t>
            </a:r>
            <a:r>
              <a:rPr sz="2200" spc="-32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focuses</a:t>
            </a:r>
            <a:r>
              <a:rPr sz="2200" spc="-280" dirty="0">
                <a:latin typeface="Courier New"/>
                <a:cs typeface="Courier New"/>
              </a:rPr>
              <a:t>  </a:t>
            </a:r>
            <a:r>
              <a:rPr sz="2200" spc="-25" dirty="0">
                <a:latin typeface="Courier New"/>
                <a:cs typeface="Courier New"/>
              </a:rPr>
              <a:t>on</a:t>
            </a:r>
            <a:endParaRPr sz="2200" dirty="0">
              <a:latin typeface="Courier New"/>
              <a:cs typeface="Courier New"/>
            </a:endParaRPr>
          </a:p>
          <a:p>
            <a:pPr marL="1598295">
              <a:lnSpc>
                <a:spcPct val="100000"/>
              </a:lnSpc>
              <a:spcBef>
                <a:spcPts val="1325"/>
              </a:spcBef>
            </a:pPr>
            <a:r>
              <a:rPr sz="2200" spc="-10" dirty="0">
                <a:latin typeface="Courier New"/>
                <a:cs typeface="Courier New"/>
              </a:rPr>
              <a:t>limited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resources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when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creating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schedule</a:t>
            </a:r>
            <a:r>
              <a:rPr sz="2200" spc="-10" dirty="0" smtClean="0">
                <a:latin typeface="Courier New"/>
                <a:cs typeface="Courier New"/>
              </a:rPr>
              <a:t>.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controlling</a:t>
            </a:r>
            <a:r>
              <a:rPr spc="-1295" dirty="0"/>
              <a:t> </a:t>
            </a:r>
            <a:r>
              <a:rPr spc="-25" dirty="0"/>
              <a:t>the </a:t>
            </a:r>
            <a:r>
              <a:rPr spc="-10" dirty="0"/>
              <a:t>Schedule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16792"/>
            <a:ext cx="10889615" cy="40474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40029" marR="5080" indent="-227329" algn="just">
              <a:lnSpc>
                <a:spcPct val="130100"/>
              </a:lnSpc>
              <a:spcBef>
                <a:spcPts val="80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dirty="0">
                <a:latin typeface="Courier New"/>
                <a:cs typeface="Courier New"/>
              </a:rPr>
              <a:t>Gantt</a:t>
            </a:r>
            <a:r>
              <a:rPr sz="1900" spc="44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charts</a:t>
            </a:r>
            <a:r>
              <a:rPr sz="1900" spc="42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provide</a:t>
            </a:r>
            <a:r>
              <a:rPr sz="1900" spc="-285" dirty="0">
                <a:latin typeface="Courier New"/>
                <a:cs typeface="Courier New"/>
              </a:rPr>
              <a:t>  </a:t>
            </a:r>
            <a:r>
              <a:rPr sz="1900" dirty="0">
                <a:latin typeface="Courier New"/>
                <a:cs typeface="Courier New"/>
              </a:rPr>
              <a:t>a</a:t>
            </a:r>
            <a:r>
              <a:rPr sz="1900" spc="229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standard</a:t>
            </a:r>
            <a:r>
              <a:rPr sz="1900" spc="44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format</a:t>
            </a:r>
            <a:r>
              <a:rPr sz="1900" spc="44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for</a:t>
            </a:r>
            <a:r>
              <a:rPr sz="1900" spc="44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displaying</a:t>
            </a:r>
            <a:r>
              <a:rPr sz="1900" spc="44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project</a:t>
            </a:r>
            <a:r>
              <a:rPr sz="1900" spc="49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schedule 	</a:t>
            </a:r>
            <a:r>
              <a:rPr sz="1900" dirty="0">
                <a:latin typeface="Courier New"/>
                <a:cs typeface="Courier New"/>
              </a:rPr>
              <a:t>information</a:t>
            </a:r>
            <a:r>
              <a:rPr sz="1900" spc="-20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by</a:t>
            </a:r>
            <a:r>
              <a:rPr sz="1900" spc="-254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listing</a:t>
            </a:r>
            <a:r>
              <a:rPr sz="1900" spc="-19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project</a:t>
            </a:r>
            <a:r>
              <a:rPr sz="1900" spc="-21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activities</a:t>
            </a:r>
            <a:r>
              <a:rPr sz="1900" spc="-204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and</a:t>
            </a:r>
            <a:r>
              <a:rPr sz="1900" spc="-19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their</a:t>
            </a:r>
            <a:r>
              <a:rPr sz="1900" spc="-21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corresponding</a:t>
            </a:r>
            <a:r>
              <a:rPr sz="1900" spc="-14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start</a:t>
            </a:r>
            <a:r>
              <a:rPr sz="1900" spc="-170" dirty="0">
                <a:latin typeface="Courier New"/>
                <a:cs typeface="Courier New"/>
              </a:rPr>
              <a:t> </a:t>
            </a:r>
            <a:r>
              <a:rPr sz="1900" spc="-25" dirty="0">
                <a:latin typeface="Courier New"/>
                <a:cs typeface="Courier New"/>
              </a:rPr>
              <a:t>and 	</a:t>
            </a:r>
            <a:r>
              <a:rPr sz="1900" spc="-10" dirty="0">
                <a:latin typeface="Courier New"/>
                <a:cs typeface="Courier New"/>
              </a:rPr>
              <a:t>finish</a:t>
            </a:r>
            <a:r>
              <a:rPr sz="1900" spc="-57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dates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in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calendar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form.</a:t>
            </a:r>
            <a:endParaRPr sz="19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240029" algn="l"/>
              </a:tabLst>
            </a:pPr>
            <a:r>
              <a:rPr sz="1900" dirty="0">
                <a:latin typeface="Courier New"/>
                <a:cs typeface="Courier New"/>
              </a:rPr>
              <a:t>Gantt</a:t>
            </a:r>
            <a:r>
              <a:rPr sz="1900" spc="-24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charts</a:t>
            </a:r>
            <a:r>
              <a:rPr sz="1900" spc="-25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are</a:t>
            </a:r>
            <a:r>
              <a:rPr sz="1900" spc="-25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sometimes</a:t>
            </a:r>
            <a:r>
              <a:rPr sz="1900" spc="-22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referred</a:t>
            </a:r>
            <a:r>
              <a:rPr sz="1900" spc="-22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to</a:t>
            </a:r>
            <a:r>
              <a:rPr sz="1900" spc="-27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as</a:t>
            </a:r>
            <a:r>
              <a:rPr sz="1900" spc="-28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bar</a:t>
            </a:r>
            <a:r>
              <a:rPr sz="1900" spc="-229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charts</a:t>
            </a:r>
            <a:r>
              <a:rPr sz="1900" spc="-22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because</a:t>
            </a:r>
            <a:r>
              <a:rPr sz="1900" spc="-229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the</a:t>
            </a:r>
            <a:r>
              <a:rPr sz="1900" spc="-20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activities’</a:t>
            </a:r>
            <a:endParaRPr sz="19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670"/>
              </a:spcBef>
            </a:pPr>
            <a:r>
              <a:rPr sz="1900" spc="-20" dirty="0">
                <a:latin typeface="Courier New"/>
                <a:cs typeface="Courier New"/>
              </a:rPr>
              <a:t>start</a:t>
            </a:r>
            <a:r>
              <a:rPr sz="1900" spc="-56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and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end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dates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are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shown</a:t>
            </a:r>
            <a:r>
              <a:rPr sz="1900" spc="-57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as</a:t>
            </a:r>
            <a:r>
              <a:rPr sz="1900" spc="-61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horizontal</a:t>
            </a:r>
            <a:r>
              <a:rPr sz="1900" spc="-55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bars.</a:t>
            </a:r>
            <a:endParaRPr sz="19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240029" algn="l"/>
              </a:tabLst>
            </a:pPr>
            <a:r>
              <a:rPr sz="1900" spc="-10" dirty="0">
                <a:latin typeface="Courier New"/>
                <a:cs typeface="Courier New"/>
              </a:rPr>
              <a:t>There</a:t>
            </a:r>
            <a:r>
              <a:rPr sz="1900" spc="-58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are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different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symbols</a:t>
            </a:r>
            <a:r>
              <a:rPr sz="1900" spc="-53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on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the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Gantt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chart:</a:t>
            </a:r>
            <a:endParaRPr sz="1900">
              <a:latin typeface="Courier New"/>
              <a:cs typeface="Courier New"/>
            </a:endParaRPr>
          </a:p>
          <a:p>
            <a:pPr marL="965835" lvl="1" indent="-456565">
              <a:lnSpc>
                <a:spcPct val="100000"/>
              </a:lnSpc>
              <a:spcBef>
                <a:spcPts val="1705"/>
              </a:spcBef>
              <a:buAutoNum type="arabicPeriod"/>
              <a:tabLst>
                <a:tab pos="965835" algn="l"/>
              </a:tabLst>
            </a:pPr>
            <a:r>
              <a:rPr sz="1900" spc="-10" dirty="0">
                <a:latin typeface="Courier New"/>
                <a:cs typeface="Courier New"/>
              </a:rPr>
              <a:t>Black</a:t>
            </a:r>
            <a:r>
              <a:rPr sz="1900" spc="-57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diamonds:</a:t>
            </a:r>
            <a:r>
              <a:rPr sz="1900" spc="-53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milestones</a:t>
            </a:r>
            <a:endParaRPr sz="1900">
              <a:latin typeface="Courier New"/>
              <a:cs typeface="Courier New"/>
            </a:endParaRPr>
          </a:p>
          <a:p>
            <a:pPr marL="965835" lvl="1" indent="-456565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965835" algn="l"/>
              </a:tabLst>
            </a:pPr>
            <a:r>
              <a:rPr sz="1900" spc="-10" dirty="0">
                <a:latin typeface="Courier New"/>
                <a:cs typeface="Courier New"/>
              </a:rPr>
              <a:t>Thick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black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bars: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summary</a:t>
            </a:r>
            <a:r>
              <a:rPr sz="1900" spc="-58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tasks</a:t>
            </a:r>
            <a:endParaRPr sz="1900">
              <a:latin typeface="Courier New"/>
              <a:cs typeface="Courier New"/>
            </a:endParaRPr>
          </a:p>
          <a:p>
            <a:pPr marL="965835" lvl="1" indent="-456565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965835" algn="l"/>
              </a:tabLst>
            </a:pPr>
            <a:r>
              <a:rPr sz="1900" spc="-20" dirty="0">
                <a:latin typeface="Courier New"/>
                <a:cs typeface="Courier New"/>
              </a:rPr>
              <a:t>Lighter</a:t>
            </a:r>
            <a:r>
              <a:rPr sz="1900" spc="-52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horizontal</a:t>
            </a:r>
            <a:r>
              <a:rPr sz="1900" spc="-53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bars:</a:t>
            </a:r>
            <a:r>
              <a:rPr sz="1900" spc="-55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durations</a:t>
            </a:r>
            <a:r>
              <a:rPr sz="1900" spc="-49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of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tasks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8297" y="5967202"/>
            <a:ext cx="5156835" cy="732790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1900" dirty="0">
                <a:latin typeface="Courier New"/>
                <a:cs typeface="Courier New"/>
              </a:rPr>
              <a:t>4.</a:t>
            </a:r>
            <a:r>
              <a:rPr sz="1900" spc="23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Arrows: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dependencies</a:t>
            </a:r>
            <a:r>
              <a:rPr sz="1900" spc="-53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between</a:t>
            </a:r>
            <a:r>
              <a:rPr sz="1900" spc="-53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tasks</a:t>
            </a:r>
            <a:endParaRPr sz="1900" dirty="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700"/>
              </a:spcBef>
            </a:pPr>
            <a:endParaRPr sz="13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controlling</a:t>
            </a:r>
            <a:r>
              <a:rPr spc="-1295" dirty="0"/>
              <a:t> </a:t>
            </a:r>
            <a:r>
              <a:rPr spc="-25" dirty="0"/>
              <a:t>the </a:t>
            </a:r>
            <a:r>
              <a:rPr spc="-10" dirty="0"/>
              <a:t>Schedule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03585" cy="4121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13335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Milestones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105" dirty="0">
                <a:latin typeface="Courier New"/>
                <a:cs typeface="Courier New"/>
              </a:rPr>
              <a:t>can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spc="-395" dirty="0">
                <a:latin typeface="Courier New"/>
                <a:cs typeface="Courier New"/>
              </a:rPr>
              <a:t>be</a:t>
            </a:r>
            <a:r>
              <a:rPr sz="2400" spc="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particularly</a:t>
            </a:r>
            <a:r>
              <a:rPr sz="2400" spc="-33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important</a:t>
            </a:r>
            <a:r>
              <a:rPr sz="2400" spc="-25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part</a:t>
            </a:r>
            <a:r>
              <a:rPr sz="2400" spc="-210" dirty="0">
                <a:latin typeface="Courier New"/>
                <a:cs typeface="Courier New"/>
              </a:rPr>
              <a:t> </a:t>
            </a:r>
            <a:r>
              <a:rPr sz="2400" spc="-90" dirty="0">
                <a:latin typeface="Courier New"/>
                <a:cs typeface="Courier New"/>
              </a:rPr>
              <a:t>of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schedules, 	especially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large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projects.</a:t>
            </a:r>
            <a:endParaRPr sz="2400">
              <a:latin typeface="Courier New"/>
              <a:cs typeface="Courier New"/>
            </a:endParaRPr>
          </a:p>
          <a:p>
            <a:pPr marL="240029" marR="5080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Many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people</a:t>
            </a:r>
            <a:r>
              <a:rPr sz="2400" spc="-1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like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focus</a:t>
            </a:r>
            <a:r>
              <a:rPr sz="2400" spc="-1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on</a:t>
            </a:r>
            <a:r>
              <a:rPr sz="2400" spc="-1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meeting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milestones,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so</a:t>
            </a:r>
            <a:r>
              <a:rPr sz="2400" spc="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you</a:t>
            </a:r>
            <a:r>
              <a:rPr sz="2400" spc="-12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can 	</a:t>
            </a:r>
            <a:r>
              <a:rPr sz="2400" dirty="0">
                <a:latin typeface="Courier New"/>
                <a:cs typeface="Courier New"/>
              </a:rPr>
              <a:t>create</a:t>
            </a:r>
            <a:r>
              <a:rPr sz="2400" spc="-35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them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to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emphasize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important</a:t>
            </a:r>
            <a:r>
              <a:rPr sz="2400" spc="-14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events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or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accomplishments 	on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projects.</a:t>
            </a:r>
            <a:endParaRPr sz="2400">
              <a:latin typeface="Courier New"/>
              <a:cs typeface="Courier New"/>
            </a:endParaRPr>
          </a:p>
          <a:p>
            <a:pPr marL="240029" marR="7620" indent="-227329" algn="just">
              <a:lnSpc>
                <a:spcPct val="1500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2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milestones</a:t>
            </a:r>
            <a:r>
              <a:rPr sz="2400" spc="2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can</a:t>
            </a:r>
            <a:r>
              <a:rPr sz="2400" spc="20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be</a:t>
            </a:r>
            <a:r>
              <a:rPr sz="2400" spc="1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created</a:t>
            </a:r>
            <a:r>
              <a:rPr sz="2400" spc="2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by</a:t>
            </a:r>
            <a:r>
              <a:rPr sz="2400" spc="2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entering</a:t>
            </a:r>
            <a:r>
              <a:rPr sz="2400" spc="20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tasks</a:t>
            </a:r>
            <a:r>
              <a:rPr sz="2400" spc="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with</a:t>
            </a:r>
            <a:r>
              <a:rPr sz="2400" spc="25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zero 	</a:t>
            </a:r>
            <a:r>
              <a:rPr sz="2400" spc="-10" dirty="0">
                <a:latin typeface="Courier New"/>
                <a:cs typeface="Courier New"/>
              </a:rPr>
              <a:t>duration.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controlling</a:t>
            </a:r>
            <a:r>
              <a:rPr spc="-1295" dirty="0"/>
              <a:t> </a:t>
            </a:r>
            <a:r>
              <a:rPr spc="-25" dirty="0"/>
              <a:t>the </a:t>
            </a:r>
            <a:r>
              <a:rPr spc="-10" dirty="0"/>
              <a:t>Schedule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92224"/>
            <a:ext cx="8955405" cy="156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4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3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make</a:t>
            </a:r>
            <a:r>
              <a:rPr sz="2400" spc="3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milestones</a:t>
            </a:r>
            <a:r>
              <a:rPr sz="2400" spc="3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meaningful,</a:t>
            </a:r>
            <a:r>
              <a:rPr sz="2400" spc="3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some</a:t>
            </a:r>
            <a:r>
              <a:rPr sz="2400" spc="3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people</a:t>
            </a:r>
            <a:r>
              <a:rPr sz="2400" spc="40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use 	</a:t>
            </a:r>
            <a:r>
              <a:rPr sz="2400" dirty="0">
                <a:latin typeface="Courier New"/>
                <a:cs typeface="Courier New"/>
              </a:rPr>
              <a:t>criteria</a:t>
            </a:r>
            <a:r>
              <a:rPr sz="2400" spc="1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1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help</a:t>
            </a:r>
            <a:r>
              <a:rPr sz="2400" spc="3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define</a:t>
            </a:r>
            <a:r>
              <a:rPr sz="2400" spc="1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them,</a:t>
            </a:r>
            <a:r>
              <a:rPr sz="2400" spc="1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which</a:t>
            </a:r>
            <a:r>
              <a:rPr sz="2400" spc="1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means</a:t>
            </a:r>
            <a:r>
              <a:rPr sz="2400" spc="16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that 	</a:t>
            </a:r>
            <a:r>
              <a:rPr sz="2400" spc="-10" dirty="0">
                <a:latin typeface="Courier New"/>
                <a:cs typeface="Courier New"/>
              </a:rPr>
              <a:t>should</a:t>
            </a:r>
            <a:r>
              <a:rPr sz="2400" spc="-68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be: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14001" y="1792224"/>
            <a:ext cx="1858010" cy="1050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9700">
              <a:lnSpc>
                <a:spcPct val="1401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45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SMART </a:t>
            </a:r>
            <a:r>
              <a:rPr sz="2400" spc="-10" dirty="0">
                <a:latin typeface="Courier New"/>
                <a:cs typeface="Courier New"/>
              </a:rPr>
              <a:t>milestones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8297" y="3604005"/>
            <a:ext cx="2494915" cy="2947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69265" algn="l"/>
              </a:tabLst>
            </a:pPr>
            <a:r>
              <a:rPr sz="2400" spc="-10" dirty="0">
                <a:latin typeface="Courier New"/>
                <a:cs typeface="Courier New"/>
              </a:rPr>
              <a:t>Specific</a:t>
            </a:r>
            <a:endParaRPr sz="2400">
              <a:latin typeface="Courier New"/>
              <a:cs typeface="Courier New"/>
            </a:endParaRPr>
          </a:p>
          <a:p>
            <a:pPr marL="469265" indent="-456565">
              <a:lnSpc>
                <a:spcPct val="100000"/>
              </a:lnSpc>
              <a:spcBef>
                <a:spcPts val="2135"/>
              </a:spcBef>
              <a:buAutoNum type="arabicPeriod"/>
              <a:tabLst>
                <a:tab pos="469265" algn="l"/>
              </a:tabLst>
            </a:pPr>
            <a:r>
              <a:rPr sz="2400" spc="-10" dirty="0">
                <a:latin typeface="Courier New"/>
                <a:cs typeface="Courier New"/>
              </a:rPr>
              <a:t>Measurable</a:t>
            </a:r>
            <a:endParaRPr sz="2400">
              <a:latin typeface="Courier New"/>
              <a:cs typeface="Courier New"/>
            </a:endParaRPr>
          </a:p>
          <a:p>
            <a:pPr marL="469265" indent="-456565">
              <a:lnSpc>
                <a:spcPct val="100000"/>
              </a:lnSpc>
              <a:spcBef>
                <a:spcPts val="2160"/>
              </a:spcBef>
              <a:buAutoNum type="arabicPeriod"/>
              <a:tabLst>
                <a:tab pos="469265" algn="l"/>
              </a:tabLst>
            </a:pPr>
            <a:r>
              <a:rPr sz="2400" spc="-10" dirty="0">
                <a:latin typeface="Courier New"/>
                <a:cs typeface="Courier New"/>
              </a:rPr>
              <a:t>Assignable</a:t>
            </a:r>
            <a:endParaRPr sz="2400">
              <a:latin typeface="Courier New"/>
              <a:cs typeface="Courier New"/>
            </a:endParaRPr>
          </a:p>
          <a:p>
            <a:pPr marL="469265" indent="-456565">
              <a:lnSpc>
                <a:spcPct val="100000"/>
              </a:lnSpc>
              <a:spcBef>
                <a:spcPts val="2165"/>
              </a:spcBef>
              <a:buAutoNum type="arabicPeriod"/>
              <a:tabLst>
                <a:tab pos="469265" algn="l"/>
              </a:tabLst>
            </a:pPr>
            <a:r>
              <a:rPr sz="2400" spc="-10" dirty="0">
                <a:latin typeface="Courier New"/>
                <a:cs typeface="Courier New"/>
              </a:rPr>
              <a:t>Realistic</a:t>
            </a:r>
            <a:endParaRPr sz="2400">
              <a:latin typeface="Courier New"/>
              <a:cs typeface="Courier New"/>
            </a:endParaRPr>
          </a:p>
          <a:p>
            <a:pPr marL="469265" indent="-456565">
              <a:lnSpc>
                <a:spcPct val="100000"/>
              </a:lnSpc>
              <a:spcBef>
                <a:spcPts val="2140"/>
              </a:spcBef>
              <a:buAutoNum type="arabicPeriod"/>
              <a:tabLst>
                <a:tab pos="469265" algn="l"/>
              </a:tabLst>
            </a:pPr>
            <a:r>
              <a:rPr sz="2400" spc="-10" dirty="0">
                <a:latin typeface="Courier New"/>
                <a:cs typeface="Courier New"/>
              </a:rPr>
              <a:t>Time-framed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controlling</a:t>
            </a:r>
            <a:r>
              <a:rPr spc="-1295" dirty="0"/>
              <a:t> </a:t>
            </a:r>
            <a:r>
              <a:rPr spc="-25" dirty="0"/>
              <a:t>the </a:t>
            </a:r>
            <a:r>
              <a:rPr spc="-10" dirty="0"/>
              <a:t>Schedule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90395"/>
            <a:ext cx="8689340" cy="1032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35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five</a:t>
            </a:r>
            <a:r>
              <a:rPr sz="2200" spc="-35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key</a:t>
            </a:r>
            <a:r>
              <a:rPr sz="2200" spc="-37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points</a:t>
            </a:r>
            <a:r>
              <a:rPr sz="2200" spc="-34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-38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using</a:t>
            </a:r>
            <a:r>
              <a:rPr sz="2200" spc="-36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project</a:t>
            </a:r>
            <a:r>
              <a:rPr sz="2200" spc="-345" dirty="0">
                <a:latin typeface="Courier New"/>
                <a:cs typeface="Courier New"/>
              </a:rPr>
              <a:t>  </a:t>
            </a:r>
            <a:r>
              <a:rPr sz="2200" spc="-15" dirty="0">
                <a:latin typeface="Courier New"/>
                <a:cs typeface="Courier New"/>
              </a:rPr>
              <a:t>milestones </a:t>
            </a:r>
            <a:r>
              <a:rPr sz="2200" spc="-10" dirty="0">
                <a:latin typeface="Courier New"/>
                <a:cs typeface="Courier New"/>
              </a:rPr>
              <a:t>following: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07320" y="1957197"/>
            <a:ext cx="196215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latin typeface="Courier New"/>
                <a:cs typeface="Courier New"/>
              </a:rPr>
              <a:t>include</a:t>
            </a:r>
            <a:r>
              <a:rPr sz="2200" spc="-290" dirty="0">
                <a:latin typeface="Courier New"/>
                <a:cs typeface="Courier New"/>
              </a:rPr>
              <a:t>  </a:t>
            </a:r>
            <a:r>
              <a:rPr sz="2200" spc="-25" dirty="0">
                <a:latin typeface="Courier New"/>
                <a:cs typeface="Courier New"/>
              </a:rPr>
              <a:t>the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-27330" y="2922704"/>
            <a:ext cx="11810365" cy="3431067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1865630" indent="-457834">
              <a:lnSpc>
                <a:spcPct val="100000"/>
              </a:lnSpc>
              <a:spcBef>
                <a:spcPts val="1415"/>
              </a:spcBef>
              <a:buAutoNum type="arabicPeriod"/>
              <a:tabLst>
                <a:tab pos="1865630" algn="l"/>
              </a:tabLst>
            </a:pPr>
            <a:r>
              <a:rPr sz="2200" dirty="0">
                <a:latin typeface="Courier New"/>
                <a:cs typeface="Courier New"/>
              </a:rPr>
              <a:t>Define</a:t>
            </a:r>
            <a:r>
              <a:rPr sz="2200" spc="-33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milestones</a:t>
            </a:r>
            <a:r>
              <a:rPr sz="2200" spc="-310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early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in</a:t>
            </a:r>
            <a:r>
              <a:rPr sz="2200" spc="-320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the</a:t>
            </a:r>
            <a:r>
              <a:rPr sz="2200" spc="-3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project</a:t>
            </a:r>
            <a:r>
              <a:rPr sz="2200" spc="-225" dirty="0">
                <a:latin typeface="Courier New"/>
                <a:cs typeface="Courier New"/>
              </a:rPr>
              <a:t> </a:t>
            </a:r>
            <a:r>
              <a:rPr sz="2200" spc="-95" dirty="0">
                <a:latin typeface="Courier New"/>
                <a:cs typeface="Courier New"/>
              </a:rPr>
              <a:t>and</a:t>
            </a:r>
            <a:r>
              <a:rPr sz="2200" spc="-32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include</a:t>
            </a:r>
            <a:r>
              <a:rPr sz="2200" spc="-2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them</a:t>
            </a:r>
            <a:r>
              <a:rPr sz="2200" spc="-27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in</a:t>
            </a:r>
            <a:r>
              <a:rPr sz="2200" spc="-24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the</a:t>
            </a:r>
            <a:endParaRPr sz="2200" dirty="0">
              <a:latin typeface="Courier New"/>
              <a:cs typeface="Courier New"/>
            </a:endParaRPr>
          </a:p>
          <a:p>
            <a:pPr marL="1865630">
              <a:lnSpc>
                <a:spcPct val="100000"/>
              </a:lnSpc>
              <a:spcBef>
                <a:spcPts val="1320"/>
              </a:spcBef>
            </a:pPr>
            <a:r>
              <a:rPr sz="2200" spc="-10" dirty="0">
                <a:latin typeface="Courier New"/>
                <a:cs typeface="Courier New"/>
              </a:rPr>
              <a:t>Gantt</a:t>
            </a:r>
            <a:r>
              <a:rPr sz="2200" spc="-66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chart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provide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visual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guide.</a:t>
            </a:r>
            <a:endParaRPr sz="2200" dirty="0">
              <a:latin typeface="Courier New"/>
              <a:cs typeface="Courier New"/>
            </a:endParaRPr>
          </a:p>
          <a:p>
            <a:pPr marL="1864995" indent="-457200">
              <a:lnSpc>
                <a:spcPct val="100000"/>
              </a:lnSpc>
              <a:spcBef>
                <a:spcPts val="2330"/>
              </a:spcBef>
              <a:buAutoNum type="arabicPeriod" startAt="2"/>
              <a:tabLst>
                <a:tab pos="1864995" algn="l"/>
              </a:tabLst>
            </a:pPr>
            <a:r>
              <a:rPr sz="2200" spc="-10" dirty="0">
                <a:latin typeface="Courier New"/>
                <a:cs typeface="Courier New"/>
              </a:rPr>
              <a:t>Keep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milestones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small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frequent.</a:t>
            </a:r>
            <a:endParaRPr sz="2200" dirty="0">
              <a:latin typeface="Courier New"/>
              <a:cs typeface="Courier New"/>
            </a:endParaRPr>
          </a:p>
          <a:p>
            <a:pPr marL="1864995" indent="-457200">
              <a:lnSpc>
                <a:spcPct val="100000"/>
              </a:lnSpc>
              <a:spcBef>
                <a:spcPts val="2330"/>
              </a:spcBef>
              <a:buAutoNum type="arabicPeriod" startAt="2"/>
              <a:tabLst>
                <a:tab pos="1864995" algn="l"/>
              </a:tabLst>
            </a:pP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set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milestones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must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be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all-encompassing.</a:t>
            </a:r>
            <a:endParaRPr sz="2200" dirty="0">
              <a:latin typeface="Courier New"/>
              <a:cs typeface="Courier New"/>
            </a:endParaRPr>
          </a:p>
          <a:p>
            <a:pPr marL="1864995" indent="-457200">
              <a:lnSpc>
                <a:spcPct val="100000"/>
              </a:lnSpc>
              <a:spcBef>
                <a:spcPts val="2305"/>
              </a:spcBef>
              <a:buAutoNum type="arabicPeriod" startAt="2"/>
              <a:tabLst>
                <a:tab pos="1864995" algn="l"/>
              </a:tabLst>
            </a:pPr>
            <a:r>
              <a:rPr sz="2200" spc="-10" dirty="0">
                <a:latin typeface="Courier New"/>
                <a:cs typeface="Courier New"/>
              </a:rPr>
              <a:t>Each</a:t>
            </a:r>
            <a:r>
              <a:rPr sz="2200" spc="-35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milestone</a:t>
            </a:r>
            <a:r>
              <a:rPr sz="2200" spc="-375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must</a:t>
            </a:r>
            <a:r>
              <a:rPr sz="2200" spc="-229" dirty="0">
                <a:latin typeface="Courier New"/>
                <a:cs typeface="Courier New"/>
              </a:rPr>
              <a:t> </a:t>
            </a:r>
            <a:r>
              <a:rPr sz="2200" spc="-95" dirty="0">
                <a:latin typeface="Courier New"/>
                <a:cs typeface="Courier New"/>
              </a:rPr>
              <a:t>be</a:t>
            </a:r>
            <a:r>
              <a:rPr sz="2200" spc="-49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binary,</a:t>
            </a:r>
            <a:r>
              <a:rPr sz="2200" spc="-390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meaning</a:t>
            </a:r>
            <a:r>
              <a:rPr sz="2200" spc="-5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it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is</a:t>
            </a:r>
            <a:r>
              <a:rPr sz="2200" spc="-450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either</a:t>
            </a:r>
            <a:r>
              <a:rPr sz="2200" spc="-3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complete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or</a:t>
            </a:r>
            <a:endParaRPr sz="2200" dirty="0">
              <a:latin typeface="Courier New"/>
              <a:cs typeface="Courier New"/>
            </a:endParaRPr>
          </a:p>
          <a:p>
            <a:pPr marL="1865630">
              <a:lnSpc>
                <a:spcPct val="100000"/>
              </a:lnSpc>
              <a:spcBef>
                <a:spcPts val="1325"/>
              </a:spcBef>
            </a:pPr>
            <a:r>
              <a:rPr sz="2200" spc="-10" dirty="0">
                <a:latin typeface="Courier New"/>
                <a:cs typeface="Courier New"/>
              </a:rPr>
              <a:t>incomplete</a:t>
            </a:r>
            <a:r>
              <a:rPr sz="2200" spc="-10" dirty="0" smtClean="0">
                <a:latin typeface="Courier New"/>
                <a:cs typeface="Courier New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controlling</a:t>
            </a:r>
            <a:r>
              <a:rPr spc="-1295" dirty="0"/>
              <a:t> </a:t>
            </a:r>
            <a:r>
              <a:rPr spc="-25" dirty="0"/>
              <a:t>the </a:t>
            </a:r>
            <a:r>
              <a:rPr spc="-10" dirty="0"/>
              <a:t>Schedule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21057"/>
            <a:ext cx="8969375" cy="69596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b="1" dirty="0">
                <a:latin typeface="Courier New"/>
                <a:cs typeface="Courier New"/>
              </a:rPr>
              <a:t>Critical</a:t>
            </a:r>
            <a:r>
              <a:rPr sz="1700" b="1" spc="-215" dirty="0">
                <a:latin typeface="Courier New"/>
                <a:cs typeface="Courier New"/>
              </a:rPr>
              <a:t>  </a:t>
            </a:r>
            <a:r>
              <a:rPr sz="1700" b="1" dirty="0">
                <a:latin typeface="Courier New"/>
                <a:cs typeface="Courier New"/>
              </a:rPr>
              <a:t>Path</a:t>
            </a:r>
            <a:r>
              <a:rPr sz="1700" b="1" spc="-210" dirty="0">
                <a:latin typeface="Courier New"/>
                <a:cs typeface="Courier New"/>
              </a:rPr>
              <a:t>  </a:t>
            </a:r>
            <a:r>
              <a:rPr sz="1700" b="1" dirty="0">
                <a:latin typeface="Courier New"/>
                <a:cs typeface="Courier New"/>
              </a:rPr>
              <a:t>Method</a:t>
            </a:r>
            <a:r>
              <a:rPr sz="1700" b="1" spc="-215" dirty="0">
                <a:latin typeface="Courier New"/>
                <a:cs typeface="Courier New"/>
              </a:rPr>
              <a:t>  </a:t>
            </a:r>
            <a:r>
              <a:rPr sz="1700" b="1" dirty="0">
                <a:latin typeface="Courier New"/>
                <a:cs typeface="Courier New"/>
              </a:rPr>
              <a:t>(CPM)</a:t>
            </a:r>
            <a:r>
              <a:rPr sz="1700" b="1" spc="-220" dirty="0">
                <a:latin typeface="Courier New"/>
                <a:cs typeface="Courier New"/>
              </a:rPr>
              <a:t>  </a:t>
            </a:r>
            <a:r>
              <a:rPr sz="1700" dirty="0">
                <a:latin typeface="Courier New"/>
                <a:cs typeface="Courier New"/>
              </a:rPr>
              <a:t>also</a:t>
            </a:r>
            <a:r>
              <a:rPr sz="1700" spc="-225" dirty="0">
                <a:latin typeface="Courier New"/>
                <a:cs typeface="Courier New"/>
              </a:rPr>
              <a:t>  </a:t>
            </a:r>
            <a:r>
              <a:rPr sz="1700" dirty="0">
                <a:latin typeface="Courier New"/>
                <a:cs typeface="Courier New"/>
              </a:rPr>
              <a:t>called</a:t>
            </a:r>
            <a:r>
              <a:rPr sz="1700" spc="-229" dirty="0">
                <a:latin typeface="Courier New"/>
                <a:cs typeface="Courier New"/>
              </a:rPr>
              <a:t>  </a:t>
            </a:r>
            <a:r>
              <a:rPr sz="1700" b="1" dirty="0">
                <a:latin typeface="Courier New"/>
                <a:cs typeface="Courier New"/>
              </a:rPr>
              <a:t>Critical</a:t>
            </a:r>
            <a:r>
              <a:rPr sz="1700" b="1" spc="-225" dirty="0">
                <a:latin typeface="Courier New"/>
                <a:cs typeface="Courier New"/>
              </a:rPr>
              <a:t>  </a:t>
            </a:r>
            <a:r>
              <a:rPr sz="1700" b="1" dirty="0">
                <a:latin typeface="Courier New"/>
                <a:cs typeface="Courier New"/>
              </a:rPr>
              <a:t>Path</a:t>
            </a:r>
            <a:r>
              <a:rPr sz="1700" b="1" spc="-225" dirty="0">
                <a:latin typeface="Courier New"/>
                <a:cs typeface="Courier New"/>
              </a:rPr>
              <a:t>  </a:t>
            </a:r>
            <a:r>
              <a:rPr sz="1700" b="1" spc="-10" dirty="0">
                <a:latin typeface="Courier New"/>
                <a:cs typeface="Courier New"/>
              </a:rPr>
              <a:t>Analysis</a:t>
            </a:r>
            <a:r>
              <a:rPr sz="1700" spc="-10" dirty="0">
                <a:latin typeface="Courier New"/>
                <a:cs typeface="Courier New"/>
              </a:rPr>
              <a:t>,</a:t>
            </a:r>
            <a:endParaRPr sz="17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600"/>
              </a:spcBef>
            </a:pPr>
            <a:r>
              <a:rPr sz="1700" spc="-10" dirty="0">
                <a:latin typeface="Courier New"/>
                <a:cs typeface="Courier New"/>
              </a:rPr>
              <a:t>diagramming</a:t>
            </a:r>
            <a:r>
              <a:rPr sz="1700" spc="-49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technique</a:t>
            </a:r>
            <a:r>
              <a:rPr sz="1700" spc="-48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used</a:t>
            </a:r>
            <a:r>
              <a:rPr sz="1700" spc="-52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to</a:t>
            </a:r>
            <a:r>
              <a:rPr sz="1700" spc="-49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predict</a:t>
            </a:r>
            <a:r>
              <a:rPr sz="1700" spc="-509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total</a:t>
            </a:r>
            <a:r>
              <a:rPr sz="1700" spc="-49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project</a:t>
            </a:r>
            <a:r>
              <a:rPr sz="1700" spc="-51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duration.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26777" y="1896237"/>
            <a:ext cx="172847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latin typeface="Courier New"/>
                <a:cs typeface="Courier New"/>
              </a:rPr>
              <a:t>is</a:t>
            </a:r>
            <a:r>
              <a:rPr sz="1700" spc="-170" dirty="0">
                <a:latin typeface="Courier New"/>
                <a:cs typeface="Courier New"/>
              </a:rPr>
              <a:t>  </a:t>
            </a:r>
            <a:r>
              <a:rPr sz="1700" dirty="0">
                <a:latin typeface="Courier New"/>
                <a:cs typeface="Courier New"/>
              </a:rPr>
              <a:t>a</a:t>
            </a:r>
            <a:r>
              <a:rPr sz="1700" spc="459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network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524" y="2622397"/>
            <a:ext cx="10893425" cy="3901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45085" indent="-228600">
              <a:lnSpc>
                <a:spcPct val="1295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700" spc="-20" dirty="0">
                <a:latin typeface="Courier New"/>
                <a:cs typeface="Courier New"/>
              </a:rPr>
              <a:t>A</a:t>
            </a:r>
            <a:r>
              <a:rPr sz="1700" spc="-320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critical</a:t>
            </a:r>
            <a:r>
              <a:rPr sz="1700" spc="-310" dirty="0">
                <a:latin typeface="Courier New"/>
                <a:cs typeface="Courier New"/>
              </a:rPr>
              <a:t> </a:t>
            </a:r>
            <a:r>
              <a:rPr sz="1700" spc="-50" dirty="0">
                <a:latin typeface="Courier New"/>
                <a:cs typeface="Courier New"/>
              </a:rPr>
              <a:t>path</a:t>
            </a:r>
            <a:r>
              <a:rPr sz="1700" spc="-340" dirty="0">
                <a:latin typeface="Courier New"/>
                <a:cs typeface="Courier New"/>
              </a:rPr>
              <a:t> </a:t>
            </a:r>
            <a:r>
              <a:rPr sz="1700" spc="-50" dirty="0">
                <a:latin typeface="Courier New"/>
                <a:cs typeface="Courier New"/>
              </a:rPr>
              <a:t>for</a:t>
            </a:r>
            <a:r>
              <a:rPr sz="1700" spc="-34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a</a:t>
            </a:r>
            <a:r>
              <a:rPr sz="1700" spc="-434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project</a:t>
            </a:r>
            <a:r>
              <a:rPr sz="1700" spc="-310" dirty="0">
                <a:latin typeface="Courier New"/>
                <a:cs typeface="Courier New"/>
              </a:rPr>
              <a:t> </a:t>
            </a:r>
            <a:r>
              <a:rPr sz="1700" spc="-50" dirty="0">
                <a:latin typeface="Courier New"/>
                <a:cs typeface="Courier New"/>
              </a:rPr>
              <a:t>is</a:t>
            </a:r>
            <a:r>
              <a:rPr sz="1700" spc="-390" dirty="0">
                <a:latin typeface="Courier New"/>
                <a:cs typeface="Courier New"/>
              </a:rPr>
              <a:t> </a:t>
            </a:r>
            <a:r>
              <a:rPr sz="1700" spc="-55" dirty="0">
                <a:latin typeface="Courier New"/>
                <a:cs typeface="Courier New"/>
              </a:rPr>
              <a:t>the</a:t>
            </a:r>
            <a:r>
              <a:rPr sz="1700" spc="-340" dirty="0">
                <a:latin typeface="Courier New"/>
                <a:cs typeface="Courier New"/>
              </a:rPr>
              <a:t> </a:t>
            </a:r>
            <a:r>
              <a:rPr sz="1700" i="1" dirty="0">
                <a:latin typeface="Courier New"/>
                <a:cs typeface="Courier New"/>
              </a:rPr>
              <a:t>series</a:t>
            </a:r>
            <a:r>
              <a:rPr sz="1700" i="1" spc="-125" dirty="0">
                <a:latin typeface="Courier New"/>
                <a:cs typeface="Courier New"/>
              </a:rPr>
              <a:t> </a:t>
            </a:r>
            <a:r>
              <a:rPr sz="1700" i="1" dirty="0">
                <a:latin typeface="Courier New"/>
                <a:cs typeface="Courier New"/>
              </a:rPr>
              <a:t>of</a:t>
            </a:r>
            <a:r>
              <a:rPr sz="1700" i="1" spc="-5" dirty="0">
                <a:latin typeface="Courier New"/>
                <a:cs typeface="Courier New"/>
              </a:rPr>
              <a:t> </a:t>
            </a:r>
            <a:r>
              <a:rPr sz="1700" i="1" dirty="0">
                <a:latin typeface="Courier New"/>
                <a:cs typeface="Courier New"/>
              </a:rPr>
              <a:t>activities</a:t>
            </a:r>
            <a:r>
              <a:rPr sz="1700" i="1" spc="-5" dirty="0">
                <a:latin typeface="Courier New"/>
                <a:cs typeface="Courier New"/>
              </a:rPr>
              <a:t> </a:t>
            </a:r>
            <a:r>
              <a:rPr sz="1700" i="1" dirty="0">
                <a:latin typeface="Courier New"/>
                <a:cs typeface="Courier New"/>
              </a:rPr>
              <a:t>that</a:t>
            </a:r>
            <a:r>
              <a:rPr sz="1700" i="1" spc="-25" dirty="0">
                <a:latin typeface="Courier New"/>
                <a:cs typeface="Courier New"/>
              </a:rPr>
              <a:t> </a:t>
            </a:r>
            <a:r>
              <a:rPr sz="1700" i="1" dirty="0">
                <a:latin typeface="Courier New"/>
                <a:cs typeface="Courier New"/>
              </a:rPr>
              <a:t>determine</a:t>
            </a:r>
            <a:r>
              <a:rPr sz="1700" i="1" spc="-20" dirty="0">
                <a:latin typeface="Courier New"/>
                <a:cs typeface="Courier New"/>
              </a:rPr>
              <a:t> </a:t>
            </a:r>
            <a:r>
              <a:rPr sz="1700" i="1" dirty="0">
                <a:latin typeface="Courier New"/>
                <a:cs typeface="Courier New"/>
              </a:rPr>
              <a:t>the</a:t>
            </a:r>
            <a:r>
              <a:rPr sz="1700" i="1" spc="-5" dirty="0">
                <a:latin typeface="Courier New"/>
                <a:cs typeface="Courier New"/>
              </a:rPr>
              <a:t> </a:t>
            </a:r>
            <a:r>
              <a:rPr sz="1700" i="1" spc="-10" dirty="0">
                <a:latin typeface="Courier New"/>
                <a:cs typeface="Courier New"/>
              </a:rPr>
              <a:t>earliest </a:t>
            </a:r>
            <a:r>
              <a:rPr sz="1700" i="1" dirty="0">
                <a:latin typeface="Courier New"/>
                <a:cs typeface="Courier New"/>
              </a:rPr>
              <a:t>time</a:t>
            </a:r>
            <a:r>
              <a:rPr sz="1700" i="1" spc="-30" dirty="0">
                <a:latin typeface="Courier New"/>
                <a:cs typeface="Courier New"/>
              </a:rPr>
              <a:t> </a:t>
            </a:r>
            <a:r>
              <a:rPr sz="1700" i="1" dirty="0">
                <a:latin typeface="Courier New"/>
                <a:cs typeface="Courier New"/>
              </a:rPr>
              <a:t>by</a:t>
            </a:r>
            <a:r>
              <a:rPr sz="1700" i="1" spc="-30" dirty="0">
                <a:latin typeface="Courier New"/>
                <a:cs typeface="Courier New"/>
              </a:rPr>
              <a:t> </a:t>
            </a:r>
            <a:r>
              <a:rPr sz="1700" i="1" dirty="0">
                <a:latin typeface="Courier New"/>
                <a:cs typeface="Courier New"/>
              </a:rPr>
              <a:t>which</a:t>
            </a:r>
            <a:r>
              <a:rPr sz="1700" i="1" spc="-50" dirty="0">
                <a:latin typeface="Courier New"/>
                <a:cs typeface="Courier New"/>
              </a:rPr>
              <a:t> </a:t>
            </a:r>
            <a:r>
              <a:rPr sz="1700" i="1" dirty="0">
                <a:latin typeface="Courier New"/>
                <a:cs typeface="Courier New"/>
              </a:rPr>
              <a:t>the</a:t>
            </a:r>
            <a:r>
              <a:rPr sz="1700" i="1" spc="-30" dirty="0">
                <a:latin typeface="Courier New"/>
                <a:cs typeface="Courier New"/>
              </a:rPr>
              <a:t> </a:t>
            </a:r>
            <a:r>
              <a:rPr sz="1700" i="1" dirty="0">
                <a:latin typeface="Courier New"/>
                <a:cs typeface="Courier New"/>
              </a:rPr>
              <a:t>project</a:t>
            </a:r>
            <a:r>
              <a:rPr sz="1700" i="1" spc="-75" dirty="0">
                <a:latin typeface="Courier New"/>
                <a:cs typeface="Courier New"/>
              </a:rPr>
              <a:t> </a:t>
            </a:r>
            <a:r>
              <a:rPr sz="1700" i="1" dirty="0">
                <a:latin typeface="Courier New"/>
                <a:cs typeface="Courier New"/>
              </a:rPr>
              <a:t>can</a:t>
            </a:r>
            <a:r>
              <a:rPr sz="1700" i="1" spc="-25" dirty="0">
                <a:latin typeface="Courier New"/>
                <a:cs typeface="Courier New"/>
              </a:rPr>
              <a:t> </a:t>
            </a:r>
            <a:r>
              <a:rPr sz="1700" i="1" dirty="0">
                <a:latin typeface="Courier New"/>
                <a:cs typeface="Courier New"/>
              </a:rPr>
              <a:t>be</a:t>
            </a:r>
            <a:r>
              <a:rPr sz="1700" i="1" spc="-30" dirty="0">
                <a:latin typeface="Courier New"/>
                <a:cs typeface="Courier New"/>
              </a:rPr>
              <a:t> </a:t>
            </a:r>
            <a:r>
              <a:rPr sz="1700" i="1" spc="-10" dirty="0">
                <a:latin typeface="Courier New"/>
                <a:cs typeface="Courier New"/>
              </a:rPr>
              <a:t>completed</a:t>
            </a:r>
            <a:r>
              <a:rPr sz="1700" spc="-10" dirty="0">
                <a:latin typeface="Courier New"/>
                <a:cs typeface="Courier New"/>
              </a:rPr>
              <a:t>.</a:t>
            </a:r>
            <a:endParaRPr sz="17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605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dirty="0">
                <a:latin typeface="Courier New"/>
                <a:cs typeface="Courier New"/>
              </a:rPr>
              <a:t>The</a:t>
            </a:r>
            <a:r>
              <a:rPr sz="1700" spc="-15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critical</a:t>
            </a:r>
            <a:r>
              <a:rPr sz="1700" spc="-14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path</a:t>
            </a:r>
            <a:r>
              <a:rPr sz="1700" spc="-14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is</a:t>
            </a:r>
            <a:r>
              <a:rPr sz="1700" spc="-18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the</a:t>
            </a:r>
            <a:r>
              <a:rPr sz="1700" spc="-6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longest</a:t>
            </a:r>
            <a:r>
              <a:rPr sz="1700" spc="-14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path</a:t>
            </a:r>
            <a:r>
              <a:rPr sz="1700" spc="-14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through</a:t>
            </a:r>
            <a:r>
              <a:rPr sz="1700" spc="-14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the</a:t>
            </a:r>
            <a:r>
              <a:rPr sz="1700" spc="-12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network</a:t>
            </a:r>
            <a:r>
              <a:rPr sz="1700" spc="-14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diagram</a:t>
            </a:r>
            <a:r>
              <a:rPr sz="1700" spc="-14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and</a:t>
            </a:r>
            <a:r>
              <a:rPr sz="1700" spc="-14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has</a:t>
            </a:r>
            <a:r>
              <a:rPr sz="1700" spc="-8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the</a:t>
            </a:r>
            <a:r>
              <a:rPr sz="1700" spc="-12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least</a:t>
            </a:r>
            <a:endParaRPr sz="17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625"/>
              </a:spcBef>
            </a:pPr>
            <a:r>
              <a:rPr sz="1700" spc="-10" dirty="0">
                <a:latin typeface="Courier New"/>
                <a:cs typeface="Courier New"/>
              </a:rPr>
              <a:t>amount</a:t>
            </a:r>
            <a:r>
              <a:rPr sz="1700" spc="-484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of</a:t>
            </a:r>
            <a:r>
              <a:rPr sz="1700" spc="-53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slack</a:t>
            </a:r>
            <a:r>
              <a:rPr sz="1700" spc="-509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or</a:t>
            </a:r>
            <a:r>
              <a:rPr sz="1700" spc="-509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float.</a:t>
            </a:r>
            <a:endParaRPr sz="17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b="1" dirty="0">
                <a:latin typeface="Courier New"/>
                <a:cs typeface="Courier New"/>
              </a:rPr>
              <a:t>Slack</a:t>
            </a:r>
            <a:r>
              <a:rPr sz="1700" b="1" spc="-5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or</a:t>
            </a:r>
            <a:r>
              <a:rPr sz="1700" spc="-95" dirty="0">
                <a:latin typeface="Courier New"/>
                <a:cs typeface="Courier New"/>
              </a:rPr>
              <a:t> </a:t>
            </a:r>
            <a:r>
              <a:rPr sz="1700" b="1" dirty="0">
                <a:latin typeface="Courier New"/>
                <a:cs typeface="Courier New"/>
              </a:rPr>
              <a:t>float</a:t>
            </a:r>
            <a:r>
              <a:rPr sz="1700" b="1" spc="-4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is</a:t>
            </a:r>
            <a:r>
              <a:rPr sz="1700" spc="-7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the</a:t>
            </a:r>
            <a:r>
              <a:rPr sz="1700" spc="-5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amount</a:t>
            </a:r>
            <a:r>
              <a:rPr sz="1700" spc="-4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of</a:t>
            </a:r>
            <a:r>
              <a:rPr sz="1700" spc="-9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time</a:t>
            </a:r>
            <a:r>
              <a:rPr sz="1700" spc="-5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an</a:t>
            </a:r>
            <a:r>
              <a:rPr sz="1700" spc="-9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activity</a:t>
            </a:r>
            <a:r>
              <a:rPr sz="1700" spc="8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may</a:t>
            </a:r>
            <a:r>
              <a:rPr sz="1700" spc="-9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be</a:t>
            </a:r>
            <a:r>
              <a:rPr sz="1700" spc="-9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delayed</a:t>
            </a:r>
            <a:r>
              <a:rPr sz="1700" spc="-5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without</a:t>
            </a:r>
            <a:r>
              <a:rPr sz="1700" spc="-17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delaying</a:t>
            </a:r>
            <a:r>
              <a:rPr sz="1700" spc="-5" dirty="0">
                <a:latin typeface="Courier New"/>
                <a:cs typeface="Courier New"/>
              </a:rPr>
              <a:t> </a:t>
            </a:r>
            <a:r>
              <a:rPr sz="1700" spc="-50" dirty="0">
                <a:latin typeface="Courier New"/>
                <a:cs typeface="Courier New"/>
              </a:rPr>
              <a:t>a</a:t>
            </a:r>
            <a:endParaRPr sz="17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605"/>
              </a:spcBef>
            </a:pPr>
            <a:r>
              <a:rPr sz="1700" spc="-10" dirty="0">
                <a:latin typeface="Courier New"/>
                <a:cs typeface="Courier New"/>
              </a:rPr>
              <a:t>succeeding</a:t>
            </a:r>
            <a:r>
              <a:rPr sz="1700" spc="-50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activity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or</a:t>
            </a:r>
            <a:r>
              <a:rPr sz="1700" spc="-509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the</a:t>
            </a:r>
            <a:r>
              <a:rPr sz="1700" spc="-53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project</a:t>
            </a:r>
            <a:r>
              <a:rPr sz="1700" spc="-53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finish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date.</a:t>
            </a:r>
            <a:endParaRPr sz="1700">
              <a:latin typeface="Courier New"/>
              <a:cs typeface="Courier New"/>
            </a:endParaRPr>
          </a:p>
          <a:p>
            <a:pPr marL="241300" marR="13970" indent="-228600">
              <a:lnSpc>
                <a:spcPct val="12940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1700" dirty="0">
                <a:latin typeface="Courier New"/>
                <a:cs typeface="Courier New"/>
              </a:rPr>
              <a:t>Normally,</a:t>
            </a:r>
            <a:r>
              <a:rPr sz="1700" spc="9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several</a:t>
            </a:r>
            <a:r>
              <a:rPr sz="1700" spc="10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tasks</a:t>
            </a:r>
            <a:r>
              <a:rPr sz="1700" spc="20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are</a:t>
            </a:r>
            <a:r>
              <a:rPr sz="1700" spc="5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done</a:t>
            </a:r>
            <a:r>
              <a:rPr sz="1700" spc="9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in</a:t>
            </a:r>
            <a:r>
              <a:rPr sz="1700" spc="5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parallel</a:t>
            </a:r>
            <a:r>
              <a:rPr sz="1700" spc="9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on</a:t>
            </a:r>
            <a:r>
              <a:rPr sz="1700" spc="9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projects,</a:t>
            </a:r>
            <a:r>
              <a:rPr sz="1700" spc="10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and</a:t>
            </a:r>
            <a:r>
              <a:rPr sz="1700" spc="7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most</a:t>
            </a:r>
            <a:r>
              <a:rPr sz="1700" spc="7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projects</a:t>
            </a:r>
            <a:r>
              <a:rPr sz="1700" spc="14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have </a:t>
            </a:r>
            <a:r>
              <a:rPr sz="1700" spc="-10" dirty="0">
                <a:latin typeface="Courier New"/>
                <a:cs typeface="Courier New"/>
              </a:rPr>
              <a:t>multiple</a:t>
            </a:r>
            <a:r>
              <a:rPr sz="1700" spc="-50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paths</a:t>
            </a:r>
            <a:r>
              <a:rPr sz="1700" spc="-50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through</a:t>
            </a:r>
            <a:r>
              <a:rPr sz="1700" spc="-50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a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network</a:t>
            </a:r>
            <a:r>
              <a:rPr sz="1700" spc="-49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diagram.</a:t>
            </a:r>
            <a:endParaRPr sz="17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615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dirty="0">
                <a:latin typeface="Courier New"/>
                <a:cs typeface="Courier New"/>
              </a:rPr>
              <a:t>The</a:t>
            </a:r>
            <a:r>
              <a:rPr sz="1700" spc="6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longest</a:t>
            </a:r>
            <a:r>
              <a:rPr sz="1700" spc="7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path</a:t>
            </a:r>
            <a:r>
              <a:rPr sz="1700" spc="7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or</a:t>
            </a:r>
            <a:r>
              <a:rPr sz="1700" spc="2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the</a:t>
            </a:r>
            <a:r>
              <a:rPr sz="1700" spc="15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path</a:t>
            </a:r>
            <a:r>
              <a:rPr sz="1700" spc="4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that</a:t>
            </a:r>
            <a:r>
              <a:rPr sz="1700" spc="7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contains</a:t>
            </a:r>
            <a:r>
              <a:rPr sz="1700" spc="7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the</a:t>
            </a:r>
            <a:r>
              <a:rPr sz="1700" spc="17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critical</a:t>
            </a:r>
            <a:r>
              <a:rPr sz="1700" spc="7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tasks</a:t>
            </a:r>
            <a:r>
              <a:rPr sz="1700" spc="6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is</a:t>
            </a:r>
            <a:r>
              <a:rPr sz="1700" spc="2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what</a:t>
            </a:r>
            <a:r>
              <a:rPr sz="1700" spc="19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drives</a:t>
            </a:r>
            <a:r>
              <a:rPr sz="1700" spc="100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the</a:t>
            </a:r>
            <a:endParaRPr sz="17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620"/>
              </a:spcBef>
            </a:pPr>
            <a:r>
              <a:rPr sz="1700" spc="-10" dirty="0">
                <a:latin typeface="Courier New"/>
                <a:cs typeface="Courier New"/>
              </a:rPr>
              <a:t>completion</a:t>
            </a:r>
            <a:r>
              <a:rPr sz="1700" spc="-50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date</a:t>
            </a:r>
            <a:r>
              <a:rPr sz="1700" spc="-500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for</a:t>
            </a:r>
            <a:r>
              <a:rPr sz="1700" spc="-53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the</a:t>
            </a:r>
            <a:r>
              <a:rPr sz="1700" spc="-53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project.</a:t>
            </a:r>
            <a:endParaRPr sz="1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controlling</a:t>
            </a:r>
            <a:r>
              <a:rPr spc="-1295" dirty="0"/>
              <a:t> </a:t>
            </a:r>
            <a:r>
              <a:rPr spc="-25" dirty="0"/>
              <a:t>the </a:t>
            </a:r>
            <a:r>
              <a:rPr spc="-10" dirty="0"/>
              <a:t>Schedule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dirty="0"/>
              <a:t>This</a:t>
            </a:r>
            <a:r>
              <a:rPr spc="-55" dirty="0"/>
              <a:t> </a:t>
            </a:r>
            <a:r>
              <a:rPr dirty="0"/>
              <a:t>Presentation</a:t>
            </a:r>
            <a:r>
              <a:rPr spc="-70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mainly</a:t>
            </a:r>
            <a:r>
              <a:rPr spc="-30" dirty="0"/>
              <a:t> </a:t>
            </a:r>
            <a:r>
              <a:rPr dirty="0"/>
              <a:t>dependent</a:t>
            </a:r>
            <a:r>
              <a:rPr spc="-70" dirty="0"/>
              <a:t> </a:t>
            </a:r>
            <a:r>
              <a:rPr dirty="0"/>
              <a:t>on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textbook: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25" dirty="0"/>
              <a:t> </a:t>
            </a:r>
            <a:r>
              <a:rPr dirty="0"/>
              <a:t>technology:</a:t>
            </a:r>
            <a:r>
              <a:rPr spc="-60" dirty="0"/>
              <a:t> </a:t>
            </a:r>
            <a:r>
              <a:rPr dirty="0"/>
              <a:t>Project</a:t>
            </a:r>
            <a:r>
              <a:rPr spc="20" dirty="0"/>
              <a:t> </a:t>
            </a:r>
            <a:r>
              <a:rPr spc="-10" dirty="0"/>
              <a:t>management</a:t>
            </a:r>
            <a:r>
              <a:rPr spc="-5" dirty="0"/>
              <a:t> </a:t>
            </a:r>
            <a:r>
              <a:rPr dirty="0"/>
              <a:t>(9th</a:t>
            </a:r>
            <a:r>
              <a:rPr spc="-20" dirty="0"/>
              <a:t> </a:t>
            </a:r>
            <a:r>
              <a:rPr dirty="0"/>
              <a:t>edition)</a:t>
            </a:r>
            <a:r>
              <a:rPr spc="-85" dirty="0"/>
              <a:t> </a:t>
            </a:r>
            <a:r>
              <a:rPr dirty="0"/>
              <a:t>by</a:t>
            </a:r>
            <a:r>
              <a:rPr spc="-5" dirty="0"/>
              <a:t> </a:t>
            </a:r>
            <a:r>
              <a:rPr dirty="0"/>
              <a:t>Schwalbe,</a:t>
            </a:r>
            <a:r>
              <a:rPr spc="-20" dirty="0"/>
              <a:t> </a:t>
            </a:r>
            <a:r>
              <a:rPr spc="-25" dirty="0"/>
              <a:t>K.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90395"/>
            <a:ext cx="10898505" cy="4935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7620" indent="-228600" algn="just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In</a:t>
            </a:r>
            <a:r>
              <a:rPr sz="2200" spc="-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order</a:t>
            </a:r>
            <a:r>
              <a:rPr sz="2200" spc="-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-1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find</a:t>
            </a:r>
            <a:r>
              <a:rPr sz="2200" spc="-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critical</a:t>
            </a:r>
            <a:r>
              <a:rPr sz="2200" spc="-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path</a:t>
            </a:r>
            <a:r>
              <a:rPr sz="2200" spc="-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for</a:t>
            </a:r>
            <a:r>
              <a:rPr sz="2200" spc="-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1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project,</a:t>
            </a:r>
            <a:r>
              <a:rPr sz="2200" spc="-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you</a:t>
            </a:r>
            <a:r>
              <a:rPr sz="2200" spc="-2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must</a:t>
            </a:r>
            <a:r>
              <a:rPr sz="2200" spc="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first </a:t>
            </a:r>
            <a:r>
              <a:rPr sz="2200" dirty="0">
                <a:latin typeface="Courier New"/>
                <a:cs typeface="Courier New"/>
              </a:rPr>
              <a:t>develop</a:t>
            </a:r>
            <a:r>
              <a:rPr sz="2200" spc="3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2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good</a:t>
            </a:r>
            <a:r>
              <a:rPr sz="2200" spc="3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network</a:t>
            </a:r>
            <a:r>
              <a:rPr sz="2200" spc="3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diagram,</a:t>
            </a:r>
            <a:r>
              <a:rPr sz="2200" spc="3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which</a:t>
            </a:r>
            <a:r>
              <a:rPr sz="2200" spc="3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in</a:t>
            </a:r>
            <a:r>
              <a:rPr sz="2200" spc="2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turn</a:t>
            </a:r>
            <a:r>
              <a:rPr sz="2200" spc="3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requires</a:t>
            </a:r>
            <a:r>
              <a:rPr sz="2200" spc="3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254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good </a:t>
            </a:r>
            <a:r>
              <a:rPr sz="2200" spc="-10" dirty="0">
                <a:latin typeface="Courier New"/>
                <a:cs typeface="Courier New"/>
              </a:rPr>
              <a:t>activity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list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based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on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WBS.</a:t>
            </a:r>
            <a:endParaRPr sz="2200" dirty="0">
              <a:latin typeface="Courier New"/>
              <a:cs typeface="Courier New"/>
            </a:endParaRPr>
          </a:p>
          <a:p>
            <a:pPr marL="241300" marR="12065" indent="-228600" algn="just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After</a:t>
            </a:r>
            <a:r>
              <a:rPr sz="2200" spc="1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that,</a:t>
            </a:r>
            <a:r>
              <a:rPr sz="2200" spc="1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you</a:t>
            </a:r>
            <a:r>
              <a:rPr sz="2200" spc="1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must</a:t>
            </a:r>
            <a:r>
              <a:rPr sz="2200" spc="1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estimate</a:t>
            </a:r>
            <a:r>
              <a:rPr sz="2200" spc="1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11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duration</a:t>
            </a:r>
            <a:r>
              <a:rPr sz="2200" spc="1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1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each</a:t>
            </a:r>
            <a:r>
              <a:rPr sz="2200" spc="1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activity</a:t>
            </a:r>
            <a:r>
              <a:rPr sz="2200" spc="229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to </a:t>
            </a:r>
            <a:r>
              <a:rPr sz="2200" spc="-10" dirty="0">
                <a:latin typeface="Courier New"/>
                <a:cs typeface="Courier New"/>
              </a:rPr>
              <a:t>determine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critical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path.</a:t>
            </a:r>
            <a:endParaRPr sz="2200" dirty="0">
              <a:latin typeface="Courier New"/>
              <a:cs typeface="Courier New"/>
            </a:endParaRPr>
          </a:p>
          <a:p>
            <a:pPr marL="240665" indent="-227965" algn="just">
              <a:lnSpc>
                <a:spcPct val="100000"/>
              </a:lnSpc>
              <a:spcBef>
                <a:spcPts val="233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6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longest</a:t>
            </a:r>
            <a:r>
              <a:rPr sz="2200" b="1" spc="-2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path</a:t>
            </a:r>
            <a:r>
              <a:rPr sz="2200" b="1" spc="1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is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critical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path</a:t>
            </a:r>
            <a:endParaRPr sz="2200" dirty="0">
              <a:latin typeface="Courier New"/>
              <a:cs typeface="Courier New"/>
            </a:endParaRPr>
          </a:p>
          <a:p>
            <a:pPr marL="241300" marR="5080" indent="-228600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If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one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or</a:t>
            </a:r>
            <a:r>
              <a:rPr sz="2200" spc="-33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more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-33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the</a:t>
            </a:r>
            <a:r>
              <a:rPr sz="2200" spc="-254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activities</a:t>
            </a:r>
            <a:r>
              <a:rPr sz="2200" spc="-2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on</a:t>
            </a:r>
            <a:r>
              <a:rPr sz="2200" spc="-315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the</a:t>
            </a:r>
            <a:r>
              <a:rPr sz="2200" spc="-2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critical</a:t>
            </a:r>
            <a:r>
              <a:rPr sz="2200" spc="-2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path</a:t>
            </a:r>
            <a:r>
              <a:rPr sz="2200" spc="-2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takes</a:t>
            </a:r>
            <a:r>
              <a:rPr sz="2200" spc="-204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longer </a:t>
            </a:r>
            <a:r>
              <a:rPr sz="2200" dirty="0">
                <a:latin typeface="Courier New"/>
                <a:cs typeface="Courier New"/>
              </a:rPr>
              <a:t>than</a:t>
            </a:r>
            <a:r>
              <a:rPr sz="2200" spc="2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planned,</a:t>
            </a:r>
            <a:r>
              <a:rPr sz="2200" spc="295" dirty="0">
                <a:latin typeface="Courier New"/>
                <a:cs typeface="Courier New"/>
              </a:rPr>
              <a:t> </a:t>
            </a:r>
            <a:r>
              <a:rPr sz="2200" i="1" dirty="0">
                <a:latin typeface="Courier New"/>
                <a:cs typeface="Courier New"/>
              </a:rPr>
              <a:t>the</a:t>
            </a:r>
            <a:r>
              <a:rPr sz="2200" i="1" spc="295" dirty="0">
                <a:latin typeface="Courier New"/>
                <a:cs typeface="Courier New"/>
              </a:rPr>
              <a:t> </a:t>
            </a:r>
            <a:r>
              <a:rPr sz="2200" i="1" dirty="0">
                <a:latin typeface="Courier New"/>
                <a:cs typeface="Courier New"/>
              </a:rPr>
              <a:t>whole</a:t>
            </a:r>
            <a:r>
              <a:rPr sz="2200" i="1" spc="340" dirty="0">
                <a:latin typeface="Courier New"/>
                <a:cs typeface="Courier New"/>
              </a:rPr>
              <a:t> </a:t>
            </a:r>
            <a:r>
              <a:rPr sz="2200" i="1" dirty="0">
                <a:latin typeface="Courier New"/>
                <a:cs typeface="Courier New"/>
              </a:rPr>
              <a:t>project</a:t>
            </a:r>
            <a:r>
              <a:rPr sz="2200" i="1" spc="315" dirty="0">
                <a:latin typeface="Courier New"/>
                <a:cs typeface="Courier New"/>
              </a:rPr>
              <a:t> </a:t>
            </a:r>
            <a:r>
              <a:rPr sz="2200" i="1" dirty="0">
                <a:latin typeface="Courier New"/>
                <a:cs typeface="Courier New"/>
              </a:rPr>
              <a:t>schedule</a:t>
            </a:r>
            <a:r>
              <a:rPr sz="2200" i="1" spc="335" dirty="0">
                <a:latin typeface="Courier New"/>
                <a:cs typeface="Courier New"/>
              </a:rPr>
              <a:t> </a:t>
            </a:r>
            <a:r>
              <a:rPr sz="2200" i="1" dirty="0">
                <a:latin typeface="Courier New"/>
                <a:cs typeface="Courier New"/>
              </a:rPr>
              <a:t>will</a:t>
            </a:r>
            <a:r>
              <a:rPr sz="2200" i="1" spc="340" dirty="0">
                <a:latin typeface="Courier New"/>
                <a:cs typeface="Courier New"/>
              </a:rPr>
              <a:t> </a:t>
            </a:r>
            <a:r>
              <a:rPr sz="2200" i="1" dirty="0">
                <a:latin typeface="Courier New"/>
                <a:cs typeface="Courier New"/>
              </a:rPr>
              <a:t>slip</a:t>
            </a:r>
            <a:r>
              <a:rPr sz="2200" i="1" spc="3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unless</a:t>
            </a:r>
            <a:r>
              <a:rPr sz="2200" spc="35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the </a:t>
            </a: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manager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takes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corrective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action.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controlling</a:t>
            </a:r>
            <a:r>
              <a:rPr spc="-1295" dirty="0"/>
              <a:t> </a:t>
            </a:r>
            <a:r>
              <a:rPr spc="-25" dirty="0"/>
              <a:t>the </a:t>
            </a:r>
            <a:r>
              <a:rPr spc="-10" dirty="0"/>
              <a:t>Schedule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7383" y="1627632"/>
            <a:ext cx="9857231" cy="360273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514215" y="5604154"/>
            <a:ext cx="2769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Determining</a:t>
            </a:r>
            <a:r>
              <a:rPr sz="1200" spc="-7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 critical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path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project </a:t>
            </a:r>
            <a:r>
              <a:rPr sz="1200" spc="-50" dirty="0">
                <a:latin typeface="Arial MT"/>
                <a:cs typeface="Arial MT"/>
              </a:rPr>
              <a:t>X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controlling</a:t>
            </a:r>
            <a:r>
              <a:rPr spc="-1295" dirty="0"/>
              <a:t> </a:t>
            </a:r>
            <a:r>
              <a:rPr spc="-25" dirty="0"/>
              <a:t>the </a:t>
            </a:r>
            <a:r>
              <a:rPr spc="-10" dirty="0"/>
              <a:t>Schedule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1930" y="1799538"/>
            <a:ext cx="11793220" cy="46683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14425" marR="17780" indent="-228600" algn="just">
              <a:lnSpc>
                <a:spcPct val="140100"/>
              </a:lnSpc>
              <a:spcBef>
                <a:spcPts val="95"/>
              </a:spcBef>
              <a:buFont typeface="Arial MT"/>
              <a:buChar char="•"/>
              <a:tabLst>
                <a:tab pos="1114425" algn="l"/>
              </a:tabLst>
            </a:pPr>
            <a:r>
              <a:rPr sz="2200" dirty="0">
                <a:latin typeface="Courier New"/>
                <a:cs typeface="Courier New"/>
              </a:rPr>
              <a:t>It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is</a:t>
            </a:r>
            <a:r>
              <a:rPr sz="2200" spc="-3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important</a:t>
            </a:r>
            <a:r>
              <a:rPr sz="2200" spc="-320" dirty="0">
                <a:latin typeface="Courier New"/>
                <a:cs typeface="Courier New"/>
              </a:rPr>
              <a:t> </a:t>
            </a:r>
            <a:r>
              <a:rPr sz="2200" spc="-190" dirty="0">
                <a:latin typeface="Courier New"/>
                <a:cs typeface="Courier New"/>
              </a:rPr>
              <a:t>to</a:t>
            </a:r>
            <a:r>
              <a:rPr sz="2200" spc="-1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know</a:t>
            </a:r>
            <a:r>
              <a:rPr sz="2200" spc="-2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2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critical</a:t>
            </a:r>
            <a:r>
              <a:rPr sz="2200" spc="-1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path</a:t>
            </a:r>
            <a:r>
              <a:rPr sz="2200" spc="-16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throughout</a:t>
            </a:r>
            <a:r>
              <a:rPr sz="2200" spc="-204" dirty="0">
                <a:latin typeface="Courier New"/>
                <a:cs typeface="Courier New"/>
              </a:rPr>
              <a:t> </a:t>
            </a:r>
            <a:r>
              <a:rPr sz="2200" spc="-90" dirty="0">
                <a:latin typeface="Courier New"/>
                <a:cs typeface="Courier New"/>
              </a:rPr>
              <a:t>the</a:t>
            </a:r>
            <a:r>
              <a:rPr sz="2200" spc="-2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life</a:t>
            </a:r>
            <a:r>
              <a:rPr sz="2200" spc="-10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-204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a </a:t>
            </a: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so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manager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can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make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trade-offs.</a:t>
            </a:r>
            <a:endParaRPr sz="2200" dirty="0">
              <a:latin typeface="Courier New"/>
              <a:cs typeface="Courier New"/>
            </a:endParaRPr>
          </a:p>
          <a:p>
            <a:pPr marL="1114425" marR="30480" indent="-228600" algn="just">
              <a:lnSpc>
                <a:spcPct val="140000"/>
              </a:lnSpc>
              <a:spcBef>
                <a:spcPts val="990"/>
              </a:spcBef>
              <a:buFont typeface="Arial MT"/>
              <a:buChar char="•"/>
              <a:tabLst>
                <a:tab pos="1114425" algn="l"/>
              </a:tabLst>
            </a:pP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39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t</a:t>
            </a:r>
            <a:r>
              <a:rPr sz="2200" spc="-55" dirty="0">
                <a:latin typeface="Courier New"/>
                <a:cs typeface="Courier New"/>
              </a:rPr>
              <a:t>e</a:t>
            </a:r>
            <a:r>
              <a:rPr sz="2200" spc="-30" dirty="0">
                <a:latin typeface="Courier New"/>
                <a:cs typeface="Courier New"/>
              </a:rPr>
              <a:t>c</a:t>
            </a:r>
            <a:r>
              <a:rPr sz="2200" spc="-5" dirty="0">
                <a:latin typeface="Courier New"/>
                <a:cs typeface="Courier New"/>
              </a:rPr>
              <a:t>h</a:t>
            </a:r>
            <a:r>
              <a:rPr sz="2200" spc="-10" dirty="0">
                <a:latin typeface="Courier New"/>
                <a:cs typeface="Courier New"/>
              </a:rPr>
              <a:t>n</a:t>
            </a:r>
            <a:r>
              <a:rPr sz="2200" spc="-5" dirty="0">
                <a:latin typeface="Courier New"/>
                <a:cs typeface="Courier New"/>
              </a:rPr>
              <a:t>i</a:t>
            </a:r>
            <a:r>
              <a:rPr sz="2200" spc="-10" dirty="0">
                <a:latin typeface="Courier New"/>
                <a:cs typeface="Courier New"/>
              </a:rPr>
              <a:t>q</a:t>
            </a:r>
            <a:r>
              <a:rPr sz="2200" spc="-5" dirty="0">
                <a:latin typeface="Courier New"/>
                <a:cs typeface="Courier New"/>
              </a:rPr>
              <a:t>u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-395" dirty="0">
                <a:latin typeface="Courier New"/>
                <a:cs typeface="Courier New"/>
              </a:rPr>
              <a:t> </a:t>
            </a:r>
            <a:r>
              <a:rPr sz="2200" spc="-100" dirty="0">
                <a:latin typeface="Courier New"/>
                <a:cs typeface="Courier New"/>
              </a:rPr>
              <a:t>t</a:t>
            </a:r>
            <a:r>
              <a:rPr sz="2200" spc="-30" dirty="0">
                <a:latin typeface="Courier New"/>
                <a:cs typeface="Courier New"/>
              </a:rPr>
              <a:t>ha</a:t>
            </a:r>
            <a:r>
              <a:rPr sz="2200" dirty="0">
                <a:latin typeface="Courier New"/>
                <a:cs typeface="Courier New"/>
              </a:rPr>
              <a:t>t</a:t>
            </a:r>
            <a:r>
              <a:rPr sz="2200" spc="-44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c</a:t>
            </a:r>
            <a:r>
              <a:rPr sz="2200" spc="-105" dirty="0">
                <a:latin typeface="Courier New"/>
                <a:cs typeface="Courier New"/>
              </a:rPr>
              <a:t>a</a:t>
            </a:r>
            <a:r>
              <a:rPr sz="2200" dirty="0">
                <a:latin typeface="Courier New"/>
                <a:cs typeface="Courier New"/>
              </a:rPr>
              <a:t>n</a:t>
            </a:r>
            <a:r>
              <a:rPr sz="2200" spc="-385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h</a:t>
            </a:r>
            <a:r>
              <a:rPr sz="2200" spc="-55" dirty="0">
                <a:latin typeface="Courier New"/>
                <a:cs typeface="Courier New"/>
              </a:rPr>
              <a:t>e</a:t>
            </a:r>
            <a:r>
              <a:rPr sz="2200" spc="-30" dirty="0">
                <a:latin typeface="Courier New"/>
                <a:cs typeface="Courier New"/>
              </a:rPr>
              <a:t>l</a:t>
            </a:r>
            <a:r>
              <a:rPr sz="2200" dirty="0">
                <a:latin typeface="Courier New"/>
                <a:cs typeface="Courier New"/>
              </a:rPr>
              <a:t>p</a:t>
            </a:r>
            <a:r>
              <a:rPr sz="2200" spc="-415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p</a:t>
            </a:r>
            <a:r>
              <a:rPr sz="2200" spc="-30" dirty="0">
                <a:latin typeface="Courier New"/>
                <a:cs typeface="Courier New"/>
              </a:rPr>
              <a:t>ro</a:t>
            </a:r>
            <a:r>
              <a:rPr sz="2200" spc="-5" dirty="0">
                <a:latin typeface="Courier New"/>
                <a:cs typeface="Courier New"/>
              </a:rPr>
              <a:t>j</a:t>
            </a:r>
            <a:r>
              <a:rPr sz="2200" spc="-10" dirty="0">
                <a:latin typeface="Courier New"/>
                <a:cs typeface="Courier New"/>
              </a:rPr>
              <a:t>e</a:t>
            </a:r>
            <a:r>
              <a:rPr sz="2200" spc="-5" dirty="0">
                <a:latin typeface="Courier New"/>
                <a:cs typeface="Courier New"/>
              </a:rPr>
              <a:t>c</a:t>
            </a:r>
            <a:r>
              <a:rPr sz="2200" dirty="0">
                <a:latin typeface="Courier New"/>
                <a:cs typeface="Courier New"/>
              </a:rPr>
              <a:t>t</a:t>
            </a:r>
            <a:r>
              <a:rPr sz="2200" spc="-42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m</a:t>
            </a:r>
            <a:r>
              <a:rPr sz="2200" spc="-55" dirty="0">
                <a:latin typeface="Courier New"/>
                <a:cs typeface="Courier New"/>
              </a:rPr>
              <a:t>a</a:t>
            </a:r>
            <a:r>
              <a:rPr sz="2200" spc="-5" dirty="0">
                <a:latin typeface="Courier New"/>
                <a:cs typeface="Courier New"/>
              </a:rPr>
              <a:t>n</a:t>
            </a:r>
            <a:r>
              <a:rPr sz="2200" spc="-35" dirty="0">
                <a:latin typeface="Courier New"/>
                <a:cs typeface="Courier New"/>
              </a:rPr>
              <a:t>a</a:t>
            </a:r>
            <a:r>
              <a:rPr sz="2200" spc="-5" dirty="0">
                <a:latin typeface="Courier New"/>
                <a:cs typeface="Courier New"/>
              </a:rPr>
              <a:t>g</a:t>
            </a:r>
            <a:r>
              <a:rPr sz="2200" spc="-10" dirty="0">
                <a:latin typeface="Courier New"/>
                <a:cs typeface="Courier New"/>
              </a:rPr>
              <a:t>e</a:t>
            </a:r>
            <a:r>
              <a:rPr sz="2200" spc="-5" dirty="0">
                <a:latin typeface="Courier New"/>
                <a:cs typeface="Courier New"/>
              </a:rPr>
              <a:t>r</a:t>
            </a: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-39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m</a:t>
            </a:r>
            <a:r>
              <a:rPr sz="2200" spc="-55" dirty="0">
                <a:latin typeface="Courier New"/>
                <a:cs typeface="Courier New"/>
              </a:rPr>
              <a:t>a</a:t>
            </a:r>
            <a:r>
              <a:rPr sz="2200" spc="-30" dirty="0">
                <a:latin typeface="Courier New"/>
                <a:cs typeface="Courier New"/>
              </a:rPr>
              <a:t>k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-409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s</a:t>
            </a:r>
            <a:r>
              <a:rPr sz="2200" spc="-55" dirty="0">
                <a:latin typeface="Courier New"/>
                <a:cs typeface="Courier New"/>
              </a:rPr>
              <a:t>c</a:t>
            </a:r>
            <a:r>
              <a:rPr sz="2200" spc="-30" dirty="0">
                <a:latin typeface="Courier New"/>
                <a:cs typeface="Courier New"/>
              </a:rPr>
              <a:t>h</a:t>
            </a:r>
            <a:r>
              <a:rPr sz="2200" spc="-5" dirty="0">
                <a:latin typeface="Courier New"/>
                <a:cs typeface="Courier New"/>
              </a:rPr>
              <a:t>e</a:t>
            </a:r>
            <a:r>
              <a:rPr sz="2200" spc="-10" dirty="0">
                <a:latin typeface="Courier New"/>
                <a:cs typeface="Courier New"/>
              </a:rPr>
              <a:t>d</a:t>
            </a:r>
            <a:r>
              <a:rPr sz="2200" spc="15" dirty="0">
                <a:latin typeface="Courier New"/>
                <a:cs typeface="Courier New"/>
              </a:rPr>
              <a:t>ul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-530" dirty="0">
                <a:latin typeface="Courier New"/>
                <a:cs typeface="Courier New"/>
              </a:rPr>
              <a:t> </a:t>
            </a:r>
            <a:r>
              <a:rPr sz="2200" spc="15" dirty="0">
                <a:latin typeface="Courier New"/>
                <a:cs typeface="Courier New"/>
              </a:rPr>
              <a:t>trad</a:t>
            </a:r>
            <a:r>
              <a:rPr sz="2200" spc="20" dirty="0">
                <a:latin typeface="Courier New"/>
                <a:cs typeface="Courier New"/>
              </a:rPr>
              <a:t>e</a:t>
            </a:r>
            <a:r>
              <a:rPr sz="2200" spc="15" dirty="0">
                <a:latin typeface="Courier New"/>
                <a:cs typeface="Courier New"/>
              </a:rPr>
              <a:t>-</a:t>
            </a:r>
            <a:r>
              <a:rPr sz="2200" spc="40" dirty="0">
                <a:latin typeface="Courier New"/>
                <a:cs typeface="Courier New"/>
              </a:rPr>
              <a:t>o</a:t>
            </a:r>
            <a:r>
              <a:rPr sz="2200" spc="15" dirty="0">
                <a:latin typeface="Courier New"/>
                <a:cs typeface="Courier New"/>
              </a:rPr>
              <a:t>ff</a:t>
            </a:r>
            <a:r>
              <a:rPr sz="2200" dirty="0">
                <a:latin typeface="Courier New"/>
                <a:cs typeface="Courier New"/>
              </a:rPr>
              <a:t>s </a:t>
            </a:r>
            <a:r>
              <a:rPr sz="2200" spc="-10" dirty="0">
                <a:latin typeface="Courier New"/>
                <a:cs typeface="Courier New"/>
              </a:rPr>
              <a:t>i</a:t>
            </a: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325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d</a:t>
            </a:r>
            <a:r>
              <a:rPr sz="2200" spc="-35" dirty="0">
                <a:latin typeface="Courier New"/>
                <a:cs typeface="Courier New"/>
              </a:rPr>
              <a:t>et</a:t>
            </a:r>
            <a:r>
              <a:rPr sz="2200" spc="-5" dirty="0">
                <a:latin typeface="Courier New"/>
                <a:cs typeface="Courier New"/>
              </a:rPr>
              <a:t>e</a:t>
            </a:r>
            <a:r>
              <a:rPr sz="2200" spc="-15" dirty="0">
                <a:latin typeface="Courier New"/>
                <a:cs typeface="Courier New"/>
              </a:rPr>
              <a:t>r</a:t>
            </a:r>
            <a:r>
              <a:rPr sz="2200" spc="-5" dirty="0">
                <a:latin typeface="Courier New"/>
                <a:cs typeface="Courier New"/>
              </a:rPr>
              <a:t>m</a:t>
            </a:r>
            <a:r>
              <a:rPr sz="2200" spc="-15" dirty="0">
                <a:latin typeface="Courier New"/>
                <a:cs typeface="Courier New"/>
              </a:rPr>
              <a:t>i</a:t>
            </a:r>
            <a:r>
              <a:rPr sz="2200" spc="-5" dirty="0">
                <a:latin typeface="Courier New"/>
                <a:cs typeface="Courier New"/>
              </a:rPr>
              <a:t>n</a:t>
            </a:r>
            <a:r>
              <a:rPr sz="2200" spc="-15" dirty="0">
                <a:latin typeface="Courier New"/>
                <a:cs typeface="Courier New"/>
              </a:rPr>
              <a:t>i</a:t>
            </a:r>
            <a:r>
              <a:rPr sz="2200" spc="-5" dirty="0">
                <a:latin typeface="Courier New"/>
                <a:cs typeface="Courier New"/>
              </a:rPr>
              <a:t>n</a:t>
            </a:r>
            <a:r>
              <a:rPr sz="2200" dirty="0">
                <a:latin typeface="Courier New"/>
                <a:cs typeface="Courier New"/>
              </a:rPr>
              <a:t>g</a:t>
            </a:r>
            <a:r>
              <a:rPr sz="2200" spc="33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t</a:t>
            </a:r>
            <a:r>
              <a:rPr sz="2200" spc="-60" dirty="0">
                <a:latin typeface="Courier New"/>
                <a:cs typeface="Courier New"/>
              </a:rPr>
              <a:t>h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450" dirty="0">
                <a:latin typeface="Courier New"/>
                <a:cs typeface="Courier New"/>
              </a:rPr>
              <a:t> </a:t>
            </a:r>
            <a:r>
              <a:rPr sz="2200" spc="-175" dirty="0">
                <a:latin typeface="Courier New"/>
                <a:cs typeface="Courier New"/>
              </a:rPr>
              <a:t>f</a:t>
            </a:r>
            <a:r>
              <a:rPr sz="2200" spc="-105" dirty="0">
                <a:latin typeface="Courier New"/>
                <a:cs typeface="Courier New"/>
              </a:rPr>
              <a:t>r</a:t>
            </a:r>
            <a:r>
              <a:rPr sz="2200" spc="-60" dirty="0">
                <a:latin typeface="Courier New"/>
                <a:cs typeface="Courier New"/>
              </a:rPr>
              <a:t>e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28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s</a:t>
            </a:r>
            <a:r>
              <a:rPr sz="2200" spc="-35" dirty="0">
                <a:latin typeface="Courier New"/>
                <a:cs typeface="Courier New"/>
              </a:rPr>
              <a:t>la</a:t>
            </a:r>
            <a:r>
              <a:rPr sz="2200" spc="-5" dirty="0">
                <a:latin typeface="Courier New"/>
                <a:cs typeface="Courier New"/>
              </a:rPr>
              <a:t>c</a:t>
            </a:r>
            <a:r>
              <a:rPr sz="2200" dirty="0">
                <a:latin typeface="Courier New"/>
                <a:cs typeface="Courier New"/>
              </a:rPr>
              <a:t>k</a:t>
            </a:r>
            <a:r>
              <a:rPr sz="2200" spc="30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a</a:t>
            </a:r>
            <a:r>
              <a:rPr sz="2200" spc="-60" dirty="0">
                <a:latin typeface="Courier New"/>
                <a:cs typeface="Courier New"/>
              </a:rPr>
              <a:t>n</a:t>
            </a:r>
            <a:r>
              <a:rPr sz="2200" dirty="0">
                <a:latin typeface="Courier New"/>
                <a:cs typeface="Courier New"/>
              </a:rPr>
              <a:t>d</a:t>
            </a:r>
            <a:r>
              <a:rPr sz="2200" spc="28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to</a:t>
            </a:r>
            <a:r>
              <a:rPr sz="2200" spc="-5" dirty="0">
                <a:latin typeface="Courier New"/>
                <a:cs typeface="Courier New"/>
              </a:rPr>
              <a:t>t</a:t>
            </a:r>
            <a:r>
              <a:rPr sz="2200" spc="-15" dirty="0">
                <a:latin typeface="Courier New"/>
                <a:cs typeface="Courier New"/>
              </a:rPr>
              <a:t>a</a:t>
            </a:r>
            <a:r>
              <a:rPr sz="2200" dirty="0">
                <a:latin typeface="Courier New"/>
                <a:cs typeface="Courier New"/>
              </a:rPr>
              <a:t>l</a:t>
            </a:r>
            <a:r>
              <a:rPr sz="2200" spc="32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s</a:t>
            </a:r>
            <a:r>
              <a:rPr sz="2200" spc="-55" dirty="0">
                <a:latin typeface="Courier New"/>
                <a:cs typeface="Courier New"/>
              </a:rPr>
              <a:t>l</a:t>
            </a:r>
            <a:r>
              <a:rPr sz="2200" spc="-30" dirty="0">
                <a:latin typeface="Courier New"/>
                <a:cs typeface="Courier New"/>
              </a:rPr>
              <a:t>a</a:t>
            </a:r>
            <a:r>
              <a:rPr sz="2200" spc="-5" dirty="0">
                <a:latin typeface="Courier New"/>
                <a:cs typeface="Courier New"/>
              </a:rPr>
              <a:t>c</a:t>
            </a:r>
            <a:r>
              <a:rPr sz="2200" dirty="0">
                <a:latin typeface="Courier New"/>
                <a:cs typeface="Courier New"/>
              </a:rPr>
              <a:t>k</a:t>
            </a:r>
            <a:r>
              <a:rPr sz="2200" spc="29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f</a:t>
            </a:r>
            <a:r>
              <a:rPr sz="2200" spc="-60" dirty="0">
                <a:latin typeface="Courier New"/>
                <a:cs typeface="Courier New"/>
              </a:rPr>
              <a:t>o</a:t>
            </a:r>
            <a:r>
              <a:rPr sz="2200" dirty="0">
                <a:latin typeface="Courier New"/>
                <a:cs typeface="Courier New"/>
              </a:rPr>
              <a:t>r</a:t>
            </a:r>
            <a:r>
              <a:rPr sz="2200" spc="330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e</a:t>
            </a:r>
            <a:r>
              <a:rPr sz="2200" spc="-35" dirty="0">
                <a:latin typeface="Courier New"/>
                <a:cs typeface="Courier New"/>
              </a:rPr>
              <a:t>a</a:t>
            </a:r>
            <a:r>
              <a:rPr sz="2200" spc="15" dirty="0">
                <a:latin typeface="Courier New"/>
                <a:cs typeface="Courier New"/>
              </a:rPr>
              <a:t>c</a:t>
            </a:r>
            <a:r>
              <a:rPr sz="2200" dirty="0">
                <a:latin typeface="Courier New"/>
                <a:cs typeface="Courier New"/>
              </a:rPr>
              <a:t>h</a:t>
            </a:r>
            <a:r>
              <a:rPr sz="2200" spc="525" dirty="0">
                <a:latin typeface="Courier New"/>
                <a:cs typeface="Courier New"/>
              </a:rPr>
              <a:t> </a:t>
            </a:r>
            <a:r>
              <a:rPr sz="2200" spc="-155" dirty="0">
                <a:latin typeface="Courier New"/>
                <a:cs typeface="Courier New"/>
              </a:rPr>
              <a:t>p</a:t>
            </a:r>
            <a:r>
              <a:rPr sz="2200" spc="-80" dirty="0">
                <a:latin typeface="Courier New"/>
                <a:cs typeface="Courier New"/>
              </a:rPr>
              <a:t>r</a:t>
            </a:r>
            <a:r>
              <a:rPr sz="2200" spc="-35" dirty="0">
                <a:latin typeface="Courier New"/>
                <a:cs typeface="Courier New"/>
              </a:rPr>
              <a:t>o</a:t>
            </a:r>
            <a:r>
              <a:rPr sz="2200" spc="15" dirty="0">
                <a:latin typeface="Courier New"/>
                <a:cs typeface="Courier New"/>
              </a:rPr>
              <a:t>jec</a:t>
            </a:r>
            <a:r>
              <a:rPr sz="2200" dirty="0">
                <a:latin typeface="Courier New"/>
                <a:cs typeface="Courier New"/>
              </a:rPr>
              <a:t>t </a:t>
            </a:r>
            <a:r>
              <a:rPr sz="2200" spc="-5" dirty="0">
                <a:latin typeface="Courier New"/>
                <a:cs typeface="Courier New"/>
              </a:rPr>
              <a:t>activity</a:t>
            </a:r>
            <a:r>
              <a:rPr sz="2200" dirty="0">
                <a:latin typeface="Courier New"/>
                <a:cs typeface="Courier New"/>
              </a:rPr>
              <a:t>.</a:t>
            </a:r>
          </a:p>
          <a:p>
            <a:pPr marL="1114425" marR="33655" indent="-228600" algn="just">
              <a:lnSpc>
                <a:spcPct val="140000"/>
              </a:lnSpc>
              <a:spcBef>
                <a:spcPts val="1010"/>
              </a:spcBef>
              <a:buFont typeface="Arial MT"/>
              <a:buChar char="•"/>
              <a:tabLst>
                <a:tab pos="1114425" algn="l"/>
              </a:tabLst>
            </a:pPr>
            <a:r>
              <a:rPr sz="2200" b="1" dirty="0">
                <a:latin typeface="Courier New"/>
                <a:cs typeface="Courier New"/>
              </a:rPr>
              <a:t>Free</a:t>
            </a:r>
            <a:r>
              <a:rPr sz="2200" b="1" spc="-7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Slack</a:t>
            </a:r>
            <a:r>
              <a:rPr sz="2200" b="1" spc="-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or</a:t>
            </a:r>
            <a:r>
              <a:rPr sz="2200" spc="-8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Free</a:t>
            </a:r>
            <a:r>
              <a:rPr sz="2200" b="1" spc="-5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Float</a:t>
            </a:r>
            <a:r>
              <a:rPr sz="2200" b="1" spc="-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is</a:t>
            </a:r>
            <a:r>
              <a:rPr sz="2200" spc="-1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amount</a:t>
            </a:r>
            <a:r>
              <a:rPr sz="2200" spc="-2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-28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time</a:t>
            </a:r>
            <a:r>
              <a:rPr sz="2200" spc="-2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an</a:t>
            </a:r>
            <a:r>
              <a:rPr sz="2200" spc="-2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activity</a:t>
            </a:r>
            <a:r>
              <a:rPr sz="2200" spc="-1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can</a:t>
            </a:r>
            <a:r>
              <a:rPr sz="2200" spc="-18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be </a:t>
            </a:r>
            <a:r>
              <a:rPr sz="2200" dirty="0">
                <a:latin typeface="Courier New"/>
                <a:cs typeface="Courier New"/>
              </a:rPr>
              <a:t>delayed</a:t>
            </a:r>
            <a:r>
              <a:rPr sz="2200" spc="-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without</a:t>
            </a:r>
            <a:r>
              <a:rPr sz="2200" spc="-1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delaying</a:t>
            </a:r>
            <a:r>
              <a:rPr sz="2200" spc="-1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1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early</a:t>
            </a:r>
            <a:r>
              <a:rPr sz="2200" spc="-1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start</a:t>
            </a:r>
            <a:r>
              <a:rPr sz="2200" spc="-1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date</a:t>
            </a:r>
            <a:r>
              <a:rPr sz="2200" spc="-1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-1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any</a:t>
            </a:r>
            <a:r>
              <a:rPr sz="2200" spc="-1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immediately following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activities.</a:t>
            </a:r>
            <a:endParaRPr sz="2200" dirty="0">
              <a:latin typeface="Courier New"/>
              <a:cs typeface="Courier New"/>
            </a:endParaRPr>
          </a:p>
          <a:p>
            <a:pPr marL="1113790" indent="-227965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1113790" algn="l"/>
              </a:tabLst>
            </a:pPr>
            <a:r>
              <a:rPr sz="2200" b="1" dirty="0">
                <a:latin typeface="Courier New"/>
                <a:cs typeface="Courier New"/>
              </a:rPr>
              <a:t>Total</a:t>
            </a:r>
            <a:r>
              <a:rPr sz="2200" b="1" spc="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Slack</a:t>
            </a:r>
            <a:r>
              <a:rPr sz="2200" b="1" spc="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or </a:t>
            </a:r>
            <a:r>
              <a:rPr sz="2200" b="1" dirty="0">
                <a:latin typeface="Courier New"/>
                <a:cs typeface="Courier New"/>
              </a:rPr>
              <a:t>Total</a:t>
            </a:r>
            <a:r>
              <a:rPr sz="2200" b="1" spc="1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Float</a:t>
            </a:r>
            <a:r>
              <a:rPr sz="2200" b="1" spc="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is</a:t>
            </a:r>
            <a:r>
              <a:rPr sz="2200" spc="-455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the</a:t>
            </a:r>
            <a:r>
              <a:rPr sz="2200" spc="-50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amount</a:t>
            </a:r>
            <a:r>
              <a:rPr sz="2200" spc="-475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of</a:t>
            </a:r>
            <a:r>
              <a:rPr sz="2200" spc="-525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time</a:t>
            </a:r>
            <a:r>
              <a:rPr sz="2200" spc="-500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an</a:t>
            </a:r>
            <a:r>
              <a:rPr sz="2200" spc="-53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activity</a:t>
            </a:r>
            <a:r>
              <a:rPr sz="2200" spc="-395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can</a:t>
            </a:r>
            <a:r>
              <a:rPr sz="2200" spc="-484" dirty="0">
                <a:latin typeface="Courier New"/>
                <a:cs typeface="Courier New"/>
              </a:rPr>
              <a:t> </a:t>
            </a:r>
            <a:r>
              <a:rPr sz="2200" spc="-25" dirty="0" smtClean="0">
                <a:latin typeface="Courier New"/>
                <a:cs typeface="Courier New"/>
              </a:rPr>
              <a:t>be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controlling</a:t>
            </a:r>
            <a:r>
              <a:rPr spc="-1295" dirty="0"/>
              <a:t> </a:t>
            </a:r>
            <a:r>
              <a:rPr spc="-25" dirty="0"/>
              <a:t>the </a:t>
            </a:r>
            <a:r>
              <a:rPr spc="-10" dirty="0"/>
              <a:t>Schedule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48987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A</a:t>
            </a:r>
            <a:r>
              <a:rPr b="1" spc="22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Forward</a:t>
            </a:r>
            <a:r>
              <a:rPr b="1" spc="24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Pass</a:t>
            </a:r>
            <a:r>
              <a:rPr b="1" spc="229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chemeClr val="bg1"/>
                </a:solidFill>
              </a:rPr>
              <a:t>through</a:t>
            </a:r>
            <a:r>
              <a:rPr spc="1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1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network</a:t>
            </a:r>
            <a:r>
              <a:rPr spc="19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diagram</a:t>
            </a:r>
            <a:r>
              <a:rPr spc="21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determines</a:t>
            </a:r>
            <a:r>
              <a:rPr spc="229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the 	</a:t>
            </a:r>
            <a:r>
              <a:rPr spc="-10" dirty="0">
                <a:solidFill>
                  <a:schemeClr val="bg1"/>
                </a:solidFill>
              </a:rPr>
              <a:t>early</a:t>
            </a:r>
            <a:r>
              <a:rPr spc="-69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start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and</a:t>
            </a:r>
            <a:r>
              <a:rPr spc="-7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finish</a:t>
            </a:r>
            <a:r>
              <a:rPr spc="-76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dates</a:t>
            </a: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A</a:t>
            </a:r>
            <a:r>
              <a:rPr b="1" spc="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Backward</a:t>
            </a:r>
            <a:r>
              <a:rPr b="1" spc="-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Pass</a:t>
            </a:r>
            <a:r>
              <a:rPr b="1" spc="-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pc="-10" dirty="0">
                <a:solidFill>
                  <a:schemeClr val="bg1"/>
                </a:solidFill>
              </a:rPr>
              <a:t>determines</a:t>
            </a:r>
            <a:r>
              <a:rPr spc="-71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78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late</a:t>
            </a:r>
            <a:r>
              <a:rPr spc="-78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start</a:t>
            </a:r>
            <a:r>
              <a:rPr spc="-78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and</a:t>
            </a:r>
            <a:r>
              <a:rPr spc="-76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finish</a:t>
            </a:r>
            <a:r>
              <a:rPr spc="-76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dates.</a:t>
            </a:r>
          </a:p>
          <a:p>
            <a:pPr marL="240029" marR="10795" indent="-227329">
              <a:lnSpc>
                <a:spcPct val="15010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The</a:t>
            </a:r>
            <a:r>
              <a:rPr b="1" spc="-305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early</a:t>
            </a:r>
            <a:r>
              <a:rPr b="1" spc="-305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start</a:t>
            </a:r>
            <a:r>
              <a:rPr b="1" spc="-310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date</a:t>
            </a:r>
            <a:r>
              <a:rPr b="1" spc="-305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-32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-35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earliest</a:t>
            </a:r>
            <a:r>
              <a:rPr spc="-32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possible</a:t>
            </a:r>
            <a:r>
              <a:rPr spc="-21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time</a:t>
            </a:r>
            <a:r>
              <a:rPr spc="-330" dirty="0">
                <a:solidFill>
                  <a:schemeClr val="bg1"/>
                </a:solidFill>
              </a:rPr>
              <a:t>  </a:t>
            </a:r>
            <a:r>
              <a:rPr spc="-25" dirty="0">
                <a:solidFill>
                  <a:schemeClr val="bg1"/>
                </a:solidFill>
              </a:rPr>
              <a:t>an 	</a:t>
            </a:r>
            <a:r>
              <a:rPr spc="-10" dirty="0">
                <a:solidFill>
                  <a:schemeClr val="bg1"/>
                </a:solidFill>
              </a:rPr>
              <a:t>activity</a:t>
            </a:r>
            <a:r>
              <a:rPr spc="-71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can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start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based</a:t>
            </a:r>
            <a:r>
              <a:rPr spc="-7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on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project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network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logic.</a:t>
            </a:r>
          </a:p>
          <a:p>
            <a:pPr marL="240029" marR="7620" indent="-227329">
              <a:lnSpc>
                <a:spcPct val="1501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The</a:t>
            </a:r>
            <a:r>
              <a:rPr b="1" spc="-370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early</a:t>
            </a:r>
            <a:r>
              <a:rPr b="1" spc="-370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finish</a:t>
            </a:r>
            <a:r>
              <a:rPr b="1" spc="-375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date</a:t>
            </a:r>
            <a:r>
              <a:rPr b="1" spc="-370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-38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-409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earliest</a:t>
            </a:r>
            <a:r>
              <a:rPr spc="-38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possible</a:t>
            </a:r>
            <a:r>
              <a:rPr spc="509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time</a:t>
            </a:r>
            <a:r>
              <a:rPr spc="-360" dirty="0">
                <a:solidFill>
                  <a:schemeClr val="bg1"/>
                </a:solidFill>
              </a:rPr>
              <a:t>  </a:t>
            </a:r>
            <a:r>
              <a:rPr spc="-25" dirty="0">
                <a:solidFill>
                  <a:schemeClr val="bg1"/>
                </a:solidFill>
              </a:rPr>
              <a:t>an 	</a:t>
            </a:r>
            <a:r>
              <a:rPr spc="-10" dirty="0">
                <a:solidFill>
                  <a:schemeClr val="bg1"/>
                </a:solidFill>
              </a:rPr>
              <a:t>activity</a:t>
            </a:r>
            <a:r>
              <a:rPr spc="-69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can</a:t>
            </a:r>
            <a:r>
              <a:rPr spc="-7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finish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based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on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project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network</a:t>
            </a:r>
            <a:r>
              <a:rPr spc="-7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logic.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controlling</a:t>
            </a:r>
            <a:r>
              <a:rPr spc="-1295" dirty="0"/>
              <a:t> </a:t>
            </a:r>
            <a:r>
              <a:rPr spc="-25" dirty="0"/>
              <a:t>the </a:t>
            </a:r>
            <a:r>
              <a:rPr spc="-10" dirty="0"/>
              <a:t>Schedule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1967" y="1267967"/>
            <a:ext cx="6659880" cy="435559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514215" y="5723331"/>
            <a:ext cx="31730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Calculating</a:t>
            </a:r>
            <a:r>
              <a:rPr sz="1200" spc="-6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early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late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start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finish</a:t>
            </a:r>
            <a:r>
              <a:rPr sz="1200" spc="-60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dates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controlling</a:t>
            </a:r>
            <a:r>
              <a:rPr spc="-1295" dirty="0"/>
              <a:t> </a:t>
            </a:r>
            <a:r>
              <a:rPr spc="-25" dirty="0"/>
              <a:t>the </a:t>
            </a:r>
            <a:r>
              <a:rPr spc="-10" dirty="0"/>
              <a:t>Schedule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5207" y="1295400"/>
            <a:ext cx="8101583" cy="436473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514215" y="5723331"/>
            <a:ext cx="27203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Free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total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float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or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slack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project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X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controlling</a:t>
            </a:r>
            <a:r>
              <a:rPr spc="-1295" dirty="0"/>
              <a:t> </a:t>
            </a:r>
            <a:r>
              <a:rPr spc="-25" dirty="0"/>
              <a:t>the </a:t>
            </a:r>
            <a:r>
              <a:rPr spc="-10" dirty="0"/>
              <a:t>Schedule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54399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pc="-20" dirty="0">
                <a:solidFill>
                  <a:schemeClr val="bg1"/>
                </a:solidFill>
              </a:rPr>
              <a:t>By</a:t>
            </a:r>
            <a:r>
              <a:rPr spc="-350" dirty="0">
                <a:solidFill>
                  <a:schemeClr val="bg1"/>
                </a:solidFill>
              </a:rPr>
              <a:t> </a:t>
            </a:r>
            <a:r>
              <a:rPr spc="-45" dirty="0">
                <a:solidFill>
                  <a:schemeClr val="bg1"/>
                </a:solidFill>
              </a:rPr>
              <a:t>knowing</a:t>
            </a:r>
            <a:r>
              <a:rPr spc="-315" dirty="0">
                <a:solidFill>
                  <a:schemeClr val="bg1"/>
                </a:solidFill>
              </a:rPr>
              <a:t> </a:t>
            </a:r>
            <a:r>
              <a:rPr spc="-120" dirty="0">
                <a:solidFill>
                  <a:schemeClr val="bg1"/>
                </a:solidFill>
              </a:rPr>
              <a:t>the</a:t>
            </a:r>
            <a:r>
              <a:rPr spc="-240" dirty="0">
                <a:solidFill>
                  <a:schemeClr val="bg1"/>
                </a:solidFill>
              </a:rPr>
              <a:t> </a:t>
            </a:r>
            <a:r>
              <a:rPr spc="-40" dirty="0">
                <a:solidFill>
                  <a:schemeClr val="bg1"/>
                </a:solidFill>
              </a:rPr>
              <a:t>critical</a:t>
            </a:r>
            <a:r>
              <a:rPr spc="-320" dirty="0">
                <a:solidFill>
                  <a:schemeClr val="bg1"/>
                </a:solidFill>
              </a:rPr>
              <a:t> </a:t>
            </a:r>
            <a:r>
              <a:rPr spc="-70" dirty="0">
                <a:solidFill>
                  <a:schemeClr val="bg1"/>
                </a:solidFill>
              </a:rPr>
              <a:t>path,</a:t>
            </a:r>
            <a:r>
              <a:rPr spc="-290" dirty="0">
                <a:solidFill>
                  <a:schemeClr val="bg1"/>
                </a:solidFill>
              </a:rPr>
              <a:t> </a:t>
            </a:r>
            <a:r>
              <a:rPr spc="-120" dirty="0">
                <a:solidFill>
                  <a:schemeClr val="bg1"/>
                </a:solidFill>
              </a:rPr>
              <a:t>the</a:t>
            </a:r>
            <a:r>
              <a:rPr spc="-240" dirty="0">
                <a:solidFill>
                  <a:schemeClr val="bg1"/>
                </a:solidFill>
              </a:rPr>
              <a:t> </a:t>
            </a:r>
            <a:r>
              <a:rPr spc="-45" dirty="0">
                <a:solidFill>
                  <a:schemeClr val="bg1"/>
                </a:solidFill>
              </a:rPr>
              <a:t>project</a:t>
            </a:r>
            <a:r>
              <a:rPr spc="-315" dirty="0">
                <a:solidFill>
                  <a:schemeClr val="bg1"/>
                </a:solidFill>
              </a:rPr>
              <a:t> </a:t>
            </a:r>
            <a:r>
              <a:rPr spc="-35" dirty="0">
                <a:solidFill>
                  <a:schemeClr val="bg1"/>
                </a:solidFill>
              </a:rPr>
              <a:t>manager</a:t>
            </a:r>
            <a:r>
              <a:rPr spc="-245" dirty="0">
                <a:solidFill>
                  <a:schemeClr val="bg1"/>
                </a:solidFill>
              </a:rPr>
              <a:t> </a:t>
            </a:r>
            <a:r>
              <a:rPr spc="-175" dirty="0">
                <a:solidFill>
                  <a:schemeClr val="bg1"/>
                </a:solidFill>
              </a:rPr>
              <a:t>and</a:t>
            </a:r>
            <a:r>
              <a:rPr spc="-1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-17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team 	</a:t>
            </a:r>
            <a:r>
              <a:rPr spc="-85" dirty="0">
                <a:solidFill>
                  <a:schemeClr val="bg1"/>
                </a:solidFill>
              </a:rPr>
              <a:t>can</a:t>
            </a:r>
            <a:r>
              <a:rPr spc="-285" dirty="0">
                <a:solidFill>
                  <a:schemeClr val="bg1"/>
                </a:solidFill>
              </a:rPr>
              <a:t> </a:t>
            </a:r>
            <a:r>
              <a:rPr spc="-185" dirty="0">
                <a:solidFill>
                  <a:schemeClr val="bg1"/>
                </a:solidFill>
              </a:rPr>
              <a:t>use</a:t>
            </a:r>
            <a:r>
              <a:rPr spc="-175" dirty="0">
                <a:solidFill>
                  <a:schemeClr val="bg1"/>
                </a:solidFill>
              </a:rPr>
              <a:t> </a:t>
            </a:r>
            <a:r>
              <a:rPr spc="-75" dirty="0">
                <a:solidFill>
                  <a:schemeClr val="bg1"/>
                </a:solidFill>
              </a:rPr>
              <a:t>several</a:t>
            </a:r>
            <a:r>
              <a:rPr spc="-285" dirty="0">
                <a:solidFill>
                  <a:schemeClr val="bg1"/>
                </a:solidFill>
              </a:rPr>
              <a:t> </a:t>
            </a:r>
            <a:r>
              <a:rPr spc="-70" dirty="0">
                <a:solidFill>
                  <a:schemeClr val="bg1"/>
                </a:solidFill>
              </a:rPr>
              <a:t>duration</a:t>
            </a:r>
            <a:r>
              <a:rPr spc="-290" dirty="0">
                <a:solidFill>
                  <a:schemeClr val="bg1"/>
                </a:solidFill>
              </a:rPr>
              <a:t> </a:t>
            </a:r>
            <a:r>
              <a:rPr spc="-45" dirty="0">
                <a:solidFill>
                  <a:schemeClr val="bg1"/>
                </a:solidFill>
              </a:rPr>
              <a:t>compression</a:t>
            </a:r>
            <a:r>
              <a:rPr spc="-315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techniques</a:t>
            </a:r>
            <a:r>
              <a:rPr spc="-270" dirty="0">
                <a:solidFill>
                  <a:schemeClr val="bg1"/>
                </a:solidFill>
              </a:rPr>
              <a:t> </a:t>
            </a:r>
            <a:r>
              <a:rPr spc="-280" dirty="0">
                <a:solidFill>
                  <a:schemeClr val="bg1"/>
                </a:solidFill>
              </a:rPr>
              <a:t>to</a:t>
            </a:r>
            <a:r>
              <a:rPr spc="-80" dirty="0">
                <a:solidFill>
                  <a:schemeClr val="bg1"/>
                </a:solidFill>
              </a:rPr>
              <a:t> </a:t>
            </a:r>
            <a:r>
              <a:rPr spc="-35" dirty="0">
                <a:solidFill>
                  <a:schemeClr val="bg1"/>
                </a:solidFill>
              </a:rPr>
              <a:t>shorten</a:t>
            </a:r>
            <a:r>
              <a:rPr spc="-120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the 	</a:t>
            </a:r>
            <a:r>
              <a:rPr spc="-10" dirty="0">
                <a:solidFill>
                  <a:schemeClr val="bg1"/>
                </a:solidFill>
              </a:rPr>
              <a:t>project</a:t>
            </a:r>
            <a:r>
              <a:rPr spc="-69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schedule.</a:t>
            </a:r>
          </a:p>
          <a:p>
            <a:pPr marL="240029" marR="5080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pc="-85" dirty="0">
                <a:solidFill>
                  <a:schemeClr val="bg1"/>
                </a:solidFill>
              </a:rPr>
              <a:t>The</a:t>
            </a:r>
            <a:r>
              <a:rPr spc="-285" dirty="0">
                <a:solidFill>
                  <a:schemeClr val="bg1"/>
                </a:solidFill>
              </a:rPr>
              <a:t> </a:t>
            </a:r>
            <a:r>
              <a:rPr spc="-75" dirty="0">
                <a:solidFill>
                  <a:schemeClr val="bg1"/>
                </a:solidFill>
              </a:rPr>
              <a:t>project</a:t>
            </a:r>
            <a:r>
              <a:rPr spc="-285" dirty="0">
                <a:solidFill>
                  <a:schemeClr val="bg1"/>
                </a:solidFill>
              </a:rPr>
              <a:t> </a:t>
            </a:r>
            <a:r>
              <a:rPr spc="-70" dirty="0">
                <a:solidFill>
                  <a:schemeClr val="bg1"/>
                </a:solidFill>
              </a:rPr>
              <a:t>manager</a:t>
            </a:r>
            <a:r>
              <a:rPr spc="-290" dirty="0">
                <a:solidFill>
                  <a:schemeClr val="bg1"/>
                </a:solidFill>
              </a:rPr>
              <a:t> </a:t>
            </a:r>
            <a:r>
              <a:rPr spc="-195" dirty="0">
                <a:solidFill>
                  <a:schemeClr val="bg1"/>
                </a:solidFill>
              </a:rPr>
              <a:t>can</a:t>
            </a:r>
            <a:r>
              <a:rPr spc="-165" dirty="0">
                <a:solidFill>
                  <a:schemeClr val="bg1"/>
                </a:solidFill>
              </a:rPr>
              <a:t>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shorten</a:t>
            </a:r>
            <a:r>
              <a:rPr b="1" spc="-36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the duration</a:t>
            </a:r>
            <a:r>
              <a:rPr b="1" spc="21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pc="-160" dirty="0">
                <a:solidFill>
                  <a:schemeClr val="bg1"/>
                </a:solidFill>
              </a:rPr>
              <a:t>of</a:t>
            </a:r>
            <a:r>
              <a:rPr spc="-200" dirty="0">
                <a:solidFill>
                  <a:schemeClr val="bg1"/>
                </a:solidFill>
              </a:rPr>
              <a:t> </a:t>
            </a:r>
            <a:r>
              <a:rPr spc="-30" dirty="0">
                <a:solidFill>
                  <a:schemeClr val="bg1"/>
                </a:solidFill>
              </a:rPr>
              <a:t>critical</a:t>
            </a:r>
            <a:r>
              <a:rPr spc="-30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path 	</a:t>
            </a:r>
            <a:r>
              <a:rPr spc="-30" dirty="0">
                <a:solidFill>
                  <a:schemeClr val="bg1"/>
                </a:solidFill>
              </a:rPr>
              <a:t>activities</a:t>
            </a:r>
            <a:r>
              <a:rPr spc="-330" dirty="0">
                <a:solidFill>
                  <a:schemeClr val="bg1"/>
                </a:solidFill>
              </a:rPr>
              <a:t> </a:t>
            </a:r>
            <a:r>
              <a:rPr spc="-345" dirty="0">
                <a:solidFill>
                  <a:schemeClr val="bg1"/>
                </a:solidFill>
              </a:rPr>
              <a:t>by</a:t>
            </a:r>
            <a:r>
              <a:rPr spc="-15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allocating</a:t>
            </a:r>
            <a:r>
              <a:rPr spc="-310" dirty="0">
                <a:solidFill>
                  <a:schemeClr val="bg1"/>
                </a:solidFill>
              </a:rPr>
              <a:t> </a:t>
            </a:r>
            <a:r>
              <a:rPr spc="-125" dirty="0">
                <a:solidFill>
                  <a:schemeClr val="bg1"/>
                </a:solidFill>
              </a:rPr>
              <a:t>more</a:t>
            </a:r>
            <a:r>
              <a:rPr spc="-235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resources</a:t>
            </a:r>
            <a:r>
              <a:rPr spc="-310" dirty="0">
                <a:solidFill>
                  <a:schemeClr val="bg1"/>
                </a:solidFill>
              </a:rPr>
              <a:t> </a:t>
            </a:r>
            <a:r>
              <a:rPr spc="-340" dirty="0">
                <a:solidFill>
                  <a:schemeClr val="bg1"/>
                </a:solidFill>
              </a:rPr>
              <a:t>to</a:t>
            </a:r>
            <a:r>
              <a:rPr spc="-20" dirty="0">
                <a:solidFill>
                  <a:schemeClr val="bg1"/>
                </a:solidFill>
              </a:rPr>
              <a:t> </a:t>
            </a:r>
            <a:r>
              <a:rPr spc="-110" dirty="0">
                <a:solidFill>
                  <a:schemeClr val="bg1"/>
                </a:solidFill>
              </a:rPr>
              <a:t>those</a:t>
            </a:r>
            <a:r>
              <a:rPr spc="-25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activities</a:t>
            </a:r>
            <a:r>
              <a:rPr spc="-170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or 	</a:t>
            </a:r>
            <a:r>
              <a:rPr spc="-10" dirty="0">
                <a:solidFill>
                  <a:schemeClr val="bg1"/>
                </a:solidFill>
              </a:rPr>
              <a:t>by</a:t>
            </a:r>
            <a:r>
              <a:rPr spc="-70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changing</a:t>
            </a:r>
            <a:r>
              <a:rPr spc="-76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their</a:t>
            </a:r>
            <a:r>
              <a:rPr spc="-7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scope.</a:t>
            </a:r>
          </a:p>
          <a:p>
            <a:pPr marL="240029" marR="7620" indent="-227329" algn="just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Several</a:t>
            </a:r>
            <a:r>
              <a:rPr spc="2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experts</a:t>
            </a:r>
            <a:r>
              <a:rPr spc="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suggest</a:t>
            </a:r>
            <a:r>
              <a:rPr spc="2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that</a:t>
            </a:r>
            <a:r>
              <a:rPr spc="22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it</a:t>
            </a:r>
            <a:r>
              <a:rPr spc="-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2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extremely</a:t>
            </a:r>
            <a:r>
              <a:rPr spc="2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difficult</a:t>
            </a:r>
            <a:r>
              <a:rPr spc="330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to 	</a:t>
            </a:r>
            <a:r>
              <a:rPr spc="-10" dirty="0">
                <a:solidFill>
                  <a:schemeClr val="bg1"/>
                </a:solidFill>
              </a:rPr>
              <a:t>shorten</a:t>
            </a:r>
            <a:r>
              <a:rPr spc="-71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78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reasonable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project</a:t>
            </a:r>
            <a:r>
              <a:rPr spc="-7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schedule</a:t>
            </a:r>
            <a:r>
              <a:rPr spc="-760" dirty="0">
                <a:solidFill>
                  <a:schemeClr val="bg1"/>
                </a:solidFill>
              </a:rPr>
              <a:t> </a:t>
            </a:r>
            <a:r>
              <a:rPr spc="-15" dirty="0">
                <a:solidFill>
                  <a:schemeClr val="bg1"/>
                </a:solidFill>
              </a:rPr>
              <a:t>by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more</a:t>
            </a:r>
            <a:r>
              <a:rPr spc="-78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than</a:t>
            </a:r>
            <a:r>
              <a:rPr spc="-780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25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percent.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controlling</a:t>
            </a:r>
            <a:r>
              <a:rPr spc="-1295" dirty="0"/>
              <a:t> </a:t>
            </a:r>
            <a:r>
              <a:rPr spc="-25" dirty="0"/>
              <a:t>the </a:t>
            </a:r>
            <a:r>
              <a:rPr spc="-10" dirty="0"/>
              <a:t>Schedule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03585" cy="4798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urier New"/>
                <a:cs typeface="Courier New"/>
              </a:rPr>
              <a:t>Crashing</a:t>
            </a:r>
            <a:r>
              <a:rPr sz="2400" b="1" spc="-1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2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technique</a:t>
            </a:r>
            <a:r>
              <a:rPr sz="2400" spc="-1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-20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making cost</a:t>
            </a:r>
            <a:r>
              <a:rPr sz="2400" spc="-1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1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schedule</a:t>
            </a:r>
            <a:r>
              <a:rPr sz="2400" spc="-1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trade-	</a:t>
            </a:r>
            <a:r>
              <a:rPr sz="2400" spc="-30" dirty="0">
                <a:latin typeface="Courier New"/>
                <a:cs typeface="Courier New"/>
              </a:rPr>
              <a:t>offs</a:t>
            </a:r>
            <a:r>
              <a:rPr sz="2400" spc="-340" dirty="0">
                <a:latin typeface="Courier New"/>
                <a:cs typeface="Courier New"/>
              </a:rPr>
              <a:t> </a:t>
            </a:r>
            <a:r>
              <a:rPr sz="2400" spc="-280" dirty="0">
                <a:latin typeface="Courier New"/>
                <a:cs typeface="Courier New"/>
              </a:rPr>
              <a:t>to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spc="-70" dirty="0">
                <a:latin typeface="Courier New"/>
                <a:cs typeface="Courier New"/>
              </a:rPr>
              <a:t>obtain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the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80" dirty="0">
                <a:latin typeface="Courier New"/>
                <a:cs typeface="Courier New"/>
              </a:rPr>
              <a:t>greatest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70" dirty="0">
                <a:latin typeface="Courier New"/>
                <a:cs typeface="Courier New"/>
              </a:rPr>
              <a:t>amount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305" dirty="0">
                <a:latin typeface="Courier New"/>
                <a:cs typeface="Courier New"/>
              </a:rPr>
              <a:t>of</a:t>
            </a:r>
            <a:r>
              <a:rPr sz="2400" spc="-55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schedule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compression</a:t>
            </a:r>
            <a:r>
              <a:rPr sz="2400" spc="-15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for 	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least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incremental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cost.</a:t>
            </a:r>
            <a:endParaRPr sz="2400">
              <a:latin typeface="Courier New"/>
              <a:cs typeface="Courier New"/>
            </a:endParaRPr>
          </a:p>
          <a:p>
            <a:pPr marL="240029" marR="8255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3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main</a:t>
            </a:r>
            <a:r>
              <a:rPr sz="2400" spc="-229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disadvantage</a:t>
            </a:r>
            <a:r>
              <a:rPr sz="2400" spc="-20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b="1" spc="-35" dirty="0">
                <a:latin typeface="Courier New"/>
                <a:cs typeface="Courier New"/>
              </a:rPr>
              <a:t>crashing</a:t>
            </a:r>
            <a:r>
              <a:rPr sz="2400" b="1" spc="-3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2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that</a:t>
            </a:r>
            <a:r>
              <a:rPr sz="2400" spc="-229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it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often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increases 	total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costs.</a:t>
            </a:r>
            <a:endParaRPr sz="2400">
              <a:latin typeface="Courier New"/>
              <a:cs typeface="Courier New"/>
            </a:endParaRPr>
          </a:p>
          <a:p>
            <a:pPr marL="240029" marR="13970" indent="-227329" algn="just">
              <a:lnSpc>
                <a:spcPct val="1500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urier New"/>
                <a:cs typeface="Courier New"/>
              </a:rPr>
              <a:t>Fast</a:t>
            </a:r>
            <a:r>
              <a:rPr sz="2400" b="1" spc="-240" dirty="0">
                <a:latin typeface="Courier New"/>
                <a:cs typeface="Courier New"/>
              </a:rPr>
              <a:t>  </a:t>
            </a:r>
            <a:r>
              <a:rPr sz="2400" b="1" dirty="0">
                <a:latin typeface="Courier New"/>
                <a:cs typeface="Courier New"/>
              </a:rPr>
              <a:t>tracking</a:t>
            </a:r>
            <a:r>
              <a:rPr sz="2400" b="1" spc="-23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activities</a:t>
            </a:r>
            <a:r>
              <a:rPr sz="2400" spc="-254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by</a:t>
            </a:r>
            <a:r>
              <a:rPr sz="2400" spc="-2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doing</a:t>
            </a:r>
            <a:r>
              <a:rPr sz="2400" spc="-25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them</a:t>
            </a:r>
            <a:r>
              <a:rPr sz="2400" spc="-27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in</a:t>
            </a:r>
            <a:r>
              <a:rPr sz="2400" spc="-27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parallel</a:t>
            </a:r>
            <a:r>
              <a:rPr sz="2400" spc="-229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or 	</a:t>
            </a:r>
            <a:r>
              <a:rPr sz="2400" spc="-10" dirty="0">
                <a:latin typeface="Courier New"/>
                <a:cs typeface="Courier New"/>
              </a:rPr>
              <a:t>overlapping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them.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52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main</a:t>
            </a:r>
            <a:r>
              <a:rPr sz="2400" spc="-53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disadvantage</a:t>
            </a:r>
            <a:r>
              <a:rPr sz="2400" spc="-50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of</a:t>
            </a:r>
            <a:r>
              <a:rPr sz="2400" spc="-60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Fast</a:t>
            </a:r>
            <a:r>
              <a:rPr sz="2400" b="1" spc="-114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tracking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509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that</a:t>
            </a:r>
            <a:r>
              <a:rPr sz="2400" spc="-555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it</a:t>
            </a:r>
            <a:r>
              <a:rPr sz="2400" spc="-55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can</a:t>
            </a:r>
            <a:r>
              <a:rPr sz="2400" spc="-5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increase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controlling</a:t>
            </a:r>
            <a:r>
              <a:rPr spc="-1295" dirty="0"/>
              <a:t> </a:t>
            </a:r>
            <a:r>
              <a:rPr spc="-25" dirty="0"/>
              <a:t>the </a:t>
            </a:r>
            <a:r>
              <a:rPr spc="-10" dirty="0"/>
              <a:t>Schedule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41472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pc="-10" dirty="0">
                <a:solidFill>
                  <a:schemeClr val="bg1"/>
                </a:solidFill>
              </a:rPr>
              <a:t>It</a:t>
            </a:r>
            <a:r>
              <a:rPr spc="-409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is</a:t>
            </a:r>
            <a:r>
              <a:rPr spc="-490" dirty="0">
                <a:solidFill>
                  <a:schemeClr val="bg1"/>
                </a:solidFill>
              </a:rPr>
              <a:t> </a:t>
            </a:r>
            <a:r>
              <a:rPr spc="-35" dirty="0">
                <a:solidFill>
                  <a:schemeClr val="bg1"/>
                </a:solidFill>
              </a:rPr>
              <a:t>important</a:t>
            </a:r>
            <a:r>
              <a:rPr spc="-420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to</a:t>
            </a:r>
            <a:r>
              <a:rPr spc="-315" dirty="0">
                <a:solidFill>
                  <a:schemeClr val="bg1"/>
                </a:solidFill>
              </a:rPr>
              <a:t> </a:t>
            </a:r>
            <a:r>
              <a:rPr spc="-75" dirty="0">
                <a:solidFill>
                  <a:schemeClr val="bg1"/>
                </a:solidFill>
              </a:rPr>
              <a:t>update</a:t>
            </a:r>
            <a:r>
              <a:rPr spc="-420" dirty="0">
                <a:solidFill>
                  <a:schemeClr val="bg1"/>
                </a:solidFill>
              </a:rPr>
              <a:t> </a:t>
            </a:r>
            <a:r>
              <a:rPr spc="-35" dirty="0">
                <a:solidFill>
                  <a:schemeClr val="bg1"/>
                </a:solidFill>
              </a:rPr>
              <a:t>project</a:t>
            </a:r>
            <a:r>
              <a:rPr spc="-430" dirty="0">
                <a:solidFill>
                  <a:schemeClr val="bg1"/>
                </a:solidFill>
              </a:rPr>
              <a:t> </a:t>
            </a:r>
            <a:r>
              <a:rPr spc="-40" dirty="0">
                <a:solidFill>
                  <a:schemeClr val="bg1"/>
                </a:solidFill>
              </a:rPr>
              <a:t>schedule</a:t>
            </a:r>
            <a:r>
              <a:rPr spc="-39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information</a:t>
            </a:r>
            <a:r>
              <a:rPr spc="-325" dirty="0">
                <a:solidFill>
                  <a:schemeClr val="bg1"/>
                </a:solidFill>
              </a:rPr>
              <a:t> </a:t>
            </a:r>
            <a:r>
              <a:rPr spc="-45" dirty="0">
                <a:solidFill>
                  <a:schemeClr val="bg1"/>
                </a:solidFill>
              </a:rPr>
              <a:t>to</a:t>
            </a:r>
            <a:r>
              <a:rPr spc="-42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meet 	</a:t>
            </a:r>
            <a:r>
              <a:rPr spc="-10" dirty="0">
                <a:solidFill>
                  <a:schemeClr val="bg1"/>
                </a:solidFill>
              </a:rPr>
              <a:t>time</a:t>
            </a:r>
            <a:r>
              <a:rPr spc="-71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goals</a:t>
            </a:r>
            <a:r>
              <a:rPr spc="-78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for</a:t>
            </a:r>
            <a:r>
              <a:rPr spc="-7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78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project.</a:t>
            </a:r>
          </a:p>
          <a:p>
            <a:pPr marL="240029" marR="5080" indent="-227329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The</a:t>
            </a:r>
            <a:r>
              <a:rPr spc="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critical</a:t>
            </a:r>
            <a:r>
              <a:rPr spc="1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path</a:t>
            </a:r>
            <a:r>
              <a:rPr spc="1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may</a:t>
            </a:r>
            <a:r>
              <a:rPr spc="-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change</a:t>
            </a:r>
            <a:r>
              <a:rPr spc="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as</a:t>
            </a:r>
            <a:r>
              <a:rPr spc="-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you</a:t>
            </a:r>
            <a:r>
              <a:rPr spc="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enter</a:t>
            </a:r>
            <a:r>
              <a:rPr spc="-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actual</a:t>
            </a:r>
            <a:r>
              <a:rPr spc="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start</a:t>
            </a:r>
            <a:r>
              <a:rPr spc="85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and 	</a:t>
            </a:r>
            <a:r>
              <a:rPr spc="-10" dirty="0">
                <a:solidFill>
                  <a:schemeClr val="bg1"/>
                </a:solidFill>
              </a:rPr>
              <a:t>finish</a:t>
            </a:r>
            <a:r>
              <a:rPr spc="-68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dates.</a:t>
            </a:r>
          </a:p>
          <a:p>
            <a:pPr marL="240029" marR="5080" indent="-227329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If</a:t>
            </a:r>
            <a:r>
              <a:rPr spc="-3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you</a:t>
            </a:r>
            <a:r>
              <a:rPr spc="-30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know</a:t>
            </a:r>
            <a:r>
              <a:rPr spc="-30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-30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project</a:t>
            </a:r>
            <a:r>
              <a:rPr spc="-2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completion</a:t>
            </a:r>
            <a:r>
              <a:rPr spc="-105" dirty="0">
                <a:solidFill>
                  <a:schemeClr val="bg1"/>
                </a:solidFill>
              </a:rPr>
              <a:t> </a:t>
            </a:r>
            <a:r>
              <a:rPr spc="-55" dirty="0">
                <a:solidFill>
                  <a:schemeClr val="bg1"/>
                </a:solidFill>
              </a:rPr>
              <a:t>date</a:t>
            </a:r>
            <a:r>
              <a:rPr spc="-30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will</a:t>
            </a:r>
            <a:r>
              <a:rPr spc="-28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slip,</a:t>
            </a:r>
            <a:r>
              <a:rPr spc="-33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negotiate 	with</a:t>
            </a:r>
            <a:r>
              <a:rPr spc="-69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project</a:t>
            </a:r>
            <a:r>
              <a:rPr spc="-7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sponsor.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Critical</a:t>
            </a:r>
            <a:r>
              <a:rPr spc="-1235" dirty="0"/>
              <a:t> </a:t>
            </a:r>
            <a:r>
              <a:rPr spc="-10" dirty="0"/>
              <a:t>Chain</a:t>
            </a:r>
            <a:r>
              <a:rPr spc="-1270" dirty="0"/>
              <a:t> </a:t>
            </a:r>
            <a:r>
              <a:rPr spc="-10" dirty="0"/>
              <a:t>Scheduling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9175"/>
            <a:ext cx="1899920" cy="16605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0029" marR="5080" indent="-227329">
              <a:lnSpc>
                <a:spcPct val="149300"/>
              </a:lnSpc>
              <a:spcBef>
                <a:spcPts val="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Critical 	</a:t>
            </a:r>
            <a:r>
              <a:rPr sz="2400" i="1" spc="-10" dirty="0">
                <a:latin typeface="Courier New"/>
                <a:cs typeface="Courier New"/>
              </a:rPr>
              <a:t>considers 	schedule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01239" y="1966340"/>
            <a:ext cx="5269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chain</a:t>
            </a:r>
            <a:r>
              <a:rPr sz="2400" spc="2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scheduling</a:t>
            </a:r>
            <a:r>
              <a:rPr sz="2400" spc="2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21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a</a:t>
            </a:r>
            <a:r>
              <a:rPr sz="2400" i="1" spc="180" dirty="0">
                <a:latin typeface="Courier New"/>
                <a:cs typeface="Courier New"/>
              </a:rPr>
              <a:t> </a:t>
            </a:r>
            <a:r>
              <a:rPr sz="2400" i="1" spc="-10" dirty="0">
                <a:latin typeface="Courier New"/>
                <a:cs typeface="Courier New"/>
              </a:rPr>
              <a:t>method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89163" y="1966340"/>
            <a:ext cx="34372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Courier New"/>
                <a:cs typeface="Courier New"/>
              </a:rPr>
              <a:t>of</a:t>
            </a:r>
            <a:r>
              <a:rPr sz="2400" i="1" spc="440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scheduling</a:t>
            </a:r>
            <a:r>
              <a:rPr sz="2400" i="1" spc="445" dirty="0">
                <a:latin typeface="Courier New"/>
                <a:cs typeface="Courier New"/>
              </a:rPr>
              <a:t> </a:t>
            </a:r>
            <a:r>
              <a:rPr sz="2400" i="1" spc="-20" dirty="0">
                <a:latin typeface="Courier New"/>
                <a:cs typeface="Courier New"/>
              </a:rPr>
              <a:t>that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04870" y="2326131"/>
            <a:ext cx="47085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37490">
              <a:lnSpc>
                <a:spcPct val="150100"/>
              </a:lnSpc>
              <a:spcBef>
                <a:spcPts val="100"/>
              </a:spcBef>
            </a:pPr>
            <a:r>
              <a:rPr sz="2400" i="1" dirty="0">
                <a:latin typeface="Courier New"/>
                <a:cs typeface="Courier New"/>
              </a:rPr>
              <a:t>limited</a:t>
            </a:r>
            <a:r>
              <a:rPr sz="2400" i="1" spc="95" dirty="0">
                <a:latin typeface="Courier New"/>
                <a:cs typeface="Courier New"/>
              </a:rPr>
              <a:t>  </a:t>
            </a:r>
            <a:r>
              <a:rPr sz="2400" i="1" dirty="0">
                <a:latin typeface="Courier New"/>
                <a:cs typeface="Courier New"/>
              </a:rPr>
              <a:t>resources</a:t>
            </a:r>
            <a:r>
              <a:rPr sz="2400" i="1" spc="95" dirty="0">
                <a:latin typeface="Courier New"/>
                <a:cs typeface="Courier New"/>
              </a:rPr>
              <a:t>  </a:t>
            </a:r>
            <a:r>
              <a:rPr sz="2400" i="1" spc="-20" dirty="0">
                <a:latin typeface="Courier New"/>
                <a:cs typeface="Courier New"/>
              </a:rPr>
              <a:t>when </a:t>
            </a:r>
            <a:r>
              <a:rPr sz="2400" i="1" dirty="0">
                <a:latin typeface="Courier New"/>
                <a:cs typeface="Courier New"/>
              </a:rPr>
              <a:t>and</a:t>
            </a:r>
            <a:r>
              <a:rPr sz="2400" i="1" spc="-125" dirty="0">
                <a:latin typeface="Courier New"/>
                <a:cs typeface="Courier New"/>
              </a:rPr>
              <a:t>  </a:t>
            </a:r>
            <a:r>
              <a:rPr sz="2400" i="1" dirty="0">
                <a:latin typeface="Courier New"/>
                <a:cs typeface="Courier New"/>
              </a:rPr>
              <a:t>includes</a:t>
            </a:r>
            <a:r>
              <a:rPr sz="2400" i="1" spc="-120" dirty="0">
                <a:latin typeface="Courier New"/>
                <a:cs typeface="Courier New"/>
              </a:rPr>
              <a:t>  </a:t>
            </a:r>
            <a:r>
              <a:rPr sz="2400" i="1" dirty="0">
                <a:latin typeface="Courier New"/>
                <a:cs typeface="Courier New"/>
              </a:rPr>
              <a:t>buffers</a:t>
            </a:r>
            <a:r>
              <a:rPr sz="2400" i="1" spc="-130" dirty="0">
                <a:latin typeface="Courier New"/>
                <a:cs typeface="Courier New"/>
              </a:rPr>
              <a:t>  </a:t>
            </a:r>
            <a:r>
              <a:rPr sz="2400" i="1" spc="-25" dirty="0">
                <a:latin typeface="Courier New"/>
                <a:cs typeface="Courier New"/>
              </a:rPr>
              <a:t>to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16926" y="2326131"/>
            <a:ext cx="15582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6675">
              <a:lnSpc>
                <a:spcPct val="150100"/>
              </a:lnSpc>
              <a:spcBef>
                <a:spcPts val="100"/>
              </a:spcBef>
            </a:pPr>
            <a:r>
              <a:rPr sz="2400" i="1" spc="-10" dirty="0">
                <a:latin typeface="Courier New"/>
                <a:cs typeface="Courier New"/>
              </a:rPr>
              <a:t>creating protect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36048" y="2326131"/>
            <a:ext cx="219202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07340">
              <a:lnSpc>
                <a:spcPct val="150100"/>
              </a:lnSpc>
              <a:spcBef>
                <a:spcPts val="100"/>
              </a:spcBef>
            </a:pPr>
            <a:r>
              <a:rPr sz="2400" i="1" dirty="0">
                <a:latin typeface="Courier New"/>
                <a:cs typeface="Courier New"/>
              </a:rPr>
              <a:t>a</a:t>
            </a:r>
            <a:r>
              <a:rPr sz="2400" i="1" spc="105" dirty="0">
                <a:latin typeface="Courier New"/>
                <a:cs typeface="Courier New"/>
              </a:rPr>
              <a:t>  </a:t>
            </a:r>
            <a:r>
              <a:rPr sz="2400" i="1" spc="-10" dirty="0">
                <a:latin typeface="Courier New"/>
                <a:cs typeface="Courier New"/>
              </a:rPr>
              <a:t>project </a:t>
            </a:r>
            <a:r>
              <a:rPr sz="2400" i="1" dirty="0">
                <a:latin typeface="Courier New"/>
                <a:cs typeface="Courier New"/>
              </a:rPr>
              <a:t>the</a:t>
            </a:r>
            <a:r>
              <a:rPr sz="2400" i="1" spc="-120" dirty="0">
                <a:latin typeface="Courier New"/>
                <a:cs typeface="Courier New"/>
              </a:rPr>
              <a:t>  </a:t>
            </a:r>
            <a:r>
              <a:rPr sz="2400" i="1" spc="-10" dirty="0">
                <a:latin typeface="Courier New"/>
                <a:cs typeface="Courier New"/>
              </a:rPr>
              <a:t>project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-78130" y="3607054"/>
            <a:ext cx="11897995" cy="2862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0625" algn="just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Courier New"/>
                <a:cs typeface="Courier New"/>
              </a:rPr>
              <a:t>completion</a:t>
            </a:r>
            <a:r>
              <a:rPr sz="2400" i="1" spc="-65" dirty="0">
                <a:latin typeface="Courier New"/>
                <a:cs typeface="Courier New"/>
              </a:rPr>
              <a:t> </a:t>
            </a:r>
            <a:r>
              <a:rPr sz="2400" i="1" spc="-10" dirty="0">
                <a:latin typeface="Courier New"/>
                <a:cs typeface="Courier New"/>
              </a:rPr>
              <a:t>date.</a:t>
            </a:r>
            <a:endParaRPr sz="2400" dirty="0">
              <a:latin typeface="Courier New"/>
              <a:cs typeface="Courier New"/>
            </a:endParaRPr>
          </a:p>
          <a:p>
            <a:pPr marL="1189355" marR="55880" indent="-227329" algn="just">
              <a:lnSpc>
                <a:spcPct val="150000"/>
              </a:lnSpc>
              <a:spcBef>
                <a:spcPts val="1055"/>
              </a:spcBef>
              <a:buFont typeface="Arial MT"/>
              <a:buChar char="•"/>
              <a:tabLst>
                <a:tab pos="1190625" algn="l"/>
              </a:tabLst>
            </a:pPr>
            <a:r>
              <a:rPr sz="2400" dirty="0">
                <a:latin typeface="Courier New"/>
                <a:cs typeface="Courier New"/>
              </a:rPr>
              <a:t>Uses</a:t>
            </a:r>
            <a:r>
              <a:rPr sz="2400" spc="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Theory</a:t>
            </a:r>
            <a:r>
              <a:rPr sz="2400" spc="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Constraints</a:t>
            </a:r>
            <a:r>
              <a:rPr sz="2400" spc="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(TOC)</a:t>
            </a:r>
            <a:r>
              <a:rPr sz="2400" spc="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which</a:t>
            </a:r>
            <a:r>
              <a:rPr sz="2400" spc="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 	philosophy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developed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160" dirty="0">
                <a:latin typeface="Courier New"/>
                <a:cs typeface="Courier New"/>
              </a:rPr>
              <a:t>by</a:t>
            </a:r>
            <a:r>
              <a:rPr sz="2400" spc="-200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Eliyahu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420" dirty="0">
                <a:latin typeface="Courier New"/>
                <a:cs typeface="Courier New"/>
              </a:rPr>
              <a:t>M.</a:t>
            </a:r>
            <a:r>
              <a:rPr sz="2400" spc="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Goldratt</a:t>
            </a:r>
            <a:r>
              <a:rPr sz="2400" spc="-35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and</a:t>
            </a:r>
            <a:r>
              <a:rPr sz="2400" spc="-2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introduced</a:t>
            </a:r>
            <a:r>
              <a:rPr sz="2400" spc="-13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in 	</a:t>
            </a:r>
            <a:r>
              <a:rPr sz="2400" spc="-10" dirty="0">
                <a:latin typeface="Courier New"/>
                <a:cs typeface="Courier New"/>
              </a:rPr>
              <a:t>his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book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Goal.</a:t>
            </a:r>
            <a:endParaRPr sz="2400" dirty="0">
              <a:latin typeface="Courier New"/>
              <a:cs typeface="Courier New"/>
            </a:endParaRPr>
          </a:p>
          <a:p>
            <a:pPr marL="1189355" indent="-227329">
              <a:lnSpc>
                <a:spcPct val="100000"/>
              </a:lnSpc>
              <a:spcBef>
                <a:spcPts val="2430"/>
              </a:spcBef>
              <a:buFont typeface="Arial MT"/>
              <a:buChar char="•"/>
              <a:tabLst>
                <a:tab pos="1189355" algn="l"/>
              </a:tabLst>
            </a:pPr>
            <a:r>
              <a:rPr sz="2400" dirty="0">
                <a:latin typeface="Courier New"/>
                <a:cs typeface="Courier New"/>
              </a:rPr>
              <a:t>Attempts</a:t>
            </a:r>
            <a:r>
              <a:rPr sz="2400" spc="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minimize</a:t>
            </a:r>
            <a:r>
              <a:rPr sz="2400" spc="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multitasking</a:t>
            </a:r>
            <a:r>
              <a:rPr sz="2400" spc="-1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When</a:t>
            </a:r>
            <a:r>
              <a:rPr sz="2400" spc="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resource</a:t>
            </a:r>
            <a:r>
              <a:rPr sz="2400" spc="1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works</a:t>
            </a:r>
            <a:r>
              <a:rPr sz="2400" spc="130" dirty="0">
                <a:latin typeface="Courier New"/>
                <a:cs typeface="Courier New"/>
              </a:rPr>
              <a:t> </a:t>
            </a:r>
            <a:r>
              <a:rPr sz="2400" spc="-25" dirty="0" smtClean="0">
                <a:latin typeface="Courier New"/>
                <a:cs typeface="Courier New"/>
              </a:rPr>
              <a:t>on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Critical</a:t>
            </a:r>
            <a:r>
              <a:rPr spc="-1235" dirty="0"/>
              <a:t> </a:t>
            </a:r>
            <a:r>
              <a:rPr spc="-10" dirty="0"/>
              <a:t>Chain</a:t>
            </a:r>
            <a:r>
              <a:rPr spc="-1270" dirty="0"/>
              <a:t> </a:t>
            </a:r>
            <a:r>
              <a:rPr spc="-10" dirty="0"/>
              <a:t>Scheduling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05380"/>
            <a:ext cx="10899140" cy="3359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buffer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is</a:t>
            </a:r>
            <a:r>
              <a:rPr sz="2200" spc="-70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additional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time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complete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70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task.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ourier New"/>
                <a:cs typeface="Courier New"/>
              </a:rPr>
              <a:t>Murphy’s</a:t>
            </a:r>
            <a:r>
              <a:rPr sz="2200" spc="-38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Law</a:t>
            </a:r>
            <a:r>
              <a:rPr sz="2200" spc="-38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states</a:t>
            </a:r>
            <a:r>
              <a:rPr sz="2200" spc="-36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that</a:t>
            </a:r>
            <a:r>
              <a:rPr sz="2200" spc="-37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if</a:t>
            </a:r>
            <a:r>
              <a:rPr sz="2200" spc="50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something</a:t>
            </a:r>
            <a:r>
              <a:rPr sz="2200" spc="-36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can</a:t>
            </a:r>
            <a:r>
              <a:rPr sz="2200" spc="-39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go</a:t>
            </a:r>
            <a:r>
              <a:rPr sz="2200" spc="509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wrong,</a:t>
            </a:r>
            <a:r>
              <a:rPr sz="2200" spc="-28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it</a:t>
            </a:r>
            <a:r>
              <a:rPr sz="2200" spc="50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will</a:t>
            </a:r>
            <a:endParaRPr sz="22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790"/>
              </a:spcBef>
            </a:pPr>
            <a:r>
              <a:rPr sz="2200" spc="-10" dirty="0">
                <a:latin typeface="Courier New"/>
                <a:cs typeface="Courier New"/>
              </a:rPr>
              <a:t>Parkinson’s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Law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states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that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work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expands</a:t>
            </a:r>
            <a:r>
              <a:rPr sz="2200" spc="-6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fill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time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allowed.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In</a:t>
            </a:r>
            <a:r>
              <a:rPr sz="2200" spc="-39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traditional</a:t>
            </a:r>
            <a:r>
              <a:rPr sz="2200" spc="-380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estimates,</a:t>
            </a:r>
            <a:r>
              <a:rPr sz="2200" spc="-385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people</a:t>
            </a:r>
            <a:r>
              <a:rPr sz="2200" spc="-409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often</a:t>
            </a:r>
            <a:r>
              <a:rPr sz="2200" spc="-235" dirty="0">
                <a:latin typeface="Courier New"/>
                <a:cs typeface="Courier New"/>
              </a:rPr>
              <a:t> </a:t>
            </a:r>
            <a:r>
              <a:rPr sz="2200" spc="-85" dirty="0">
                <a:latin typeface="Courier New"/>
                <a:cs typeface="Courier New"/>
              </a:rPr>
              <a:t>add</a:t>
            </a:r>
            <a:r>
              <a:rPr sz="2200" spc="-48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535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buffer</a:t>
            </a:r>
            <a:r>
              <a:rPr sz="2200" spc="-400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to</a:t>
            </a:r>
            <a:r>
              <a:rPr sz="2200" spc="-434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each</a:t>
            </a:r>
            <a:r>
              <a:rPr sz="2200" spc="-33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task</a:t>
            </a:r>
            <a:r>
              <a:rPr sz="2200" spc="-36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and</a:t>
            </a:r>
            <a:endParaRPr sz="22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795"/>
              </a:spcBef>
            </a:pPr>
            <a:r>
              <a:rPr sz="2200" spc="-10" dirty="0">
                <a:latin typeface="Courier New"/>
                <a:cs typeface="Courier New"/>
              </a:rPr>
              <a:t>use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it</a:t>
            </a:r>
            <a:r>
              <a:rPr sz="2200" spc="-66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if</a:t>
            </a:r>
            <a:r>
              <a:rPr sz="2200" spc="-6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it’s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needed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or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not.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77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Critical</a:t>
            </a:r>
            <a:r>
              <a:rPr sz="2200" spc="-409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chain</a:t>
            </a:r>
            <a:r>
              <a:rPr sz="2200" spc="-434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scheduling</a:t>
            </a:r>
            <a:r>
              <a:rPr sz="2200" spc="-415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removes</a:t>
            </a:r>
            <a:r>
              <a:rPr sz="2200" spc="-434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buffers</a:t>
            </a:r>
            <a:r>
              <a:rPr sz="2200" spc="-409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from</a:t>
            </a:r>
            <a:r>
              <a:rPr sz="2200" spc="-459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individual</a:t>
            </a:r>
            <a:r>
              <a:rPr sz="2200" spc="-5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tasks</a:t>
            </a:r>
            <a:r>
              <a:rPr sz="2200" spc="-35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and</a:t>
            </a:r>
            <a:endParaRPr sz="22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795"/>
              </a:spcBef>
            </a:pPr>
            <a:r>
              <a:rPr sz="2200" spc="-10" dirty="0">
                <a:latin typeface="Courier New"/>
                <a:cs typeface="Courier New"/>
              </a:rPr>
              <a:t>instead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creates: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13553" y="5466689"/>
            <a:ext cx="6950075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spc="-20" dirty="0">
                <a:latin typeface="Courier New"/>
                <a:cs typeface="Courier New"/>
              </a:rPr>
              <a:t>additional</a:t>
            </a:r>
            <a:r>
              <a:rPr sz="2200" spc="-2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time</a:t>
            </a:r>
            <a:r>
              <a:rPr sz="2200" spc="-229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added</a:t>
            </a:r>
            <a:r>
              <a:rPr sz="2200" spc="-1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before</a:t>
            </a:r>
            <a:r>
              <a:rPr sz="2200" spc="-20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204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project’s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69" y="5366972"/>
            <a:ext cx="8771255" cy="148145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598295" indent="-267970">
              <a:lnSpc>
                <a:spcPct val="100000"/>
              </a:lnSpc>
              <a:spcBef>
                <a:spcPts val="894"/>
              </a:spcBef>
              <a:buFont typeface="Wingdings"/>
              <a:buChar char=""/>
              <a:tabLst>
                <a:tab pos="1598295" algn="l"/>
              </a:tabLst>
            </a:pPr>
            <a:r>
              <a:rPr sz="2200" b="1" dirty="0">
                <a:latin typeface="Courier New"/>
                <a:cs typeface="Courier New"/>
              </a:rPr>
              <a:t>Project</a:t>
            </a:r>
            <a:r>
              <a:rPr sz="2200" b="1" spc="-2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Buffers</a:t>
            </a:r>
            <a:r>
              <a:rPr sz="2200" b="1" spc="-3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or</a:t>
            </a:r>
            <a:endParaRPr sz="2200" dirty="0">
              <a:latin typeface="Courier New"/>
              <a:cs typeface="Courier New"/>
            </a:endParaRPr>
          </a:p>
          <a:p>
            <a:pPr marL="1598295">
              <a:lnSpc>
                <a:spcPct val="100000"/>
              </a:lnSpc>
              <a:spcBef>
                <a:spcPts val="795"/>
              </a:spcBef>
            </a:pPr>
            <a:r>
              <a:rPr sz="2200" spc="-10" dirty="0">
                <a:latin typeface="Courier New"/>
                <a:cs typeface="Courier New"/>
              </a:rPr>
              <a:t>due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date.</a:t>
            </a:r>
            <a:endParaRPr sz="2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45"/>
              </a:spcBef>
            </a:pPr>
            <a:r>
              <a:rPr sz="1200" dirty="0">
                <a:latin typeface="Arial MT"/>
                <a:cs typeface="Arial MT"/>
              </a:rPr>
              <a:t>This</a:t>
            </a:r>
            <a:r>
              <a:rPr sz="1200" spc="55" dirty="0">
                <a:latin typeface="Arial MT"/>
                <a:cs typeface="Arial MT"/>
              </a:rPr>
              <a:t> </a:t>
            </a:r>
            <a:r>
              <a:rPr sz="1200" dirty="0" err="1" smtClean="0">
                <a:latin typeface="Arial MT"/>
                <a:cs typeface="Arial MT"/>
              </a:rPr>
              <a:t>Presentation</a:t>
            </a:r>
            <a:r>
              <a:rPr sz="1200" spc="-370" dirty="0" err="1" smtClean="0">
                <a:latin typeface="Arial MT"/>
                <a:cs typeface="Arial MT"/>
              </a:rPr>
              <a:t>is</a:t>
            </a:r>
            <a:r>
              <a:rPr sz="3300" spc="-555" baseline="3787" dirty="0" err="1" smtClean="0">
                <a:latin typeface="Wingdings"/>
                <a:cs typeface="Wingdings"/>
              </a:rPr>
              <a:t></a:t>
            </a:r>
            <a:r>
              <a:rPr sz="1200" spc="-370" dirty="0" err="1">
                <a:latin typeface="Arial MT"/>
                <a:cs typeface="Arial MT"/>
              </a:rPr>
              <a:t>mai</a:t>
            </a:r>
            <a:r>
              <a:rPr sz="3300" b="1" spc="-555" baseline="3787" dirty="0" err="1">
                <a:latin typeface="Courier New"/>
                <a:cs typeface="Courier New"/>
              </a:rPr>
              <a:t>F</a:t>
            </a:r>
            <a:r>
              <a:rPr sz="1200" spc="-370" dirty="0" err="1">
                <a:latin typeface="Arial MT"/>
                <a:cs typeface="Arial MT"/>
              </a:rPr>
              <a:t>nly</a:t>
            </a:r>
            <a:r>
              <a:rPr sz="3300" b="1" spc="-555" baseline="3787" dirty="0" err="1">
                <a:latin typeface="Courier New"/>
                <a:cs typeface="Courier New"/>
              </a:rPr>
              <a:t>e</a:t>
            </a:r>
            <a:r>
              <a:rPr sz="1200" spc="-370" dirty="0" err="1">
                <a:latin typeface="Arial MT"/>
                <a:cs typeface="Arial MT"/>
              </a:rPr>
              <a:t>d</a:t>
            </a:r>
            <a:r>
              <a:rPr sz="3300" b="1" spc="-555" baseline="3787" dirty="0" err="1">
                <a:latin typeface="Courier New"/>
                <a:cs typeface="Courier New"/>
              </a:rPr>
              <a:t>e</a:t>
            </a:r>
            <a:r>
              <a:rPr sz="1200" spc="-370" dirty="0" err="1">
                <a:latin typeface="Arial MT"/>
                <a:cs typeface="Arial MT"/>
              </a:rPr>
              <a:t>ep</a:t>
            </a:r>
            <a:r>
              <a:rPr sz="3300" b="1" spc="-555" baseline="3787" dirty="0" err="1">
                <a:latin typeface="Courier New"/>
                <a:cs typeface="Courier New"/>
              </a:rPr>
              <a:t>d</a:t>
            </a:r>
            <a:r>
              <a:rPr sz="1200" spc="-370" dirty="0" err="1">
                <a:latin typeface="Arial MT"/>
                <a:cs typeface="Arial MT"/>
              </a:rPr>
              <a:t>en</a:t>
            </a:r>
            <a:r>
              <a:rPr sz="3300" b="1" spc="-555" baseline="3787" dirty="0" err="1">
                <a:latin typeface="Courier New"/>
                <a:cs typeface="Courier New"/>
              </a:rPr>
              <a:t>i</a:t>
            </a:r>
            <a:r>
              <a:rPr sz="1200" spc="-370" dirty="0" err="1">
                <a:latin typeface="Arial MT"/>
                <a:cs typeface="Arial MT"/>
              </a:rPr>
              <a:t>de</a:t>
            </a:r>
            <a:r>
              <a:rPr sz="3300" b="1" spc="-555" baseline="3787" dirty="0" err="1">
                <a:latin typeface="Courier New"/>
                <a:cs typeface="Courier New"/>
              </a:rPr>
              <a:t>n</a:t>
            </a:r>
            <a:r>
              <a:rPr sz="1200" spc="-370" dirty="0" err="1">
                <a:latin typeface="Arial MT"/>
                <a:cs typeface="Arial MT"/>
              </a:rPr>
              <a:t>nt</a:t>
            </a:r>
            <a:r>
              <a:rPr sz="3300" b="1" spc="-555" baseline="3787" dirty="0" err="1">
                <a:latin typeface="Courier New"/>
                <a:cs typeface="Courier New"/>
              </a:rPr>
              <a:t>g</a:t>
            </a:r>
            <a:r>
              <a:rPr sz="1200" spc="-370" dirty="0" err="1">
                <a:latin typeface="Arial MT"/>
                <a:cs typeface="Arial MT"/>
              </a:rPr>
              <a:t>on</a:t>
            </a:r>
            <a:r>
              <a:rPr sz="1200" spc="10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t</a:t>
            </a:r>
            <a:r>
              <a:rPr sz="1200" spc="-15" dirty="0">
                <a:latin typeface="Arial MT"/>
                <a:cs typeface="Arial MT"/>
              </a:rPr>
              <a:t>h</a:t>
            </a:r>
            <a:r>
              <a:rPr sz="3300" b="1" spc="-1964" baseline="3787" dirty="0">
                <a:latin typeface="Courier New"/>
                <a:cs typeface="Courier New"/>
              </a:rPr>
              <a:t>B</a:t>
            </a:r>
            <a:r>
              <a:rPr sz="1200" dirty="0">
                <a:latin typeface="Arial MT"/>
                <a:cs typeface="Arial MT"/>
              </a:rPr>
              <a:t>e</a:t>
            </a:r>
            <a:r>
              <a:rPr sz="1200" spc="100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t</a:t>
            </a:r>
            <a:r>
              <a:rPr sz="1200" spc="-670" dirty="0">
                <a:latin typeface="Arial MT"/>
                <a:cs typeface="Arial MT"/>
              </a:rPr>
              <a:t>e</a:t>
            </a:r>
            <a:r>
              <a:rPr sz="3300" b="1" spc="-1012" baseline="3787" dirty="0">
                <a:latin typeface="Courier New"/>
                <a:cs typeface="Courier New"/>
              </a:rPr>
              <a:t>u</a:t>
            </a:r>
            <a:r>
              <a:rPr sz="1200" spc="-40" dirty="0">
                <a:latin typeface="Arial MT"/>
                <a:cs typeface="Arial MT"/>
              </a:rPr>
              <a:t>x</a:t>
            </a:r>
            <a:r>
              <a:rPr sz="1200" spc="-270" dirty="0">
                <a:latin typeface="Arial MT"/>
                <a:cs typeface="Arial MT"/>
              </a:rPr>
              <a:t>t</a:t>
            </a:r>
            <a:r>
              <a:rPr sz="3300" b="1" spc="-1635" baseline="3787" dirty="0">
                <a:latin typeface="Courier New"/>
                <a:cs typeface="Courier New"/>
              </a:rPr>
              <a:t>f</a:t>
            </a:r>
            <a:r>
              <a:rPr sz="1200" spc="-10" dirty="0">
                <a:latin typeface="Arial MT"/>
                <a:cs typeface="Arial MT"/>
              </a:rPr>
              <a:t>b</a:t>
            </a:r>
            <a:r>
              <a:rPr sz="1200" spc="-275" dirty="0">
                <a:latin typeface="Arial MT"/>
                <a:cs typeface="Arial MT"/>
              </a:rPr>
              <a:t>o</a:t>
            </a:r>
            <a:r>
              <a:rPr sz="3300" b="1" spc="-1612" baseline="3787" dirty="0">
                <a:latin typeface="Courier New"/>
                <a:cs typeface="Courier New"/>
              </a:rPr>
              <a:t>f</a:t>
            </a:r>
            <a:r>
              <a:rPr sz="1200" spc="-5" dirty="0">
                <a:latin typeface="Arial MT"/>
                <a:cs typeface="Arial MT"/>
              </a:rPr>
              <a:t>o</a:t>
            </a:r>
            <a:r>
              <a:rPr sz="1200" spc="-229" dirty="0">
                <a:latin typeface="Arial MT"/>
                <a:cs typeface="Arial MT"/>
              </a:rPr>
              <a:t>k</a:t>
            </a:r>
            <a:r>
              <a:rPr sz="3300" b="1" spc="-1679" baseline="3787" dirty="0">
                <a:latin typeface="Courier New"/>
                <a:cs typeface="Courier New"/>
              </a:rPr>
              <a:t>e</a:t>
            </a:r>
            <a:r>
              <a:rPr sz="1200" spc="-10" dirty="0">
                <a:latin typeface="Arial MT"/>
                <a:cs typeface="Arial MT"/>
              </a:rPr>
              <a:t>:</a:t>
            </a:r>
            <a:r>
              <a:rPr sz="1200" spc="17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I</a:t>
            </a:r>
            <a:r>
              <a:rPr sz="1200" spc="-615" dirty="0">
                <a:latin typeface="Arial MT"/>
                <a:cs typeface="Arial MT"/>
              </a:rPr>
              <a:t>n</a:t>
            </a:r>
            <a:r>
              <a:rPr sz="3300" b="1" spc="-1102" baseline="3787" dirty="0">
                <a:latin typeface="Courier New"/>
                <a:cs typeface="Courier New"/>
              </a:rPr>
              <a:t>r</a:t>
            </a:r>
            <a:r>
              <a:rPr sz="1200" spc="-20" dirty="0">
                <a:latin typeface="Arial MT"/>
                <a:cs typeface="Arial MT"/>
              </a:rPr>
              <a:t>f</a:t>
            </a:r>
            <a:r>
              <a:rPr sz="1200" spc="-275" dirty="0">
                <a:latin typeface="Arial MT"/>
                <a:cs typeface="Arial MT"/>
              </a:rPr>
              <a:t>o</a:t>
            </a:r>
            <a:r>
              <a:rPr sz="3300" b="1" spc="-1604" baseline="3787" dirty="0">
                <a:latin typeface="Courier New"/>
                <a:cs typeface="Courier New"/>
              </a:rPr>
              <a:t>s</a:t>
            </a:r>
            <a:r>
              <a:rPr sz="1200" spc="-5" dirty="0">
                <a:latin typeface="Arial MT"/>
                <a:cs typeface="Arial MT"/>
              </a:rPr>
              <a:t>r</a:t>
            </a:r>
            <a:r>
              <a:rPr sz="1200" spc="-55" dirty="0">
                <a:latin typeface="Arial MT"/>
                <a:cs typeface="Arial MT"/>
              </a:rPr>
              <a:t>m</a:t>
            </a:r>
            <a:r>
              <a:rPr sz="1200" spc="-10" dirty="0">
                <a:latin typeface="Arial MT"/>
                <a:cs typeface="Arial MT"/>
              </a:rPr>
              <a:t>at</a:t>
            </a:r>
            <a:r>
              <a:rPr sz="1200" spc="-120" dirty="0">
                <a:latin typeface="Arial MT"/>
                <a:cs typeface="Arial MT"/>
              </a:rPr>
              <a:t>i</a:t>
            </a:r>
            <a:r>
              <a:rPr sz="3300" spc="-1814" baseline="3787" dirty="0">
                <a:latin typeface="Courier New"/>
                <a:cs typeface="Courier New"/>
              </a:rPr>
              <a:t>o</a:t>
            </a:r>
            <a:r>
              <a:rPr sz="1200" spc="-15" dirty="0">
                <a:latin typeface="Arial MT"/>
                <a:cs typeface="Arial MT"/>
              </a:rPr>
              <a:t>o</a:t>
            </a:r>
            <a:r>
              <a:rPr sz="1200" spc="-130" dirty="0">
                <a:latin typeface="Arial MT"/>
                <a:cs typeface="Arial MT"/>
              </a:rPr>
              <a:t>n</a:t>
            </a:r>
            <a:r>
              <a:rPr sz="3300" spc="-1350" baseline="3787" dirty="0">
                <a:latin typeface="Courier New"/>
                <a:cs typeface="Courier New"/>
              </a:rPr>
              <a:t>r</a:t>
            </a:r>
            <a:r>
              <a:rPr sz="1200" spc="-20" dirty="0">
                <a:latin typeface="Arial MT"/>
                <a:cs typeface="Arial MT"/>
              </a:rPr>
              <a:t>t</a:t>
            </a:r>
            <a:r>
              <a:rPr sz="1200" spc="-10" dirty="0">
                <a:latin typeface="Arial MT"/>
                <a:cs typeface="Arial MT"/>
              </a:rPr>
              <a:t>e</a:t>
            </a:r>
            <a:r>
              <a:rPr sz="1200" spc="-15" dirty="0">
                <a:latin typeface="Arial MT"/>
                <a:cs typeface="Arial MT"/>
              </a:rPr>
              <a:t>ch</a:t>
            </a:r>
            <a:r>
              <a:rPr sz="1200" spc="-420" dirty="0">
                <a:latin typeface="Arial MT"/>
                <a:cs typeface="Arial MT"/>
              </a:rPr>
              <a:t>n</a:t>
            </a:r>
            <a:r>
              <a:rPr sz="3300" spc="-1395" baseline="3787" dirty="0">
                <a:latin typeface="Courier New"/>
                <a:cs typeface="Courier New"/>
              </a:rPr>
              <a:t>a</a:t>
            </a:r>
            <a:r>
              <a:rPr sz="1200" spc="-15" dirty="0">
                <a:latin typeface="Arial MT"/>
                <a:cs typeface="Arial MT"/>
              </a:rPr>
              <a:t>o</a:t>
            </a:r>
            <a:r>
              <a:rPr sz="1200" spc="-204" dirty="0">
                <a:latin typeface="Arial MT"/>
                <a:cs typeface="Arial MT"/>
              </a:rPr>
              <a:t>l</a:t>
            </a:r>
            <a:r>
              <a:rPr sz="3300" spc="-1679" baseline="3787" dirty="0">
                <a:latin typeface="Courier New"/>
                <a:cs typeface="Courier New"/>
              </a:rPr>
              <a:t>d</a:t>
            </a:r>
            <a:r>
              <a:rPr sz="1200" spc="-15" dirty="0">
                <a:latin typeface="Arial MT"/>
                <a:cs typeface="Arial MT"/>
              </a:rPr>
              <a:t>o</a:t>
            </a:r>
            <a:r>
              <a:rPr sz="1200" spc="-320" dirty="0">
                <a:latin typeface="Arial MT"/>
                <a:cs typeface="Arial MT"/>
              </a:rPr>
              <a:t>g</a:t>
            </a:r>
            <a:r>
              <a:rPr sz="3300" spc="-1575" baseline="3787" dirty="0">
                <a:latin typeface="Courier New"/>
                <a:cs typeface="Courier New"/>
              </a:rPr>
              <a:t>d</a:t>
            </a:r>
            <a:r>
              <a:rPr sz="1200" spc="-10" dirty="0">
                <a:latin typeface="Arial MT"/>
                <a:cs typeface="Arial MT"/>
              </a:rPr>
              <a:t>y</a:t>
            </a:r>
            <a:r>
              <a:rPr sz="1200" spc="35" dirty="0">
                <a:latin typeface="Arial MT"/>
                <a:cs typeface="Arial MT"/>
              </a:rPr>
              <a:t>:</a:t>
            </a:r>
            <a:r>
              <a:rPr sz="3300" spc="-1657" baseline="3787" dirty="0">
                <a:latin typeface="Courier New"/>
                <a:cs typeface="Courier New"/>
              </a:rPr>
              <a:t>i</a:t>
            </a:r>
            <a:r>
              <a:rPr sz="1200" spc="-20" dirty="0">
                <a:latin typeface="Arial MT"/>
                <a:cs typeface="Arial MT"/>
              </a:rPr>
              <a:t>P</a:t>
            </a:r>
            <a:r>
              <a:rPr sz="1200" spc="-140" dirty="0">
                <a:latin typeface="Arial MT"/>
                <a:cs typeface="Arial MT"/>
              </a:rPr>
              <a:t>r</a:t>
            </a:r>
            <a:r>
              <a:rPr sz="3300" spc="-1807" baseline="3787" dirty="0">
                <a:latin typeface="Courier New"/>
                <a:cs typeface="Courier New"/>
              </a:rPr>
              <a:t>t</a:t>
            </a:r>
            <a:r>
              <a:rPr sz="1200" spc="-15" dirty="0">
                <a:latin typeface="Arial MT"/>
                <a:cs typeface="Arial MT"/>
              </a:rPr>
              <a:t>o</a:t>
            </a:r>
            <a:r>
              <a:rPr sz="1200" spc="-35" dirty="0">
                <a:latin typeface="Arial MT"/>
                <a:cs typeface="Arial MT"/>
              </a:rPr>
              <a:t>j</a:t>
            </a:r>
            <a:r>
              <a:rPr sz="1200" spc="-405" dirty="0">
                <a:latin typeface="Arial MT"/>
                <a:cs typeface="Arial MT"/>
              </a:rPr>
              <a:t>e</a:t>
            </a:r>
            <a:r>
              <a:rPr sz="3300" spc="-1417" baseline="3787" dirty="0">
                <a:latin typeface="Courier New"/>
                <a:cs typeface="Courier New"/>
              </a:rPr>
              <a:t>i</a:t>
            </a:r>
            <a:r>
              <a:rPr sz="1200" spc="-10" dirty="0">
                <a:latin typeface="Arial MT"/>
                <a:cs typeface="Arial MT"/>
              </a:rPr>
              <a:t>c</a:t>
            </a:r>
            <a:r>
              <a:rPr sz="1200" spc="-25" dirty="0">
                <a:latin typeface="Arial MT"/>
                <a:cs typeface="Arial MT"/>
              </a:rPr>
              <a:t>t</a:t>
            </a:r>
            <a:r>
              <a:rPr sz="3300" spc="-1447" baseline="3787" dirty="0">
                <a:latin typeface="Courier New"/>
                <a:cs typeface="Courier New"/>
              </a:rPr>
              <a:t>o</a:t>
            </a:r>
            <a:r>
              <a:rPr sz="1200" spc="-60" dirty="0">
                <a:latin typeface="Arial MT"/>
                <a:cs typeface="Arial MT"/>
              </a:rPr>
              <a:t>m</a:t>
            </a:r>
            <a:r>
              <a:rPr sz="3300" spc="-1995" baseline="3787" dirty="0">
                <a:latin typeface="Courier New"/>
                <a:cs typeface="Courier New"/>
              </a:rPr>
              <a:t>n</a:t>
            </a:r>
            <a:r>
              <a:rPr sz="1200" spc="-15" dirty="0">
                <a:latin typeface="Arial MT"/>
                <a:cs typeface="Arial MT"/>
              </a:rPr>
              <a:t>a</a:t>
            </a:r>
            <a:r>
              <a:rPr sz="1200" spc="-40" dirty="0">
                <a:latin typeface="Arial MT"/>
                <a:cs typeface="Arial MT"/>
              </a:rPr>
              <a:t>n</a:t>
            </a:r>
            <a:r>
              <a:rPr sz="3300" spc="-1957" baseline="3787" dirty="0">
                <a:latin typeface="Courier New"/>
                <a:cs typeface="Courier New"/>
              </a:rPr>
              <a:t>a</a:t>
            </a:r>
            <a:r>
              <a:rPr sz="1200" spc="-15" dirty="0">
                <a:latin typeface="Arial MT"/>
                <a:cs typeface="Arial MT"/>
              </a:rPr>
              <a:t>a</a:t>
            </a:r>
            <a:r>
              <a:rPr sz="1200" spc="-55" dirty="0">
                <a:latin typeface="Arial MT"/>
                <a:cs typeface="Arial MT"/>
              </a:rPr>
              <a:t>g</a:t>
            </a:r>
            <a:r>
              <a:rPr sz="3300" spc="-1927" baseline="3787" dirty="0">
                <a:latin typeface="Courier New"/>
                <a:cs typeface="Courier New"/>
              </a:rPr>
              <a:t>l</a:t>
            </a:r>
            <a:r>
              <a:rPr sz="1200" spc="-10" dirty="0">
                <a:latin typeface="Arial MT"/>
                <a:cs typeface="Arial MT"/>
              </a:rPr>
              <a:t>e</a:t>
            </a:r>
            <a:r>
              <a:rPr sz="1200" spc="-50" dirty="0">
                <a:latin typeface="Arial MT"/>
                <a:cs typeface="Arial MT"/>
              </a:rPr>
              <a:t>m</a:t>
            </a:r>
            <a:r>
              <a:rPr sz="1200" spc="-15" dirty="0">
                <a:latin typeface="Arial MT"/>
                <a:cs typeface="Arial MT"/>
              </a:rPr>
              <a:t>e</a:t>
            </a:r>
            <a:r>
              <a:rPr sz="1200" spc="-229" dirty="0">
                <a:latin typeface="Arial MT"/>
                <a:cs typeface="Arial MT"/>
              </a:rPr>
              <a:t>n</a:t>
            </a:r>
            <a:r>
              <a:rPr sz="3300" spc="-1672" baseline="3787" dirty="0">
                <a:latin typeface="Courier New"/>
                <a:cs typeface="Courier New"/>
              </a:rPr>
              <a:t>t</a:t>
            </a:r>
            <a:r>
              <a:rPr sz="1200" spc="-10" dirty="0">
                <a:latin typeface="Arial MT"/>
                <a:cs typeface="Arial MT"/>
              </a:rPr>
              <a:t>t</a:t>
            </a:r>
            <a:r>
              <a:rPr sz="1200" spc="12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(</a:t>
            </a:r>
            <a:r>
              <a:rPr sz="3300" spc="-1860" baseline="3787" dirty="0">
                <a:latin typeface="Courier New"/>
                <a:cs typeface="Courier New"/>
              </a:rPr>
              <a:t>i</a:t>
            </a:r>
            <a:r>
              <a:rPr sz="1200" dirty="0">
                <a:latin typeface="Arial MT"/>
                <a:cs typeface="Arial MT"/>
              </a:rPr>
              <a:t>9</a:t>
            </a:r>
            <a:r>
              <a:rPr sz="1200" spc="-10" dirty="0">
                <a:latin typeface="Arial MT"/>
                <a:cs typeface="Arial MT"/>
              </a:rPr>
              <a:t>t</a:t>
            </a:r>
            <a:r>
              <a:rPr sz="1200" spc="-490" dirty="0">
                <a:latin typeface="Arial MT"/>
                <a:cs typeface="Arial MT"/>
              </a:rPr>
              <a:t>h</a:t>
            </a:r>
            <a:r>
              <a:rPr sz="3300" spc="-787" baseline="3787" dirty="0">
                <a:latin typeface="Courier New"/>
                <a:cs typeface="Courier New"/>
              </a:rPr>
              <a:t>m</a:t>
            </a:r>
            <a:r>
              <a:rPr sz="1200" spc="-175" dirty="0">
                <a:latin typeface="Arial MT"/>
                <a:cs typeface="Arial MT"/>
              </a:rPr>
              <a:t>e</a:t>
            </a:r>
            <a:r>
              <a:rPr sz="3300" spc="-1732" baseline="3787" dirty="0">
                <a:latin typeface="Courier New"/>
                <a:cs typeface="Courier New"/>
              </a:rPr>
              <a:t>e</a:t>
            </a:r>
            <a:r>
              <a:rPr sz="1200" spc="5" dirty="0">
                <a:latin typeface="Arial MT"/>
                <a:cs typeface="Arial MT"/>
              </a:rPr>
              <a:t>d</a:t>
            </a:r>
            <a:r>
              <a:rPr sz="1200" spc="20" dirty="0">
                <a:latin typeface="Arial MT"/>
                <a:cs typeface="Arial MT"/>
              </a:rPr>
              <a:t>i</a:t>
            </a:r>
            <a:r>
              <a:rPr sz="1200" spc="-10" dirty="0">
                <a:latin typeface="Arial MT"/>
                <a:cs typeface="Arial MT"/>
              </a:rPr>
              <a:t>t</a:t>
            </a:r>
            <a:r>
              <a:rPr sz="1200" spc="20" dirty="0">
                <a:latin typeface="Arial MT"/>
                <a:cs typeface="Arial MT"/>
              </a:rPr>
              <a:t>i</a:t>
            </a:r>
            <a:r>
              <a:rPr sz="1200" spc="-5" dirty="0">
                <a:latin typeface="Arial MT"/>
                <a:cs typeface="Arial MT"/>
              </a:rPr>
              <a:t>o</a:t>
            </a:r>
            <a:r>
              <a:rPr sz="1200" spc="-315" dirty="0">
                <a:latin typeface="Arial MT"/>
                <a:cs typeface="Arial MT"/>
              </a:rPr>
              <a:t>n</a:t>
            </a:r>
            <a:r>
              <a:rPr sz="3300" spc="-1507" baseline="3787" dirty="0">
                <a:latin typeface="Courier New"/>
                <a:cs typeface="Courier New"/>
              </a:rPr>
              <a:t>a</a:t>
            </a:r>
            <a:r>
              <a:rPr sz="1200" dirty="0">
                <a:latin typeface="Arial MT"/>
                <a:cs typeface="Arial MT"/>
              </a:rPr>
              <a:t>)</a:t>
            </a:r>
            <a:r>
              <a:rPr sz="1200" spc="15" dirty="0">
                <a:latin typeface="Arial MT"/>
                <a:cs typeface="Arial MT"/>
              </a:rPr>
              <a:t> </a:t>
            </a:r>
            <a:r>
              <a:rPr sz="1200" spc="-520" dirty="0" err="1">
                <a:latin typeface="Arial MT"/>
                <a:cs typeface="Arial MT"/>
              </a:rPr>
              <a:t>b</a:t>
            </a:r>
            <a:r>
              <a:rPr sz="3300" spc="-1214" baseline="3787" dirty="0" err="1">
                <a:latin typeface="Courier New"/>
                <a:cs typeface="Courier New"/>
              </a:rPr>
              <a:t>d</a:t>
            </a:r>
            <a:r>
              <a:rPr sz="1200" dirty="0" err="1">
                <a:latin typeface="Arial MT"/>
                <a:cs typeface="Arial MT"/>
              </a:rPr>
              <a:t>y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3300" spc="-1807" baseline="3787" dirty="0" err="1" smtClean="0">
                <a:latin typeface="Courier New"/>
                <a:cs typeface="Courier New"/>
              </a:rPr>
              <a:t>d</a:t>
            </a:r>
            <a:r>
              <a:rPr sz="1200" spc="-20" dirty="0" err="1" smtClean="0">
                <a:latin typeface="Arial MT"/>
                <a:cs typeface="Arial MT"/>
              </a:rPr>
              <a:t>S</a:t>
            </a:r>
            <a:r>
              <a:rPr sz="1200" spc="-220" dirty="0" err="1" smtClean="0">
                <a:latin typeface="Arial MT"/>
                <a:cs typeface="Arial MT"/>
              </a:rPr>
              <a:t>c</a:t>
            </a:r>
            <a:r>
              <a:rPr sz="3300" spc="-1695" baseline="3787" dirty="0" err="1" smtClean="0">
                <a:latin typeface="Courier New"/>
                <a:cs typeface="Courier New"/>
              </a:rPr>
              <a:t>e</a:t>
            </a:r>
            <a:r>
              <a:rPr sz="1200" spc="-15" dirty="0" err="1" smtClean="0">
                <a:latin typeface="Arial MT"/>
                <a:cs typeface="Arial MT"/>
              </a:rPr>
              <a:t>h</a:t>
            </a:r>
            <a:r>
              <a:rPr sz="1200" spc="-430" dirty="0" err="1" smtClean="0">
                <a:latin typeface="Arial MT"/>
                <a:cs typeface="Arial MT"/>
              </a:rPr>
              <a:t>w</a:t>
            </a:r>
            <a:r>
              <a:rPr sz="3300" spc="-1417" baseline="3787" dirty="0" err="1" smtClean="0">
                <a:latin typeface="Courier New"/>
                <a:cs typeface="Courier New"/>
              </a:rPr>
              <a:t>d</a:t>
            </a:r>
            <a:r>
              <a:rPr sz="1200" spc="-15" dirty="0" err="1" smtClean="0">
                <a:latin typeface="Arial MT"/>
                <a:cs typeface="Arial MT"/>
              </a:rPr>
              <a:t>a</a:t>
            </a:r>
            <a:r>
              <a:rPr sz="1200" spc="10" dirty="0" err="1" smtClean="0">
                <a:latin typeface="Arial MT"/>
                <a:cs typeface="Arial MT"/>
              </a:rPr>
              <a:t>l</a:t>
            </a:r>
            <a:r>
              <a:rPr sz="1200" spc="-5" dirty="0" err="1" smtClean="0">
                <a:latin typeface="Arial MT"/>
                <a:cs typeface="Arial MT"/>
              </a:rPr>
              <a:t>e</a:t>
            </a:r>
            <a:r>
              <a:rPr sz="1200" spc="-240" dirty="0" err="1" smtClean="0">
                <a:latin typeface="Arial MT"/>
                <a:cs typeface="Arial MT"/>
              </a:rPr>
              <a:t>,</a:t>
            </a:r>
            <a:r>
              <a:rPr sz="3300" spc="-1185" baseline="3787" dirty="0" err="1" smtClean="0">
                <a:latin typeface="Courier New"/>
                <a:cs typeface="Courier New"/>
              </a:rPr>
              <a:t>b</a:t>
            </a:r>
            <a:r>
              <a:rPr sz="1200" spc="-135" dirty="0" err="1" smtClean="0">
                <a:latin typeface="Arial MT"/>
                <a:cs typeface="Arial MT"/>
              </a:rPr>
              <a:t>K</a:t>
            </a:r>
            <a:r>
              <a:rPr sz="3300" spc="-1837" baseline="3787" dirty="0" err="1" smtClean="0">
                <a:latin typeface="Courier New"/>
                <a:cs typeface="Courier New"/>
              </a:rPr>
              <a:t>e</a:t>
            </a:r>
            <a:r>
              <a:rPr sz="1200" spc="-25" dirty="0">
                <a:latin typeface="Arial MT"/>
                <a:cs typeface="Arial MT"/>
              </a:rPr>
              <a:t>.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65149" y="6467347"/>
            <a:ext cx="290131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 smtClean="0">
                <a:latin typeface="Courier New"/>
                <a:cs typeface="Courier New"/>
              </a:rPr>
              <a:t>tasks</a:t>
            </a:r>
            <a:r>
              <a:rPr sz="2200" spc="-45" dirty="0" smtClean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on</a:t>
            </a:r>
            <a:r>
              <a:rPr sz="2200" spc="16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the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Program</a:t>
            </a:r>
            <a:r>
              <a:rPr spc="-1225" dirty="0"/>
              <a:t> </a:t>
            </a:r>
            <a:r>
              <a:rPr spc="-10" dirty="0"/>
              <a:t>Evaluation</a:t>
            </a:r>
            <a:r>
              <a:rPr spc="-1270" dirty="0"/>
              <a:t> </a:t>
            </a:r>
            <a:r>
              <a:rPr spc="-10" dirty="0"/>
              <a:t>and</a:t>
            </a:r>
            <a:r>
              <a:rPr spc="-1295" dirty="0"/>
              <a:t> </a:t>
            </a:r>
            <a:r>
              <a:rPr spc="-10" dirty="0"/>
              <a:t>Review Technique</a:t>
            </a:r>
            <a:r>
              <a:rPr spc="-1230" dirty="0"/>
              <a:t> </a:t>
            </a:r>
            <a:r>
              <a:rPr spc="-10" dirty="0"/>
              <a:t>(PERT</a:t>
            </a:r>
            <a:r>
              <a:rPr spc="-1270" dirty="0"/>
              <a:t> </a:t>
            </a:r>
            <a:r>
              <a:rPr spc="-50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12475" cy="4121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17145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latin typeface="Courier New"/>
                <a:cs typeface="Courier New"/>
              </a:rPr>
              <a:t>PER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3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459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n</a:t>
            </a:r>
            <a:r>
              <a:rPr sz="2400" spc="-75" dirty="0">
                <a:latin typeface="Courier New"/>
                <a:cs typeface="Courier New"/>
              </a:rPr>
              <a:t>e</a:t>
            </a:r>
            <a:r>
              <a:rPr sz="2400" spc="-50" dirty="0">
                <a:latin typeface="Courier New"/>
                <a:cs typeface="Courier New"/>
              </a:rPr>
              <a:t>t</a:t>
            </a:r>
            <a:r>
              <a:rPr sz="2400" spc="-25" dirty="0">
                <a:latin typeface="Courier New"/>
                <a:cs typeface="Courier New"/>
              </a:rPr>
              <a:t>w</a:t>
            </a:r>
            <a:r>
              <a:rPr sz="2400" spc="-5" dirty="0">
                <a:latin typeface="Courier New"/>
                <a:cs typeface="Courier New"/>
              </a:rPr>
              <a:t>or</a:t>
            </a:r>
            <a:r>
              <a:rPr sz="2400" dirty="0">
                <a:latin typeface="Courier New"/>
                <a:cs typeface="Courier New"/>
              </a:rPr>
              <a:t>k</a:t>
            </a:r>
            <a:r>
              <a:rPr sz="2400" spc="-5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analysis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spc="-50" dirty="0">
                <a:latin typeface="Courier New"/>
                <a:cs typeface="Courier New"/>
              </a:rPr>
              <a:t>e</a:t>
            </a:r>
            <a:r>
              <a:rPr sz="2400" spc="-25" dirty="0">
                <a:latin typeface="Courier New"/>
                <a:cs typeface="Courier New"/>
              </a:rPr>
              <a:t>ch</a:t>
            </a:r>
            <a:r>
              <a:rPr sz="2400" spc="-5" dirty="0">
                <a:latin typeface="Courier New"/>
                <a:cs typeface="Courier New"/>
              </a:rPr>
              <a:t>niq</a:t>
            </a:r>
            <a:r>
              <a:rPr sz="2400" spc="-25" dirty="0">
                <a:latin typeface="Courier New"/>
                <a:cs typeface="Courier New"/>
              </a:rPr>
              <a:t>u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u</a:t>
            </a:r>
            <a:r>
              <a:rPr sz="2400" spc="-50" dirty="0">
                <a:latin typeface="Courier New"/>
                <a:cs typeface="Courier New"/>
              </a:rPr>
              <a:t>s</a:t>
            </a:r>
            <a:r>
              <a:rPr sz="2400" spc="-25" dirty="0">
                <a:latin typeface="Courier New"/>
                <a:cs typeface="Courier New"/>
              </a:rPr>
              <a:t>e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dirty="0">
                <a:latin typeface="Courier New"/>
                <a:cs typeface="Courier New"/>
              </a:rPr>
              <a:t>o</a:t>
            </a:r>
            <a:r>
              <a:rPr sz="2400" spc="-36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e</a:t>
            </a:r>
            <a:r>
              <a:rPr sz="2400" spc="-50" dirty="0">
                <a:latin typeface="Courier New"/>
                <a:cs typeface="Courier New"/>
              </a:rPr>
              <a:t>s</a:t>
            </a:r>
            <a:r>
              <a:rPr sz="2400" spc="-5" dirty="0">
                <a:latin typeface="Courier New"/>
                <a:cs typeface="Courier New"/>
              </a:rPr>
              <a:t>ti</a:t>
            </a:r>
            <a:r>
              <a:rPr sz="2400" spc="20" dirty="0">
                <a:latin typeface="Courier New"/>
                <a:cs typeface="Courier New"/>
              </a:rPr>
              <a:t>mat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spc="-170" dirty="0">
                <a:latin typeface="Courier New"/>
                <a:cs typeface="Courier New"/>
              </a:rPr>
              <a:t>p</a:t>
            </a:r>
            <a:r>
              <a:rPr sz="2400" spc="-75" dirty="0">
                <a:latin typeface="Courier New"/>
                <a:cs typeface="Courier New"/>
              </a:rPr>
              <a:t>r</a:t>
            </a:r>
            <a:r>
              <a:rPr sz="2400" spc="-25" dirty="0">
                <a:latin typeface="Courier New"/>
                <a:cs typeface="Courier New"/>
              </a:rPr>
              <a:t>o</a:t>
            </a:r>
            <a:r>
              <a:rPr sz="2400" spc="-5" dirty="0">
                <a:latin typeface="Courier New"/>
                <a:cs typeface="Courier New"/>
              </a:rPr>
              <a:t>ject 	duratio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24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w</a:t>
            </a:r>
            <a:r>
              <a:rPr sz="2400" spc="-50" dirty="0">
                <a:latin typeface="Courier New"/>
                <a:cs typeface="Courier New"/>
              </a:rPr>
              <a:t>h</a:t>
            </a:r>
            <a:r>
              <a:rPr sz="2400" spc="-25" dirty="0">
                <a:latin typeface="Courier New"/>
                <a:cs typeface="Courier New"/>
              </a:rPr>
              <a:t>e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spc="-50" dirty="0">
                <a:latin typeface="Courier New"/>
                <a:cs typeface="Courier New"/>
              </a:rPr>
              <a:t>h</a:t>
            </a:r>
            <a:r>
              <a:rPr sz="2400" spc="-75" dirty="0">
                <a:latin typeface="Courier New"/>
                <a:cs typeface="Courier New"/>
              </a:rPr>
              <a:t>e</a:t>
            </a:r>
            <a:r>
              <a:rPr sz="2400" spc="-5" dirty="0">
                <a:latin typeface="Courier New"/>
                <a:cs typeface="Courier New"/>
              </a:rPr>
              <a:t>r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409" dirty="0">
                <a:latin typeface="Courier New"/>
                <a:cs typeface="Courier New"/>
              </a:rPr>
              <a:t> </a:t>
            </a:r>
            <a:r>
              <a:rPr sz="2400" spc="-120" dirty="0">
                <a:latin typeface="Courier New"/>
                <a:cs typeface="Courier New"/>
              </a:rPr>
              <a:t>h</a:t>
            </a:r>
            <a:r>
              <a:rPr sz="2400" spc="-70" dirty="0">
                <a:latin typeface="Courier New"/>
                <a:cs typeface="Courier New"/>
              </a:rPr>
              <a:t>i</a:t>
            </a:r>
            <a:r>
              <a:rPr sz="2400" spc="-50" dirty="0">
                <a:latin typeface="Courier New"/>
                <a:cs typeface="Courier New"/>
              </a:rPr>
              <a:t>g</a:t>
            </a:r>
            <a:r>
              <a:rPr sz="2400" dirty="0">
                <a:latin typeface="Courier New"/>
                <a:cs typeface="Courier New"/>
              </a:rPr>
              <a:t>h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d</a:t>
            </a:r>
            <a:r>
              <a:rPr sz="2400" spc="-50" dirty="0">
                <a:latin typeface="Courier New"/>
                <a:cs typeface="Courier New"/>
              </a:rPr>
              <a:t>e</a:t>
            </a:r>
            <a:r>
              <a:rPr sz="2400" spc="-25" dirty="0">
                <a:latin typeface="Courier New"/>
                <a:cs typeface="Courier New"/>
              </a:rPr>
              <a:t>gre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f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u</a:t>
            </a:r>
            <a:r>
              <a:rPr sz="2400" spc="-50" dirty="0">
                <a:latin typeface="Courier New"/>
                <a:cs typeface="Courier New"/>
              </a:rPr>
              <a:t>n</a:t>
            </a:r>
            <a:r>
              <a:rPr sz="2400" spc="-25" dirty="0">
                <a:latin typeface="Courier New"/>
                <a:cs typeface="Courier New"/>
              </a:rPr>
              <a:t>cer</a:t>
            </a:r>
            <a:r>
              <a:rPr sz="2400" spc="-5" dirty="0">
                <a:latin typeface="Courier New"/>
                <a:cs typeface="Courier New"/>
              </a:rPr>
              <a:t>ta</a:t>
            </a:r>
            <a:r>
              <a:rPr sz="2400" spc="20" dirty="0">
                <a:latin typeface="Courier New"/>
                <a:cs typeface="Courier New"/>
              </a:rPr>
              <a:t>int</a:t>
            </a:r>
            <a:r>
              <a:rPr sz="2400" dirty="0">
                <a:latin typeface="Courier New"/>
                <a:cs typeface="Courier New"/>
              </a:rPr>
              <a:t>y</a:t>
            </a:r>
            <a:r>
              <a:rPr sz="2400" spc="-400" dirty="0">
                <a:latin typeface="Courier New"/>
                <a:cs typeface="Courier New"/>
              </a:rPr>
              <a:t> </a:t>
            </a:r>
            <a:r>
              <a:rPr sz="2400" spc="20" dirty="0">
                <a:latin typeface="Courier New"/>
                <a:cs typeface="Courier New"/>
              </a:rPr>
              <a:t>abou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17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spc="-25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e 	</a:t>
            </a:r>
            <a:r>
              <a:rPr sz="2400" spc="-5" dirty="0">
                <a:latin typeface="Courier New"/>
                <a:cs typeface="Courier New"/>
              </a:rPr>
              <a:t>individua</a:t>
            </a:r>
            <a:r>
              <a:rPr sz="2400" dirty="0">
                <a:latin typeface="Courier New"/>
                <a:cs typeface="Courier New"/>
              </a:rPr>
              <a:t>l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</a:t>
            </a:r>
            <a:r>
              <a:rPr sz="2400" spc="-5" dirty="0">
                <a:latin typeface="Courier New"/>
                <a:cs typeface="Courier New"/>
              </a:rPr>
              <a:t>cti</a:t>
            </a:r>
            <a:r>
              <a:rPr sz="2400" spc="5" dirty="0">
                <a:latin typeface="Courier New"/>
                <a:cs typeface="Courier New"/>
              </a:rPr>
              <a:t>v</a:t>
            </a:r>
            <a:r>
              <a:rPr sz="2400" spc="-5" dirty="0">
                <a:latin typeface="Courier New"/>
                <a:cs typeface="Courier New"/>
              </a:rPr>
              <a:t>it</a:t>
            </a:r>
            <a:r>
              <a:rPr sz="2400" dirty="0">
                <a:latin typeface="Courier New"/>
                <a:cs typeface="Courier New"/>
              </a:rPr>
              <a:t>y</a:t>
            </a:r>
            <a:r>
              <a:rPr sz="2400" spc="-80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duratio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79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estim</a:t>
            </a:r>
            <a:r>
              <a:rPr sz="2400" spc="-25" dirty="0">
                <a:latin typeface="Courier New"/>
                <a:cs typeface="Courier New"/>
              </a:rPr>
              <a:t>a</a:t>
            </a:r>
            <a:r>
              <a:rPr sz="2400" spc="-5" dirty="0">
                <a:latin typeface="Courier New"/>
                <a:cs typeface="Courier New"/>
              </a:rPr>
              <a:t>te</a:t>
            </a:r>
            <a:r>
              <a:rPr sz="2400" dirty="0">
                <a:latin typeface="Courier New"/>
                <a:cs typeface="Courier New"/>
              </a:rPr>
              <a:t>s.</a:t>
            </a:r>
            <a:endParaRPr sz="2400">
              <a:latin typeface="Courier New"/>
              <a:cs typeface="Courier New"/>
            </a:endParaRPr>
          </a:p>
          <a:p>
            <a:pPr marL="240029" indent="-227329" algn="just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PERT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uses</a:t>
            </a:r>
            <a:r>
              <a:rPr sz="2400" spc="-79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Probabilistic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Time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Estimates</a:t>
            </a:r>
            <a:endParaRPr sz="2400">
              <a:latin typeface="Courier New"/>
              <a:cs typeface="Courier New"/>
            </a:endParaRPr>
          </a:p>
          <a:p>
            <a:pPr marL="735965" marR="5080" lvl="1" indent="-266700" algn="just">
              <a:lnSpc>
                <a:spcPct val="150000"/>
              </a:lnSpc>
              <a:spcBef>
                <a:spcPts val="985"/>
              </a:spcBef>
              <a:buFont typeface="Arial MT"/>
              <a:buChar char="•"/>
              <a:tabLst>
                <a:tab pos="737870" algn="l"/>
              </a:tabLst>
            </a:pPr>
            <a:r>
              <a:rPr sz="2400" spc="-10" dirty="0">
                <a:latin typeface="Courier New"/>
                <a:cs typeface="Courier New"/>
              </a:rPr>
              <a:t>Duration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estimates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based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180" dirty="0">
                <a:latin typeface="Courier New"/>
                <a:cs typeface="Courier New"/>
              </a:rPr>
              <a:t>on </a:t>
            </a:r>
            <a:r>
              <a:rPr sz="2400" spc="-70" dirty="0">
                <a:latin typeface="Courier New"/>
                <a:cs typeface="Courier New"/>
              </a:rPr>
              <a:t>using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optimistic,</a:t>
            </a:r>
            <a:r>
              <a:rPr sz="2400" spc="-204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most</a:t>
            </a:r>
            <a:r>
              <a:rPr sz="2400" spc="-2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likely, 	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5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pessimistic</a:t>
            </a:r>
            <a:r>
              <a:rPr sz="2400" spc="3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estimates</a:t>
            </a:r>
            <a:r>
              <a:rPr sz="2400" spc="5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4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activity</a:t>
            </a:r>
            <a:r>
              <a:rPr sz="2400" spc="5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durations,</a:t>
            </a:r>
            <a:r>
              <a:rPr sz="2400" spc="-35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or</a:t>
            </a:r>
            <a:r>
              <a:rPr sz="2400" spc="44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a 	</a:t>
            </a:r>
            <a:r>
              <a:rPr sz="2400" spc="-10" dirty="0">
                <a:latin typeface="Courier New"/>
                <a:cs typeface="Courier New"/>
              </a:rPr>
              <a:t>three-point</a:t>
            </a:r>
            <a:r>
              <a:rPr sz="2400" spc="-6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estimate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Program</a:t>
            </a:r>
            <a:r>
              <a:rPr spc="-1225" dirty="0"/>
              <a:t> </a:t>
            </a:r>
            <a:r>
              <a:rPr spc="-10" dirty="0"/>
              <a:t>Evaluation</a:t>
            </a:r>
            <a:r>
              <a:rPr spc="-1270" dirty="0"/>
              <a:t> </a:t>
            </a:r>
            <a:r>
              <a:rPr spc="-10" dirty="0"/>
              <a:t>and</a:t>
            </a:r>
            <a:r>
              <a:rPr spc="-1295" dirty="0"/>
              <a:t> </a:t>
            </a:r>
            <a:r>
              <a:rPr spc="-10" dirty="0"/>
              <a:t>Review Technique</a:t>
            </a:r>
            <a:r>
              <a:rPr spc="-1230" dirty="0"/>
              <a:t> </a:t>
            </a:r>
            <a:r>
              <a:rPr spc="-10" dirty="0"/>
              <a:t>(PERT</a:t>
            </a:r>
            <a:r>
              <a:rPr spc="-1270" dirty="0"/>
              <a:t> </a:t>
            </a:r>
            <a:r>
              <a:rPr spc="-50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33819"/>
            <a:ext cx="10461625" cy="419354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Calibri"/>
                <a:cs typeface="Calibri"/>
              </a:rPr>
              <a:t>PERT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weighted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average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=</a:t>
            </a:r>
            <a:endParaRPr sz="2000">
              <a:latin typeface="Calibri"/>
              <a:cs typeface="Calibri"/>
            </a:endParaRPr>
          </a:p>
          <a:p>
            <a:pPr marL="389890" algn="ctr">
              <a:lnSpc>
                <a:spcPct val="100000"/>
              </a:lnSpc>
              <a:spcBef>
                <a:spcPts val="265"/>
              </a:spcBef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optimistic</a:t>
            </a:r>
            <a:r>
              <a:rPr sz="20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</a:t>
            </a: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+</a:t>
            </a:r>
            <a:r>
              <a:rPr sz="20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4X</a:t>
            </a:r>
            <a:r>
              <a:rPr sz="20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most</a:t>
            </a:r>
            <a:r>
              <a:rPr sz="20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likely</a:t>
            </a:r>
            <a:r>
              <a:rPr sz="20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</a:t>
            </a:r>
            <a:r>
              <a:rPr sz="20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+</a:t>
            </a:r>
            <a:r>
              <a:rPr sz="20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pessimistic</a:t>
            </a:r>
            <a:r>
              <a:rPr sz="2000" u="sng" spc="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</a:t>
            </a:r>
            <a:endParaRPr sz="2000">
              <a:latin typeface="Calibri"/>
              <a:cs typeface="Calibri"/>
            </a:endParaRPr>
          </a:p>
          <a:p>
            <a:pPr marL="386715" algn="ctr">
              <a:lnSpc>
                <a:spcPct val="100000"/>
              </a:lnSpc>
              <a:spcBef>
                <a:spcPts val="290"/>
              </a:spcBef>
            </a:pPr>
            <a:r>
              <a:rPr sz="2000" spc="-50" dirty="0">
                <a:latin typeface="Calibri"/>
                <a:cs typeface="Calibri"/>
              </a:rPr>
              <a:t>6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10" dirty="0">
                <a:latin typeface="Calibri"/>
                <a:cs typeface="Calibri"/>
              </a:rPr>
              <a:t>Example: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2000" dirty="0">
                <a:latin typeface="Calibri"/>
                <a:cs typeface="Calibri"/>
              </a:rPr>
              <a:t>PERT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weighted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average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=</a:t>
            </a:r>
            <a:endParaRPr sz="2000">
              <a:latin typeface="Calibri"/>
              <a:cs typeface="Calibri"/>
            </a:endParaRPr>
          </a:p>
          <a:p>
            <a:pPr marL="447675" algn="ctr">
              <a:lnSpc>
                <a:spcPct val="100000"/>
              </a:lnSpc>
              <a:spcBef>
                <a:spcPts val="290"/>
              </a:spcBef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8</a:t>
            </a:r>
            <a:r>
              <a:rPr sz="20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workdays</a:t>
            </a:r>
            <a:r>
              <a:rPr sz="20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+</a:t>
            </a: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4</a:t>
            </a:r>
            <a:r>
              <a:rPr sz="20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X</a:t>
            </a:r>
            <a:r>
              <a:rPr sz="20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10</a:t>
            </a:r>
            <a:r>
              <a:rPr sz="20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workdays</a:t>
            </a:r>
            <a:r>
              <a:rPr sz="20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+</a:t>
            </a:r>
            <a:r>
              <a:rPr sz="20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24</a:t>
            </a:r>
            <a:r>
              <a:rPr sz="20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workdays</a:t>
            </a:r>
            <a:r>
              <a:rPr sz="20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12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days</a:t>
            </a:r>
            <a:endParaRPr sz="2000">
              <a:latin typeface="Calibri"/>
              <a:cs typeface="Calibri"/>
            </a:endParaRPr>
          </a:p>
          <a:p>
            <a:pPr marL="386715" algn="ctr">
              <a:lnSpc>
                <a:spcPct val="100000"/>
              </a:lnSpc>
              <a:spcBef>
                <a:spcPts val="290"/>
              </a:spcBef>
            </a:pPr>
            <a:r>
              <a:rPr sz="2000" spc="-50" dirty="0">
                <a:latin typeface="Calibri"/>
                <a:cs typeface="Calibri"/>
              </a:rPr>
              <a:t>6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2000" dirty="0">
                <a:latin typeface="Calibri"/>
                <a:cs typeface="Calibri"/>
              </a:rPr>
              <a:t>where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optimistic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8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days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2000" dirty="0">
                <a:latin typeface="Calibri"/>
                <a:cs typeface="Calibri"/>
              </a:rPr>
              <a:t>most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likely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10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days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2000" dirty="0">
                <a:latin typeface="Calibri"/>
                <a:cs typeface="Calibri"/>
              </a:rPr>
              <a:t>pessimistic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24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days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039"/>
              </a:lnSpc>
              <a:spcBef>
                <a:spcPts val="1950"/>
              </a:spcBef>
            </a:pPr>
            <a:r>
              <a:rPr sz="2000" dirty="0">
                <a:latin typeface="Calibri"/>
                <a:cs typeface="Calibri"/>
              </a:rPr>
              <a:t>Therefore,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you’d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12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days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network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diagram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instead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above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039"/>
              </a:lnSpc>
            </a:pPr>
            <a:r>
              <a:rPr sz="2000" spc="-10" dirty="0">
                <a:latin typeface="Calibri"/>
                <a:cs typeface="Calibri"/>
              </a:rPr>
              <a:t>example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Controlling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Schedule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90395"/>
            <a:ext cx="10894695" cy="4813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370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final</a:t>
            </a:r>
            <a:r>
              <a:rPr sz="2200" spc="-40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process</a:t>
            </a:r>
            <a:r>
              <a:rPr sz="2200" spc="-400" dirty="0">
                <a:latin typeface="Courier New"/>
                <a:cs typeface="Courier New"/>
              </a:rPr>
              <a:t> </a:t>
            </a:r>
            <a:r>
              <a:rPr sz="2200" spc="-95" dirty="0">
                <a:latin typeface="Courier New"/>
                <a:cs typeface="Courier New"/>
              </a:rPr>
              <a:t>in</a:t>
            </a:r>
            <a:r>
              <a:rPr sz="2200" spc="-365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project</a:t>
            </a:r>
            <a:r>
              <a:rPr sz="2200" spc="-370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schedule</a:t>
            </a:r>
            <a:r>
              <a:rPr sz="2200" spc="-56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management</a:t>
            </a:r>
            <a:r>
              <a:rPr sz="2200" spc="-370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is</a:t>
            </a:r>
            <a:r>
              <a:rPr sz="2200" spc="-4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controlling</a:t>
            </a:r>
            <a:r>
              <a:rPr sz="2200" spc="-30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the </a:t>
            </a:r>
            <a:r>
              <a:rPr sz="2200" spc="-10" dirty="0">
                <a:latin typeface="Courier New"/>
                <a:cs typeface="Courier New"/>
              </a:rPr>
              <a:t>schedule.</a:t>
            </a:r>
            <a:endParaRPr sz="2200" dirty="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231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Tools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techniques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for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Controlling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Schedule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include:</a:t>
            </a:r>
            <a:endParaRPr sz="2200" dirty="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33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Data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analysis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tools</a:t>
            </a:r>
            <a:endParaRPr sz="2200" dirty="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33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Critical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path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method.</a:t>
            </a:r>
            <a:endParaRPr sz="2200" dirty="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305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management</a:t>
            </a:r>
            <a:r>
              <a:rPr sz="2200" spc="-60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information</a:t>
            </a:r>
            <a:r>
              <a:rPr sz="2200" spc="-60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systems.</a:t>
            </a:r>
            <a:endParaRPr sz="2200" dirty="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33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Resource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optimization.</a:t>
            </a:r>
            <a:endParaRPr sz="2200" dirty="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33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Schedule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compression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Reality</a:t>
            </a:r>
            <a:r>
              <a:rPr spc="-1235" dirty="0"/>
              <a:t> </a:t>
            </a:r>
            <a:r>
              <a:rPr spc="-10" dirty="0"/>
              <a:t>Checks</a:t>
            </a:r>
            <a:r>
              <a:rPr spc="-1270" dirty="0"/>
              <a:t> </a:t>
            </a:r>
            <a:r>
              <a:rPr spc="-10" dirty="0"/>
              <a:t>on</a:t>
            </a:r>
            <a:r>
              <a:rPr spc="-1295" dirty="0"/>
              <a:t> </a:t>
            </a:r>
            <a:r>
              <a:rPr spc="-10" dirty="0"/>
              <a:t>Scheduling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16792"/>
            <a:ext cx="10885805" cy="430022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sz="1900" spc="-10" dirty="0">
                <a:latin typeface="Courier New"/>
                <a:cs typeface="Courier New"/>
              </a:rPr>
              <a:t>One</a:t>
            </a:r>
            <a:r>
              <a:rPr sz="1900" spc="-330" dirty="0">
                <a:latin typeface="Courier New"/>
                <a:cs typeface="Courier New"/>
              </a:rPr>
              <a:t> </a:t>
            </a:r>
            <a:r>
              <a:rPr sz="1900" spc="-30" dirty="0">
                <a:latin typeface="Courier New"/>
                <a:cs typeface="Courier New"/>
              </a:rPr>
              <a:t>of</a:t>
            </a:r>
            <a:r>
              <a:rPr sz="1900" spc="-38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a</a:t>
            </a:r>
            <a:r>
              <a:rPr sz="1900" spc="-465" dirty="0">
                <a:latin typeface="Courier New"/>
                <a:cs typeface="Courier New"/>
              </a:rPr>
              <a:t> </a:t>
            </a:r>
            <a:r>
              <a:rPr sz="1900" spc="-30" dirty="0">
                <a:latin typeface="Courier New"/>
                <a:cs typeface="Courier New"/>
              </a:rPr>
              <a:t>project</a:t>
            </a:r>
            <a:r>
              <a:rPr sz="1900" spc="-31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manager’s</a:t>
            </a:r>
            <a:r>
              <a:rPr sz="1900" spc="-320" dirty="0">
                <a:latin typeface="Courier New"/>
                <a:cs typeface="Courier New"/>
              </a:rPr>
              <a:t> </a:t>
            </a:r>
            <a:r>
              <a:rPr sz="1900" spc="-30" dirty="0">
                <a:latin typeface="Courier New"/>
                <a:cs typeface="Courier New"/>
              </a:rPr>
              <a:t>first</a:t>
            </a:r>
            <a:r>
              <a:rPr sz="1900" spc="-340" dirty="0">
                <a:latin typeface="Courier New"/>
                <a:cs typeface="Courier New"/>
              </a:rPr>
              <a:t> </a:t>
            </a:r>
            <a:r>
              <a:rPr sz="1900" spc="-35" dirty="0">
                <a:latin typeface="Courier New"/>
                <a:cs typeface="Courier New"/>
              </a:rPr>
              <a:t>reality</a:t>
            </a:r>
            <a:r>
              <a:rPr sz="1900" spc="-330" dirty="0">
                <a:latin typeface="Courier New"/>
                <a:cs typeface="Courier New"/>
              </a:rPr>
              <a:t> </a:t>
            </a:r>
            <a:r>
              <a:rPr sz="1900" spc="-35" dirty="0">
                <a:latin typeface="Courier New"/>
                <a:cs typeface="Courier New"/>
              </a:rPr>
              <a:t>checks</a:t>
            </a:r>
            <a:r>
              <a:rPr sz="1900" spc="-330" dirty="0">
                <a:latin typeface="Courier New"/>
                <a:cs typeface="Courier New"/>
              </a:rPr>
              <a:t> </a:t>
            </a:r>
            <a:r>
              <a:rPr sz="1900" spc="-50" dirty="0">
                <a:latin typeface="Courier New"/>
                <a:cs typeface="Courier New"/>
              </a:rPr>
              <a:t>is</a:t>
            </a:r>
            <a:r>
              <a:rPr sz="1900" spc="-365" dirty="0">
                <a:latin typeface="Courier New"/>
                <a:cs typeface="Courier New"/>
              </a:rPr>
              <a:t> </a:t>
            </a:r>
            <a:r>
              <a:rPr sz="1900" spc="-40" dirty="0">
                <a:latin typeface="Courier New"/>
                <a:cs typeface="Courier New"/>
              </a:rPr>
              <a:t>to</a:t>
            </a:r>
            <a:r>
              <a:rPr sz="1900" spc="-395" dirty="0">
                <a:latin typeface="Courier New"/>
                <a:cs typeface="Courier New"/>
              </a:rPr>
              <a:t> </a:t>
            </a:r>
            <a:r>
              <a:rPr sz="1900" spc="-40" dirty="0">
                <a:latin typeface="Courier New"/>
                <a:cs typeface="Courier New"/>
              </a:rPr>
              <a:t>review</a:t>
            </a:r>
            <a:r>
              <a:rPr sz="1900" spc="-315" dirty="0">
                <a:latin typeface="Courier New"/>
                <a:cs typeface="Courier New"/>
              </a:rPr>
              <a:t> </a:t>
            </a:r>
            <a:r>
              <a:rPr sz="1900" spc="-40" dirty="0">
                <a:latin typeface="Courier New"/>
                <a:cs typeface="Courier New"/>
              </a:rPr>
              <a:t>the</a:t>
            </a:r>
            <a:r>
              <a:rPr sz="1900" spc="-365" dirty="0">
                <a:latin typeface="Courier New"/>
                <a:cs typeface="Courier New"/>
              </a:rPr>
              <a:t> </a:t>
            </a:r>
            <a:r>
              <a:rPr sz="1900" spc="-35" dirty="0">
                <a:latin typeface="Courier New"/>
                <a:cs typeface="Courier New"/>
              </a:rPr>
              <a:t>draft</a:t>
            </a:r>
            <a:r>
              <a:rPr sz="1900" spc="-2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schedule</a:t>
            </a:r>
            <a:endParaRPr sz="19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670"/>
              </a:spcBef>
            </a:pPr>
            <a:r>
              <a:rPr sz="1900" spc="-20" dirty="0">
                <a:latin typeface="Courier New"/>
                <a:cs typeface="Courier New"/>
              </a:rPr>
              <a:t>that</a:t>
            </a:r>
            <a:r>
              <a:rPr sz="1900" spc="-54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is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usually</a:t>
            </a:r>
            <a:r>
              <a:rPr sz="1900" spc="-53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included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in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the</a:t>
            </a:r>
            <a:r>
              <a:rPr sz="1900" spc="-54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project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charter</a:t>
            </a:r>
            <a:r>
              <a:rPr sz="1900" spc="-53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(realistic</a:t>
            </a:r>
            <a:r>
              <a:rPr sz="1900" spc="-509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schedule</a:t>
            </a:r>
            <a:r>
              <a:rPr sz="1900" spc="-509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goals).</a:t>
            </a:r>
            <a:endParaRPr sz="190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239395" algn="l"/>
              </a:tabLst>
            </a:pPr>
            <a:r>
              <a:rPr sz="1900" spc="-20" dirty="0">
                <a:latin typeface="Courier New"/>
                <a:cs typeface="Courier New"/>
              </a:rPr>
              <a:t>Another</a:t>
            </a:r>
            <a:r>
              <a:rPr sz="1900" spc="-52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type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of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reality</a:t>
            </a:r>
            <a:r>
              <a:rPr sz="1900" spc="-54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check</a:t>
            </a:r>
            <a:r>
              <a:rPr sz="1900" spc="-54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comes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from</a:t>
            </a:r>
            <a:r>
              <a:rPr sz="1900" spc="-54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progress</a:t>
            </a:r>
            <a:r>
              <a:rPr sz="1900" spc="-53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meetings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with</a:t>
            </a:r>
            <a:r>
              <a:rPr sz="1900" spc="-53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stakeholders.</a:t>
            </a:r>
            <a:endParaRPr sz="19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40029" algn="l"/>
              </a:tabLst>
            </a:pPr>
            <a:r>
              <a:rPr sz="1900" spc="-10" dirty="0">
                <a:latin typeface="Courier New"/>
                <a:cs typeface="Courier New"/>
              </a:rPr>
              <a:t>Alert</a:t>
            </a:r>
            <a:r>
              <a:rPr sz="1900" spc="-57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top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management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well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in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advance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if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there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are</a:t>
            </a:r>
            <a:r>
              <a:rPr sz="1900" spc="-59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schedule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problems.</a:t>
            </a:r>
            <a:endParaRPr sz="19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240029" algn="l"/>
              </a:tabLst>
            </a:pPr>
            <a:r>
              <a:rPr sz="1900" spc="-10" dirty="0">
                <a:latin typeface="Courier New"/>
                <a:cs typeface="Courier New"/>
              </a:rPr>
              <a:t>Project</a:t>
            </a:r>
            <a:r>
              <a:rPr sz="1900" spc="-55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managers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should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use:</a:t>
            </a:r>
            <a:endParaRPr sz="19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80"/>
              </a:spcBef>
              <a:buFont typeface="Wingdings"/>
              <a:buChar char=""/>
              <a:tabLst>
                <a:tab pos="737870" algn="l"/>
              </a:tabLst>
            </a:pPr>
            <a:r>
              <a:rPr sz="1900" spc="-10" dirty="0">
                <a:latin typeface="Courier New"/>
                <a:cs typeface="Courier New"/>
              </a:rPr>
              <a:t>Empowerment</a:t>
            </a:r>
            <a:endParaRPr sz="19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85"/>
              </a:spcBef>
              <a:buFont typeface="Wingdings"/>
              <a:buChar char=""/>
              <a:tabLst>
                <a:tab pos="737870" algn="l"/>
              </a:tabLst>
            </a:pPr>
            <a:r>
              <a:rPr sz="1900" spc="-10" dirty="0">
                <a:latin typeface="Courier New"/>
                <a:cs typeface="Courier New"/>
              </a:rPr>
              <a:t>Incentives</a:t>
            </a:r>
            <a:endParaRPr sz="19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80"/>
              </a:spcBef>
              <a:buFont typeface="Wingdings"/>
              <a:buChar char=""/>
              <a:tabLst>
                <a:tab pos="737870" algn="l"/>
              </a:tabLst>
            </a:pPr>
            <a:r>
              <a:rPr sz="1900" spc="-10" dirty="0">
                <a:latin typeface="Courier New"/>
                <a:cs typeface="Courier New"/>
              </a:rPr>
              <a:t>Discipline</a:t>
            </a:r>
            <a:endParaRPr sz="19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85"/>
              </a:spcBef>
              <a:buFont typeface="Wingdings"/>
              <a:buChar char=""/>
              <a:tabLst>
                <a:tab pos="737870" algn="l"/>
              </a:tabLst>
            </a:pPr>
            <a:r>
              <a:rPr sz="1900" spc="-10" dirty="0">
                <a:latin typeface="Courier New"/>
                <a:cs typeface="Courier New"/>
              </a:rPr>
              <a:t>Negotiation</a:t>
            </a:r>
            <a:endParaRPr sz="1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Using</a:t>
            </a:r>
            <a:r>
              <a:rPr spc="-1220" dirty="0"/>
              <a:t> </a:t>
            </a:r>
            <a:r>
              <a:rPr spc="-10" dirty="0"/>
              <a:t>Software</a:t>
            </a:r>
            <a:r>
              <a:rPr spc="-1275" dirty="0"/>
              <a:t> </a:t>
            </a:r>
            <a:r>
              <a:rPr spc="-10" dirty="0"/>
              <a:t>to</a:t>
            </a:r>
            <a:r>
              <a:rPr spc="-1295" dirty="0"/>
              <a:t> </a:t>
            </a:r>
            <a:r>
              <a:rPr spc="-10" dirty="0"/>
              <a:t>Assist</a:t>
            </a:r>
            <a:r>
              <a:rPr spc="-1295" dirty="0"/>
              <a:t> </a:t>
            </a:r>
            <a:r>
              <a:rPr spc="-10" dirty="0"/>
              <a:t>in</a:t>
            </a:r>
            <a:r>
              <a:rPr spc="-1275" dirty="0"/>
              <a:t> </a:t>
            </a:r>
            <a:r>
              <a:rPr spc="-10" dirty="0"/>
              <a:t>Project Schedule</a:t>
            </a:r>
            <a:r>
              <a:rPr spc="-123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40030" y="1783079"/>
            <a:ext cx="11856085" cy="46551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1255" marR="48895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1152525" algn="l"/>
              </a:tabLst>
            </a:pPr>
            <a:r>
              <a:rPr sz="2400" dirty="0">
                <a:latin typeface="Courier New"/>
                <a:cs typeface="Courier New"/>
              </a:rPr>
              <a:t>Software</a:t>
            </a:r>
            <a:r>
              <a:rPr sz="2400" spc="1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-1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facilitating</a:t>
            </a:r>
            <a:r>
              <a:rPr sz="2400" spc="1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communications</a:t>
            </a:r>
            <a:r>
              <a:rPr sz="2400" spc="4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helps</a:t>
            </a:r>
            <a:r>
              <a:rPr sz="2400" spc="130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people 	exchange</a:t>
            </a:r>
            <a:r>
              <a:rPr sz="2400" spc="-6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schedule-related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information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.</a:t>
            </a:r>
            <a:endParaRPr sz="2400" dirty="0">
              <a:latin typeface="Courier New"/>
              <a:cs typeface="Courier New"/>
            </a:endParaRPr>
          </a:p>
          <a:p>
            <a:pPr marL="1151255" marR="52069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1152525" algn="l"/>
              </a:tabLst>
            </a:pPr>
            <a:r>
              <a:rPr sz="2400" dirty="0">
                <a:latin typeface="Courier New"/>
                <a:cs typeface="Courier New"/>
              </a:rPr>
              <a:t>Decision</a:t>
            </a:r>
            <a:r>
              <a:rPr sz="2400" spc="-7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support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models</a:t>
            </a:r>
            <a:r>
              <a:rPr sz="2400" spc="-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help</a:t>
            </a:r>
            <a:r>
              <a:rPr sz="2400" spc="-1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analyze</a:t>
            </a:r>
            <a:r>
              <a:rPr sz="2400" spc="-75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trade-</a:t>
            </a:r>
            <a:r>
              <a:rPr sz="2400" dirty="0">
                <a:latin typeface="Courier New"/>
                <a:cs typeface="Courier New"/>
              </a:rPr>
              <a:t>offs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that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can</a:t>
            </a:r>
            <a:r>
              <a:rPr sz="2400" spc="-7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be 	</a:t>
            </a:r>
            <a:r>
              <a:rPr sz="2400" spc="-20" dirty="0">
                <a:latin typeface="Courier New"/>
                <a:cs typeface="Courier New"/>
              </a:rPr>
              <a:t>made.</a:t>
            </a:r>
            <a:endParaRPr sz="2400" dirty="0">
              <a:latin typeface="Courier New"/>
              <a:cs typeface="Courier New"/>
            </a:endParaRPr>
          </a:p>
          <a:p>
            <a:pPr marL="1151255" marR="48895" indent="-227329" algn="just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1152525" algn="l"/>
              </a:tabLst>
            </a:pP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9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management</a:t>
            </a:r>
            <a:r>
              <a:rPr sz="2400" spc="-9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software</a:t>
            </a:r>
            <a:r>
              <a:rPr sz="2400" spc="-10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can</a:t>
            </a:r>
            <a:r>
              <a:rPr sz="2400" spc="-3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help</a:t>
            </a:r>
            <a:r>
              <a:rPr sz="2400" spc="-114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in</a:t>
            </a:r>
            <a:r>
              <a:rPr sz="2400" spc="-10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various</a:t>
            </a:r>
            <a:r>
              <a:rPr sz="2400" spc="-70" dirty="0">
                <a:latin typeface="Courier New"/>
                <a:cs typeface="Courier New"/>
              </a:rPr>
              <a:t>  </a:t>
            </a:r>
            <a:r>
              <a:rPr sz="2400" spc="-20" dirty="0">
                <a:latin typeface="Courier New"/>
                <a:cs typeface="Courier New"/>
              </a:rPr>
              <a:t>time 	</a:t>
            </a:r>
            <a:r>
              <a:rPr sz="2400" dirty="0">
                <a:latin typeface="Courier New"/>
                <a:cs typeface="Courier New"/>
              </a:rPr>
              <a:t>management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areas;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such</a:t>
            </a:r>
            <a:r>
              <a:rPr sz="2400" spc="-2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as,</a:t>
            </a:r>
            <a:r>
              <a:rPr sz="2400" spc="-2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draw</a:t>
            </a:r>
            <a:r>
              <a:rPr sz="2400" spc="-2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network</a:t>
            </a:r>
            <a:r>
              <a:rPr sz="2400" spc="-1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diagrams,</a:t>
            </a:r>
            <a:r>
              <a:rPr sz="2400" spc="-1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determine 	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1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critical</a:t>
            </a:r>
            <a:r>
              <a:rPr sz="2400" spc="1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path</a:t>
            </a:r>
            <a:r>
              <a:rPr sz="2400" spc="1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1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project,</a:t>
            </a:r>
            <a:r>
              <a:rPr sz="2400" spc="3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create</a:t>
            </a:r>
            <a:r>
              <a:rPr sz="2400" spc="1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Gantt</a:t>
            </a:r>
            <a:r>
              <a:rPr sz="2400" spc="2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charts,</a:t>
            </a:r>
            <a:r>
              <a:rPr sz="2400" spc="23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and 	</a:t>
            </a:r>
            <a:r>
              <a:rPr sz="2400" spc="-10" dirty="0">
                <a:latin typeface="Courier New"/>
                <a:cs typeface="Courier New"/>
              </a:rPr>
              <a:t>report,</a:t>
            </a:r>
            <a:r>
              <a:rPr sz="2400" spc="-390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Courier New"/>
                <a:cs typeface="Courier New"/>
              </a:rPr>
              <a:t>view,</a:t>
            </a:r>
            <a:r>
              <a:rPr sz="2400" spc="-385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Courier New"/>
                <a:cs typeface="Courier New"/>
              </a:rPr>
              <a:t>and</a:t>
            </a:r>
            <a:r>
              <a:rPr sz="2400" spc="-6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filter</a:t>
            </a:r>
            <a:r>
              <a:rPr sz="2400" spc="-395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specific</a:t>
            </a:r>
            <a:r>
              <a:rPr sz="2400" spc="-42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project</a:t>
            </a:r>
            <a:r>
              <a:rPr sz="2400" spc="-395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schedule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10" dirty="0" smtClean="0">
                <a:latin typeface="Courier New"/>
                <a:cs typeface="Courier New"/>
              </a:rPr>
              <a:t>management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Chapter</a:t>
            </a:r>
            <a:r>
              <a:rPr spc="-1225" dirty="0"/>
              <a:t> </a:t>
            </a: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16792"/>
            <a:ext cx="9725025" cy="430022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sz="1900" spc="-10" dirty="0">
                <a:latin typeface="Courier New"/>
                <a:cs typeface="Courier New"/>
              </a:rPr>
              <a:t>Project</a:t>
            </a:r>
            <a:r>
              <a:rPr sz="1900" spc="-55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time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management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is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often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cited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as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the</a:t>
            </a:r>
            <a:r>
              <a:rPr sz="1900" spc="-59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main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source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of</a:t>
            </a:r>
            <a:r>
              <a:rPr sz="1900" spc="-61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conflict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25" dirty="0">
                <a:latin typeface="Courier New"/>
                <a:cs typeface="Courier New"/>
              </a:rPr>
              <a:t>on</a:t>
            </a:r>
            <a:endParaRPr sz="19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670"/>
              </a:spcBef>
            </a:pPr>
            <a:r>
              <a:rPr sz="1900" spc="-20" dirty="0">
                <a:latin typeface="Courier New"/>
                <a:cs typeface="Courier New"/>
              </a:rPr>
              <a:t>projects,</a:t>
            </a:r>
            <a:r>
              <a:rPr sz="1900" spc="-53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and</a:t>
            </a:r>
            <a:r>
              <a:rPr sz="1900" spc="-54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most</a:t>
            </a:r>
            <a:r>
              <a:rPr sz="1900" spc="-54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IT</a:t>
            </a:r>
            <a:r>
              <a:rPr sz="1900" spc="-55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projects</a:t>
            </a:r>
            <a:r>
              <a:rPr sz="1900" spc="-54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exceed</a:t>
            </a:r>
            <a:r>
              <a:rPr sz="1900" spc="-54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time</a:t>
            </a:r>
            <a:r>
              <a:rPr sz="1900" spc="-54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estimates</a:t>
            </a:r>
            <a:endParaRPr sz="190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239395" algn="l"/>
              </a:tabLst>
            </a:pPr>
            <a:r>
              <a:rPr sz="1900" spc="-20" dirty="0">
                <a:latin typeface="Courier New"/>
                <a:cs typeface="Courier New"/>
              </a:rPr>
              <a:t>Main</a:t>
            </a:r>
            <a:r>
              <a:rPr sz="1900" spc="-53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processes</a:t>
            </a:r>
            <a:r>
              <a:rPr sz="1900" spc="-50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include:</a:t>
            </a:r>
            <a:endParaRPr sz="19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80"/>
              </a:spcBef>
              <a:buFont typeface="Wingdings"/>
              <a:buChar char=""/>
              <a:tabLst>
                <a:tab pos="737870" algn="l"/>
              </a:tabLst>
            </a:pPr>
            <a:r>
              <a:rPr sz="1900" spc="-10" dirty="0">
                <a:latin typeface="Courier New"/>
                <a:cs typeface="Courier New"/>
              </a:rPr>
              <a:t>Define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activities</a:t>
            </a:r>
            <a:endParaRPr sz="19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05"/>
              </a:spcBef>
              <a:buFont typeface="Wingdings"/>
              <a:buChar char=""/>
              <a:tabLst>
                <a:tab pos="737870" algn="l"/>
              </a:tabLst>
            </a:pPr>
            <a:r>
              <a:rPr sz="1900" spc="-10" dirty="0">
                <a:latin typeface="Courier New"/>
                <a:cs typeface="Courier New"/>
              </a:rPr>
              <a:t>Sequence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activities</a:t>
            </a:r>
            <a:endParaRPr sz="19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80"/>
              </a:spcBef>
              <a:buFont typeface="Wingdings"/>
              <a:buChar char=""/>
              <a:tabLst>
                <a:tab pos="737870" algn="l"/>
              </a:tabLst>
            </a:pPr>
            <a:r>
              <a:rPr sz="1900" spc="-20" dirty="0">
                <a:latin typeface="Courier New"/>
                <a:cs typeface="Courier New"/>
              </a:rPr>
              <a:t>Estimate</a:t>
            </a:r>
            <a:r>
              <a:rPr sz="1900" spc="-50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activity</a:t>
            </a:r>
            <a:r>
              <a:rPr sz="1900" spc="-50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resources</a:t>
            </a:r>
            <a:endParaRPr sz="19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85"/>
              </a:spcBef>
              <a:buFont typeface="Wingdings"/>
              <a:buChar char=""/>
              <a:tabLst>
                <a:tab pos="737870" algn="l"/>
              </a:tabLst>
            </a:pPr>
            <a:r>
              <a:rPr sz="1900" spc="-20" dirty="0">
                <a:latin typeface="Courier New"/>
                <a:cs typeface="Courier New"/>
              </a:rPr>
              <a:t>Estimate</a:t>
            </a:r>
            <a:r>
              <a:rPr sz="1900" spc="-50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activity</a:t>
            </a:r>
            <a:r>
              <a:rPr sz="1900" spc="-50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durations</a:t>
            </a:r>
            <a:endParaRPr sz="19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80"/>
              </a:spcBef>
              <a:buFont typeface="Wingdings"/>
              <a:buChar char=""/>
              <a:tabLst>
                <a:tab pos="737870" algn="l"/>
              </a:tabLst>
            </a:pPr>
            <a:r>
              <a:rPr sz="1900" spc="-10" dirty="0">
                <a:latin typeface="Courier New"/>
                <a:cs typeface="Courier New"/>
              </a:rPr>
              <a:t>Develop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schedule</a:t>
            </a:r>
            <a:endParaRPr sz="19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85"/>
              </a:spcBef>
              <a:buFont typeface="Wingdings"/>
              <a:buChar char=""/>
              <a:tabLst>
                <a:tab pos="737870" algn="l"/>
              </a:tabLst>
            </a:pPr>
            <a:r>
              <a:rPr sz="1900" spc="-10" dirty="0">
                <a:latin typeface="Courier New"/>
                <a:cs typeface="Courier New"/>
              </a:rPr>
              <a:t>Control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schedule</a:t>
            </a:r>
            <a:endParaRPr sz="1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11</TotalTime>
  <Words>1979</Words>
  <Application>Microsoft Office PowerPoint</Application>
  <PresentationFormat>Custom</PresentationFormat>
  <Paragraphs>302</Paragraphs>
  <Slides>47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Apex</vt:lpstr>
      <vt:lpstr>Chapter 6: Project schedule Management</vt:lpstr>
      <vt:lpstr>Contents:</vt:lpstr>
      <vt:lpstr>Week Learning Outcome:</vt:lpstr>
      <vt:lpstr>The Importance of Project Schedules</vt:lpstr>
      <vt:lpstr>Planning Schedule Management</vt:lpstr>
      <vt:lpstr>Planning Schedule Management</vt:lpstr>
      <vt:lpstr>Planning Schedule Management</vt:lpstr>
      <vt:lpstr>Defining Activities</vt:lpstr>
      <vt:lpstr>Defining Activities</vt:lpstr>
      <vt:lpstr>Defining Activities</vt:lpstr>
      <vt:lpstr>Defining Activities</vt:lpstr>
      <vt:lpstr>Sequencing Activities.</vt:lpstr>
      <vt:lpstr>Sequencing Activities.</vt:lpstr>
      <vt:lpstr>Sequencing Activities.</vt:lpstr>
      <vt:lpstr>Sequencing Activities.</vt:lpstr>
      <vt:lpstr>Sequencing Activities.</vt:lpstr>
      <vt:lpstr>Sequencing Activities.</vt:lpstr>
      <vt:lpstr>Sequencing Activities.</vt:lpstr>
      <vt:lpstr>Sequencing Activities.</vt:lpstr>
      <vt:lpstr>Sequencing Activities.</vt:lpstr>
      <vt:lpstr>Sequencing Activities.</vt:lpstr>
      <vt:lpstr>Estimating Activity Durations</vt:lpstr>
      <vt:lpstr>Estimating Activity Durations</vt:lpstr>
      <vt:lpstr>Developing and controlling the Schedule</vt:lpstr>
      <vt:lpstr>Developing and controlling the Schedule</vt:lpstr>
      <vt:lpstr>Developing and controlling the Schedule</vt:lpstr>
      <vt:lpstr>Developing and controlling the Schedule</vt:lpstr>
      <vt:lpstr>Developing and controlling the Schedule</vt:lpstr>
      <vt:lpstr>Developing and controlling the Schedule</vt:lpstr>
      <vt:lpstr>Developing and controlling the Schedule</vt:lpstr>
      <vt:lpstr>Developing and controlling the Schedule</vt:lpstr>
      <vt:lpstr>Developing and controlling the Schedule</vt:lpstr>
      <vt:lpstr>Developing and controlling the Schedule</vt:lpstr>
      <vt:lpstr>Developing and controlling the Schedule</vt:lpstr>
      <vt:lpstr>Developing and controlling the Schedule</vt:lpstr>
      <vt:lpstr>Developing and controlling the Schedule</vt:lpstr>
      <vt:lpstr>Developing and controlling the Schedule</vt:lpstr>
      <vt:lpstr>Developing and controlling the Schedule</vt:lpstr>
      <vt:lpstr>Developing and controlling the Schedule</vt:lpstr>
      <vt:lpstr>Critical Chain Scheduling</vt:lpstr>
      <vt:lpstr>Critical Chain Scheduling</vt:lpstr>
      <vt:lpstr>Program Evaluation and Review Technique (PERT )</vt:lpstr>
      <vt:lpstr>Program Evaluation and Review Technique (PERT )</vt:lpstr>
      <vt:lpstr>Controlling the Schedule</vt:lpstr>
      <vt:lpstr>Reality Checks on Scheduling</vt:lpstr>
      <vt:lpstr>Using Software to Assist in Project Schedule Management</vt:lpstr>
      <vt:lpstr>Chapter 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6: Project schedule Management</dc:title>
  <cp:lastModifiedBy>Rashid</cp:lastModifiedBy>
  <cp:revision>6</cp:revision>
  <dcterms:created xsi:type="dcterms:W3CDTF">2026-09-28T15:54:16Z</dcterms:created>
  <dcterms:modified xsi:type="dcterms:W3CDTF">2026-09-29T11:42:43Z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2026-09-28T00:00:00Z</vt:filetime>
  </property>
  <property fmtid="{D5CDD505-2E9C-101B-9397-08002B2CF9AE}" pid="4" name="LastSaved">
    <vt:filetime>2026-09-28T00:00:00Z</vt:filetime>
  </property>
  <property fmtid="{D5CDD505-2E9C-101B-9397-08002B2CF9AE}" pid="5" name="Producer">
    <vt:lpwstr>Pdftools SDK</vt:lpwstr>
  </property>
</Properties>
</file>