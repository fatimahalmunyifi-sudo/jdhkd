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30"/>
              </a:lnSpc>
            </a:pPr>
            <a:r>
              <a:rPr lang="en-US" smtClean="0"/>
              <a:t>This</a:t>
            </a:r>
            <a:r>
              <a:rPr lang="en-US" spc="-55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30" smtClean="0"/>
              <a:t> </a:t>
            </a:r>
            <a:r>
              <a:rPr lang="en-US" smtClean="0"/>
              <a:t>mainly</a:t>
            </a:r>
            <a:r>
              <a:rPr lang="en-US" spc="-30" smtClean="0"/>
              <a:t> </a:t>
            </a:r>
            <a:r>
              <a:rPr lang="en-US" smtClean="0"/>
              <a:t>dependent</a:t>
            </a:r>
            <a:r>
              <a:rPr lang="en-US" spc="-70" smtClean="0"/>
              <a:t> </a:t>
            </a:r>
            <a:r>
              <a:rPr lang="en-US" smtClean="0"/>
              <a:t>on</a:t>
            </a:r>
            <a:r>
              <a:rPr lang="en-US" spc="-2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30" smtClean="0"/>
              <a:t> </a:t>
            </a:r>
            <a:r>
              <a:rPr lang="en-US" smtClean="0"/>
              <a:t>Information</a:t>
            </a:r>
            <a:r>
              <a:rPr lang="en-US" spc="-25" smtClean="0"/>
              <a:t> </a:t>
            </a:r>
            <a:r>
              <a:rPr lang="en-US" smtClean="0"/>
              <a:t>technology:</a:t>
            </a:r>
            <a:r>
              <a:rPr lang="en-US" spc="-60" smtClean="0"/>
              <a:t> </a:t>
            </a:r>
            <a:r>
              <a:rPr lang="en-US" smtClean="0"/>
              <a:t>Project</a:t>
            </a:r>
            <a:r>
              <a:rPr lang="en-US" spc="20" smtClean="0"/>
              <a:t> </a:t>
            </a:r>
            <a:r>
              <a:rPr lang="en-US" spc="-10" smtClean="0"/>
              <a:t>management</a:t>
            </a:r>
            <a:r>
              <a:rPr lang="en-US" spc="-5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85" smtClean="0"/>
              <a:t> </a:t>
            </a:r>
            <a:r>
              <a:rPr lang="en-US" smtClean="0"/>
              <a:t>by</a:t>
            </a:r>
            <a:r>
              <a:rPr lang="en-US" spc="-5" smtClean="0"/>
              <a:t> </a:t>
            </a:r>
            <a:r>
              <a:rPr lang="en-US" smtClean="0"/>
              <a:t>Schwalbe,</a:t>
            </a:r>
            <a:r>
              <a:rPr lang="en-US" spc="-2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34260" y="2407482"/>
            <a:ext cx="7419340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0"/>
              </a:spcBef>
            </a:pPr>
            <a:r>
              <a:rPr lang="en-US" sz="3200" dirty="0" smtClean="0">
                <a:solidFill>
                  <a:schemeClr val="bg1"/>
                </a:solidFill>
                <a:latin typeface="Arial MT"/>
                <a:cs typeface="Arial MT"/>
              </a:rPr>
              <a:t>Chapter</a:t>
            </a:r>
            <a:r>
              <a:rPr sz="3200" spc="-6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3200" spc="-25" dirty="0">
                <a:solidFill>
                  <a:schemeClr val="bg1"/>
                </a:solidFill>
                <a:latin typeface="Arial MT"/>
                <a:cs typeface="Arial MT"/>
              </a:rPr>
              <a:t>9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320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Human</a:t>
            </a:r>
            <a:r>
              <a:rPr sz="320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Resource</a:t>
            </a:r>
            <a:r>
              <a:rPr sz="320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Management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9796780" cy="376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Resource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Keys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Managing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Leading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People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Developing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Resource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Plan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Charter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Acquiring</a:t>
            </a:r>
            <a:r>
              <a:rPr sz="2400" spc="-6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Resources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Developing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Team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Managing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Team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Week</a:t>
            </a:r>
            <a:r>
              <a:rPr spc="-1235" dirty="0"/>
              <a:t> </a:t>
            </a:r>
            <a:r>
              <a:rPr spc="-95" dirty="0"/>
              <a:t>11</a:t>
            </a:r>
            <a:r>
              <a:rPr spc="-1465" dirty="0"/>
              <a:t> </a:t>
            </a:r>
            <a:r>
              <a:rPr spc="-10" dirty="0"/>
              <a:t>Learning</a:t>
            </a:r>
            <a:r>
              <a:rPr spc="-1290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5634"/>
            <a:ext cx="10633710" cy="4459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3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ourier New"/>
                <a:cs typeface="Courier New"/>
              </a:rPr>
              <a:t>Describe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meaning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human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resource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impact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it </a:t>
            </a:r>
            <a:r>
              <a:rPr sz="2200" spc="-10" dirty="0">
                <a:latin typeface="Courier New"/>
                <a:cs typeface="Courier New"/>
              </a:rPr>
              <a:t>has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on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global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IT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workforce.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Describe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theories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related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7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motivating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managing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people.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Describe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components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purpose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developing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7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human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resource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Explain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strategies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used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for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acquiring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members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and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developing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teams.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Identify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tools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techniques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used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by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managers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to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motivate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teams.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Project</a:t>
            </a:r>
            <a:r>
              <a:rPr spc="-1225" dirty="0"/>
              <a:t> </a:t>
            </a:r>
            <a:r>
              <a:rPr spc="-10" dirty="0"/>
              <a:t>Resource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20800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80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percent</a:t>
            </a:r>
            <a:r>
              <a:rPr spc="-2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young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population</a:t>
            </a:r>
            <a:r>
              <a:rPr spc="-80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around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104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countries</a:t>
            </a:r>
            <a:r>
              <a:rPr spc="-19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have 	</a:t>
            </a:r>
            <a:r>
              <a:rPr dirty="0">
                <a:solidFill>
                  <a:schemeClr val="bg1"/>
                </a:solidFill>
              </a:rPr>
              <a:t>been</a:t>
            </a:r>
            <a:r>
              <a:rPr spc="1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online  by</a:t>
            </a:r>
            <a:r>
              <a:rPr spc="4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mid</a:t>
            </a:r>
            <a:r>
              <a:rPr spc="-4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2017,</a:t>
            </a:r>
            <a:r>
              <a:rPr spc="-1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7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4.3</a:t>
            </a:r>
            <a:r>
              <a:rPr spc="-2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billion</a:t>
            </a:r>
            <a:r>
              <a:rPr spc="-65" dirty="0">
                <a:solidFill>
                  <a:schemeClr val="bg1"/>
                </a:solidFill>
              </a:rPr>
              <a:t>  </a:t>
            </a:r>
            <a:r>
              <a:rPr spc="-10" dirty="0">
                <a:solidFill>
                  <a:schemeClr val="bg1"/>
                </a:solidFill>
              </a:rPr>
              <a:t>broadband 	subscriptions.</a:t>
            </a: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pc="-45" dirty="0">
                <a:solidFill>
                  <a:schemeClr val="bg1"/>
                </a:solidFill>
              </a:rPr>
              <a:t>The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number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245" dirty="0">
                <a:solidFill>
                  <a:schemeClr val="bg1"/>
                </a:solidFill>
              </a:rPr>
              <a:t>of</a:t>
            </a:r>
            <a:r>
              <a:rPr spc="-114" dirty="0">
                <a:solidFill>
                  <a:schemeClr val="bg1"/>
                </a:solidFill>
              </a:rPr>
              <a:t> </a:t>
            </a:r>
            <a:r>
              <a:rPr spc="-305" dirty="0">
                <a:solidFill>
                  <a:schemeClr val="bg1"/>
                </a:solidFill>
              </a:rPr>
              <a:t>IT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spc="-65" dirty="0">
                <a:solidFill>
                  <a:schemeClr val="bg1"/>
                </a:solidFill>
              </a:rPr>
              <a:t>related</a:t>
            </a:r>
            <a:r>
              <a:rPr spc="-295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jobs</a:t>
            </a:r>
            <a:r>
              <a:rPr spc="-260" dirty="0">
                <a:solidFill>
                  <a:schemeClr val="bg1"/>
                </a:solidFill>
              </a:rPr>
              <a:t> </a:t>
            </a:r>
            <a:r>
              <a:rPr spc="-100" dirty="0">
                <a:solidFill>
                  <a:schemeClr val="bg1"/>
                </a:solidFill>
              </a:rPr>
              <a:t>will</a:t>
            </a:r>
            <a:r>
              <a:rPr spc="-26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increase</a:t>
            </a:r>
            <a:r>
              <a:rPr spc="-305" dirty="0">
                <a:solidFill>
                  <a:schemeClr val="bg1"/>
                </a:solidFill>
              </a:rPr>
              <a:t> </a:t>
            </a:r>
            <a:r>
              <a:rPr spc="-330" dirty="0">
                <a:solidFill>
                  <a:schemeClr val="bg1"/>
                </a:solidFill>
              </a:rPr>
              <a:t>by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spc="-345" dirty="0">
                <a:solidFill>
                  <a:schemeClr val="bg1"/>
                </a:solidFill>
              </a:rPr>
              <a:t>12</a:t>
            </a:r>
            <a:r>
              <a:rPr spc="-15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percent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until </a:t>
            </a:r>
            <a:r>
              <a:rPr spc="-20" dirty="0" smtClean="0">
                <a:solidFill>
                  <a:schemeClr val="bg1"/>
                </a:solidFill>
              </a:rPr>
              <a:t>2024</a:t>
            </a:r>
            <a:r>
              <a:rPr spc="-2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Project</a:t>
            </a:r>
            <a:r>
              <a:rPr spc="-1225" dirty="0"/>
              <a:t> </a:t>
            </a:r>
            <a:r>
              <a:rPr spc="-10" dirty="0"/>
              <a:t>Resource</a:t>
            </a:r>
            <a:r>
              <a:rPr spc="-127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21057"/>
            <a:ext cx="10893425" cy="457454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Courier New"/>
                <a:cs typeface="Courier New"/>
              </a:rPr>
              <a:t>Project</a:t>
            </a:r>
            <a:r>
              <a:rPr sz="1700" spc="-1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resource</a:t>
            </a:r>
            <a:r>
              <a:rPr sz="1700" spc="-1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management</a:t>
            </a:r>
            <a:r>
              <a:rPr sz="1700" spc="-1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refers</a:t>
            </a:r>
            <a:r>
              <a:rPr sz="1700" spc="-1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to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16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most</a:t>
            </a:r>
            <a:r>
              <a:rPr sz="1700" spc="-14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effective</a:t>
            </a:r>
            <a:r>
              <a:rPr sz="1700" spc="-13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use</a:t>
            </a:r>
            <a:r>
              <a:rPr sz="1700" spc="-18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of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people</a:t>
            </a:r>
            <a:r>
              <a:rPr sz="1700" spc="-13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working</a:t>
            </a:r>
            <a:r>
              <a:rPr sz="1700" spc="-9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</a:t>
            </a:r>
            <a:r>
              <a:rPr sz="1700" spc="-140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a</a:t>
            </a:r>
            <a:endParaRPr sz="17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00"/>
              </a:spcBef>
            </a:pPr>
            <a:r>
              <a:rPr sz="1700" spc="-10" dirty="0">
                <a:latin typeface="Courier New"/>
                <a:cs typeface="Courier New"/>
              </a:rPr>
              <a:t>project.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There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are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four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processes:</a:t>
            </a:r>
            <a:endParaRPr sz="1700">
              <a:latin typeface="Courier New"/>
              <a:cs typeface="Courier New"/>
            </a:endParaRPr>
          </a:p>
          <a:p>
            <a:pPr marL="737870" marR="12700" lvl="1" indent="-268605">
              <a:lnSpc>
                <a:spcPct val="129500"/>
              </a:lnSpc>
              <a:spcBef>
                <a:spcPts val="1035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b="1" dirty="0">
                <a:latin typeface="Courier New"/>
                <a:cs typeface="Courier New"/>
              </a:rPr>
              <a:t>Planning</a:t>
            </a:r>
            <a:r>
              <a:rPr sz="1700" b="1" spc="19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resource</a:t>
            </a:r>
            <a:r>
              <a:rPr sz="1700" b="1" spc="19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management</a:t>
            </a:r>
            <a:r>
              <a:rPr sz="1700" b="1" spc="18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includes</a:t>
            </a:r>
            <a:r>
              <a:rPr sz="1700" spc="15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decisions</a:t>
            </a:r>
            <a:r>
              <a:rPr sz="1700" spc="16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about</a:t>
            </a:r>
            <a:r>
              <a:rPr sz="1700" spc="17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estimating,</a:t>
            </a:r>
            <a:r>
              <a:rPr sz="1700" spc="1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acquiring, managing,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and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using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project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resources.</a:t>
            </a:r>
            <a:endParaRPr sz="1700">
              <a:latin typeface="Courier New"/>
              <a:cs typeface="Courier New"/>
            </a:endParaRPr>
          </a:p>
          <a:p>
            <a:pPr marL="737870" lvl="1" indent="-268605" algn="just">
              <a:lnSpc>
                <a:spcPct val="100000"/>
              </a:lnSpc>
              <a:spcBef>
                <a:spcPts val="1605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b="1" dirty="0">
                <a:latin typeface="Courier New"/>
                <a:cs typeface="Courier New"/>
              </a:rPr>
              <a:t>Acquiring</a:t>
            </a:r>
            <a:r>
              <a:rPr sz="1700" b="1" spc="-10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the</a:t>
            </a:r>
            <a:r>
              <a:rPr sz="1700" b="1" spc="-20" dirty="0">
                <a:latin typeface="Courier New"/>
                <a:cs typeface="Courier New"/>
              </a:rPr>
              <a:t> </a:t>
            </a:r>
            <a:r>
              <a:rPr sz="1700" b="1" spc="-10" dirty="0">
                <a:latin typeface="Courier New"/>
                <a:cs typeface="Courier New"/>
              </a:rPr>
              <a:t>resources:</a:t>
            </a:r>
            <a:r>
              <a:rPr sz="1700" b="1" spc="-20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In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this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process,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the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people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who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will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work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on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9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project</a:t>
            </a:r>
            <a:endParaRPr sz="1700">
              <a:latin typeface="Courier New"/>
              <a:cs typeface="Courier New"/>
            </a:endParaRPr>
          </a:p>
          <a:p>
            <a:pPr marL="737870" algn="just">
              <a:lnSpc>
                <a:spcPct val="100000"/>
              </a:lnSpc>
              <a:spcBef>
                <a:spcPts val="625"/>
              </a:spcBef>
            </a:pPr>
            <a:r>
              <a:rPr sz="1700" spc="-10" dirty="0">
                <a:latin typeface="Courier New"/>
                <a:cs typeface="Courier New"/>
              </a:rPr>
              <a:t>are</a:t>
            </a:r>
            <a:r>
              <a:rPr sz="1700" spc="-47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hired.</a:t>
            </a:r>
            <a:endParaRPr sz="1700">
              <a:latin typeface="Courier New"/>
              <a:cs typeface="Courier New"/>
            </a:endParaRPr>
          </a:p>
          <a:p>
            <a:pPr marL="737870" lvl="1" indent="-268605" algn="just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b="1" dirty="0">
                <a:latin typeface="Courier New"/>
                <a:cs typeface="Courier New"/>
              </a:rPr>
              <a:t>Developing</a:t>
            </a:r>
            <a:r>
              <a:rPr sz="1700" b="1" spc="7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the</a:t>
            </a:r>
            <a:r>
              <a:rPr sz="1700" b="1" spc="6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project</a:t>
            </a:r>
            <a:r>
              <a:rPr sz="1700" b="1" spc="50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team:</a:t>
            </a:r>
            <a:r>
              <a:rPr sz="1700" b="1" spc="2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</a:t>
            </a:r>
            <a:r>
              <a:rPr sz="1700" spc="-2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this</a:t>
            </a:r>
            <a:r>
              <a:rPr sz="1700" spc="2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process,</a:t>
            </a:r>
            <a:r>
              <a:rPr sz="1700" spc="-10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individual</a:t>
            </a:r>
            <a:r>
              <a:rPr sz="1700" spc="3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and</a:t>
            </a:r>
            <a:r>
              <a:rPr sz="1700" spc="2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group</a:t>
            </a:r>
            <a:r>
              <a:rPr sz="1700" spc="2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skills</a:t>
            </a:r>
            <a:r>
              <a:rPr sz="1700" spc="6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are</a:t>
            </a:r>
            <a:endParaRPr sz="1700">
              <a:latin typeface="Courier New"/>
              <a:cs typeface="Courier New"/>
            </a:endParaRPr>
          </a:p>
          <a:p>
            <a:pPr marL="737870" algn="just">
              <a:lnSpc>
                <a:spcPct val="100000"/>
              </a:lnSpc>
              <a:spcBef>
                <a:spcPts val="605"/>
              </a:spcBef>
            </a:pPr>
            <a:r>
              <a:rPr sz="1700" spc="-10" dirty="0">
                <a:latin typeface="Courier New"/>
                <a:cs typeface="Courier New"/>
              </a:rPr>
              <a:t>built</a:t>
            </a:r>
            <a:r>
              <a:rPr sz="1700" spc="-47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to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improve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project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performance.</a:t>
            </a:r>
            <a:endParaRPr sz="1700">
              <a:latin typeface="Courier New"/>
              <a:cs typeface="Courier New"/>
            </a:endParaRPr>
          </a:p>
          <a:p>
            <a:pPr marL="737870" marR="10795" lvl="1" indent="-268605" algn="just">
              <a:lnSpc>
                <a:spcPct val="129800"/>
              </a:lnSpc>
              <a:spcBef>
                <a:spcPts val="1025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b="1" dirty="0">
                <a:latin typeface="Courier New"/>
                <a:cs typeface="Courier New"/>
              </a:rPr>
              <a:t>Managing</a:t>
            </a:r>
            <a:r>
              <a:rPr sz="1700" b="1" spc="-2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the</a:t>
            </a:r>
            <a:r>
              <a:rPr sz="1700" b="1" spc="-20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project</a:t>
            </a:r>
            <a:r>
              <a:rPr sz="1700" b="1" spc="-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team:</a:t>
            </a:r>
            <a:r>
              <a:rPr sz="1700" b="1" spc="-5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</a:t>
            </a:r>
            <a:r>
              <a:rPr sz="1700" spc="-114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this</a:t>
            </a:r>
            <a:r>
              <a:rPr sz="1700" spc="-7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process,</a:t>
            </a:r>
            <a:r>
              <a:rPr sz="1700" spc="-4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performance</a:t>
            </a:r>
            <a:r>
              <a:rPr sz="1700" spc="-6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of</a:t>
            </a:r>
            <a:r>
              <a:rPr sz="1700" spc="-114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team</a:t>
            </a:r>
            <a:r>
              <a:rPr sz="1700" spc="-6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members</a:t>
            </a:r>
            <a:r>
              <a:rPr sz="1700" spc="-1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is </a:t>
            </a:r>
            <a:r>
              <a:rPr sz="1700" spc="-10" dirty="0">
                <a:latin typeface="Courier New"/>
                <a:cs typeface="Courier New"/>
              </a:rPr>
              <a:t>monitored.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The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team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leader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properly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motivates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them,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provides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them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with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proper</a:t>
            </a:r>
            <a:r>
              <a:rPr sz="1700" spc="-16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and </a:t>
            </a:r>
            <a:r>
              <a:rPr sz="1700" dirty="0">
                <a:latin typeface="Courier New"/>
                <a:cs typeface="Courier New"/>
              </a:rPr>
              <a:t>timely</a:t>
            </a:r>
            <a:r>
              <a:rPr sz="1700" spc="-254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feedback,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resolves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issues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and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conflicts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if</a:t>
            </a:r>
            <a:r>
              <a:rPr sz="1700" spc="-16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exist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any.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The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team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leader</a:t>
            </a:r>
            <a:r>
              <a:rPr sz="1700" spc="-17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also </a:t>
            </a:r>
            <a:r>
              <a:rPr sz="1700" spc="-10" dirty="0">
                <a:latin typeface="Courier New"/>
                <a:cs typeface="Courier New"/>
              </a:rPr>
              <a:t>coordinates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changes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with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them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in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order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to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improve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the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project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performance.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5634"/>
            <a:ext cx="10894695" cy="427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3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Management</a:t>
            </a:r>
            <a:r>
              <a:rPr sz="2200" spc="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theorists</a:t>
            </a:r>
            <a:r>
              <a:rPr sz="2200" spc="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 psychologists</a:t>
            </a:r>
            <a:r>
              <a:rPr sz="2200" spc="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have</a:t>
            </a:r>
            <a:r>
              <a:rPr sz="2200" spc="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extensively</a:t>
            </a:r>
            <a:r>
              <a:rPr sz="2200" spc="1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studied the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field</a:t>
            </a:r>
            <a:r>
              <a:rPr sz="2200" i="1" u="heavy" spc="-6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2200" i="1" u="heavy" spc="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managing</a:t>
            </a:r>
            <a:r>
              <a:rPr sz="2200" i="1" u="heavy" spc="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and leading</a:t>
            </a:r>
            <a:r>
              <a:rPr sz="22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people</a:t>
            </a:r>
            <a:r>
              <a:rPr sz="2200" i="1" u="heavy" spc="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at</a:t>
            </a:r>
            <a:r>
              <a:rPr sz="2200" i="1" u="heavy" spc="-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work</a:t>
            </a:r>
            <a:r>
              <a:rPr sz="2200" spc="-10" dirty="0">
                <a:latin typeface="Courier New"/>
                <a:cs typeface="Courier New"/>
              </a:rPr>
              <a:t>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following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psychosocial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issues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that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affect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people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include: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Motivation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theories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Influence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power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Effectiveness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Emotional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intelligence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leadership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32812"/>
            <a:ext cx="9892030" cy="1554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Motivation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Theories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What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motivates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people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on</a:t>
            </a:r>
            <a:r>
              <a:rPr sz="2200" spc="-7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doing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something.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b="1" dirty="0">
                <a:latin typeface="Courier New"/>
                <a:cs typeface="Courier New"/>
              </a:rPr>
              <a:t>Intrinsic</a:t>
            </a:r>
            <a:r>
              <a:rPr sz="2200" b="1" spc="-7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motivation</a:t>
            </a:r>
            <a:r>
              <a:rPr sz="2200" b="1" spc="-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causes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people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1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join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event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for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29366" y="3125216"/>
            <a:ext cx="83756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45" dirty="0">
                <a:latin typeface="Courier New"/>
                <a:cs typeface="Courier New"/>
              </a:rPr>
              <a:t>their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6897" y="3461522"/>
            <a:ext cx="10165080" cy="96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100"/>
              </a:lnSpc>
              <a:spcBef>
                <a:spcPts val="95"/>
              </a:spcBef>
            </a:pPr>
            <a:r>
              <a:rPr sz="2200" dirty="0">
                <a:latin typeface="Courier New"/>
                <a:cs typeface="Courier New"/>
              </a:rPr>
              <a:t>personal</a:t>
            </a:r>
            <a:r>
              <a:rPr sz="2200" spc="4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satisfaction.</a:t>
            </a:r>
            <a:r>
              <a:rPr sz="2200" spc="4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For</a:t>
            </a:r>
            <a:r>
              <a:rPr sz="2200" spc="3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example,</a:t>
            </a:r>
            <a:r>
              <a:rPr sz="2200" spc="5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one</a:t>
            </a:r>
            <a:r>
              <a:rPr sz="2200" spc="3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might</a:t>
            </a:r>
            <a:r>
              <a:rPr sz="2200" spc="4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love</a:t>
            </a:r>
            <a:r>
              <a:rPr sz="2200" spc="4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reading novels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play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guitar.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674" y="4528507"/>
            <a:ext cx="6400165" cy="96520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280670" indent="-267970">
              <a:lnSpc>
                <a:spcPct val="100000"/>
              </a:lnSpc>
              <a:spcBef>
                <a:spcPts val="1160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b="1" dirty="0">
                <a:latin typeface="Courier New"/>
                <a:cs typeface="Courier New"/>
              </a:rPr>
              <a:t>Extrinsic</a:t>
            </a:r>
            <a:r>
              <a:rPr sz="2200" b="1" spc="-135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motivation</a:t>
            </a:r>
            <a:r>
              <a:rPr sz="2200" b="1" spc="-14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causes</a:t>
            </a:r>
            <a:r>
              <a:rPr sz="2200" spc="-16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people</a:t>
            </a:r>
            <a:endParaRPr sz="2200">
              <a:latin typeface="Courier New"/>
              <a:cs typeface="Courier New"/>
            </a:endParaRPr>
          </a:p>
          <a:p>
            <a:pPr marL="280670">
              <a:lnSpc>
                <a:spcPct val="100000"/>
              </a:lnSpc>
              <a:spcBef>
                <a:spcPts val="1055"/>
              </a:spcBef>
            </a:pPr>
            <a:r>
              <a:rPr sz="2200" dirty="0">
                <a:latin typeface="Courier New"/>
                <a:cs typeface="Courier New"/>
              </a:rPr>
              <a:t>activity</a:t>
            </a:r>
            <a:r>
              <a:rPr sz="2200" spc="3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either</a:t>
            </a:r>
            <a:r>
              <a:rPr sz="2200" spc="3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3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get</a:t>
            </a:r>
            <a:r>
              <a:rPr sz="2200" spc="2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1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reward</a:t>
            </a:r>
            <a:r>
              <a:rPr sz="2200" spc="31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24902" y="4528507"/>
            <a:ext cx="4041775" cy="96520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R="11430" algn="r">
              <a:lnSpc>
                <a:spcPct val="100000"/>
              </a:lnSpc>
              <a:spcBef>
                <a:spcPts val="1160"/>
              </a:spcBef>
            </a:pP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24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participate</a:t>
            </a:r>
            <a:r>
              <a:rPr sz="2200" spc="-2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135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an</a:t>
            </a:r>
            <a:endParaRPr sz="22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055"/>
              </a:spcBef>
            </a:pPr>
            <a:r>
              <a:rPr sz="2200" dirty="0">
                <a:latin typeface="Courier New"/>
                <a:cs typeface="Courier New"/>
              </a:rPr>
              <a:t>avoid</a:t>
            </a:r>
            <a:r>
              <a:rPr sz="2200" spc="4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3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punishment.</a:t>
            </a:r>
            <a:r>
              <a:rPr sz="2200" spc="484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For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6897" y="5467969"/>
            <a:ext cx="10172700" cy="96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100"/>
              </a:lnSpc>
              <a:spcBef>
                <a:spcPts val="95"/>
              </a:spcBef>
            </a:pPr>
            <a:r>
              <a:rPr sz="2200" dirty="0">
                <a:latin typeface="Courier New"/>
                <a:cs typeface="Courier New"/>
              </a:rPr>
              <a:t>example,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young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school</a:t>
            </a:r>
            <a:r>
              <a:rPr sz="2200" spc="-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kid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may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not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like</a:t>
            </a:r>
            <a:r>
              <a:rPr sz="2200" spc="-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play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1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guitar</a:t>
            </a:r>
            <a:r>
              <a:rPr sz="2200" spc="2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but </a:t>
            </a:r>
            <a:r>
              <a:rPr sz="2200" spc="-120" dirty="0">
                <a:latin typeface="Courier New"/>
                <a:cs typeface="Courier New"/>
              </a:rPr>
              <a:t>he/she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will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so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merely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receive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reward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</a:t>
            </a:r>
            <a:r>
              <a:rPr sz="2200" spc="-7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avoid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punishment.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/>
          <p:nvPr/>
        </p:nvSpPr>
        <p:spPr>
          <a:xfrm>
            <a:off x="1609344" y="4632833"/>
            <a:ext cx="10098405" cy="21590"/>
          </a:xfrm>
          <a:custGeom>
            <a:avLst/>
            <a:gdLst/>
            <a:ahLst/>
            <a:cxnLst/>
            <a:rect l="l" t="t" r="r" b="b"/>
            <a:pathLst>
              <a:path w="10098405" h="21589">
                <a:moveTo>
                  <a:pt x="10098024" y="0"/>
                </a:moveTo>
                <a:lnTo>
                  <a:pt x="0" y="0"/>
                </a:lnTo>
                <a:lnTo>
                  <a:pt x="0" y="21336"/>
                </a:lnTo>
                <a:lnTo>
                  <a:pt x="10098024" y="21336"/>
                </a:lnTo>
                <a:lnTo>
                  <a:pt x="100980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1524" y="1966340"/>
            <a:ext cx="10895330" cy="393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Maslow’s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Hierarchy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Needs</a:t>
            </a:r>
            <a:endParaRPr sz="2400">
              <a:latin typeface="Courier New"/>
              <a:cs typeface="Courier New"/>
            </a:endParaRPr>
          </a:p>
          <a:p>
            <a:pPr marL="735965" marR="45720" lvl="1" indent="-266700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dirty="0">
                <a:latin typeface="Courier New"/>
                <a:cs typeface="Courier New"/>
              </a:rPr>
              <a:t>Abraham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Maslow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claimed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that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the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unique</a:t>
            </a:r>
            <a:r>
              <a:rPr sz="2400" i="1" u="heavy" spc="-1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qualities</a:t>
            </a:r>
            <a:r>
              <a:rPr sz="2400" i="1" u="heavy" spc="-5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2400" i="1" u="heavy" spc="-5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human</a:t>
            </a:r>
            <a:r>
              <a:rPr sz="2400" i="1" spc="-10" dirty="0">
                <a:latin typeface="Courier New"/>
                <a:cs typeface="Courier New"/>
              </a:rPr>
              <a:t> 	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behavior </a:t>
            </a:r>
            <a:r>
              <a:rPr sz="2400" dirty="0">
                <a:latin typeface="Courier New"/>
                <a:cs typeface="Courier New"/>
              </a:rPr>
              <a:t>such as love, self esteem, belonging, </a:t>
            </a:r>
            <a:r>
              <a:rPr sz="2400" spc="-10" dirty="0">
                <a:latin typeface="Courier New"/>
                <a:cs typeface="Courier New"/>
              </a:rPr>
              <a:t>self-	</a:t>
            </a:r>
            <a:r>
              <a:rPr sz="2400" dirty="0">
                <a:latin typeface="Courier New"/>
                <a:cs typeface="Courier New"/>
              </a:rPr>
              <a:t>expression,</a:t>
            </a:r>
            <a:r>
              <a:rPr sz="2400" spc="11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1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creativity</a:t>
            </a:r>
            <a:r>
              <a:rPr sz="2400" spc="120" dirty="0"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enable</a:t>
            </a:r>
            <a:r>
              <a:rPr sz="2400" i="1" u="heavy" spc="1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people</a:t>
            </a:r>
            <a:r>
              <a:rPr sz="2400" i="1" u="heavy" spc="1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to</a:t>
            </a:r>
            <a:r>
              <a:rPr sz="2400" i="1" u="heavy" spc="1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i="1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make</a:t>
            </a:r>
            <a:r>
              <a:rPr sz="2400" i="1" spc="-20" dirty="0">
                <a:latin typeface="Courier New"/>
                <a:cs typeface="Courier New"/>
              </a:rPr>
              <a:t> 	</a:t>
            </a:r>
            <a:r>
              <a:rPr sz="2400" i="1" dirty="0">
                <a:latin typeface="Courier New"/>
                <a:cs typeface="Courier New"/>
              </a:rPr>
              <a:t>independent</a:t>
            </a:r>
            <a:r>
              <a:rPr sz="2400" i="1" spc="-180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choices</a:t>
            </a:r>
            <a:r>
              <a:rPr sz="2400" i="1" spc="-16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that</a:t>
            </a:r>
            <a:r>
              <a:rPr sz="2400" i="1" spc="-170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is</a:t>
            </a:r>
            <a:r>
              <a:rPr sz="2400" i="1" spc="-16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why</a:t>
            </a:r>
            <a:r>
              <a:rPr sz="2400" i="1" spc="-165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they</a:t>
            </a:r>
            <a:r>
              <a:rPr sz="2400" i="1" spc="-170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are</a:t>
            </a:r>
            <a:r>
              <a:rPr sz="2400" i="1" spc="-170" dirty="0">
                <a:latin typeface="Courier New"/>
                <a:cs typeface="Courier New"/>
              </a:rPr>
              <a:t>  </a:t>
            </a:r>
            <a:r>
              <a:rPr sz="2400" i="1" dirty="0">
                <a:latin typeface="Courier New"/>
                <a:cs typeface="Courier New"/>
              </a:rPr>
              <a:t>the</a:t>
            </a:r>
            <a:r>
              <a:rPr sz="2400" i="1" spc="-165" dirty="0">
                <a:latin typeface="Courier New"/>
                <a:cs typeface="Courier New"/>
              </a:rPr>
              <a:t>  </a:t>
            </a:r>
            <a:r>
              <a:rPr sz="2400" i="1" spc="-20" dirty="0">
                <a:latin typeface="Courier New"/>
                <a:cs typeface="Courier New"/>
              </a:rPr>
              <a:t>true 	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masters</a:t>
            </a:r>
            <a:r>
              <a:rPr sz="2400" i="1" u="heavy" spc="-5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2400" i="1" u="heavy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their</a:t>
            </a:r>
            <a:r>
              <a:rPr sz="2400" i="1" u="heavy" spc="-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destiny</a:t>
            </a:r>
            <a:r>
              <a:rPr sz="2400" spc="-10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dirty="0">
                <a:latin typeface="Courier New"/>
                <a:cs typeface="Courier New"/>
              </a:rPr>
              <a:t>Maslow</a:t>
            </a:r>
            <a:r>
              <a:rPr sz="2400" spc="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established</a:t>
            </a:r>
            <a:r>
              <a:rPr sz="2400" spc="50" dirty="0"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hierarchy</a:t>
            </a:r>
            <a:r>
              <a:rPr sz="2400" i="1" u="heavy" spc="9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2400" i="1" u="heavy" spc="114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needs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which</a:t>
            </a:r>
            <a:r>
              <a:rPr sz="2400" spc="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formulates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-27330" y="6027243"/>
            <a:ext cx="8968105" cy="416781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636395">
              <a:lnSpc>
                <a:spcPct val="100000"/>
              </a:lnSpc>
              <a:spcBef>
                <a:spcPts val="370"/>
              </a:spcBef>
            </a:pP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behaviors</a:t>
            </a:r>
            <a:r>
              <a:rPr sz="2400" spc="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people</a:t>
            </a:r>
            <a:r>
              <a:rPr sz="2400" spc="1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guided</a:t>
            </a:r>
            <a:r>
              <a:rPr sz="2400" spc="204" dirty="0">
                <a:latin typeface="Courier New"/>
                <a:cs typeface="Courier New"/>
              </a:rPr>
              <a:t> </a:t>
            </a:r>
            <a:r>
              <a:rPr sz="2400" spc="-25" dirty="0" smtClean="0">
                <a:latin typeface="Courier New"/>
                <a:cs typeface="Courier New"/>
              </a:rPr>
              <a:t>or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24315" y="6061354"/>
            <a:ext cx="26600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motivated</a:t>
            </a:r>
            <a:r>
              <a:rPr sz="2400" spc="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0648" y="3387216"/>
            <a:ext cx="367157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0" marR="5080" indent="-1365885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Maslow’s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Hierarchy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</a:t>
            </a:r>
            <a:r>
              <a:rPr sz="2400" spc="-10" dirty="0">
                <a:latin typeface="Courier New"/>
                <a:cs typeface="Courier New"/>
              </a:rPr>
              <a:t>Needs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47216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57197"/>
            <a:ext cx="6129020" cy="1493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Herzberg’s</a:t>
            </a:r>
            <a:r>
              <a:rPr sz="2200" spc="-5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Motivation-Hygiene</a:t>
            </a:r>
            <a:r>
              <a:rPr sz="2200" spc="-5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Theory</a:t>
            </a:r>
            <a:endParaRPr sz="2200">
              <a:latin typeface="Courier New"/>
              <a:cs typeface="Courier New"/>
            </a:endParaRPr>
          </a:p>
          <a:p>
            <a:pPr marL="737870" marR="156845" lvl="1" indent="-268605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2200" dirty="0">
                <a:latin typeface="Courier New"/>
                <a:cs typeface="Courier New"/>
              </a:rPr>
              <a:t>Fredrick</a:t>
            </a:r>
            <a:r>
              <a:rPr sz="2200" spc="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Herzberg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1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famous</a:t>
            </a:r>
            <a:r>
              <a:rPr sz="2200" spc="8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for </a:t>
            </a:r>
            <a:r>
              <a:rPr sz="2200" spc="-10" dirty="0">
                <a:latin typeface="Courier New"/>
                <a:cs typeface="Courier New"/>
              </a:rPr>
              <a:t>factors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from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hygiene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factors.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11669" y="2585466"/>
            <a:ext cx="252285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0" dirty="0">
                <a:latin typeface="Courier New"/>
                <a:cs typeface="Courier New"/>
              </a:rPr>
              <a:t>differentiating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09784" y="2585466"/>
            <a:ext cx="205168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latin typeface="Courier New"/>
                <a:cs typeface="Courier New"/>
              </a:rPr>
              <a:t>motivational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674" y="3719829"/>
            <a:ext cx="10438130" cy="262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0670" indent="-26797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b="1" spc="-10" dirty="0">
                <a:latin typeface="Courier New"/>
                <a:cs typeface="Courier New"/>
              </a:rPr>
              <a:t>Motivators</a:t>
            </a:r>
            <a:r>
              <a:rPr sz="2200" b="1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refer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those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factors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that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cause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job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satisfaction.</a:t>
            </a:r>
            <a:endParaRPr sz="2200">
              <a:latin typeface="Courier New"/>
              <a:cs typeface="Courier New"/>
            </a:endParaRPr>
          </a:p>
          <a:p>
            <a:pPr marL="280670" marR="5080" indent="-268605" algn="just">
              <a:lnSpc>
                <a:spcPct val="150000"/>
              </a:lnSpc>
              <a:spcBef>
                <a:spcPts val="1015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b="1" dirty="0">
                <a:latin typeface="Courier New"/>
                <a:cs typeface="Courier New"/>
              </a:rPr>
              <a:t>Hygiene</a:t>
            </a:r>
            <a:r>
              <a:rPr sz="2200" b="1" spc="420" dirty="0">
                <a:latin typeface="Courier New"/>
                <a:cs typeface="Courier New"/>
              </a:rPr>
              <a:t>  </a:t>
            </a:r>
            <a:r>
              <a:rPr sz="2200" b="1" dirty="0">
                <a:latin typeface="Courier New"/>
                <a:cs typeface="Courier New"/>
              </a:rPr>
              <a:t>factors</a:t>
            </a:r>
            <a:r>
              <a:rPr sz="2200" b="1" spc="49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refer</a:t>
            </a:r>
            <a:r>
              <a:rPr sz="2200" spc="39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36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those</a:t>
            </a:r>
            <a:r>
              <a:rPr sz="2200" spc="39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factors</a:t>
            </a:r>
            <a:r>
              <a:rPr sz="2200" spc="41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490" dirty="0">
                <a:latin typeface="Courier New"/>
                <a:cs typeface="Courier New"/>
              </a:rPr>
              <a:t>  </a:t>
            </a:r>
            <a:r>
              <a:rPr sz="2200" spc="-65" dirty="0">
                <a:latin typeface="Courier New"/>
                <a:cs typeface="Courier New"/>
              </a:rPr>
              <a:t>cause </a:t>
            </a:r>
            <a:r>
              <a:rPr sz="2200" dirty="0">
                <a:latin typeface="Courier New"/>
                <a:cs typeface="Courier New"/>
              </a:rPr>
              <a:t>dissatisfaction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215" dirty="0">
                <a:latin typeface="Courier New"/>
                <a:cs typeface="Courier New"/>
              </a:rPr>
              <a:t>if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not</a:t>
            </a:r>
            <a:r>
              <a:rPr sz="2200" spc="-3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available.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However,</a:t>
            </a:r>
            <a:r>
              <a:rPr sz="2200" spc="-20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their</a:t>
            </a:r>
            <a:r>
              <a:rPr sz="2200" spc="-2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presence</a:t>
            </a:r>
            <a:r>
              <a:rPr sz="2200" spc="3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does </a:t>
            </a:r>
            <a:r>
              <a:rPr sz="2200" spc="-10" dirty="0">
                <a:latin typeface="Courier New"/>
                <a:cs typeface="Courier New"/>
              </a:rPr>
              <a:t>not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motivate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worker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do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more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work.</a:t>
            </a:r>
            <a:endParaRPr sz="2200">
              <a:latin typeface="Courier New"/>
              <a:cs typeface="Courier New"/>
            </a:endParaRPr>
          </a:p>
          <a:p>
            <a:pPr marL="280670" indent="-267970" algn="just">
              <a:lnSpc>
                <a:spcPct val="100000"/>
              </a:lnSpc>
              <a:spcBef>
                <a:spcPts val="2305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spc="-10" dirty="0">
                <a:latin typeface="Courier New"/>
                <a:cs typeface="Courier New"/>
              </a:rPr>
              <a:t>Table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9-</a:t>
            </a:r>
            <a:r>
              <a:rPr sz="2200" dirty="0">
                <a:latin typeface="Courier New"/>
                <a:cs typeface="Courier New"/>
              </a:rPr>
              <a:t>1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highlights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some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examples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these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factors.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709" y="3387216"/>
            <a:ext cx="385508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Examples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Herzberg’s hygiene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factors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</a:t>
            </a:r>
            <a:r>
              <a:rPr sz="2400" spc="-10" dirty="0">
                <a:latin typeface="Courier New"/>
                <a:cs typeface="Courier New"/>
              </a:rPr>
              <a:t>motivators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2311" y="1432560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90141"/>
            <a:ext cx="10883265" cy="3015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spc="-10" dirty="0">
                <a:latin typeface="Courier New"/>
                <a:cs typeface="Courier New"/>
              </a:rPr>
              <a:t>McClelland’s</a:t>
            </a:r>
            <a:r>
              <a:rPr sz="1500" spc="-46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Acquired-Needs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Theory</a:t>
            </a:r>
            <a:endParaRPr sz="1500">
              <a:latin typeface="Courier New"/>
              <a:cs typeface="Courier New"/>
            </a:endParaRPr>
          </a:p>
          <a:p>
            <a:pPr marL="734695" lvl="1" indent="-265430" algn="just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734695" algn="l"/>
              </a:tabLst>
            </a:pPr>
            <a:r>
              <a:rPr sz="1500" spc="-10" dirty="0">
                <a:latin typeface="Courier New"/>
                <a:cs typeface="Courier New"/>
              </a:rPr>
              <a:t>According</a:t>
            </a:r>
            <a:r>
              <a:rPr sz="1500" spc="-270" dirty="0">
                <a:latin typeface="Courier New"/>
                <a:cs typeface="Courier New"/>
              </a:rPr>
              <a:t> </a:t>
            </a:r>
            <a:r>
              <a:rPr sz="1500" spc="-35" dirty="0">
                <a:latin typeface="Courier New"/>
                <a:cs typeface="Courier New"/>
              </a:rPr>
              <a:t>to</a:t>
            </a:r>
            <a:r>
              <a:rPr sz="1500" spc="-290" dirty="0">
                <a:latin typeface="Courier New"/>
                <a:cs typeface="Courier New"/>
              </a:rPr>
              <a:t> </a:t>
            </a:r>
            <a:r>
              <a:rPr sz="1500" spc="-40" dirty="0">
                <a:latin typeface="Courier New"/>
                <a:cs typeface="Courier New"/>
              </a:rPr>
              <a:t>David</a:t>
            </a:r>
            <a:r>
              <a:rPr sz="1500" spc="-270" dirty="0">
                <a:latin typeface="Courier New"/>
                <a:cs typeface="Courier New"/>
              </a:rPr>
              <a:t> </a:t>
            </a:r>
            <a:r>
              <a:rPr sz="1500" spc="-30" dirty="0">
                <a:latin typeface="Courier New"/>
                <a:cs typeface="Courier New"/>
              </a:rPr>
              <a:t>McClelland,</a:t>
            </a:r>
            <a:r>
              <a:rPr sz="1500" spc="-235" dirty="0">
                <a:latin typeface="Courier New"/>
                <a:cs typeface="Courier New"/>
              </a:rPr>
              <a:t> </a:t>
            </a:r>
            <a:r>
              <a:rPr sz="1500" spc="-35" dirty="0">
                <a:latin typeface="Courier New"/>
                <a:cs typeface="Courier New"/>
              </a:rPr>
              <a:t>person’s</a:t>
            </a:r>
            <a:r>
              <a:rPr sz="1500" spc="-240" dirty="0">
                <a:latin typeface="Courier New"/>
                <a:cs typeface="Courier New"/>
              </a:rPr>
              <a:t> </a:t>
            </a:r>
            <a:r>
              <a:rPr sz="1500" spc="-30" dirty="0">
                <a:latin typeface="Courier New"/>
                <a:cs typeface="Courier New"/>
              </a:rPr>
              <a:t>particular</a:t>
            </a:r>
            <a:r>
              <a:rPr sz="1500" spc="-240" dirty="0">
                <a:latin typeface="Courier New"/>
                <a:cs typeface="Courier New"/>
              </a:rPr>
              <a:t> </a:t>
            </a:r>
            <a:r>
              <a:rPr sz="1500" spc="-40" dirty="0">
                <a:latin typeface="Courier New"/>
                <a:cs typeface="Courier New"/>
              </a:rPr>
              <a:t>needs</a:t>
            </a:r>
            <a:r>
              <a:rPr sz="1500" spc="-39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are</a:t>
            </a:r>
            <a:r>
              <a:rPr sz="1500" spc="-260" dirty="0">
                <a:latin typeface="Courier New"/>
                <a:cs typeface="Courier New"/>
              </a:rPr>
              <a:t> </a:t>
            </a:r>
            <a:r>
              <a:rPr sz="1500" spc="-30" dirty="0">
                <a:latin typeface="Courier New"/>
                <a:cs typeface="Courier New"/>
              </a:rPr>
              <a:t>acquired</a:t>
            </a:r>
            <a:r>
              <a:rPr sz="1500" spc="-260" dirty="0">
                <a:latin typeface="Courier New"/>
                <a:cs typeface="Courier New"/>
              </a:rPr>
              <a:t> </a:t>
            </a:r>
            <a:r>
              <a:rPr sz="1500" spc="-35" dirty="0">
                <a:latin typeface="Courier New"/>
                <a:cs typeface="Courier New"/>
              </a:rPr>
              <a:t>or</a:t>
            </a:r>
            <a:r>
              <a:rPr sz="1500" spc="-295" dirty="0">
                <a:latin typeface="Courier New"/>
                <a:cs typeface="Courier New"/>
              </a:rPr>
              <a:t> </a:t>
            </a:r>
            <a:r>
              <a:rPr sz="1500" spc="-35" dirty="0">
                <a:latin typeface="Courier New"/>
                <a:cs typeface="Courier New"/>
              </a:rPr>
              <a:t>learned</a:t>
            </a:r>
            <a:r>
              <a:rPr sz="1500" spc="-260" dirty="0">
                <a:latin typeface="Courier New"/>
                <a:cs typeface="Courier New"/>
              </a:rPr>
              <a:t> </a:t>
            </a:r>
            <a:r>
              <a:rPr sz="1500" spc="-35" dirty="0">
                <a:latin typeface="Courier New"/>
                <a:cs typeface="Courier New"/>
              </a:rPr>
              <a:t>over</a:t>
            </a:r>
            <a:r>
              <a:rPr sz="1500" spc="-36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time</a:t>
            </a:r>
            <a:r>
              <a:rPr sz="1500" spc="-180" dirty="0"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and</a:t>
            </a:r>
            <a:endParaRPr sz="1500">
              <a:latin typeface="Courier New"/>
              <a:cs typeface="Courier New"/>
            </a:endParaRPr>
          </a:p>
          <a:p>
            <a:pPr marL="737870" algn="just">
              <a:lnSpc>
                <a:spcPct val="100000"/>
              </a:lnSpc>
              <a:spcBef>
                <a:spcPts val="555"/>
              </a:spcBef>
            </a:pPr>
            <a:r>
              <a:rPr sz="1500" dirty="0">
                <a:latin typeface="Courier New"/>
                <a:cs typeface="Courier New"/>
              </a:rPr>
              <a:t>molded</a:t>
            </a:r>
            <a:r>
              <a:rPr sz="1500" spc="-49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by</a:t>
            </a:r>
            <a:r>
              <a:rPr sz="1500" spc="-51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life</a:t>
            </a:r>
            <a:r>
              <a:rPr sz="1500" spc="-484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experiences.</a:t>
            </a:r>
            <a:r>
              <a:rPr sz="1500" spc="-49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Acquired</a:t>
            </a:r>
            <a:r>
              <a:rPr sz="1500" b="1" spc="-11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needs</a:t>
            </a:r>
            <a:r>
              <a:rPr sz="1500" b="1" spc="-6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can</a:t>
            </a:r>
            <a:r>
              <a:rPr sz="1500" spc="-44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be</a:t>
            </a:r>
            <a:r>
              <a:rPr sz="1500" spc="-49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categorized</a:t>
            </a:r>
            <a:r>
              <a:rPr sz="1500" spc="-47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as</a:t>
            </a:r>
            <a:r>
              <a:rPr sz="1500" spc="-49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follows.</a:t>
            </a:r>
            <a:endParaRPr sz="1500">
              <a:latin typeface="Courier New"/>
              <a:cs typeface="Courier New"/>
            </a:endParaRPr>
          </a:p>
          <a:p>
            <a:pPr marL="1243330" marR="6985" lvl="2" indent="-316865" algn="just">
              <a:lnSpc>
                <a:spcPct val="130100"/>
              </a:lnSpc>
              <a:spcBef>
                <a:spcPts val="994"/>
              </a:spcBef>
              <a:buFont typeface="Arial MT"/>
              <a:buChar char="•"/>
              <a:tabLst>
                <a:tab pos="1247140" algn="l"/>
              </a:tabLst>
            </a:pPr>
            <a:r>
              <a:rPr sz="1500" b="1" dirty="0">
                <a:latin typeface="Courier New"/>
                <a:cs typeface="Courier New"/>
              </a:rPr>
              <a:t>Achievement:</a:t>
            </a:r>
            <a:r>
              <a:rPr sz="1500" b="1" spc="-21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People</a:t>
            </a:r>
            <a:r>
              <a:rPr sz="1500" spc="-16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with</a:t>
            </a:r>
            <a:r>
              <a:rPr sz="1500" spc="-19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a</a:t>
            </a:r>
            <a:r>
              <a:rPr sz="1500" spc="-225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high</a:t>
            </a:r>
            <a:r>
              <a:rPr sz="1500" spc="-18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need</a:t>
            </a:r>
            <a:r>
              <a:rPr sz="1500" spc="-19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for</a:t>
            </a:r>
            <a:r>
              <a:rPr sz="1500" spc="-190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achievements</a:t>
            </a:r>
            <a:r>
              <a:rPr sz="1500" spc="-18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tend</a:t>
            </a:r>
            <a:r>
              <a:rPr sz="1500" spc="-16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to</a:t>
            </a:r>
            <a:r>
              <a:rPr sz="1500" spc="-210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avoid</a:t>
            </a:r>
            <a:r>
              <a:rPr sz="1500" spc="-165" dirty="0">
                <a:latin typeface="Courier New"/>
                <a:cs typeface="Courier New"/>
              </a:rPr>
              <a:t> </a:t>
            </a:r>
            <a:r>
              <a:rPr sz="1500" spc="-50" dirty="0">
                <a:latin typeface="Courier New"/>
                <a:cs typeface="Courier New"/>
              </a:rPr>
              <a:t>low-</a:t>
            </a:r>
            <a:r>
              <a:rPr sz="1500" dirty="0">
                <a:latin typeface="Courier New"/>
                <a:cs typeface="Courier New"/>
              </a:rPr>
              <a:t>risk</a:t>
            </a:r>
            <a:r>
              <a:rPr sz="1500" spc="-16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as</a:t>
            </a:r>
            <a:r>
              <a:rPr sz="1500" spc="-2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well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as 	</a:t>
            </a:r>
            <a:r>
              <a:rPr sz="1500" spc="-10" dirty="0">
                <a:latin typeface="Courier New"/>
                <a:cs typeface="Courier New"/>
              </a:rPr>
              <a:t>high-</a:t>
            </a:r>
            <a:r>
              <a:rPr sz="1500" dirty="0">
                <a:latin typeface="Courier New"/>
                <a:cs typeface="Courier New"/>
              </a:rPr>
              <a:t>risk</a:t>
            </a:r>
            <a:r>
              <a:rPr sz="1500" spc="23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situations.</a:t>
            </a:r>
            <a:r>
              <a:rPr sz="1500" spc="24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High</a:t>
            </a:r>
            <a:r>
              <a:rPr sz="1500" spc="3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achievers</a:t>
            </a:r>
            <a:r>
              <a:rPr sz="1500" spc="2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should</a:t>
            </a:r>
            <a:r>
              <a:rPr sz="1500" spc="2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be</a:t>
            </a:r>
            <a:r>
              <a:rPr sz="1500" spc="20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assigned</a:t>
            </a:r>
            <a:r>
              <a:rPr sz="1500" spc="2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challenging</a:t>
            </a:r>
            <a:r>
              <a:rPr sz="1500" spc="254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projects</a:t>
            </a:r>
            <a:r>
              <a:rPr sz="1500" spc="295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with 	</a:t>
            </a:r>
            <a:r>
              <a:rPr sz="1500" spc="-10" dirty="0">
                <a:latin typeface="Courier New"/>
                <a:cs typeface="Courier New"/>
              </a:rPr>
              <a:t>achievable</a:t>
            </a:r>
            <a:r>
              <a:rPr sz="1500" spc="-49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goals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and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should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be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provided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regular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feedback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about</a:t>
            </a:r>
            <a:r>
              <a:rPr sz="1500" spc="-459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their</a:t>
            </a:r>
            <a:r>
              <a:rPr sz="1500" spc="-47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performance.</a:t>
            </a:r>
            <a:endParaRPr sz="1500">
              <a:latin typeface="Courier New"/>
              <a:cs typeface="Courier New"/>
            </a:endParaRPr>
          </a:p>
          <a:p>
            <a:pPr marL="1243330" marR="5080" lvl="2" indent="-316865" algn="just">
              <a:lnSpc>
                <a:spcPct val="130100"/>
              </a:lnSpc>
              <a:spcBef>
                <a:spcPts val="994"/>
              </a:spcBef>
              <a:buFont typeface="Arial MT"/>
              <a:buChar char="•"/>
              <a:tabLst>
                <a:tab pos="1247140" algn="l"/>
              </a:tabLst>
            </a:pPr>
            <a:r>
              <a:rPr sz="1500" b="1" dirty="0">
                <a:latin typeface="Courier New"/>
                <a:cs typeface="Courier New"/>
              </a:rPr>
              <a:t>Af</a:t>
            </a:r>
            <a:r>
              <a:rPr sz="1500" b="1" spc="-20" dirty="0">
                <a:latin typeface="Courier New"/>
                <a:cs typeface="Courier New"/>
              </a:rPr>
              <a:t>f</a:t>
            </a:r>
            <a:r>
              <a:rPr sz="1500" b="1" dirty="0">
                <a:latin typeface="Courier New"/>
                <a:cs typeface="Courier New"/>
              </a:rPr>
              <a:t>i</a:t>
            </a:r>
            <a:r>
              <a:rPr sz="1500" b="1" spc="-20" dirty="0">
                <a:latin typeface="Courier New"/>
                <a:cs typeface="Courier New"/>
              </a:rPr>
              <a:t>l</a:t>
            </a:r>
            <a:r>
              <a:rPr sz="1500" b="1" dirty="0">
                <a:latin typeface="Courier New"/>
                <a:cs typeface="Courier New"/>
              </a:rPr>
              <a:t>i</a:t>
            </a:r>
            <a:r>
              <a:rPr sz="1500" b="1" spc="-20" dirty="0">
                <a:latin typeface="Courier New"/>
                <a:cs typeface="Courier New"/>
              </a:rPr>
              <a:t>a</a:t>
            </a:r>
            <a:r>
              <a:rPr sz="1500" b="1" dirty="0">
                <a:latin typeface="Courier New"/>
                <a:cs typeface="Courier New"/>
              </a:rPr>
              <a:t>t</a:t>
            </a:r>
            <a:r>
              <a:rPr sz="1500" b="1" spc="-20" dirty="0">
                <a:latin typeface="Courier New"/>
                <a:cs typeface="Courier New"/>
              </a:rPr>
              <a:t>i</a:t>
            </a:r>
            <a:r>
              <a:rPr sz="1500" b="1" dirty="0">
                <a:latin typeface="Courier New"/>
                <a:cs typeface="Courier New"/>
              </a:rPr>
              <a:t>o</a:t>
            </a:r>
            <a:r>
              <a:rPr sz="1500" b="1" spc="-5" dirty="0">
                <a:latin typeface="Courier New"/>
                <a:cs typeface="Courier New"/>
              </a:rPr>
              <a:t>n</a:t>
            </a:r>
            <a:r>
              <a:rPr sz="1500" b="1" dirty="0">
                <a:latin typeface="Courier New"/>
                <a:cs typeface="Courier New"/>
              </a:rPr>
              <a:t>:</a:t>
            </a:r>
            <a:r>
              <a:rPr sz="1500" b="1" spc="110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P</a:t>
            </a:r>
            <a:r>
              <a:rPr sz="1500" spc="-45" dirty="0">
                <a:latin typeface="Courier New"/>
                <a:cs typeface="Courier New"/>
              </a:rPr>
              <a:t>e</a:t>
            </a:r>
            <a:r>
              <a:rPr sz="1500" spc="-20" dirty="0">
                <a:latin typeface="Courier New"/>
                <a:cs typeface="Courier New"/>
              </a:rPr>
              <a:t>opl</a:t>
            </a:r>
            <a:r>
              <a:rPr sz="1500" dirty="0">
                <a:latin typeface="Courier New"/>
                <a:cs typeface="Courier New"/>
              </a:rPr>
              <a:t>e</a:t>
            </a:r>
            <a:r>
              <a:rPr sz="1500" spc="114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w</a:t>
            </a:r>
            <a:r>
              <a:rPr sz="1500" spc="-45" dirty="0">
                <a:latin typeface="Courier New"/>
                <a:cs typeface="Courier New"/>
              </a:rPr>
              <a:t>h</a:t>
            </a:r>
            <a:r>
              <a:rPr sz="1500" dirty="0">
                <a:latin typeface="Courier New"/>
                <a:cs typeface="Courier New"/>
              </a:rPr>
              <a:t>o</a:t>
            </a:r>
            <a:r>
              <a:rPr sz="1500" spc="85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h</a:t>
            </a:r>
            <a:r>
              <a:rPr sz="1500" spc="-45" dirty="0">
                <a:latin typeface="Courier New"/>
                <a:cs typeface="Courier New"/>
              </a:rPr>
              <a:t>av</a:t>
            </a:r>
            <a:r>
              <a:rPr sz="1500" dirty="0">
                <a:latin typeface="Courier New"/>
                <a:cs typeface="Courier New"/>
              </a:rPr>
              <a:t>e</a:t>
            </a:r>
            <a:r>
              <a:rPr sz="1500" spc="11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a</a:t>
            </a:r>
            <a:r>
              <a:rPr sz="1500" spc="15" dirty="0">
                <a:latin typeface="Courier New"/>
                <a:cs typeface="Courier New"/>
              </a:rPr>
              <a:t> </a:t>
            </a:r>
            <a:r>
              <a:rPr sz="1500" spc="-95" dirty="0">
                <a:latin typeface="Courier New"/>
                <a:cs typeface="Courier New"/>
              </a:rPr>
              <a:t>h</a:t>
            </a:r>
            <a:r>
              <a:rPr sz="1500" spc="-45" dirty="0">
                <a:latin typeface="Courier New"/>
                <a:cs typeface="Courier New"/>
              </a:rPr>
              <a:t>i</a:t>
            </a:r>
            <a:r>
              <a:rPr sz="1500" spc="-20" dirty="0">
                <a:latin typeface="Courier New"/>
                <a:cs typeface="Courier New"/>
              </a:rPr>
              <a:t>g</a:t>
            </a:r>
            <a:r>
              <a:rPr sz="1500" dirty="0">
                <a:latin typeface="Courier New"/>
                <a:cs typeface="Courier New"/>
              </a:rPr>
              <a:t>h</a:t>
            </a:r>
            <a:r>
              <a:rPr sz="1500" spc="85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n</a:t>
            </a:r>
            <a:r>
              <a:rPr sz="1500" spc="-45" dirty="0">
                <a:latin typeface="Courier New"/>
                <a:cs typeface="Courier New"/>
              </a:rPr>
              <a:t>e</a:t>
            </a:r>
            <a:r>
              <a:rPr sz="1500" spc="-20" dirty="0">
                <a:latin typeface="Courier New"/>
                <a:cs typeface="Courier New"/>
              </a:rPr>
              <a:t>e</a:t>
            </a:r>
            <a:r>
              <a:rPr sz="1500" dirty="0">
                <a:latin typeface="Courier New"/>
                <a:cs typeface="Courier New"/>
              </a:rPr>
              <a:t>d</a:t>
            </a:r>
            <a:r>
              <a:rPr sz="1500" spc="90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f</a:t>
            </a:r>
            <a:r>
              <a:rPr sz="1500" spc="-45" dirty="0">
                <a:latin typeface="Courier New"/>
                <a:cs typeface="Courier New"/>
              </a:rPr>
              <a:t>o</a:t>
            </a:r>
            <a:r>
              <a:rPr sz="1500" dirty="0">
                <a:latin typeface="Courier New"/>
                <a:cs typeface="Courier New"/>
              </a:rPr>
              <a:t>r</a:t>
            </a:r>
            <a:r>
              <a:rPr sz="1500" spc="85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a</a:t>
            </a:r>
            <a:r>
              <a:rPr sz="1500" spc="-45" dirty="0">
                <a:latin typeface="Courier New"/>
                <a:cs typeface="Courier New"/>
              </a:rPr>
              <a:t>f</a:t>
            </a:r>
            <a:r>
              <a:rPr sz="1500" spc="-20" dirty="0">
                <a:latin typeface="Courier New"/>
                <a:cs typeface="Courier New"/>
              </a:rPr>
              <a:t>fil</a:t>
            </a:r>
            <a:r>
              <a:rPr sz="1500" dirty="0">
                <a:latin typeface="Courier New"/>
                <a:cs typeface="Courier New"/>
              </a:rPr>
              <a:t>i</a:t>
            </a:r>
            <a:r>
              <a:rPr sz="1500" spc="-20" dirty="0">
                <a:latin typeface="Courier New"/>
                <a:cs typeface="Courier New"/>
              </a:rPr>
              <a:t>a</a:t>
            </a:r>
            <a:r>
              <a:rPr sz="1500" dirty="0">
                <a:latin typeface="Courier New"/>
                <a:cs typeface="Courier New"/>
              </a:rPr>
              <a:t>t</a:t>
            </a:r>
            <a:r>
              <a:rPr sz="1500" spc="-20" dirty="0">
                <a:latin typeface="Courier New"/>
                <a:cs typeface="Courier New"/>
              </a:rPr>
              <a:t>i</a:t>
            </a:r>
            <a:r>
              <a:rPr sz="1500" dirty="0">
                <a:latin typeface="Courier New"/>
                <a:cs typeface="Courier New"/>
              </a:rPr>
              <a:t>on</a:t>
            </a:r>
            <a:r>
              <a:rPr sz="1500" spc="120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h</a:t>
            </a:r>
            <a:r>
              <a:rPr sz="1500" spc="-45" dirty="0">
                <a:latin typeface="Courier New"/>
                <a:cs typeface="Courier New"/>
              </a:rPr>
              <a:t>a</a:t>
            </a:r>
            <a:r>
              <a:rPr sz="1500" spc="-20" dirty="0">
                <a:latin typeface="Courier New"/>
                <a:cs typeface="Courier New"/>
              </a:rPr>
              <a:t>v</a:t>
            </a:r>
            <a:r>
              <a:rPr sz="1500" dirty="0">
                <a:latin typeface="Courier New"/>
                <a:cs typeface="Courier New"/>
              </a:rPr>
              <a:t>e</a:t>
            </a:r>
            <a:r>
              <a:rPr sz="1500" spc="85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d</a:t>
            </a:r>
            <a:r>
              <a:rPr sz="1500" spc="-45" dirty="0">
                <a:latin typeface="Courier New"/>
                <a:cs typeface="Courier New"/>
              </a:rPr>
              <a:t>e</a:t>
            </a:r>
            <a:r>
              <a:rPr sz="1500" spc="-20" dirty="0">
                <a:latin typeface="Courier New"/>
                <a:cs typeface="Courier New"/>
              </a:rPr>
              <a:t>sir</a:t>
            </a:r>
            <a:r>
              <a:rPr sz="1500" spc="5" dirty="0">
                <a:latin typeface="Courier New"/>
                <a:cs typeface="Courier New"/>
              </a:rPr>
              <a:t>e</a:t>
            </a:r>
            <a:r>
              <a:rPr sz="1500" dirty="0">
                <a:latin typeface="Courier New"/>
                <a:cs typeface="Courier New"/>
              </a:rPr>
              <a:t>s</a:t>
            </a:r>
            <a:r>
              <a:rPr sz="1500" spc="100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f</a:t>
            </a:r>
            <a:r>
              <a:rPr sz="1500" spc="-45" dirty="0">
                <a:latin typeface="Courier New"/>
                <a:cs typeface="Courier New"/>
              </a:rPr>
              <a:t>o</a:t>
            </a:r>
            <a:r>
              <a:rPr sz="1500" dirty="0">
                <a:latin typeface="Courier New"/>
                <a:cs typeface="Courier New"/>
              </a:rPr>
              <a:t>r</a:t>
            </a:r>
            <a:r>
              <a:rPr sz="1500" spc="90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h</a:t>
            </a:r>
            <a:r>
              <a:rPr sz="1500" spc="-20" dirty="0">
                <a:latin typeface="Courier New"/>
                <a:cs typeface="Courier New"/>
              </a:rPr>
              <a:t>a</a:t>
            </a:r>
            <a:r>
              <a:rPr sz="1500" dirty="0">
                <a:latin typeface="Courier New"/>
                <a:cs typeface="Courier New"/>
              </a:rPr>
              <a:t>rmoni</a:t>
            </a:r>
            <a:r>
              <a:rPr sz="1500" spc="25" dirty="0">
                <a:latin typeface="Courier New"/>
                <a:cs typeface="Courier New"/>
              </a:rPr>
              <a:t>ou</a:t>
            </a:r>
            <a:r>
              <a:rPr sz="1500" dirty="0">
                <a:latin typeface="Courier New"/>
                <a:cs typeface="Courier New"/>
              </a:rPr>
              <a:t>s 	</a:t>
            </a:r>
            <a:r>
              <a:rPr sz="1500" spc="-5" dirty="0">
                <a:latin typeface="Courier New"/>
                <a:cs typeface="Courier New"/>
              </a:rPr>
              <a:t>r</a:t>
            </a:r>
            <a:r>
              <a:rPr sz="1500" dirty="0">
                <a:latin typeface="Courier New"/>
                <a:cs typeface="Courier New"/>
              </a:rPr>
              <a:t>e</a:t>
            </a:r>
            <a:r>
              <a:rPr sz="1500" spc="-25" dirty="0">
                <a:latin typeface="Courier New"/>
                <a:cs typeface="Courier New"/>
              </a:rPr>
              <a:t>l</a:t>
            </a:r>
            <a:r>
              <a:rPr sz="1500" spc="-5" dirty="0">
                <a:latin typeface="Courier New"/>
                <a:cs typeface="Courier New"/>
              </a:rPr>
              <a:t>a</a:t>
            </a:r>
            <a:r>
              <a:rPr sz="1500" spc="-20" dirty="0">
                <a:latin typeface="Courier New"/>
                <a:cs typeface="Courier New"/>
              </a:rPr>
              <a:t>t</a:t>
            </a:r>
            <a:r>
              <a:rPr sz="1500" spc="-5" dirty="0">
                <a:latin typeface="Courier New"/>
                <a:cs typeface="Courier New"/>
              </a:rPr>
              <a:t>i</a:t>
            </a:r>
            <a:r>
              <a:rPr sz="1500" spc="-20" dirty="0">
                <a:latin typeface="Courier New"/>
                <a:cs typeface="Courier New"/>
              </a:rPr>
              <a:t>o</a:t>
            </a:r>
            <a:r>
              <a:rPr sz="1500" spc="-5" dirty="0">
                <a:latin typeface="Courier New"/>
                <a:cs typeface="Courier New"/>
              </a:rPr>
              <a:t>n</a:t>
            </a:r>
            <a:r>
              <a:rPr sz="1500" spc="-20" dirty="0">
                <a:latin typeface="Courier New"/>
                <a:cs typeface="Courier New"/>
              </a:rPr>
              <a:t>s</a:t>
            </a:r>
            <a:r>
              <a:rPr sz="1500" spc="-5" dirty="0">
                <a:latin typeface="Courier New"/>
                <a:cs typeface="Courier New"/>
              </a:rPr>
              <a:t>h</a:t>
            </a:r>
            <a:r>
              <a:rPr sz="1500" spc="-20" dirty="0">
                <a:latin typeface="Courier New"/>
                <a:cs typeface="Courier New"/>
              </a:rPr>
              <a:t>i</a:t>
            </a:r>
            <a:r>
              <a:rPr sz="1500" spc="-5" dirty="0">
                <a:latin typeface="Courier New"/>
                <a:cs typeface="Courier New"/>
              </a:rPr>
              <a:t>p</a:t>
            </a:r>
            <a:r>
              <a:rPr sz="1500" spc="-20" dirty="0">
                <a:latin typeface="Courier New"/>
                <a:cs typeface="Courier New"/>
              </a:rPr>
              <a:t>s</a:t>
            </a:r>
            <a:r>
              <a:rPr sz="1500" dirty="0">
                <a:latin typeface="Courier New"/>
                <a:cs typeface="Courier New"/>
              </a:rPr>
              <a:t>.</a:t>
            </a:r>
            <a:r>
              <a:rPr sz="1500" spc="-345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T</a:t>
            </a:r>
            <a:r>
              <a:rPr sz="1500" spc="-45" dirty="0">
                <a:latin typeface="Courier New"/>
                <a:cs typeface="Courier New"/>
              </a:rPr>
              <a:t>h</a:t>
            </a:r>
            <a:r>
              <a:rPr sz="1500" spc="-25" dirty="0">
                <a:latin typeface="Courier New"/>
                <a:cs typeface="Courier New"/>
              </a:rPr>
              <a:t>e</a:t>
            </a:r>
            <a:r>
              <a:rPr sz="1500" dirty="0">
                <a:latin typeface="Courier New"/>
                <a:cs typeface="Courier New"/>
              </a:rPr>
              <a:t>y</a:t>
            </a:r>
            <a:r>
              <a:rPr sz="1500" spc="-370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n</a:t>
            </a:r>
            <a:r>
              <a:rPr sz="1500" spc="-45" dirty="0">
                <a:latin typeface="Courier New"/>
                <a:cs typeface="Courier New"/>
              </a:rPr>
              <a:t>e</a:t>
            </a:r>
            <a:r>
              <a:rPr sz="1500" spc="-25" dirty="0">
                <a:latin typeface="Courier New"/>
                <a:cs typeface="Courier New"/>
              </a:rPr>
              <a:t>e</a:t>
            </a:r>
            <a:r>
              <a:rPr sz="1500" dirty="0">
                <a:latin typeface="Courier New"/>
                <a:cs typeface="Courier New"/>
              </a:rPr>
              <a:t>d</a:t>
            </a:r>
            <a:r>
              <a:rPr sz="1500" spc="-350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t</a:t>
            </a:r>
            <a:r>
              <a:rPr sz="1500" dirty="0">
                <a:latin typeface="Courier New"/>
                <a:cs typeface="Courier New"/>
              </a:rPr>
              <a:t>o</a:t>
            </a:r>
            <a:r>
              <a:rPr sz="1500" spc="-395" dirty="0">
                <a:latin typeface="Courier New"/>
                <a:cs typeface="Courier New"/>
              </a:rPr>
              <a:t> </a:t>
            </a:r>
            <a:r>
              <a:rPr sz="1500" spc="-170" dirty="0">
                <a:latin typeface="Courier New"/>
                <a:cs typeface="Courier New"/>
              </a:rPr>
              <a:t>f</a:t>
            </a:r>
            <a:r>
              <a:rPr sz="1500" spc="-5" dirty="0">
                <a:latin typeface="Courier New"/>
                <a:cs typeface="Courier New"/>
              </a:rPr>
              <a:t>e</a:t>
            </a:r>
            <a:r>
              <a:rPr sz="1500" dirty="0">
                <a:latin typeface="Courier New"/>
                <a:cs typeface="Courier New"/>
              </a:rPr>
              <a:t>el</a:t>
            </a:r>
            <a:r>
              <a:rPr sz="1500" spc="-365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a</a:t>
            </a:r>
            <a:r>
              <a:rPr sz="1500" spc="-45" dirty="0">
                <a:latin typeface="Courier New"/>
                <a:cs typeface="Courier New"/>
              </a:rPr>
              <a:t>c</a:t>
            </a:r>
            <a:r>
              <a:rPr sz="1500" spc="-25" dirty="0">
                <a:latin typeface="Courier New"/>
                <a:cs typeface="Courier New"/>
              </a:rPr>
              <a:t>ce</a:t>
            </a:r>
            <a:r>
              <a:rPr sz="1500" spc="-5" dirty="0">
                <a:latin typeface="Courier New"/>
                <a:cs typeface="Courier New"/>
              </a:rPr>
              <a:t>p</a:t>
            </a:r>
            <a:r>
              <a:rPr sz="1500" spc="-20" dirty="0">
                <a:latin typeface="Courier New"/>
                <a:cs typeface="Courier New"/>
              </a:rPr>
              <a:t>t</a:t>
            </a:r>
            <a:r>
              <a:rPr sz="1500" spc="-5" dirty="0">
                <a:latin typeface="Courier New"/>
                <a:cs typeface="Courier New"/>
              </a:rPr>
              <a:t>e</a:t>
            </a:r>
            <a:r>
              <a:rPr sz="1500" dirty="0">
                <a:latin typeface="Courier New"/>
                <a:cs typeface="Courier New"/>
              </a:rPr>
              <a:t>d</a:t>
            </a:r>
            <a:r>
              <a:rPr sz="1500" spc="-345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b</a:t>
            </a:r>
            <a:r>
              <a:rPr sz="1500" dirty="0">
                <a:latin typeface="Courier New"/>
                <a:cs typeface="Courier New"/>
              </a:rPr>
              <a:t>y</a:t>
            </a:r>
            <a:r>
              <a:rPr sz="1500" spc="-395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o</a:t>
            </a:r>
            <a:r>
              <a:rPr sz="1500" spc="-45" dirty="0">
                <a:latin typeface="Courier New"/>
                <a:cs typeface="Courier New"/>
              </a:rPr>
              <a:t>t</a:t>
            </a:r>
            <a:r>
              <a:rPr sz="1500" spc="-25" dirty="0">
                <a:latin typeface="Courier New"/>
                <a:cs typeface="Courier New"/>
              </a:rPr>
              <a:t>hers</a:t>
            </a:r>
            <a:r>
              <a:rPr sz="1500" dirty="0">
                <a:latin typeface="Courier New"/>
                <a:cs typeface="Courier New"/>
              </a:rPr>
              <a:t>.</a:t>
            </a:r>
            <a:r>
              <a:rPr sz="1500" spc="-345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M</a:t>
            </a:r>
            <a:r>
              <a:rPr sz="1500" spc="-45" dirty="0">
                <a:latin typeface="Courier New"/>
                <a:cs typeface="Courier New"/>
              </a:rPr>
              <a:t>a</a:t>
            </a:r>
            <a:r>
              <a:rPr sz="1500" spc="-25" dirty="0">
                <a:latin typeface="Courier New"/>
                <a:cs typeface="Courier New"/>
              </a:rPr>
              <a:t>nag</a:t>
            </a:r>
            <a:r>
              <a:rPr sz="1500" spc="-5" dirty="0">
                <a:latin typeface="Courier New"/>
                <a:cs typeface="Courier New"/>
              </a:rPr>
              <a:t>e</a:t>
            </a:r>
            <a:r>
              <a:rPr sz="1500" dirty="0">
                <a:latin typeface="Courier New"/>
                <a:cs typeface="Courier New"/>
              </a:rPr>
              <a:t>rs</a:t>
            </a:r>
            <a:r>
              <a:rPr sz="1500" spc="-365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s</a:t>
            </a:r>
            <a:r>
              <a:rPr sz="1500" spc="-45" dirty="0">
                <a:latin typeface="Courier New"/>
                <a:cs typeface="Courier New"/>
              </a:rPr>
              <a:t>h</a:t>
            </a:r>
            <a:r>
              <a:rPr sz="1500" spc="-25" dirty="0">
                <a:latin typeface="Courier New"/>
                <a:cs typeface="Courier New"/>
              </a:rPr>
              <a:t>ou</a:t>
            </a:r>
            <a:r>
              <a:rPr sz="1500" spc="-5" dirty="0">
                <a:latin typeface="Courier New"/>
                <a:cs typeface="Courier New"/>
              </a:rPr>
              <a:t>l</a:t>
            </a:r>
            <a:r>
              <a:rPr sz="1500" dirty="0">
                <a:latin typeface="Courier New"/>
                <a:cs typeface="Courier New"/>
              </a:rPr>
              <a:t>d</a:t>
            </a:r>
            <a:r>
              <a:rPr sz="1500" spc="-340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d</a:t>
            </a:r>
            <a:r>
              <a:rPr sz="1500" spc="-45" dirty="0">
                <a:latin typeface="Courier New"/>
                <a:cs typeface="Courier New"/>
              </a:rPr>
              <a:t>e</a:t>
            </a:r>
            <a:r>
              <a:rPr sz="1500" spc="-25" dirty="0">
                <a:latin typeface="Courier New"/>
                <a:cs typeface="Courier New"/>
              </a:rPr>
              <a:t>vel</a:t>
            </a:r>
            <a:r>
              <a:rPr sz="1500" spc="-5" dirty="0">
                <a:latin typeface="Courier New"/>
                <a:cs typeface="Courier New"/>
              </a:rPr>
              <a:t>o</a:t>
            </a:r>
            <a:r>
              <a:rPr sz="1500" dirty="0">
                <a:latin typeface="Courier New"/>
                <a:cs typeface="Courier New"/>
              </a:rPr>
              <a:t>p</a:t>
            </a:r>
            <a:r>
              <a:rPr sz="1500" spc="-34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a</a:t>
            </a:r>
            <a:r>
              <a:rPr sz="1500" spc="-445" dirty="0">
                <a:latin typeface="Courier New"/>
                <a:cs typeface="Courier New"/>
              </a:rPr>
              <a:t> </a:t>
            </a:r>
            <a:r>
              <a:rPr sz="1500" spc="-95" dirty="0">
                <a:latin typeface="Courier New"/>
                <a:cs typeface="Courier New"/>
              </a:rPr>
              <a:t>c</a:t>
            </a:r>
            <a:r>
              <a:rPr sz="1500" spc="-20" dirty="0">
                <a:latin typeface="Courier New"/>
                <a:cs typeface="Courier New"/>
              </a:rPr>
              <a:t>o</a:t>
            </a:r>
            <a:r>
              <a:rPr sz="1500" dirty="0">
                <a:latin typeface="Courier New"/>
                <a:cs typeface="Courier New"/>
              </a:rPr>
              <a:t>ope</a:t>
            </a:r>
            <a:r>
              <a:rPr sz="1500" spc="25" dirty="0">
                <a:latin typeface="Courier New"/>
                <a:cs typeface="Courier New"/>
              </a:rPr>
              <a:t>r</a:t>
            </a:r>
            <a:r>
              <a:rPr sz="1500" dirty="0">
                <a:latin typeface="Courier New"/>
                <a:cs typeface="Courier New"/>
              </a:rPr>
              <a:t>at</a:t>
            </a:r>
            <a:r>
              <a:rPr sz="1500" spc="25" dirty="0">
                <a:latin typeface="Courier New"/>
                <a:cs typeface="Courier New"/>
              </a:rPr>
              <a:t>iv</a:t>
            </a:r>
            <a:r>
              <a:rPr sz="1500" dirty="0">
                <a:latin typeface="Courier New"/>
                <a:cs typeface="Courier New"/>
              </a:rPr>
              <a:t>e 	work</a:t>
            </a:r>
            <a:r>
              <a:rPr sz="1500" spc="-46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e</a:t>
            </a:r>
            <a:r>
              <a:rPr sz="1500" spc="-20" dirty="0">
                <a:latin typeface="Courier New"/>
                <a:cs typeface="Courier New"/>
              </a:rPr>
              <a:t>n</a:t>
            </a:r>
            <a:r>
              <a:rPr sz="1500" dirty="0">
                <a:latin typeface="Courier New"/>
                <a:cs typeface="Courier New"/>
              </a:rPr>
              <a:t>v</a:t>
            </a:r>
            <a:r>
              <a:rPr sz="1500" spc="-20" dirty="0">
                <a:latin typeface="Courier New"/>
                <a:cs typeface="Courier New"/>
              </a:rPr>
              <a:t>i</a:t>
            </a:r>
            <a:r>
              <a:rPr sz="1500" dirty="0">
                <a:latin typeface="Courier New"/>
                <a:cs typeface="Courier New"/>
              </a:rPr>
              <a:t>r</a:t>
            </a:r>
            <a:r>
              <a:rPr sz="1500" spc="-20" dirty="0">
                <a:latin typeface="Courier New"/>
                <a:cs typeface="Courier New"/>
              </a:rPr>
              <a:t>o</a:t>
            </a:r>
            <a:r>
              <a:rPr sz="1500" dirty="0">
                <a:latin typeface="Courier New"/>
                <a:cs typeface="Courier New"/>
              </a:rPr>
              <a:t>n</a:t>
            </a:r>
            <a:r>
              <a:rPr sz="1500" spc="-20" dirty="0">
                <a:latin typeface="Courier New"/>
                <a:cs typeface="Courier New"/>
              </a:rPr>
              <a:t>m</a:t>
            </a:r>
            <a:r>
              <a:rPr sz="1500" dirty="0">
                <a:latin typeface="Courier New"/>
                <a:cs typeface="Courier New"/>
              </a:rPr>
              <a:t>e</a:t>
            </a:r>
            <a:r>
              <a:rPr sz="1500" spc="-20" dirty="0">
                <a:latin typeface="Courier New"/>
                <a:cs typeface="Courier New"/>
              </a:rPr>
              <a:t>n</a:t>
            </a:r>
            <a:r>
              <a:rPr sz="1500" dirty="0">
                <a:latin typeface="Courier New"/>
                <a:cs typeface="Courier New"/>
              </a:rPr>
              <a:t>t</a:t>
            </a:r>
            <a:r>
              <a:rPr sz="1500" spc="-475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f</a:t>
            </a:r>
            <a:r>
              <a:rPr sz="1500" dirty="0">
                <a:latin typeface="Courier New"/>
                <a:cs typeface="Courier New"/>
              </a:rPr>
              <a:t>or</a:t>
            </a:r>
            <a:r>
              <a:rPr sz="1500" spc="-484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s</a:t>
            </a:r>
            <a:r>
              <a:rPr sz="1500" dirty="0">
                <a:latin typeface="Courier New"/>
                <a:cs typeface="Courier New"/>
              </a:rPr>
              <a:t>u</a:t>
            </a:r>
            <a:r>
              <a:rPr sz="1500" spc="-20" dirty="0">
                <a:latin typeface="Courier New"/>
                <a:cs typeface="Courier New"/>
              </a:rPr>
              <a:t>c</a:t>
            </a:r>
            <a:r>
              <a:rPr sz="1500" dirty="0">
                <a:latin typeface="Courier New"/>
                <a:cs typeface="Courier New"/>
              </a:rPr>
              <a:t>h</a:t>
            </a:r>
            <a:r>
              <a:rPr sz="1500" spc="-484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p</a:t>
            </a:r>
            <a:r>
              <a:rPr sz="1500" dirty="0">
                <a:latin typeface="Courier New"/>
                <a:cs typeface="Courier New"/>
              </a:rPr>
              <a:t>e</a:t>
            </a:r>
            <a:r>
              <a:rPr sz="1500" spc="-20" dirty="0">
                <a:latin typeface="Courier New"/>
                <a:cs typeface="Courier New"/>
              </a:rPr>
              <a:t>o</a:t>
            </a:r>
            <a:r>
              <a:rPr sz="1500" dirty="0">
                <a:latin typeface="Courier New"/>
                <a:cs typeface="Courier New"/>
              </a:rPr>
              <a:t>p</a:t>
            </a:r>
            <a:r>
              <a:rPr sz="1500" spc="-20" dirty="0">
                <a:latin typeface="Courier New"/>
                <a:cs typeface="Courier New"/>
              </a:rPr>
              <a:t>l</a:t>
            </a:r>
            <a:r>
              <a:rPr sz="1500" spc="10" dirty="0">
                <a:latin typeface="Courier New"/>
                <a:cs typeface="Courier New"/>
              </a:rPr>
              <a:t>e</a:t>
            </a:r>
            <a:r>
              <a:rPr sz="1500" dirty="0">
                <a:latin typeface="Courier New"/>
                <a:cs typeface="Courier New"/>
              </a:rPr>
              <a:t>.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5873" y="5073777"/>
            <a:ext cx="1859914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32740" algn="l"/>
              </a:tabLst>
            </a:pPr>
            <a:r>
              <a:rPr sz="1500" b="1" dirty="0">
                <a:latin typeface="Courier New"/>
                <a:cs typeface="Courier New"/>
              </a:rPr>
              <a:t>Power:</a:t>
            </a:r>
            <a:r>
              <a:rPr sz="1500" b="1" spc="26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People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73804" y="5073777"/>
            <a:ext cx="79736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dirty="0">
                <a:latin typeface="Courier New"/>
                <a:cs typeface="Courier New"/>
              </a:rPr>
              <a:t>who</a:t>
            </a:r>
            <a:r>
              <a:rPr sz="1500" spc="15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have</a:t>
            </a:r>
            <a:r>
              <a:rPr sz="1500" spc="16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need</a:t>
            </a:r>
            <a:r>
              <a:rPr sz="1500" spc="18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for</a:t>
            </a:r>
            <a:r>
              <a:rPr sz="1500" spc="16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power</a:t>
            </a:r>
            <a:r>
              <a:rPr sz="1500" spc="16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desire</a:t>
            </a:r>
            <a:r>
              <a:rPr sz="1500" spc="16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to</a:t>
            </a:r>
            <a:r>
              <a:rPr sz="1500" spc="14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exercise</a:t>
            </a:r>
            <a:r>
              <a:rPr sz="1500" spc="16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either</a:t>
            </a:r>
            <a:r>
              <a:rPr sz="1500" spc="16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personal</a:t>
            </a:r>
            <a:r>
              <a:rPr sz="1500" spc="17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power</a:t>
            </a:r>
            <a:r>
              <a:rPr sz="1500" spc="315" dirty="0"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or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6295" y="5307636"/>
            <a:ext cx="9645015" cy="1211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29800"/>
              </a:lnSpc>
              <a:spcBef>
                <a:spcPts val="85"/>
              </a:spcBef>
            </a:pPr>
            <a:r>
              <a:rPr sz="1500" spc="-10" dirty="0">
                <a:latin typeface="Courier New"/>
                <a:cs typeface="Courier New"/>
              </a:rPr>
              <a:t>institutional</a:t>
            </a:r>
            <a:r>
              <a:rPr sz="1500" spc="-225" dirty="0">
                <a:latin typeface="Courier New"/>
                <a:cs typeface="Courier New"/>
              </a:rPr>
              <a:t> </a:t>
            </a:r>
            <a:r>
              <a:rPr sz="1500" spc="-30" dirty="0">
                <a:latin typeface="Courier New"/>
                <a:cs typeface="Courier New"/>
              </a:rPr>
              <a:t>power.</a:t>
            </a:r>
            <a:r>
              <a:rPr sz="1500" spc="-195" dirty="0">
                <a:latin typeface="Courier New"/>
                <a:cs typeface="Courier New"/>
              </a:rPr>
              <a:t> </a:t>
            </a:r>
            <a:r>
              <a:rPr sz="1500" spc="-50" dirty="0">
                <a:latin typeface="Courier New"/>
                <a:cs typeface="Courier New"/>
              </a:rPr>
              <a:t>People</a:t>
            </a:r>
            <a:r>
              <a:rPr sz="1500" spc="-17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who</a:t>
            </a:r>
            <a:r>
              <a:rPr sz="1500" spc="-225" dirty="0">
                <a:latin typeface="Courier New"/>
                <a:cs typeface="Courier New"/>
              </a:rPr>
              <a:t> </a:t>
            </a:r>
            <a:r>
              <a:rPr sz="1500" spc="-30" dirty="0">
                <a:latin typeface="Courier New"/>
                <a:cs typeface="Courier New"/>
              </a:rPr>
              <a:t>desire</a:t>
            </a:r>
            <a:r>
              <a:rPr sz="1500" spc="-165" dirty="0"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personal</a:t>
            </a:r>
            <a:r>
              <a:rPr sz="1500" spc="-155" dirty="0">
                <a:latin typeface="Courier New"/>
                <a:cs typeface="Courier New"/>
              </a:rPr>
              <a:t> </a:t>
            </a:r>
            <a:r>
              <a:rPr sz="1500" spc="-30" dirty="0">
                <a:latin typeface="Courier New"/>
                <a:cs typeface="Courier New"/>
              </a:rPr>
              <a:t>power</a:t>
            </a:r>
            <a:r>
              <a:rPr sz="1500" spc="-155" dirty="0">
                <a:latin typeface="Courier New"/>
                <a:cs typeface="Courier New"/>
              </a:rPr>
              <a:t> </a:t>
            </a:r>
            <a:r>
              <a:rPr sz="1500" spc="-40" dirty="0">
                <a:latin typeface="Courier New"/>
                <a:cs typeface="Courier New"/>
              </a:rPr>
              <a:t>are</a:t>
            </a:r>
            <a:r>
              <a:rPr sz="1500" spc="-140" dirty="0"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willing</a:t>
            </a:r>
            <a:r>
              <a:rPr sz="1500" spc="-155" dirty="0">
                <a:latin typeface="Courier New"/>
                <a:cs typeface="Courier New"/>
              </a:rPr>
              <a:t> </a:t>
            </a:r>
            <a:r>
              <a:rPr sz="1500" spc="-70" dirty="0">
                <a:latin typeface="Courier New"/>
                <a:cs typeface="Courier New"/>
              </a:rPr>
              <a:t>to</a:t>
            </a:r>
            <a:r>
              <a:rPr sz="1500" spc="-155" dirty="0">
                <a:latin typeface="Courier New"/>
                <a:cs typeface="Courier New"/>
              </a:rPr>
              <a:t> </a:t>
            </a:r>
            <a:r>
              <a:rPr sz="1500" spc="-45" dirty="0">
                <a:latin typeface="Courier New"/>
                <a:cs typeface="Courier New"/>
              </a:rPr>
              <a:t>show</a:t>
            </a:r>
            <a:r>
              <a:rPr sz="1500" spc="-180" dirty="0">
                <a:latin typeface="Courier New"/>
                <a:cs typeface="Courier New"/>
              </a:rPr>
              <a:t> </a:t>
            </a:r>
            <a:r>
              <a:rPr sz="1500" spc="-30" dirty="0">
                <a:latin typeface="Courier New"/>
                <a:cs typeface="Courier New"/>
              </a:rPr>
              <a:t>their</a:t>
            </a:r>
            <a:r>
              <a:rPr sz="1500" spc="-15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power</a:t>
            </a:r>
            <a:r>
              <a:rPr sz="1500" spc="-80" dirty="0"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to </a:t>
            </a:r>
            <a:r>
              <a:rPr sz="1500" dirty="0">
                <a:latin typeface="Courier New"/>
                <a:cs typeface="Courier New"/>
              </a:rPr>
              <a:t>others</a:t>
            </a:r>
            <a:r>
              <a:rPr sz="1500" spc="-23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whereas</a:t>
            </a:r>
            <a:r>
              <a:rPr sz="1500" spc="-16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those</a:t>
            </a:r>
            <a:r>
              <a:rPr sz="1500" spc="-17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who</a:t>
            </a:r>
            <a:r>
              <a:rPr sz="1500" spc="-17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desire</a:t>
            </a:r>
            <a:r>
              <a:rPr sz="1500" spc="-17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for</a:t>
            </a:r>
            <a:r>
              <a:rPr sz="1500" spc="-17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institutional</a:t>
            </a:r>
            <a:r>
              <a:rPr sz="1500" spc="-155" dirty="0">
                <a:latin typeface="Courier New"/>
                <a:cs typeface="Courier New"/>
              </a:rPr>
              <a:t> </a:t>
            </a:r>
            <a:r>
              <a:rPr sz="1500" spc="-35" dirty="0">
                <a:latin typeface="Courier New"/>
                <a:cs typeface="Courier New"/>
              </a:rPr>
              <a:t>power</a:t>
            </a:r>
            <a:r>
              <a:rPr sz="1500" spc="-19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want</a:t>
            </a:r>
            <a:r>
              <a:rPr sz="1500" spc="-14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to</a:t>
            </a:r>
            <a:r>
              <a:rPr sz="1500" spc="-19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achieve</a:t>
            </a:r>
            <a:r>
              <a:rPr sz="1500" spc="-16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organizational </a:t>
            </a:r>
            <a:r>
              <a:rPr sz="1500" dirty="0">
                <a:latin typeface="Courier New"/>
                <a:cs typeface="Courier New"/>
              </a:rPr>
              <a:t>goals.</a:t>
            </a:r>
            <a:r>
              <a:rPr sz="1500" spc="13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Therefore,</a:t>
            </a:r>
            <a:r>
              <a:rPr sz="1500" spc="1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institutional</a:t>
            </a:r>
            <a:r>
              <a:rPr sz="1500" spc="1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power</a:t>
            </a:r>
            <a:r>
              <a:rPr sz="1500" spc="14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hungry</a:t>
            </a:r>
            <a:r>
              <a:rPr sz="1500" spc="1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people</a:t>
            </a:r>
            <a:r>
              <a:rPr sz="1500" spc="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should</a:t>
            </a:r>
            <a:r>
              <a:rPr sz="1500" spc="15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be</a:t>
            </a:r>
            <a:r>
              <a:rPr sz="1500" spc="10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given</a:t>
            </a:r>
            <a:r>
              <a:rPr sz="1500" spc="14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opportunity</a:t>
            </a:r>
            <a:r>
              <a:rPr sz="1500" spc="225" dirty="0"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of </a:t>
            </a:r>
            <a:r>
              <a:rPr sz="1500" dirty="0">
                <a:latin typeface="Courier New"/>
                <a:cs typeface="Courier New"/>
              </a:rPr>
              <a:t>managing</a:t>
            </a:r>
            <a:r>
              <a:rPr sz="1500" spc="-51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other</a:t>
            </a:r>
            <a:r>
              <a:rPr sz="1500" spc="-49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people.</a:t>
            </a:r>
            <a:endParaRPr sz="15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27330" y="1926717"/>
            <a:ext cx="11827510" cy="4561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37920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1137920" algn="l"/>
              </a:tabLst>
            </a:pPr>
            <a:r>
              <a:rPr sz="2000" spc="-20" dirty="0">
                <a:latin typeface="Courier New"/>
                <a:cs typeface="Courier New"/>
              </a:rPr>
              <a:t>McGregor’s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Theory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X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Theory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Y</a:t>
            </a:r>
            <a:endParaRPr sz="2000" dirty="0">
              <a:latin typeface="Courier New"/>
              <a:cs typeface="Courier New"/>
            </a:endParaRPr>
          </a:p>
          <a:p>
            <a:pPr marL="1633855" lvl="1" indent="-265430" algn="just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1633855" algn="l"/>
              </a:tabLst>
            </a:pP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30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human</a:t>
            </a:r>
            <a:r>
              <a:rPr sz="2000" b="1" spc="-1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relations</a:t>
            </a:r>
            <a:r>
              <a:rPr sz="2000" b="1" spc="-8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approach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to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management</a:t>
            </a:r>
            <a:r>
              <a:rPr sz="2000" b="1" spc="-285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is</a:t>
            </a:r>
            <a:r>
              <a:rPr sz="2000" spc="-33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highlighted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by</a:t>
            </a:r>
            <a:r>
              <a:rPr sz="2000" spc="-4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Douglas</a:t>
            </a:r>
            <a:endParaRPr sz="2000" dirty="0">
              <a:latin typeface="Courier New"/>
              <a:cs typeface="Courier New"/>
            </a:endParaRPr>
          </a:p>
          <a:p>
            <a:pPr marL="1636395" algn="just">
              <a:lnSpc>
                <a:spcPct val="100000"/>
              </a:lnSpc>
              <a:spcBef>
                <a:spcPts val="960"/>
              </a:spcBef>
            </a:pPr>
            <a:r>
              <a:rPr sz="2000" spc="-20" dirty="0">
                <a:latin typeface="Courier New"/>
                <a:cs typeface="Courier New"/>
              </a:rPr>
              <a:t>McGregor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Courier New"/>
                <a:cs typeface="Courier New"/>
              </a:rPr>
              <a:t>1960s,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who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developed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Theory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X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Theory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Y.</a:t>
            </a:r>
            <a:endParaRPr sz="2000" dirty="0">
              <a:latin typeface="Courier New"/>
              <a:cs typeface="Courier New"/>
            </a:endParaRPr>
          </a:p>
          <a:p>
            <a:pPr marL="1633220" marR="42545" lvl="1" indent="-265430" algn="just">
              <a:lnSpc>
                <a:spcPct val="140100"/>
              </a:lnSpc>
              <a:spcBef>
                <a:spcPts val="985"/>
              </a:spcBef>
              <a:buFont typeface="Arial MT"/>
              <a:buChar char="•"/>
              <a:tabLst>
                <a:tab pos="1636395" algn="l"/>
              </a:tabLst>
            </a:pPr>
            <a:r>
              <a:rPr sz="2000" b="1" dirty="0">
                <a:latin typeface="Courier New"/>
                <a:cs typeface="Courier New"/>
              </a:rPr>
              <a:t>Theory</a:t>
            </a:r>
            <a:r>
              <a:rPr sz="2000" b="1" spc="-8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X</a:t>
            </a:r>
            <a:r>
              <a:rPr sz="2000" b="1" spc="-9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classical</a:t>
            </a:r>
            <a:r>
              <a:rPr sz="2000" i="1" u="heavy" spc="-1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system</a:t>
            </a:r>
            <a:r>
              <a:rPr sz="2000" i="1" u="heavy" spc="-9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theory</a:t>
            </a:r>
            <a:r>
              <a:rPr sz="2000" b="1" dirty="0">
                <a:latin typeface="Courier New"/>
                <a:cs typeface="Courier New"/>
              </a:rPr>
              <a:t>):</a:t>
            </a:r>
            <a:r>
              <a:rPr sz="2000" b="1" spc="-1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Believers</a:t>
            </a:r>
            <a:r>
              <a:rPr sz="2000" spc="-1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of</a:t>
            </a:r>
            <a:r>
              <a:rPr sz="2000" spc="-17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this</a:t>
            </a:r>
            <a:r>
              <a:rPr sz="2000" spc="-1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theory</a:t>
            </a:r>
            <a:r>
              <a:rPr sz="2000" spc="-254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assume 	</a:t>
            </a:r>
            <a:r>
              <a:rPr sz="2000" dirty="0">
                <a:latin typeface="Courier New"/>
                <a:cs typeface="Courier New"/>
              </a:rPr>
              <a:t>that</a:t>
            </a:r>
            <a:r>
              <a:rPr sz="2000" spc="-3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workers</a:t>
            </a:r>
            <a:r>
              <a:rPr sz="2000" spc="-29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do</a:t>
            </a:r>
            <a:r>
              <a:rPr sz="2000" spc="-3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not</a:t>
            </a:r>
            <a:r>
              <a:rPr sz="2000" spc="-3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like</a:t>
            </a:r>
            <a:r>
              <a:rPr sz="2000" spc="-2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3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work</a:t>
            </a:r>
            <a:r>
              <a:rPr sz="2000" spc="-2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and</a:t>
            </a:r>
            <a:r>
              <a:rPr sz="2000" spc="-2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avoid</a:t>
            </a:r>
            <a:r>
              <a:rPr sz="2000" spc="-100" dirty="0">
                <a:latin typeface="Courier New"/>
                <a:cs typeface="Courier New"/>
              </a:rPr>
              <a:t> </a:t>
            </a:r>
            <a:r>
              <a:rPr sz="2000" spc="-125" dirty="0">
                <a:latin typeface="Courier New"/>
                <a:cs typeface="Courier New"/>
              </a:rPr>
              <a:t>it</a:t>
            </a:r>
            <a:r>
              <a:rPr sz="2000" spc="-17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if</a:t>
            </a:r>
            <a:r>
              <a:rPr sz="2000" spc="-2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possible.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Therefore, 	</a:t>
            </a:r>
            <a:r>
              <a:rPr sz="2000" dirty="0">
                <a:latin typeface="Courier New"/>
                <a:cs typeface="Courier New"/>
              </a:rPr>
              <a:t>managers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must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use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coercion,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threats,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and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other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control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strategies</a:t>
            </a:r>
            <a:r>
              <a:rPr sz="2000" spc="-17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to 	</a:t>
            </a:r>
            <a:r>
              <a:rPr sz="2000" spc="-20" dirty="0">
                <a:latin typeface="Courier New"/>
                <a:cs typeface="Courier New"/>
              </a:rPr>
              <a:t>force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workers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achieving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goals.</a:t>
            </a:r>
            <a:endParaRPr sz="2000" dirty="0">
              <a:latin typeface="Courier New"/>
              <a:cs typeface="Courier New"/>
            </a:endParaRPr>
          </a:p>
          <a:p>
            <a:pPr marL="1633220" marR="42545" lvl="1" indent="-265430" algn="just">
              <a:lnSpc>
                <a:spcPct val="140100"/>
              </a:lnSpc>
              <a:spcBef>
                <a:spcPts val="1010"/>
              </a:spcBef>
              <a:buFont typeface="Arial MT"/>
              <a:buChar char="•"/>
              <a:tabLst>
                <a:tab pos="1636395" algn="l"/>
              </a:tabLst>
            </a:pPr>
            <a:r>
              <a:rPr sz="2000" b="1" dirty="0">
                <a:latin typeface="Courier New"/>
                <a:cs typeface="Courier New"/>
              </a:rPr>
              <a:t>Theory</a:t>
            </a:r>
            <a:r>
              <a:rPr sz="2000" b="1" spc="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Y</a:t>
            </a:r>
            <a:r>
              <a:rPr sz="2000" b="1" spc="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human</a:t>
            </a:r>
            <a:r>
              <a:rPr sz="2000" i="1" u="heavy" spc="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relations</a:t>
            </a:r>
            <a:r>
              <a:rPr sz="2000" i="1" u="heavy" spc="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0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theory</a:t>
            </a:r>
            <a:r>
              <a:rPr sz="2000" b="1" dirty="0">
                <a:latin typeface="Courier New"/>
                <a:cs typeface="Courier New"/>
              </a:rPr>
              <a:t>):</a:t>
            </a:r>
            <a:r>
              <a:rPr sz="2000" b="1" spc="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Believers</a:t>
            </a:r>
            <a:r>
              <a:rPr sz="2000" spc="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of</a:t>
            </a:r>
            <a:r>
              <a:rPr sz="2000" spc="-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this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theory</a:t>
            </a:r>
            <a:r>
              <a:rPr sz="2000" spc="-1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assume 	</a:t>
            </a:r>
            <a:r>
              <a:rPr sz="2000" dirty="0">
                <a:latin typeface="Courier New"/>
                <a:cs typeface="Courier New"/>
              </a:rPr>
              <a:t>that</a:t>
            </a:r>
            <a:r>
              <a:rPr sz="2000" spc="-2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employees</a:t>
            </a:r>
            <a:r>
              <a:rPr sz="2000" spc="-20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inherently</a:t>
            </a:r>
            <a:r>
              <a:rPr sz="2000" spc="-1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like</a:t>
            </a:r>
            <a:r>
              <a:rPr sz="2000" spc="-2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work</a:t>
            </a:r>
            <a:r>
              <a:rPr sz="2000" spc="-2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and</a:t>
            </a:r>
            <a:r>
              <a:rPr sz="2000" spc="-19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consider</a:t>
            </a:r>
            <a:r>
              <a:rPr sz="2000" spc="-20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it</a:t>
            </a:r>
            <a:r>
              <a:rPr sz="2000" spc="-254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as</a:t>
            </a:r>
            <a:r>
              <a:rPr sz="2000" spc="-229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natural</a:t>
            </a:r>
            <a:r>
              <a:rPr sz="2000" spc="-13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as 	</a:t>
            </a:r>
            <a:r>
              <a:rPr sz="2000" dirty="0">
                <a:latin typeface="Courier New"/>
                <a:cs typeface="Courier New"/>
              </a:rPr>
              <a:t>play</a:t>
            </a:r>
            <a:r>
              <a:rPr sz="2000" spc="-30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or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rest.</a:t>
            </a:r>
            <a:r>
              <a:rPr sz="2000" spc="-24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The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satisfaction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of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esteem</a:t>
            </a:r>
            <a:r>
              <a:rPr sz="2000" spc="-2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and</a:t>
            </a:r>
            <a:r>
              <a:rPr sz="2000" spc="-215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self-</a:t>
            </a:r>
            <a:r>
              <a:rPr sz="2000" dirty="0">
                <a:latin typeface="Courier New"/>
                <a:cs typeface="Courier New"/>
              </a:rPr>
              <a:t>actualization</a:t>
            </a:r>
            <a:r>
              <a:rPr sz="2000" spc="-160" dirty="0">
                <a:latin typeface="Courier New"/>
                <a:cs typeface="Courier New"/>
              </a:rPr>
              <a:t> </a:t>
            </a:r>
            <a:r>
              <a:rPr sz="2000" spc="-10" dirty="0" smtClean="0">
                <a:latin typeface="Courier New"/>
                <a:cs typeface="Courier New"/>
              </a:rPr>
              <a:t>needs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895965" cy="2715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Theory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Z</a:t>
            </a:r>
            <a:endParaRPr sz="2400">
              <a:latin typeface="Courier New"/>
              <a:cs typeface="Courier New"/>
            </a:endParaRPr>
          </a:p>
          <a:p>
            <a:pPr marL="735965" marR="5080" lvl="1" indent="-266700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spc="-5" dirty="0">
                <a:latin typeface="Courier New"/>
                <a:cs typeface="Courier New"/>
              </a:rPr>
              <a:t>Willia</a:t>
            </a:r>
            <a:r>
              <a:rPr sz="2400" dirty="0">
                <a:latin typeface="Courier New"/>
                <a:cs typeface="Courier New"/>
              </a:rPr>
              <a:t>m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spc="-50" dirty="0">
                <a:latin typeface="Courier New"/>
                <a:cs typeface="Courier New"/>
              </a:rPr>
              <a:t>u</a:t>
            </a:r>
            <a:r>
              <a:rPr sz="2400" spc="-25" dirty="0">
                <a:latin typeface="Courier New"/>
                <a:cs typeface="Courier New"/>
              </a:rPr>
              <a:t>ch</a:t>
            </a:r>
            <a:r>
              <a:rPr sz="2400" dirty="0">
                <a:latin typeface="Courier New"/>
                <a:cs typeface="Courier New"/>
              </a:rPr>
              <a:t>i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290" dirty="0">
                <a:latin typeface="Courier New"/>
                <a:cs typeface="Courier New"/>
              </a:rPr>
              <a:t>1</a:t>
            </a:r>
            <a:r>
              <a:rPr sz="2400" spc="-5" dirty="0">
                <a:latin typeface="Courier New"/>
                <a:cs typeface="Courier New"/>
              </a:rPr>
              <a:t>9</a:t>
            </a:r>
            <a:r>
              <a:rPr sz="2400" spc="-55" dirty="0">
                <a:latin typeface="Courier New"/>
                <a:cs typeface="Courier New"/>
              </a:rPr>
              <a:t>8</a:t>
            </a:r>
            <a:r>
              <a:rPr sz="2400" dirty="0">
                <a:latin typeface="Courier New"/>
                <a:cs typeface="Courier New"/>
              </a:rPr>
              <a:t>1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spc="-25" dirty="0">
                <a:latin typeface="Courier New"/>
                <a:cs typeface="Courier New"/>
              </a:rPr>
              <a:t>tr</a:t>
            </a:r>
            <a:r>
              <a:rPr sz="2400" spc="-5" dirty="0">
                <a:latin typeface="Courier New"/>
                <a:cs typeface="Courier New"/>
              </a:rPr>
              <a:t>oduc</a:t>
            </a:r>
            <a:r>
              <a:rPr sz="2400" spc="-20" dirty="0">
                <a:latin typeface="Courier New"/>
                <a:cs typeface="Courier New"/>
              </a:rPr>
              <a:t>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125" dirty="0">
                <a:latin typeface="Courier New"/>
                <a:cs typeface="Courier New"/>
              </a:rPr>
              <a:t>h</a:t>
            </a:r>
            <a:r>
              <a:rPr sz="2400" spc="-5" dirty="0">
                <a:latin typeface="Courier New"/>
                <a:cs typeface="Courier New"/>
              </a:rPr>
              <a:t>eor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Z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t</a:t>
            </a:r>
            <a:r>
              <a:rPr sz="2400" spc="-55" dirty="0">
                <a:latin typeface="Courier New"/>
                <a:cs typeface="Courier New"/>
              </a:rPr>
              <a:t>h</a:t>
            </a:r>
            <a:r>
              <a:rPr sz="2400" spc="-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spc="-30" dirty="0">
                <a:latin typeface="Courier New"/>
                <a:cs typeface="Courier New"/>
              </a:rPr>
              <a:t>n</a:t>
            </a:r>
            <a:r>
              <a:rPr sz="2400" spc="-55" dirty="0">
                <a:latin typeface="Courier New"/>
                <a:cs typeface="Courier New"/>
              </a:rPr>
              <a:t>s</a:t>
            </a:r>
            <a:r>
              <a:rPr sz="2400" spc="15" dirty="0">
                <a:latin typeface="Courier New"/>
                <a:cs typeface="Courier New"/>
              </a:rPr>
              <a:t>pire</a:t>
            </a:r>
            <a:r>
              <a:rPr sz="2400" dirty="0">
                <a:latin typeface="Courier New"/>
                <a:cs typeface="Courier New"/>
              </a:rPr>
              <a:t>d 	</a:t>
            </a:r>
            <a:r>
              <a:rPr sz="2400" spc="-5" dirty="0">
                <a:latin typeface="Courier New"/>
                <a:cs typeface="Courier New"/>
              </a:rPr>
              <a:t>fro</a:t>
            </a:r>
            <a:r>
              <a:rPr sz="2400" dirty="0">
                <a:latin typeface="Courier New"/>
                <a:cs typeface="Courier New"/>
              </a:rPr>
              <a:t>m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J</a:t>
            </a:r>
            <a:r>
              <a:rPr sz="2400" spc="-75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pa</a:t>
            </a:r>
            <a:r>
              <a:rPr sz="2400" spc="-5" dirty="0">
                <a:latin typeface="Courier New"/>
                <a:cs typeface="Courier New"/>
              </a:rPr>
              <a:t>nes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38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s</a:t>
            </a:r>
            <a:r>
              <a:rPr sz="2400" spc="-125" dirty="0">
                <a:latin typeface="Courier New"/>
                <a:cs typeface="Courier New"/>
              </a:rPr>
              <a:t>t</a:t>
            </a:r>
            <a:r>
              <a:rPr sz="2400" spc="-5" dirty="0">
                <a:latin typeface="Courier New"/>
                <a:cs typeface="Courier New"/>
              </a:rPr>
              <a:t>rateg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m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ti</a:t>
            </a:r>
            <a:r>
              <a:rPr sz="2400" spc="-5" dirty="0">
                <a:latin typeface="Courier New"/>
                <a:cs typeface="Courier New"/>
              </a:rPr>
              <a:t>v</a:t>
            </a:r>
            <a:r>
              <a:rPr sz="2400" spc="-25" dirty="0">
                <a:latin typeface="Courier New"/>
                <a:cs typeface="Courier New"/>
              </a:rPr>
              <a:t>at</a:t>
            </a:r>
            <a:r>
              <a:rPr sz="2400" spc="-5" dirty="0">
                <a:latin typeface="Courier New"/>
                <a:cs typeface="Courier New"/>
              </a:rPr>
              <a:t>in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w</a:t>
            </a:r>
            <a:r>
              <a:rPr sz="2400" spc="-50" dirty="0">
                <a:latin typeface="Courier New"/>
                <a:cs typeface="Courier New"/>
              </a:rPr>
              <a:t>o</a:t>
            </a:r>
            <a:r>
              <a:rPr sz="2400" spc="-25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k</a:t>
            </a:r>
            <a:r>
              <a:rPr sz="2400" spc="20" dirty="0">
                <a:latin typeface="Courier New"/>
                <a:cs typeface="Courier New"/>
              </a:rPr>
              <a:t>er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m</a:t>
            </a:r>
            <a:r>
              <a:rPr sz="2400" spc="-5" dirty="0">
                <a:latin typeface="Courier New"/>
                <a:cs typeface="Courier New"/>
              </a:rPr>
              <a:t>ph</a:t>
            </a:r>
            <a:r>
              <a:rPr sz="2400" spc="-25" dirty="0">
                <a:latin typeface="Courier New"/>
                <a:cs typeface="Courier New"/>
              </a:rPr>
              <a:t>a</a:t>
            </a:r>
            <a:r>
              <a:rPr sz="2400" spc="20" dirty="0">
                <a:latin typeface="Courier New"/>
                <a:cs typeface="Courier New"/>
              </a:rPr>
              <a:t>sizin</a:t>
            </a:r>
            <a:r>
              <a:rPr sz="2400" dirty="0">
                <a:latin typeface="Courier New"/>
                <a:cs typeface="Courier New"/>
              </a:rPr>
              <a:t>g 	</a:t>
            </a:r>
            <a:r>
              <a:rPr sz="2400" spc="-5" dirty="0">
                <a:latin typeface="Courier New"/>
                <a:cs typeface="Courier New"/>
              </a:rPr>
              <a:t>trust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q</a:t>
            </a:r>
            <a:r>
              <a:rPr sz="2400" spc="-50" dirty="0">
                <a:latin typeface="Courier New"/>
                <a:cs typeface="Courier New"/>
              </a:rPr>
              <a:t>u</a:t>
            </a:r>
            <a:r>
              <a:rPr sz="2400" spc="-25" dirty="0">
                <a:latin typeface="Courier New"/>
                <a:cs typeface="Courier New"/>
              </a:rPr>
              <a:t>al</a:t>
            </a:r>
            <a:r>
              <a:rPr sz="2400" spc="-5" dirty="0">
                <a:latin typeface="Courier New"/>
                <a:cs typeface="Courier New"/>
              </a:rPr>
              <a:t>ity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c</a:t>
            </a:r>
            <a:r>
              <a:rPr sz="2400" spc="-5" dirty="0">
                <a:latin typeface="Courier New"/>
                <a:cs typeface="Courier New"/>
              </a:rPr>
              <a:t>ollectiv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d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ci</a:t>
            </a:r>
            <a:r>
              <a:rPr sz="2400" spc="-5" dirty="0">
                <a:latin typeface="Courier New"/>
                <a:cs typeface="Courier New"/>
              </a:rPr>
              <a:t>s</a:t>
            </a:r>
            <a:r>
              <a:rPr sz="2400" spc="-25" dirty="0">
                <a:latin typeface="Courier New"/>
                <a:cs typeface="Courier New"/>
              </a:rPr>
              <a:t>io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5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m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kin</a:t>
            </a:r>
            <a:r>
              <a:rPr sz="2400" spc="20" dirty="0">
                <a:latin typeface="Courier New"/>
                <a:cs typeface="Courier New"/>
              </a:rPr>
              <a:t>g</a:t>
            </a:r>
            <a:r>
              <a:rPr sz="2400" dirty="0">
                <a:latin typeface="Courier New"/>
                <a:cs typeface="Courier New"/>
              </a:rPr>
              <a:t>,</a:t>
            </a:r>
            <a:r>
              <a:rPr sz="2400" spc="7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a</a:t>
            </a:r>
            <a:r>
              <a:rPr sz="2400" spc="-2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2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c</a:t>
            </a:r>
            <a:r>
              <a:rPr sz="2400" spc="-25" dirty="0">
                <a:latin typeface="Courier New"/>
                <a:cs typeface="Courier New"/>
              </a:rPr>
              <a:t>u</a:t>
            </a:r>
            <a:r>
              <a:rPr sz="2400" spc="-50" dirty="0">
                <a:latin typeface="Courier New"/>
                <a:cs typeface="Courier New"/>
              </a:rPr>
              <a:t>l</a:t>
            </a:r>
            <a:r>
              <a:rPr sz="2400" spc="20" dirty="0">
                <a:latin typeface="Courier New"/>
                <a:cs typeface="Courier New"/>
              </a:rPr>
              <a:t>tura</a:t>
            </a:r>
            <a:r>
              <a:rPr sz="2400" dirty="0">
                <a:latin typeface="Courier New"/>
                <a:cs typeface="Courier New"/>
              </a:rPr>
              <a:t>l 	</a:t>
            </a:r>
            <a:r>
              <a:rPr sz="2400" spc="-5" dirty="0">
                <a:latin typeface="Courier New"/>
                <a:cs typeface="Courier New"/>
              </a:rPr>
              <a:t>value</a:t>
            </a:r>
            <a:r>
              <a:rPr sz="2400" dirty="0">
                <a:latin typeface="Courier New"/>
                <a:cs typeface="Courier New"/>
              </a:rPr>
              <a:t>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674" y="4781631"/>
            <a:ext cx="762000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765" marR="5080" indent="-266700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dirty="0">
                <a:latin typeface="Courier New"/>
                <a:cs typeface="Courier New"/>
              </a:rPr>
              <a:t>Theory</a:t>
            </a:r>
            <a:r>
              <a:rPr sz="2400" spc="-2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Z</a:t>
            </a:r>
            <a:r>
              <a:rPr sz="2400" spc="-3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describes</a:t>
            </a:r>
            <a:r>
              <a:rPr sz="2400" spc="-2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perspective</a:t>
            </a:r>
            <a:r>
              <a:rPr sz="2400" spc="-26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dirty="0">
                <a:latin typeface="Courier New"/>
                <a:cs typeface="Courier New"/>
              </a:rPr>
              <a:t>management.</a:t>
            </a:r>
            <a:r>
              <a:rPr sz="2400" spc="-3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According</a:t>
            </a:r>
            <a:r>
              <a:rPr sz="2400" spc="-3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40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this</a:t>
            </a:r>
            <a:r>
              <a:rPr sz="2400" spc="-38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theory,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9346" y="4781631"/>
            <a:ext cx="277241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0190">
              <a:lnSpc>
                <a:spcPct val="150000"/>
              </a:lnSpc>
              <a:spcBef>
                <a:spcPts val="95"/>
              </a:spcBef>
            </a:pPr>
            <a:r>
              <a:rPr sz="2400" dirty="0">
                <a:latin typeface="Courier New"/>
                <a:cs typeface="Courier New"/>
              </a:rPr>
              <a:t>workers</a:t>
            </a:r>
            <a:r>
              <a:rPr sz="2400" spc="-135" dirty="0">
                <a:latin typeface="Courier New"/>
                <a:cs typeface="Courier New"/>
              </a:rPr>
              <a:t>  </a:t>
            </a:r>
            <a:r>
              <a:rPr sz="2400" spc="-55" dirty="0">
                <a:latin typeface="Courier New"/>
                <a:cs typeface="Courier New"/>
              </a:rPr>
              <a:t>about </a:t>
            </a:r>
            <a:r>
              <a:rPr sz="2400" dirty="0">
                <a:latin typeface="Courier New"/>
                <a:cs typeface="Courier New"/>
              </a:rPr>
              <a:t>workers</a:t>
            </a:r>
            <a:r>
              <a:rPr sz="2400" spc="-3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-33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be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6897" y="6061354"/>
            <a:ext cx="10007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trusted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fulfil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their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jobs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5" dirty="0">
                <a:latin typeface="Courier New"/>
                <a:cs typeface="Courier New"/>
              </a:rPr>
              <a:t>to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best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their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abilities.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894060" cy="216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Influence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Power</a:t>
            </a:r>
            <a:endParaRPr sz="2400">
              <a:latin typeface="Courier New"/>
              <a:cs typeface="Courier New"/>
            </a:endParaRPr>
          </a:p>
          <a:p>
            <a:pPr marL="735965" marR="5080" lvl="1" indent="-266700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spc="-40" dirty="0">
                <a:latin typeface="Courier New"/>
                <a:cs typeface="Courier New"/>
              </a:rPr>
              <a:t>Project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Managers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220" dirty="0">
                <a:latin typeface="Courier New"/>
                <a:cs typeface="Courier New"/>
              </a:rPr>
              <a:t>are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unable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395" dirty="0">
                <a:latin typeface="Courier New"/>
                <a:cs typeface="Courier New"/>
              </a:rPr>
              <a:t>to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force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project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120" dirty="0">
                <a:latin typeface="Courier New"/>
                <a:cs typeface="Courier New"/>
              </a:rPr>
              <a:t>team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members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</a:t>
            </a:r>
            <a:r>
              <a:rPr sz="2400" spc="-20" dirty="0">
                <a:latin typeface="Courier New"/>
                <a:cs typeface="Courier New"/>
              </a:rPr>
              <a:t>work.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Other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140" dirty="0">
                <a:latin typeface="Courier New"/>
                <a:cs typeface="Courier New"/>
              </a:rPr>
              <a:t>way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around,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140" dirty="0">
                <a:latin typeface="Courier New"/>
                <a:cs typeface="Courier New"/>
              </a:rPr>
              <a:t>the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team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members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140" dirty="0">
                <a:latin typeface="Courier New"/>
                <a:cs typeface="Courier New"/>
              </a:rPr>
              <a:t>can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quit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204" dirty="0">
                <a:latin typeface="Courier New"/>
                <a:cs typeface="Courier New"/>
              </a:rPr>
              <a:t>the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job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at 	</a:t>
            </a:r>
            <a:r>
              <a:rPr sz="2400" spc="-10" dirty="0">
                <a:latin typeface="Courier New"/>
                <a:cs typeface="Courier New"/>
              </a:rPr>
              <a:t>any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time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get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transferred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other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departments.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25522"/>
            <a:ext cx="10883265" cy="452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0795" indent="-228600">
              <a:lnSpc>
                <a:spcPct val="1308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300" spc="-10" dirty="0">
                <a:latin typeface="Courier New"/>
                <a:cs typeface="Courier New"/>
              </a:rPr>
              <a:t>Thamhain</a:t>
            </a:r>
            <a:r>
              <a:rPr sz="1300" spc="-190" dirty="0">
                <a:latin typeface="Courier New"/>
                <a:cs typeface="Courier New"/>
              </a:rPr>
              <a:t> </a:t>
            </a:r>
            <a:r>
              <a:rPr sz="1300" spc="-30" dirty="0">
                <a:latin typeface="Courier New"/>
                <a:cs typeface="Courier New"/>
              </a:rPr>
              <a:t>and</a:t>
            </a:r>
            <a:r>
              <a:rPr sz="1300" spc="-235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Wilemon</a:t>
            </a:r>
            <a:r>
              <a:rPr sz="1300" spc="-204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identified</a:t>
            </a:r>
            <a:r>
              <a:rPr sz="1300" spc="-21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nine</a:t>
            </a:r>
            <a:r>
              <a:rPr sz="1300" b="1" spc="-1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influence</a:t>
            </a:r>
            <a:r>
              <a:rPr sz="1300" b="1" spc="-5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methods</a:t>
            </a:r>
            <a:r>
              <a:rPr sz="1300" b="1" spc="1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that</a:t>
            </a:r>
            <a:r>
              <a:rPr sz="1300" spc="-204" dirty="0">
                <a:latin typeface="Courier New"/>
                <a:cs typeface="Courier New"/>
              </a:rPr>
              <a:t> </a:t>
            </a:r>
            <a:r>
              <a:rPr sz="1300" spc="-30" dirty="0">
                <a:latin typeface="Courier New"/>
                <a:cs typeface="Courier New"/>
              </a:rPr>
              <a:t>can</a:t>
            </a:r>
            <a:r>
              <a:rPr sz="1300" spc="-229" dirty="0">
                <a:latin typeface="Courier New"/>
                <a:cs typeface="Courier New"/>
              </a:rPr>
              <a:t> </a:t>
            </a:r>
            <a:r>
              <a:rPr sz="1300" spc="-55" dirty="0">
                <a:latin typeface="Courier New"/>
                <a:cs typeface="Courier New"/>
              </a:rPr>
              <a:t>be</a:t>
            </a:r>
            <a:r>
              <a:rPr sz="1300" spc="-204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used</a:t>
            </a:r>
            <a:r>
              <a:rPr sz="1300" spc="-229" dirty="0">
                <a:latin typeface="Courier New"/>
                <a:cs typeface="Courier New"/>
              </a:rPr>
              <a:t> </a:t>
            </a:r>
            <a:r>
              <a:rPr sz="1300" spc="-30" dirty="0">
                <a:latin typeface="Courier New"/>
                <a:cs typeface="Courier New"/>
              </a:rPr>
              <a:t>by</a:t>
            </a:r>
            <a:r>
              <a:rPr sz="1300" spc="-225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Project</a:t>
            </a:r>
            <a:r>
              <a:rPr sz="1300" spc="-210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Managers</a:t>
            </a:r>
            <a:r>
              <a:rPr sz="1300" spc="-204" dirty="0">
                <a:latin typeface="Courier New"/>
                <a:cs typeface="Courier New"/>
              </a:rPr>
              <a:t> </a:t>
            </a:r>
            <a:r>
              <a:rPr sz="1300" spc="-30" dirty="0">
                <a:latin typeface="Courier New"/>
                <a:cs typeface="Courier New"/>
              </a:rPr>
              <a:t>to</a:t>
            </a:r>
            <a:r>
              <a:rPr sz="1300" spc="-229" dirty="0">
                <a:latin typeface="Courier New"/>
                <a:cs typeface="Courier New"/>
              </a:rPr>
              <a:t> </a:t>
            </a:r>
            <a:r>
              <a:rPr sz="1300" spc="-40" dirty="0">
                <a:latin typeface="Courier New"/>
                <a:cs typeface="Courier New"/>
              </a:rPr>
              <a:t>get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most</a:t>
            </a:r>
            <a:r>
              <a:rPr sz="1300" spc="-180" dirty="0">
                <a:latin typeface="Courier New"/>
                <a:cs typeface="Courier New"/>
              </a:rPr>
              <a:t> </a:t>
            </a:r>
            <a:r>
              <a:rPr sz="1300" spc="-30" dirty="0">
                <a:latin typeface="Courier New"/>
                <a:cs typeface="Courier New"/>
              </a:rPr>
              <a:t>out</a:t>
            </a:r>
            <a:r>
              <a:rPr sz="1300" spc="-180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of</a:t>
            </a:r>
            <a:r>
              <a:rPr sz="1300" spc="-204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the </a:t>
            </a:r>
            <a:r>
              <a:rPr sz="1300" spc="-10" dirty="0">
                <a:latin typeface="Courier New"/>
                <a:cs typeface="Courier New"/>
              </a:rPr>
              <a:t>project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team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members.</a:t>
            </a:r>
            <a:endParaRPr sz="13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b="1" spc="-10" dirty="0">
                <a:latin typeface="Courier New"/>
                <a:cs typeface="Courier New"/>
              </a:rPr>
              <a:t>Authority</a:t>
            </a:r>
            <a:r>
              <a:rPr sz="1300" b="1" spc="-35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signifies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legitimate</a:t>
            </a:r>
            <a:r>
              <a:rPr sz="1300" spc="-34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hierarchical</a:t>
            </a:r>
            <a:r>
              <a:rPr sz="1300" spc="-32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right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to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issue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orders.</a:t>
            </a:r>
            <a:endParaRPr sz="13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b="1" dirty="0">
                <a:latin typeface="Courier New"/>
                <a:cs typeface="Courier New"/>
              </a:rPr>
              <a:t>Assignment</a:t>
            </a:r>
            <a:r>
              <a:rPr sz="1300" b="1" spc="8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perceived</a:t>
            </a:r>
            <a:r>
              <a:rPr sz="1300" spc="-36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ability</a:t>
            </a:r>
            <a:r>
              <a:rPr sz="1300" spc="-36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of</a:t>
            </a:r>
            <a:r>
              <a:rPr sz="1300" spc="-36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6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project</a:t>
            </a:r>
            <a:r>
              <a:rPr sz="1300" spc="-36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manager</a:t>
            </a:r>
            <a:r>
              <a:rPr sz="1300" spc="-36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to</a:t>
            </a:r>
            <a:r>
              <a:rPr sz="1300" spc="-39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influence</a:t>
            </a:r>
            <a:r>
              <a:rPr sz="1300" spc="-36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</a:t>
            </a:r>
            <a:r>
              <a:rPr sz="1300" spc="-39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team</a:t>
            </a:r>
            <a:r>
              <a:rPr sz="1300" spc="-38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member’s</a:t>
            </a:r>
            <a:r>
              <a:rPr sz="1300" spc="-36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later</a:t>
            </a:r>
            <a:r>
              <a:rPr sz="1300" spc="-36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work</a:t>
            </a:r>
            <a:r>
              <a:rPr sz="1300" spc="-39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assignments</a:t>
            </a:r>
            <a:endParaRPr sz="13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b="1" spc="-10" dirty="0">
                <a:latin typeface="Courier New"/>
                <a:cs typeface="Courier New"/>
              </a:rPr>
              <a:t>Budget</a:t>
            </a:r>
            <a:r>
              <a:rPr sz="1300" b="1" spc="-38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perceived</a:t>
            </a:r>
            <a:r>
              <a:rPr sz="1300" spc="-35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ability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of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project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manager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to</a:t>
            </a:r>
            <a:r>
              <a:rPr sz="1300" spc="-40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authorize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use</a:t>
            </a:r>
            <a:r>
              <a:rPr sz="1300" spc="-40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of</a:t>
            </a:r>
            <a:r>
              <a:rPr sz="1300" spc="-40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discretionary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funds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for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other</a:t>
            </a:r>
            <a:r>
              <a:rPr sz="1300" spc="-36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purposes.</a:t>
            </a:r>
            <a:endParaRPr sz="1300" dirty="0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13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buFont typeface="Arial MT"/>
              <a:buChar char="•"/>
              <a:tabLst>
                <a:tab pos="737870" algn="l"/>
              </a:tabLst>
            </a:pPr>
            <a:r>
              <a:rPr sz="1300" b="1" spc="-20" dirty="0">
                <a:latin typeface="Courier New"/>
                <a:cs typeface="Courier New"/>
              </a:rPr>
              <a:t>Promotion</a:t>
            </a:r>
            <a:r>
              <a:rPr sz="1300" b="1" spc="-33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ability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of</a:t>
            </a:r>
            <a:r>
              <a:rPr sz="1300" spc="-36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Project</a:t>
            </a:r>
            <a:r>
              <a:rPr sz="1300" spc="-36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Manager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to</a:t>
            </a:r>
            <a:r>
              <a:rPr sz="1300" spc="-38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promote</a:t>
            </a:r>
            <a:r>
              <a:rPr sz="1300" spc="-35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</a:t>
            </a:r>
            <a:r>
              <a:rPr sz="1300" spc="-409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worker.</a:t>
            </a:r>
            <a:endParaRPr sz="13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b="1" spc="-10" dirty="0">
                <a:latin typeface="Courier New"/>
                <a:cs typeface="Courier New"/>
              </a:rPr>
              <a:t>Money</a:t>
            </a:r>
            <a:r>
              <a:rPr sz="1300" b="1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ability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of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</a:t>
            </a:r>
            <a:r>
              <a:rPr sz="1300" spc="-40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Project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Manager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to</a:t>
            </a:r>
            <a:r>
              <a:rPr sz="1300" spc="-40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raise</a:t>
            </a:r>
            <a:r>
              <a:rPr sz="1300" spc="-39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</a:t>
            </a:r>
            <a:r>
              <a:rPr sz="1300" spc="-40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worker’s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salary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and</a:t>
            </a:r>
            <a:r>
              <a:rPr sz="1300" spc="-40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other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benefits.</a:t>
            </a:r>
            <a:endParaRPr sz="13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70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b="1" spc="-10" dirty="0">
                <a:latin typeface="Courier New"/>
                <a:cs typeface="Courier New"/>
              </a:rPr>
              <a:t>Penalty</a:t>
            </a:r>
            <a:r>
              <a:rPr sz="1300" b="1" spc="-38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ability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of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</a:t>
            </a:r>
            <a:r>
              <a:rPr sz="1300" spc="-40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Project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Manager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to</a:t>
            </a:r>
            <a:r>
              <a:rPr sz="1300" spc="-40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cause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punishment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to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</a:t>
            </a:r>
            <a:r>
              <a:rPr sz="1300" spc="-42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worker</a:t>
            </a:r>
            <a:endParaRPr sz="1300" dirty="0">
              <a:latin typeface="Courier New"/>
              <a:cs typeface="Courier New"/>
            </a:endParaRPr>
          </a:p>
          <a:p>
            <a:pPr marL="737870" marR="5080" lvl="1" indent="-268605">
              <a:lnSpc>
                <a:spcPct val="130900"/>
              </a:lnSpc>
              <a:spcBef>
                <a:spcPts val="980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b="1" dirty="0">
                <a:latin typeface="Courier New"/>
                <a:cs typeface="Courier New"/>
              </a:rPr>
              <a:t>Work</a:t>
            </a:r>
            <a:r>
              <a:rPr sz="1300" b="1" spc="-105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Challenge</a:t>
            </a:r>
            <a:r>
              <a:rPr sz="1300" b="1" spc="-3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the</a:t>
            </a:r>
            <a:r>
              <a:rPr sz="1300" spc="-10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ability</a:t>
            </a:r>
            <a:r>
              <a:rPr sz="1300" spc="-13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of</a:t>
            </a:r>
            <a:r>
              <a:rPr sz="1300" spc="-17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</a:t>
            </a:r>
            <a:r>
              <a:rPr sz="1300" spc="-31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Project</a:t>
            </a:r>
            <a:r>
              <a:rPr sz="1300" spc="-10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Manager</a:t>
            </a:r>
            <a:r>
              <a:rPr sz="1300" spc="-12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to</a:t>
            </a:r>
            <a:r>
              <a:rPr sz="1300" spc="-1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assign</a:t>
            </a:r>
            <a:r>
              <a:rPr sz="1300" spc="-125" dirty="0">
                <a:latin typeface="Courier New"/>
                <a:cs typeface="Courier New"/>
              </a:rPr>
              <a:t> </a:t>
            </a:r>
            <a:r>
              <a:rPr sz="1300" spc="-30" dirty="0">
                <a:latin typeface="Courier New"/>
                <a:cs typeface="Courier New"/>
              </a:rPr>
              <a:t>tasks</a:t>
            </a:r>
            <a:r>
              <a:rPr sz="1300" spc="-22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to</a:t>
            </a:r>
            <a:r>
              <a:rPr sz="1300" spc="-12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</a:t>
            </a:r>
            <a:r>
              <a:rPr sz="1300" spc="-19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worker</a:t>
            </a:r>
            <a:r>
              <a:rPr sz="1300" spc="-13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so</a:t>
            </a:r>
            <a:r>
              <a:rPr sz="1300" spc="-17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that</a:t>
            </a:r>
            <a:r>
              <a:rPr sz="1300" spc="-14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the</a:t>
            </a:r>
            <a:r>
              <a:rPr sz="1300" spc="-125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pleasure</a:t>
            </a:r>
            <a:r>
              <a:rPr sz="1300" spc="-19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of</a:t>
            </a:r>
            <a:r>
              <a:rPr sz="1300" spc="-12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doing</a:t>
            </a:r>
            <a:r>
              <a:rPr sz="1300" spc="-70" dirty="0">
                <a:latin typeface="Courier New"/>
                <a:cs typeface="Courier New"/>
              </a:rPr>
              <a:t> </a:t>
            </a:r>
            <a:r>
              <a:rPr sz="1300" spc="-50" dirty="0">
                <a:latin typeface="Courier New"/>
                <a:cs typeface="Courier New"/>
              </a:rPr>
              <a:t>a </a:t>
            </a:r>
            <a:r>
              <a:rPr sz="1300" spc="-10" dirty="0">
                <a:latin typeface="Courier New"/>
                <a:cs typeface="Courier New"/>
              </a:rPr>
              <a:t>particular</a:t>
            </a:r>
            <a:r>
              <a:rPr sz="1300" spc="-34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work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is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capitalized</a:t>
            </a:r>
            <a:endParaRPr sz="13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b="1" spc="-10" dirty="0">
                <a:latin typeface="Courier New"/>
                <a:cs typeface="Courier New"/>
              </a:rPr>
              <a:t>Expertise</a:t>
            </a:r>
            <a:r>
              <a:rPr sz="1300" b="1" spc="-35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the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Project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Manager’s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special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expert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knowledge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that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others</a:t>
            </a:r>
            <a:r>
              <a:rPr sz="1300" spc="-3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think</a:t>
            </a:r>
            <a:r>
              <a:rPr sz="1300" spc="-38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significant</a:t>
            </a:r>
            <a:endParaRPr sz="1300" dirty="0">
              <a:latin typeface="Courier New"/>
              <a:cs typeface="Courier New"/>
            </a:endParaRPr>
          </a:p>
          <a:p>
            <a:pPr marL="737870" marR="13970" lvl="1" indent="-268605">
              <a:lnSpc>
                <a:spcPct val="129200"/>
              </a:lnSpc>
              <a:spcBef>
                <a:spcPts val="1010"/>
              </a:spcBef>
              <a:buFont typeface="Arial MT"/>
              <a:buChar char="•"/>
              <a:tabLst>
                <a:tab pos="737870" algn="l"/>
              </a:tabLst>
            </a:pPr>
            <a:r>
              <a:rPr sz="1300" b="1" dirty="0">
                <a:latin typeface="Courier New"/>
                <a:cs typeface="Courier New"/>
              </a:rPr>
              <a:t>Friendship</a:t>
            </a:r>
            <a:r>
              <a:rPr sz="1300" b="1" spc="-125" dirty="0">
                <a:latin typeface="Courier New"/>
                <a:cs typeface="Courier New"/>
              </a:rPr>
              <a:t> </a:t>
            </a:r>
            <a:r>
              <a:rPr sz="1300" spc="-40" dirty="0">
                <a:latin typeface="Courier New"/>
                <a:cs typeface="Courier New"/>
              </a:rPr>
              <a:t>the</a:t>
            </a:r>
            <a:r>
              <a:rPr sz="1300" spc="-145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ability</a:t>
            </a:r>
            <a:r>
              <a:rPr sz="1300" spc="-150" dirty="0">
                <a:latin typeface="Courier New"/>
                <a:cs typeface="Courier New"/>
              </a:rPr>
              <a:t> </a:t>
            </a:r>
            <a:r>
              <a:rPr sz="1300" spc="-30" dirty="0">
                <a:latin typeface="Courier New"/>
                <a:cs typeface="Courier New"/>
              </a:rPr>
              <a:t>of</a:t>
            </a:r>
            <a:r>
              <a:rPr sz="1300" spc="-19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establishing</a:t>
            </a:r>
            <a:r>
              <a:rPr sz="1300" spc="-120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friendly</a:t>
            </a:r>
            <a:r>
              <a:rPr sz="1300" spc="-14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personal</a:t>
            </a:r>
            <a:r>
              <a:rPr sz="1300" spc="-114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relationship</a:t>
            </a:r>
            <a:r>
              <a:rPr sz="1300" spc="-120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between</a:t>
            </a:r>
            <a:r>
              <a:rPr sz="1300" spc="-140" dirty="0">
                <a:latin typeface="Courier New"/>
                <a:cs typeface="Courier New"/>
              </a:rPr>
              <a:t> </a:t>
            </a:r>
            <a:r>
              <a:rPr sz="1300" spc="-30" dirty="0">
                <a:latin typeface="Courier New"/>
                <a:cs typeface="Courier New"/>
              </a:rPr>
              <a:t>the</a:t>
            </a:r>
            <a:r>
              <a:rPr sz="1300" spc="-165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Project</a:t>
            </a:r>
            <a:r>
              <a:rPr sz="1300" spc="-145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Manager</a:t>
            </a:r>
            <a:r>
              <a:rPr sz="1300" spc="-26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and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other team</a:t>
            </a:r>
            <a:r>
              <a:rPr sz="1300" spc="-3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members.</a:t>
            </a:r>
            <a:endParaRPr sz="13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0"/>
            <a:ext cx="9959340" cy="2051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Projects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may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fail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when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members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are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influenced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with: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Authority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Money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Penalty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4058643"/>
            <a:ext cx="5663565" cy="202374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On</a:t>
            </a:r>
            <a:r>
              <a:rPr sz="2200" spc="32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2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other</a:t>
            </a:r>
            <a:r>
              <a:rPr sz="2200" spc="3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hand,</a:t>
            </a:r>
            <a:r>
              <a:rPr sz="2200" spc="3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projects</a:t>
            </a:r>
            <a:r>
              <a:rPr sz="2200" spc="32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may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influence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members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with: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Work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challenge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Expertise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0" y="4158437"/>
            <a:ext cx="503618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latin typeface="Courier New"/>
                <a:cs typeface="Courier New"/>
              </a:rPr>
              <a:t>succeed</a:t>
            </a:r>
            <a:r>
              <a:rPr sz="2200" spc="3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when</a:t>
            </a:r>
            <a:r>
              <a:rPr sz="2200" spc="3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5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Managers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21057"/>
            <a:ext cx="10883900" cy="41541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b="1" dirty="0">
                <a:latin typeface="Courier New"/>
                <a:cs typeface="Courier New"/>
              </a:rPr>
              <a:t>Power</a:t>
            </a:r>
            <a:r>
              <a:rPr sz="1700" b="1" spc="-21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refers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to</a:t>
            </a:r>
            <a:r>
              <a:rPr sz="1700" spc="-24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the</a:t>
            </a:r>
            <a:r>
              <a:rPr sz="1700" spc="-22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ability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of</a:t>
            </a:r>
            <a:r>
              <a:rPr sz="1700" spc="-24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influencing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people’s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behavior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to</a:t>
            </a:r>
            <a:r>
              <a:rPr sz="1700" spc="-270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make</a:t>
            </a:r>
            <a:r>
              <a:rPr sz="1700" spc="-20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people</a:t>
            </a:r>
            <a:r>
              <a:rPr sz="1700" spc="-17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to</a:t>
            </a:r>
            <a:r>
              <a:rPr sz="1700" spc="-19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do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work</a:t>
            </a:r>
            <a:endParaRPr sz="17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00"/>
              </a:spcBef>
            </a:pPr>
            <a:r>
              <a:rPr sz="1700" spc="-10" dirty="0">
                <a:latin typeface="Courier New"/>
                <a:cs typeface="Courier New"/>
              </a:rPr>
              <a:t>which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they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will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no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do</a:t>
            </a:r>
            <a:r>
              <a:rPr sz="1700" spc="-54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otherwise.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3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Types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of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Power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include:</a:t>
            </a:r>
            <a:endParaRPr sz="17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b="1" dirty="0">
                <a:latin typeface="Courier New"/>
                <a:cs typeface="Courier New"/>
              </a:rPr>
              <a:t>Coercive</a:t>
            </a:r>
            <a:r>
              <a:rPr sz="1700" b="1" spc="-20" dirty="0">
                <a:latin typeface="Courier New"/>
                <a:cs typeface="Courier New"/>
              </a:rPr>
              <a:t> </a:t>
            </a:r>
            <a:r>
              <a:rPr sz="1700" b="1" spc="-10" dirty="0">
                <a:latin typeface="Courier New"/>
                <a:cs typeface="Courier New"/>
              </a:rPr>
              <a:t>power</a:t>
            </a:r>
            <a:r>
              <a:rPr sz="1700" b="1" spc="-46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people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are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punished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or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threatened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for</a:t>
            </a:r>
            <a:r>
              <a:rPr sz="1700" spc="-54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not</a:t>
            </a:r>
            <a:r>
              <a:rPr sz="1700" spc="-54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doing</a:t>
            </a:r>
            <a:r>
              <a:rPr sz="1700" spc="-54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their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job.</a:t>
            </a:r>
            <a:endParaRPr sz="17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05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b="1" dirty="0">
                <a:latin typeface="Courier New"/>
                <a:cs typeface="Courier New"/>
              </a:rPr>
              <a:t>Legitimate</a:t>
            </a:r>
            <a:r>
              <a:rPr sz="1700" b="1" spc="-10" dirty="0">
                <a:latin typeface="Courier New"/>
                <a:cs typeface="Courier New"/>
              </a:rPr>
              <a:t> power</a:t>
            </a:r>
            <a:r>
              <a:rPr sz="1700" b="1" spc="-49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authority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or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position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is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used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to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force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people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do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their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job.</a:t>
            </a:r>
            <a:endParaRPr sz="1700">
              <a:latin typeface="Courier New"/>
              <a:cs typeface="Courier New"/>
            </a:endParaRPr>
          </a:p>
          <a:p>
            <a:pPr marL="737870" marR="6350" lvl="1" indent="-268605">
              <a:lnSpc>
                <a:spcPct val="1307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b="1" dirty="0">
                <a:latin typeface="Courier New"/>
                <a:cs typeface="Courier New"/>
              </a:rPr>
              <a:t>Expert</a:t>
            </a:r>
            <a:r>
              <a:rPr sz="1700" b="1" spc="30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power</a:t>
            </a:r>
            <a:r>
              <a:rPr sz="1700" b="1" spc="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personal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expertise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and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knowledge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70" dirty="0">
                <a:latin typeface="Courier New"/>
                <a:cs typeface="Courier New"/>
              </a:rPr>
              <a:t>are</a:t>
            </a:r>
            <a:r>
              <a:rPr sz="1700" spc="-190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used</a:t>
            </a:r>
            <a:r>
              <a:rPr sz="1700" spc="-22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to</a:t>
            </a:r>
            <a:r>
              <a:rPr sz="1700" spc="-26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exploit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the</a:t>
            </a:r>
            <a:r>
              <a:rPr sz="1700" spc="-24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behavior</a:t>
            </a:r>
            <a:r>
              <a:rPr sz="1700" spc="-17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of </a:t>
            </a:r>
            <a:r>
              <a:rPr sz="1700" spc="-10" dirty="0">
                <a:latin typeface="Courier New"/>
                <a:cs typeface="Courier New"/>
              </a:rPr>
              <a:t>people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at</a:t>
            </a:r>
            <a:r>
              <a:rPr sz="1700" spc="-54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work.</a:t>
            </a:r>
            <a:endParaRPr sz="17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b="1" dirty="0">
                <a:latin typeface="Courier New"/>
                <a:cs typeface="Courier New"/>
              </a:rPr>
              <a:t>Reward</a:t>
            </a:r>
            <a:r>
              <a:rPr sz="1700" b="1" spc="10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power</a:t>
            </a:r>
            <a:r>
              <a:rPr sz="1700" b="1" spc="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different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incentives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are</a:t>
            </a:r>
            <a:r>
              <a:rPr sz="1700" spc="-54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used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to</a:t>
            </a:r>
            <a:r>
              <a:rPr sz="1700" spc="-54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encourage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team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members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to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do</a:t>
            </a:r>
            <a:r>
              <a:rPr sz="1700" spc="-51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things.</a:t>
            </a:r>
            <a:endParaRPr sz="1700">
              <a:latin typeface="Courier New"/>
              <a:cs typeface="Courier New"/>
            </a:endParaRPr>
          </a:p>
          <a:p>
            <a:pPr marL="737870" marR="5080" lvl="1" indent="-268605">
              <a:lnSpc>
                <a:spcPct val="1295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b="1" dirty="0">
                <a:latin typeface="Courier New"/>
                <a:cs typeface="Courier New"/>
              </a:rPr>
              <a:t>Referent</a:t>
            </a:r>
            <a:r>
              <a:rPr sz="1700" b="1" spc="15" dirty="0">
                <a:latin typeface="Courier New"/>
                <a:cs typeface="Courier New"/>
              </a:rPr>
              <a:t> </a:t>
            </a:r>
            <a:r>
              <a:rPr sz="1700" b="1" spc="-10" dirty="0">
                <a:latin typeface="Courier New"/>
                <a:cs typeface="Courier New"/>
              </a:rPr>
              <a:t>power</a:t>
            </a:r>
            <a:r>
              <a:rPr sz="1700" b="1" spc="-204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based</a:t>
            </a:r>
            <a:r>
              <a:rPr sz="1700" spc="-21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on</a:t>
            </a:r>
            <a:r>
              <a:rPr sz="1700" spc="-42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the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Project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Manager’s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30" dirty="0">
                <a:latin typeface="Courier New"/>
                <a:cs typeface="Courier New"/>
              </a:rPr>
              <a:t>personal</a:t>
            </a:r>
            <a:r>
              <a:rPr sz="1700" spc="-204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charisma,</a:t>
            </a:r>
            <a:r>
              <a:rPr sz="1700" spc="-210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people</a:t>
            </a:r>
            <a:r>
              <a:rPr sz="1700" spc="-31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obey</a:t>
            </a:r>
            <a:r>
              <a:rPr sz="1700" spc="-16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them </a:t>
            </a:r>
            <a:r>
              <a:rPr sz="1700" spc="-10" dirty="0">
                <a:latin typeface="Courier New"/>
                <a:cs typeface="Courier New"/>
              </a:rPr>
              <a:t>without</a:t>
            </a:r>
            <a:r>
              <a:rPr sz="1700" spc="-484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any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hesitation.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3196"/>
            <a:ext cx="10888345" cy="4758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6695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20" dirty="0">
                <a:latin typeface="Courier New"/>
                <a:cs typeface="Courier New"/>
              </a:rPr>
              <a:t>Covey’s</a:t>
            </a:r>
            <a:r>
              <a:rPr sz="2000" spc="-3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7</a:t>
            </a:r>
            <a:r>
              <a:rPr sz="2000" spc="-42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habits</a:t>
            </a:r>
            <a:r>
              <a:rPr sz="2000" spc="-315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can</a:t>
            </a:r>
            <a:r>
              <a:rPr sz="2000" spc="-325" dirty="0">
                <a:latin typeface="Courier New"/>
                <a:cs typeface="Courier New"/>
              </a:rPr>
              <a:t> </a:t>
            </a:r>
            <a:r>
              <a:rPr sz="2000" spc="-114" dirty="0">
                <a:latin typeface="Courier New"/>
                <a:cs typeface="Courier New"/>
              </a:rPr>
              <a:t>be</a:t>
            </a:r>
            <a:r>
              <a:rPr sz="2000" spc="-29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applied</a:t>
            </a:r>
            <a:r>
              <a:rPr sz="2000" spc="-32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by</a:t>
            </a:r>
            <a:r>
              <a:rPr sz="2000" spc="-370" dirty="0">
                <a:latin typeface="Courier New"/>
                <a:cs typeface="Courier New"/>
              </a:rPr>
              <a:t> </a:t>
            </a:r>
            <a:r>
              <a:rPr sz="2000" spc="-45" dirty="0">
                <a:latin typeface="Courier New"/>
                <a:cs typeface="Courier New"/>
              </a:rPr>
              <a:t>Project</a:t>
            </a:r>
            <a:r>
              <a:rPr sz="2000" spc="-315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Managers</a:t>
            </a:r>
            <a:r>
              <a:rPr sz="2000" spc="-290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to</a:t>
            </a:r>
            <a:r>
              <a:rPr sz="2000" spc="-370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Courier New"/>
                <a:cs typeface="Courier New"/>
              </a:rPr>
              <a:t>be</a:t>
            </a:r>
            <a:r>
              <a:rPr sz="2000" spc="-375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more</a:t>
            </a:r>
            <a:r>
              <a:rPr sz="2000" spc="-3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effective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on 	</a:t>
            </a:r>
            <a:r>
              <a:rPr sz="2000" spc="-10" dirty="0">
                <a:latin typeface="Courier New"/>
                <a:cs typeface="Courier New"/>
              </a:rPr>
              <a:t>Projects.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Be</a:t>
            </a:r>
            <a:r>
              <a:rPr sz="2000" spc="-55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proactive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Begin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with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end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mind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Put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first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things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first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Think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win/win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Seek</a:t>
            </a:r>
            <a:r>
              <a:rPr sz="2000" spc="-5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first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understand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10" dirty="0">
                <a:latin typeface="Courier New"/>
                <a:cs typeface="Courier New"/>
              </a:rPr>
              <a:t>Synergize</a:t>
            </a:r>
            <a:endParaRPr sz="2000" dirty="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Sharpen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saw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412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762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Empathic</a:t>
            </a:r>
            <a:r>
              <a:rPr sz="2400" b="1" spc="-1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listening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refers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to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the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trait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of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listening</a:t>
            </a:r>
            <a:r>
              <a:rPr sz="2400" spc="-6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with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intent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understanding.</a:t>
            </a:r>
            <a:endParaRPr sz="2400">
              <a:latin typeface="Courier New"/>
              <a:cs typeface="Courier New"/>
            </a:endParaRPr>
          </a:p>
          <a:p>
            <a:pPr marL="240029" marR="10795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35" dirty="0">
                <a:latin typeface="Courier New"/>
                <a:cs typeface="Courier New"/>
              </a:rPr>
              <a:t>Rapport</a:t>
            </a:r>
            <a:r>
              <a:rPr sz="2400" b="1" spc="-325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refers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595" dirty="0">
                <a:latin typeface="Courier New"/>
                <a:cs typeface="Courier New"/>
              </a:rPr>
              <a:t>to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the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relation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345" dirty="0">
                <a:latin typeface="Courier New"/>
                <a:cs typeface="Courier New"/>
              </a:rPr>
              <a:t>of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harmony,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conformity,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accord, 	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affinity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with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others.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This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kind</a:t>
            </a:r>
            <a:r>
              <a:rPr sz="2400" spc="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relationship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helps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in 	</a:t>
            </a:r>
            <a:r>
              <a:rPr sz="2400" spc="-10" dirty="0">
                <a:latin typeface="Courier New"/>
                <a:cs typeface="Courier New"/>
              </a:rPr>
              <a:t>communication.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Mirroring</a:t>
            </a:r>
            <a:r>
              <a:rPr sz="2400" b="1" spc="4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refers</a:t>
            </a:r>
            <a:r>
              <a:rPr sz="2400" spc="5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2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matching</a:t>
            </a:r>
            <a:r>
              <a:rPr sz="2400" spc="4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certain</a:t>
            </a:r>
            <a:r>
              <a:rPr sz="2400" spc="4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behaviors</a:t>
            </a:r>
            <a:r>
              <a:rPr sz="2400" spc="5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4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two 	</a:t>
            </a:r>
            <a:r>
              <a:rPr sz="2400" spc="-10" dirty="0">
                <a:latin typeface="Courier New"/>
                <a:cs typeface="Courier New"/>
              </a:rPr>
              <a:t>people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working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team.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This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helps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establishing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rapport.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03585" cy="344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762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Emotional</a:t>
            </a:r>
            <a:r>
              <a:rPr sz="2400" b="1" spc="-1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Intelligence</a:t>
            </a:r>
            <a:r>
              <a:rPr sz="2400" b="1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refers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concept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knowing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managing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one’s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own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emotions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and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understanding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the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emotions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spc="-10" dirty="0">
                <a:latin typeface="Courier New"/>
                <a:cs typeface="Courier New"/>
              </a:rPr>
              <a:t>others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improved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performance.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Emotion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intelligence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plays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key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role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when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Managers 	</a:t>
            </a:r>
            <a:r>
              <a:rPr sz="2400" dirty="0">
                <a:latin typeface="Courier New"/>
                <a:cs typeface="Courier New"/>
              </a:rPr>
              <a:t>work</a:t>
            </a:r>
            <a:r>
              <a:rPr sz="2400" spc="-21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2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team</a:t>
            </a:r>
            <a:r>
              <a:rPr sz="2400" spc="-22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building,</a:t>
            </a:r>
            <a:r>
              <a:rPr sz="2400" spc="-2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collaboration,</a:t>
            </a:r>
            <a:r>
              <a:rPr sz="2400" spc="-2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negotiation,</a:t>
            </a:r>
            <a:r>
              <a:rPr sz="2400" spc="-18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relationship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development.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Keys</a:t>
            </a:r>
            <a:r>
              <a:rPr spc="-1240" dirty="0"/>
              <a:t> </a:t>
            </a:r>
            <a:r>
              <a:rPr spc="-10" dirty="0"/>
              <a:t>to</a:t>
            </a:r>
            <a:r>
              <a:rPr spc="-1275" dirty="0"/>
              <a:t> </a:t>
            </a:r>
            <a:r>
              <a:rPr spc="-10" dirty="0"/>
              <a:t>Managing</a:t>
            </a:r>
            <a:r>
              <a:rPr spc="-1300" dirty="0"/>
              <a:t> </a:t>
            </a:r>
            <a:r>
              <a:rPr spc="-10" dirty="0"/>
              <a:t>and</a:t>
            </a:r>
            <a:r>
              <a:rPr spc="-1290" dirty="0"/>
              <a:t> </a:t>
            </a:r>
            <a:r>
              <a:rPr spc="-10" dirty="0"/>
              <a:t>Leading</a:t>
            </a:r>
            <a:r>
              <a:rPr spc="-1265" dirty="0"/>
              <a:t> </a:t>
            </a:r>
            <a:r>
              <a:rPr spc="-10" dirty="0"/>
              <a:t>People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0395"/>
            <a:ext cx="10897870" cy="480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ourier New"/>
                <a:cs typeface="Courier New"/>
              </a:rPr>
              <a:t>Leadership</a:t>
            </a:r>
            <a:r>
              <a:rPr sz="2200" b="1" spc="5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belongs</a:t>
            </a:r>
            <a:r>
              <a:rPr sz="2200" spc="-3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3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4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category</a:t>
            </a:r>
            <a:r>
              <a:rPr sz="2200" spc="3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5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soft</a:t>
            </a:r>
            <a:r>
              <a:rPr sz="2200" spc="45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skills.</a:t>
            </a:r>
            <a:r>
              <a:rPr sz="2200" spc="5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There</a:t>
            </a:r>
            <a:r>
              <a:rPr sz="2200" spc="-380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are </a:t>
            </a:r>
            <a:r>
              <a:rPr sz="2200" dirty="0">
                <a:latin typeface="Courier New"/>
                <a:cs typeface="Courier New"/>
              </a:rPr>
              <a:t>infinite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many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best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ways</a:t>
            </a:r>
            <a:r>
              <a:rPr sz="2200" spc="-1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become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30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leader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who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inspires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people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to </a:t>
            </a:r>
            <a:r>
              <a:rPr sz="2200" spc="-10" dirty="0">
                <a:latin typeface="Courier New"/>
                <a:cs typeface="Courier New"/>
              </a:rPr>
              <a:t>achieve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long-term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organizational</a:t>
            </a:r>
            <a:r>
              <a:rPr sz="2200" spc="-5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goals.</a:t>
            </a:r>
            <a:endParaRPr sz="2200">
              <a:latin typeface="Courier New"/>
              <a:cs typeface="Courier New"/>
            </a:endParaRPr>
          </a:p>
          <a:p>
            <a:pPr marL="241300" marR="6985" indent="-228600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Different</a:t>
            </a:r>
            <a:r>
              <a:rPr sz="2200" spc="-39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leaders</a:t>
            </a:r>
            <a:r>
              <a:rPr sz="2200" spc="-30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have</a:t>
            </a:r>
            <a:r>
              <a:rPr sz="2200" spc="5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different</a:t>
            </a:r>
            <a:r>
              <a:rPr sz="2200" spc="5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leadership</a:t>
            </a:r>
            <a:r>
              <a:rPr sz="2200" spc="-37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styles.</a:t>
            </a:r>
            <a:r>
              <a:rPr sz="2200" spc="-28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54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best </a:t>
            </a:r>
            <a:r>
              <a:rPr sz="2200" spc="-25" dirty="0">
                <a:latin typeface="Courier New"/>
                <a:cs typeface="Courier New"/>
              </a:rPr>
              <a:t>leaders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95" dirty="0">
                <a:latin typeface="Courier New"/>
                <a:cs typeface="Courier New"/>
              </a:rPr>
              <a:t>have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140" dirty="0">
                <a:latin typeface="Courier New"/>
                <a:cs typeface="Courier New"/>
              </a:rPr>
              <a:t>the</a:t>
            </a:r>
            <a:r>
              <a:rPr sz="2200" spc="-190" dirty="0">
                <a:latin typeface="Courier New"/>
                <a:cs typeface="Courier New"/>
              </a:rPr>
              <a:t> </a:t>
            </a:r>
            <a:r>
              <a:rPr sz="2200" spc="-65" dirty="0">
                <a:latin typeface="Courier New"/>
                <a:cs typeface="Courier New"/>
              </a:rPr>
              <a:t>ability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240" dirty="0">
                <a:latin typeface="Courier New"/>
                <a:cs typeface="Courier New"/>
              </a:rPr>
              <a:t>to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adapt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their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style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according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spc="-215" dirty="0">
                <a:latin typeface="Courier New"/>
                <a:cs typeface="Courier New"/>
              </a:rPr>
              <a:t>to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spc="-95" dirty="0">
                <a:latin typeface="Courier New"/>
                <a:cs typeface="Courier New"/>
              </a:rPr>
              <a:t>the</a:t>
            </a:r>
            <a:r>
              <a:rPr sz="2200" spc="-1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needs of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situation.</a:t>
            </a:r>
            <a:endParaRPr sz="2200">
              <a:latin typeface="Courier New"/>
              <a:cs typeface="Courier New"/>
            </a:endParaRPr>
          </a:p>
          <a:p>
            <a:pPr marL="241300" marR="7620" indent="-228600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5" dirty="0">
                <a:latin typeface="Courier New"/>
                <a:cs typeface="Courier New"/>
              </a:rPr>
              <a:t>Danie</a:t>
            </a: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33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G</a:t>
            </a:r>
            <a:r>
              <a:rPr sz="2200" spc="-55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l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m</a:t>
            </a:r>
            <a:r>
              <a:rPr sz="2200" spc="-10" dirty="0">
                <a:latin typeface="Courier New"/>
                <a:cs typeface="Courier New"/>
              </a:rPr>
              <a:t>a</a:t>
            </a:r>
            <a:r>
              <a:rPr sz="2200" dirty="0">
                <a:latin typeface="Courier New"/>
                <a:cs typeface="Courier New"/>
              </a:rPr>
              <a:t>n</a:t>
            </a:r>
            <a:r>
              <a:rPr sz="2200" spc="30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s</a:t>
            </a:r>
            <a:r>
              <a:rPr sz="2200" spc="-55" dirty="0">
                <a:latin typeface="Courier New"/>
                <a:cs typeface="Courier New"/>
              </a:rPr>
              <a:t>ta</a:t>
            </a:r>
            <a:r>
              <a:rPr sz="2200" spc="-5" dirty="0">
                <a:latin typeface="Courier New"/>
                <a:cs typeface="Courier New"/>
              </a:rPr>
              <a:t>t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33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</a:t>
            </a:r>
            <a:r>
              <a:rPr sz="2200" spc="-55" dirty="0">
                <a:latin typeface="Courier New"/>
                <a:cs typeface="Courier New"/>
              </a:rPr>
              <a:t>h</a:t>
            </a:r>
            <a:r>
              <a:rPr sz="2200" spc="-30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t</a:t>
            </a:r>
            <a:r>
              <a:rPr sz="2200" dirty="0">
                <a:latin typeface="Courier New"/>
                <a:cs typeface="Courier New"/>
              </a:rPr>
              <a:t>,</a:t>
            </a:r>
            <a:r>
              <a:rPr sz="2200" spc="30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“</a:t>
            </a:r>
            <a:r>
              <a:rPr sz="2200" spc="-55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28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g</a:t>
            </a:r>
            <a:r>
              <a:rPr sz="2200" spc="-30" dirty="0">
                <a:latin typeface="Courier New"/>
                <a:cs typeface="Courier New"/>
              </a:rPr>
              <a:t>o</a:t>
            </a:r>
            <a:r>
              <a:rPr sz="2200" spc="-55" dirty="0">
                <a:latin typeface="Courier New"/>
                <a:cs typeface="Courier New"/>
              </a:rPr>
              <a:t>a</a:t>
            </a:r>
            <a:r>
              <a:rPr sz="2200" dirty="0">
                <a:latin typeface="Courier New"/>
                <a:cs typeface="Courier New"/>
              </a:rPr>
              <a:t>l</a:t>
            </a:r>
            <a:r>
              <a:rPr sz="2200" spc="33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f</a:t>
            </a:r>
            <a:r>
              <a:rPr sz="2200" spc="-55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r</a:t>
            </a:r>
            <a:r>
              <a:rPr sz="2200" spc="28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l</a:t>
            </a:r>
            <a:r>
              <a:rPr sz="2200" spc="-30" dirty="0">
                <a:latin typeface="Courier New"/>
                <a:cs typeface="Courier New"/>
              </a:rPr>
              <a:t>ea</a:t>
            </a:r>
            <a:r>
              <a:rPr sz="2200" spc="-5" dirty="0">
                <a:latin typeface="Courier New"/>
                <a:cs typeface="Courier New"/>
              </a:rPr>
              <a:t>d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r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30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s</a:t>
            </a:r>
            <a:r>
              <a:rPr sz="2200" spc="-30" dirty="0">
                <a:latin typeface="Courier New"/>
                <a:cs typeface="Courier New"/>
              </a:rPr>
              <a:t>h</a:t>
            </a:r>
            <a:r>
              <a:rPr sz="2200" spc="15" dirty="0">
                <a:latin typeface="Courier New"/>
                <a:cs typeface="Courier New"/>
              </a:rPr>
              <a:t>o</a:t>
            </a:r>
            <a:r>
              <a:rPr sz="2200" spc="-5" dirty="0">
                <a:latin typeface="Courier New"/>
                <a:cs typeface="Courier New"/>
              </a:rPr>
              <a:t>u</a:t>
            </a:r>
            <a:r>
              <a:rPr sz="2200" spc="10" dirty="0">
                <a:latin typeface="Courier New"/>
                <a:cs typeface="Courier New"/>
              </a:rPr>
              <a:t>l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38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b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30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to </a:t>
            </a:r>
            <a:r>
              <a:rPr sz="2200" spc="-5" dirty="0">
                <a:latin typeface="Courier New"/>
                <a:cs typeface="Courier New"/>
              </a:rPr>
              <a:t>develo</a:t>
            </a:r>
            <a:r>
              <a:rPr sz="2200" dirty="0">
                <a:latin typeface="Courier New"/>
                <a:cs typeface="Courier New"/>
              </a:rPr>
              <a:t>p</a:t>
            </a:r>
            <a:r>
              <a:rPr sz="2200" spc="-3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535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s</a:t>
            </a:r>
            <a:r>
              <a:rPr sz="2200" spc="-55" dirty="0">
                <a:latin typeface="Courier New"/>
                <a:cs typeface="Courier New"/>
              </a:rPr>
              <a:t>o</a:t>
            </a:r>
            <a:r>
              <a:rPr sz="2200" spc="-30" dirty="0">
                <a:latin typeface="Courier New"/>
                <a:cs typeface="Courier New"/>
              </a:rPr>
              <a:t>l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-44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u</a:t>
            </a:r>
            <a:r>
              <a:rPr sz="2200" spc="-30" dirty="0">
                <a:latin typeface="Courier New"/>
                <a:cs typeface="Courier New"/>
              </a:rPr>
              <a:t>n</a:t>
            </a:r>
            <a:r>
              <a:rPr sz="2200" spc="-55" dirty="0">
                <a:latin typeface="Courier New"/>
                <a:cs typeface="Courier New"/>
              </a:rPr>
              <a:t>d</a:t>
            </a:r>
            <a:r>
              <a:rPr sz="2200" spc="-5" dirty="0">
                <a:latin typeface="Courier New"/>
                <a:cs typeface="Courier New"/>
              </a:rPr>
              <a:t>e</a:t>
            </a:r>
            <a:r>
              <a:rPr sz="2200" spc="-10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spc="-10" dirty="0">
                <a:latin typeface="Courier New"/>
                <a:cs typeface="Courier New"/>
              </a:rPr>
              <a:t>t</a:t>
            </a:r>
            <a:r>
              <a:rPr sz="2200" spc="-5" dirty="0">
                <a:latin typeface="Courier New"/>
                <a:cs typeface="Courier New"/>
              </a:rPr>
              <a:t>a</a:t>
            </a:r>
            <a:r>
              <a:rPr sz="2200" spc="-10" dirty="0">
                <a:latin typeface="Courier New"/>
                <a:cs typeface="Courier New"/>
              </a:rPr>
              <a:t>n</a:t>
            </a:r>
            <a:r>
              <a:rPr sz="2200" spc="15" dirty="0">
                <a:latin typeface="Courier New"/>
                <a:cs typeface="Courier New"/>
              </a:rPr>
              <a:t>d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0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g</a:t>
            </a:r>
            <a:r>
              <a:rPr sz="2200" spc="-38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f</a:t>
            </a:r>
            <a:r>
              <a:rPr sz="2200" spc="-49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t</a:t>
            </a:r>
            <a:r>
              <a:rPr sz="2200" spc="-55" dirty="0">
                <a:latin typeface="Courier New"/>
                <a:cs typeface="Courier New"/>
              </a:rPr>
              <a:t>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434" dirty="0">
                <a:latin typeface="Courier New"/>
                <a:cs typeface="Courier New"/>
              </a:rPr>
              <a:t> </a:t>
            </a:r>
            <a:r>
              <a:rPr sz="2200" spc="-200" dirty="0">
                <a:latin typeface="Courier New"/>
                <a:cs typeface="Courier New"/>
              </a:rPr>
              <a:t>d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0" dirty="0">
                <a:latin typeface="Courier New"/>
                <a:cs typeface="Courier New"/>
              </a:rPr>
              <a:t>f</a:t>
            </a:r>
            <a:r>
              <a:rPr sz="2200" spc="-5" dirty="0">
                <a:latin typeface="Courier New"/>
                <a:cs typeface="Courier New"/>
              </a:rPr>
              <a:t>f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r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spc="15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39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s</a:t>
            </a:r>
            <a:r>
              <a:rPr sz="2200" spc="-55" dirty="0">
                <a:latin typeface="Courier New"/>
                <a:cs typeface="Courier New"/>
              </a:rPr>
              <a:t>t</a:t>
            </a:r>
            <a:r>
              <a:rPr sz="2200" spc="-30" dirty="0">
                <a:latin typeface="Courier New"/>
                <a:cs typeface="Courier New"/>
              </a:rPr>
              <a:t>y</a:t>
            </a:r>
            <a:r>
              <a:rPr sz="2200" spc="-5" dirty="0">
                <a:latin typeface="Courier New"/>
                <a:cs typeface="Courier New"/>
              </a:rPr>
              <a:t>l</a:t>
            </a:r>
            <a:r>
              <a:rPr sz="2200" spc="-10" dirty="0">
                <a:latin typeface="Courier New"/>
                <a:cs typeface="Courier New"/>
              </a:rPr>
              <a:t>e</a:t>
            </a:r>
            <a:r>
              <a:rPr sz="2200" dirty="0">
                <a:latin typeface="Courier New"/>
                <a:cs typeface="Courier New"/>
              </a:rPr>
              <a:t>s</a:t>
            </a:r>
            <a:r>
              <a:rPr sz="2200" spc="-39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f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15" dirty="0">
                <a:latin typeface="Courier New"/>
                <a:cs typeface="Courier New"/>
              </a:rPr>
              <a:t>leader</a:t>
            </a:r>
            <a:r>
              <a:rPr sz="2200" spc="40" dirty="0">
                <a:latin typeface="Courier New"/>
                <a:cs typeface="Courier New"/>
              </a:rPr>
              <a:t>s</a:t>
            </a:r>
            <a:r>
              <a:rPr sz="2200" spc="15" dirty="0">
                <a:latin typeface="Courier New"/>
                <a:cs typeface="Courier New"/>
              </a:rPr>
              <a:t>hi</a:t>
            </a:r>
            <a:r>
              <a:rPr sz="2200" dirty="0">
                <a:latin typeface="Courier New"/>
                <a:cs typeface="Courier New"/>
              </a:rPr>
              <a:t>p </a:t>
            </a:r>
            <a:r>
              <a:rPr sz="2200" spc="-10" dirty="0">
                <a:latin typeface="Courier New"/>
                <a:cs typeface="Courier New"/>
              </a:rPr>
              <a:t>an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-465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t</a:t>
            </a:r>
            <a:r>
              <a:rPr sz="2200" spc="-30" dirty="0">
                <a:latin typeface="Courier New"/>
                <a:cs typeface="Courier New"/>
              </a:rPr>
              <a:t>he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dirty="0">
                <a:latin typeface="Courier New"/>
                <a:cs typeface="Courier New"/>
              </a:rPr>
              <a:t>r</a:t>
            </a:r>
            <a:r>
              <a:rPr sz="2200" spc="-50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i</a:t>
            </a:r>
            <a:r>
              <a:rPr sz="2200" spc="-60" dirty="0">
                <a:latin typeface="Courier New"/>
                <a:cs typeface="Courier New"/>
              </a:rPr>
              <a:t>m</a:t>
            </a:r>
            <a:r>
              <a:rPr sz="2200" spc="-35" dirty="0">
                <a:latin typeface="Courier New"/>
                <a:cs typeface="Courier New"/>
              </a:rPr>
              <a:t>p</a:t>
            </a:r>
            <a:r>
              <a:rPr sz="2200" spc="-5" dirty="0">
                <a:latin typeface="Courier New"/>
                <a:cs typeface="Courier New"/>
              </a:rPr>
              <a:t>l</a:t>
            </a:r>
            <a:r>
              <a:rPr sz="2200" spc="-15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spc="-15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t</a:t>
            </a:r>
            <a:r>
              <a:rPr sz="2200" spc="-15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-15" dirty="0">
                <a:latin typeface="Courier New"/>
                <a:cs typeface="Courier New"/>
              </a:rPr>
              <a:t>n</a:t>
            </a:r>
            <a:r>
              <a:rPr sz="2200" spc="-5" dirty="0">
                <a:latin typeface="Courier New"/>
                <a:cs typeface="Courier New"/>
              </a:rPr>
              <a:t>s</a:t>
            </a:r>
            <a:r>
              <a:rPr sz="2200" dirty="0">
                <a:latin typeface="Courier New"/>
                <a:cs typeface="Courier New"/>
              </a:rPr>
              <a:t>,</a:t>
            </a:r>
            <a:r>
              <a:rPr sz="2200" spc="-459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a</a:t>
            </a:r>
            <a:r>
              <a:rPr sz="2200" spc="-60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d</a:t>
            </a:r>
            <a:r>
              <a:rPr sz="2200" spc="-53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r</a:t>
            </a:r>
            <a:r>
              <a:rPr sz="2200" spc="-55" dirty="0">
                <a:latin typeface="Courier New"/>
                <a:cs typeface="Courier New"/>
              </a:rPr>
              <a:t>e</a:t>
            </a:r>
            <a:r>
              <a:rPr sz="2200" spc="-30" dirty="0">
                <a:latin typeface="Courier New"/>
                <a:cs typeface="Courier New"/>
              </a:rPr>
              <a:t>a</a:t>
            </a:r>
            <a:r>
              <a:rPr sz="2200" spc="-5" dirty="0">
                <a:latin typeface="Courier New"/>
                <a:cs typeface="Courier New"/>
              </a:rPr>
              <a:t>c</a:t>
            </a:r>
            <a:r>
              <a:rPr sz="2200" dirty="0">
                <a:latin typeface="Courier New"/>
                <a:cs typeface="Courier New"/>
              </a:rPr>
              <a:t>h</a:t>
            </a:r>
            <a:r>
              <a:rPr sz="2200" spc="-50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t</a:t>
            </a:r>
            <a:r>
              <a:rPr sz="2200" spc="-60" dirty="0">
                <a:latin typeface="Courier New"/>
                <a:cs typeface="Courier New"/>
              </a:rPr>
              <a:t>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509" dirty="0">
                <a:latin typeface="Courier New"/>
                <a:cs typeface="Courier New"/>
              </a:rPr>
              <a:t> </a:t>
            </a:r>
            <a:r>
              <a:rPr sz="2200" spc="-200" dirty="0">
                <a:latin typeface="Courier New"/>
                <a:cs typeface="Courier New"/>
              </a:rPr>
              <a:t>p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-15" dirty="0">
                <a:latin typeface="Courier New"/>
                <a:cs typeface="Courier New"/>
              </a:rPr>
              <a:t>i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dirty="0">
                <a:latin typeface="Courier New"/>
                <a:cs typeface="Courier New"/>
              </a:rPr>
              <a:t>t</a:t>
            </a:r>
            <a:r>
              <a:rPr sz="2200" spc="-470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w</a:t>
            </a:r>
            <a:r>
              <a:rPr sz="2200" spc="-55" dirty="0">
                <a:latin typeface="Courier New"/>
                <a:cs typeface="Courier New"/>
              </a:rPr>
              <a:t>h</a:t>
            </a:r>
            <a:r>
              <a:rPr sz="2200" spc="-30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r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500" dirty="0">
                <a:latin typeface="Courier New"/>
                <a:cs typeface="Courier New"/>
              </a:rPr>
              <a:t> </a:t>
            </a:r>
            <a:r>
              <a:rPr sz="2200" spc="-105" dirty="0">
                <a:latin typeface="Courier New"/>
                <a:cs typeface="Courier New"/>
              </a:rPr>
              <a:t>c</a:t>
            </a:r>
            <a:r>
              <a:rPr sz="2200" spc="-60" dirty="0">
                <a:latin typeface="Courier New"/>
                <a:cs typeface="Courier New"/>
              </a:rPr>
              <a:t>h</a:t>
            </a: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-15" dirty="0">
                <a:latin typeface="Courier New"/>
                <a:cs typeface="Courier New"/>
              </a:rPr>
              <a:t>o</a:t>
            </a:r>
            <a:r>
              <a:rPr sz="2200" spc="15" dirty="0">
                <a:latin typeface="Courier New"/>
                <a:cs typeface="Courier New"/>
              </a:rPr>
              <a:t>sin</a:t>
            </a:r>
            <a:r>
              <a:rPr sz="2200" dirty="0">
                <a:latin typeface="Courier New"/>
                <a:cs typeface="Courier New"/>
              </a:rPr>
              <a:t>g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15" dirty="0">
                <a:latin typeface="Courier New"/>
                <a:cs typeface="Courier New"/>
              </a:rPr>
              <a:t>th</a:t>
            </a:r>
            <a:r>
              <a:rPr sz="2200" dirty="0">
                <a:latin typeface="Courier New"/>
                <a:cs typeface="Courier New"/>
              </a:rPr>
              <a:t>e</a:t>
            </a:r>
            <a:r>
              <a:rPr sz="2200" spc="-415" dirty="0">
                <a:latin typeface="Courier New"/>
                <a:cs typeface="Courier New"/>
              </a:rPr>
              <a:t> </a:t>
            </a:r>
            <a:r>
              <a:rPr sz="2200" spc="-80" dirty="0">
                <a:latin typeface="Courier New"/>
                <a:cs typeface="Courier New"/>
              </a:rPr>
              <a:t>r</a:t>
            </a:r>
            <a:r>
              <a:rPr sz="2200" spc="-5" dirty="0">
                <a:latin typeface="Courier New"/>
                <a:cs typeface="Courier New"/>
              </a:rPr>
              <a:t>i</a:t>
            </a:r>
            <a:r>
              <a:rPr sz="2200" spc="-15" dirty="0">
                <a:latin typeface="Courier New"/>
                <a:cs typeface="Courier New"/>
              </a:rPr>
              <a:t>g</a:t>
            </a:r>
            <a:r>
              <a:rPr sz="2200" spc="15" dirty="0">
                <a:latin typeface="Courier New"/>
                <a:cs typeface="Courier New"/>
              </a:rPr>
              <a:t>h</a:t>
            </a:r>
            <a:r>
              <a:rPr sz="2200" dirty="0">
                <a:latin typeface="Courier New"/>
                <a:cs typeface="Courier New"/>
              </a:rPr>
              <a:t>t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5634"/>
            <a:ext cx="10899140" cy="4151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8890" indent="-228600">
              <a:lnSpc>
                <a:spcPct val="13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2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resource</a:t>
            </a:r>
            <a:r>
              <a:rPr sz="2200" spc="1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management</a:t>
            </a:r>
            <a:r>
              <a:rPr sz="2200" spc="2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plan</a:t>
            </a:r>
            <a:r>
              <a:rPr sz="2200" spc="1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can</a:t>
            </a:r>
            <a:r>
              <a:rPr sz="2200" spc="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</a:t>
            </a:r>
            <a:r>
              <a:rPr sz="2200" spc="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separated</a:t>
            </a:r>
            <a:r>
              <a:rPr sz="2200" spc="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into</a:t>
            </a:r>
            <a:r>
              <a:rPr sz="2200" spc="3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human </a:t>
            </a:r>
            <a:r>
              <a:rPr sz="2200" spc="-10" dirty="0">
                <a:latin typeface="Courier New"/>
                <a:cs typeface="Courier New"/>
              </a:rPr>
              <a:t>resource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physical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resource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plan.</a:t>
            </a:r>
            <a:endParaRPr sz="2200">
              <a:latin typeface="Courier New"/>
              <a:cs typeface="Courier New"/>
            </a:endParaRPr>
          </a:p>
          <a:p>
            <a:pPr marL="241300" marR="5080" indent="-228600">
              <a:lnSpc>
                <a:spcPct val="13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Human</a:t>
            </a:r>
            <a:r>
              <a:rPr sz="2200" spc="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resource</a:t>
            </a:r>
            <a:r>
              <a:rPr sz="2200" spc="1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plan</a:t>
            </a:r>
            <a:r>
              <a:rPr sz="2200" spc="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includes</a:t>
            </a:r>
            <a:r>
              <a:rPr sz="2200" spc="1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information</a:t>
            </a:r>
            <a:r>
              <a:rPr sz="2200" spc="1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about</a:t>
            </a:r>
            <a:r>
              <a:rPr sz="2200" spc="2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roles</a:t>
            </a:r>
            <a:r>
              <a:rPr sz="2200" spc="50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and </a:t>
            </a:r>
            <a:r>
              <a:rPr sz="2200" spc="-10" dirty="0">
                <a:latin typeface="Courier New"/>
                <a:cs typeface="Courier New"/>
              </a:rPr>
              <a:t>responsibilities,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also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contains</a:t>
            </a:r>
            <a:r>
              <a:rPr sz="2200" spc="-6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7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staffing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Human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resource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consists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of: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organizational</a:t>
            </a:r>
            <a:r>
              <a:rPr sz="2200" spc="-5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charts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Responsibility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assignment</a:t>
            </a:r>
            <a:r>
              <a:rPr sz="2200" spc="-5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matrices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Staffing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plans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Resource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histograms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9989185" cy="161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Organizational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Charts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dirty="0">
                <a:latin typeface="Courier New"/>
                <a:cs typeface="Courier New"/>
              </a:rPr>
              <a:t>Providing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organizational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structure</a:t>
            </a:r>
            <a:r>
              <a:rPr sz="2400" spc="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is</a:t>
            </a:r>
            <a:endParaRPr sz="24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important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people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with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diverse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backgrounds.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8238" y="2643073"/>
            <a:ext cx="7232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latin typeface="Courier New"/>
                <a:cs typeface="Courier New"/>
              </a:rPr>
              <a:t>very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674" y="3682872"/>
            <a:ext cx="1044638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marR="5080" indent="-266700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Project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Manager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with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the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consent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of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top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dirty="0">
                <a:latin typeface="Courier New"/>
                <a:cs typeface="Courier New"/>
              </a:rPr>
              <a:t>after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discussion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staff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members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responsible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to 	develop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organization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chart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for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275" dirty="0">
                <a:latin typeface="Courier New"/>
                <a:cs typeface="Courier New"/>
              </a:rPr>
              <a:t>the</a:t>
            </a:r>
            <a:r>
              <a:rPr sz="2400" spc="-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project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according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to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skills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type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people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1453" y="3387216"/>
            <a:ext cx="377190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Sample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Organizational Chart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Large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IT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487424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9775" cy="437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After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the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organization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structure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135" dirty="0">
                <a:latin typeface="Courier New"/>
                <a:cs typeface="Courier New"/>
              </a:rPr>
              <a:t>is</a:t>
            </a:r>
            <a:r>
              <a:rPr sz="2400" spc="-2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defined,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work</a:t>
            </a:r>
            <a:r>
              <a:rPr sz="2400" i="1" u="heavy" spc="-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definition</a:t>
            </a:r>
            <a:r>
              <a:rPr sz="2400" i="1" spc="-10" dirty="0">
                <a:latin typeface="Courier New"/>
                <a:cs typeface="Courier New"/>
              </a:rPr>
              <a:t> 	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assignment</a:t>
            </a:r>
            <a:r>
              <a:rPr sz="2400" i="1" u="heavy" spc="-36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process</a:t>
            </a:r>
            <a:r>
              <a:rPr sz="2400" i="1" spc="-29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should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also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spc="-204" dirty="0">
                <a:latin typeface="Courier New"/>
                <a:cs typeface="Courier New"/>
              </a:rPr>
              <a:t>be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followed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that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consists 	of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four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steps: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Finalizing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requirements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Defining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work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will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accomplished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Breaking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down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work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manageable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elements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Assigning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work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responsibilities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149" y="3387216"/>
            <a:ext cx="331216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 marR="5080" indent="-40005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Work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Definition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</a:t>
            </a:r>
            <a:r>
              <a:rPr sz="2400" dirty="0">
                <a:latin typeface="Courier New"/>
                <a:cs typeface="Courier New"/>
              </a:rPr>
              <a:t>Assignment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517903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9906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ourier New"/>
                <a:cs typeface="Courier New"/>
              </a:rPr>
              <a:t>Responsibility</a:t>
            </a:r>
            <a:r>
              <a:rPr sz="2400" b="1" spc="-38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Assignment</a:t>
            </a:r>
            <a:r>
              <a:rPr sz="2400" b="1" spc="-37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Matrix</a:t>
            </a:r>
            <a:r>
              <a:rPr sz="2400" b="1" spc="-38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(RAM)</a:t>
            </a:r>
            <a:r>
              <a:rPr sz="2400" b="1" spc="-3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3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5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matrix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29950" y="1966340"/>
            <a:ext cx="742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ourier New"/>
                <a:cs typeface="Courier New"/>
              </a:rPr>
              <a:t>that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2332227"/>
            <a:ext cx="10903585" cy="2898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algn="just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shows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-130" dirty="0">
                <a:latin typeface="Courier New"/>
                <a:cs typeface="Courier New"/>
              </a:rPr>
              <a:t>the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association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204" dirty="0">
                <a:latin typeface="Courier New"/>
                <a:cs typeface="Courier New"/>
              </a:rPr>
              <a:t>of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the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project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work,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204" dirty="0">
                <a:latin typeface="Courier New"/>
                <a:cs typeface="Courier New"/>
              </a:rPr>
              <a:t>as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described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spc="-135" dirty="0">
                <a:latin typeface="Courier New"/>
                <a:cs typeface="Courier New"/>
              </a:rPr>
              <a:t>in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</a:t>
            </a:r>
            <a:r>
              <a:rPr sz="2400" spc="-10" dirty="0">
                <a:latin typeface="Courier New"/>
                <a:cs typeface="Courier New"/>
              </a:rPr>
              <a:t>WBS,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people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responsible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that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work.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Additionally,</a:t>
            </a:r>
            <a:r>
              <a:rPr sz="2400" spc="3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RAM</a:t>
            </a:r>
            <a:r>
              <a:rPr sz="2400" spc="3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3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also</a:t>
            </a:r>
            <a:r>
              <a:rPr sz="2400" spc="3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3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used</a:t>
            </a:r>
            <a:r>
              <a:rPr sz="2400" spc="3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describe</a:t>
            </a:r>
            <a:r>
              <a:rPr sz="2400" spc="4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roles</a:t>
            </a:r>
            <a:r>
              <a:rPr sz="2400" spc="43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dirty="0">
                <a:latin typeface="Courier New"/>
                <a:cs typeface="Courier New"/>
              </a:rPr>
              <a:t>responsibilities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projects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where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project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stakeholders</a:t>
            </a:r>
            <a:r>
              <a:rPr sz="2400" spc="-11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can 	</a:t>
            </a:r>
            <a:r>
              <a:rPr sz="2400" spc="-10" dirty="0">
                <a:latin typeface="Courier New"/>
                <a:cs typeface="Courier New"/>
              </a:rPr>
              <a:t>also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included.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49" y="3387216"/>
            <a:ext cx="377190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5080" indent="-366395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Sample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Responsibility Assignment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Matrix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3167" y="1347216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0523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RACI</a:t>
            </a:r>
            <a:r>
              <a:rPr b="1" spc="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charts</a:t>
            </a:r>
            <a:r>
              <a:rPr spc="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can</a:t>
            </a:r>
            <a:r>
              <a:rPr spc="-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also</a:t>
            </a:r>
            <a:r>
              <a:rPr spc="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be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used</a:t>
            </a:r>
            <a:r>
              <a:rPr spc="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show</a:t>
            </a:r>
            <a:r>
              <a:rPr spc="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key</a:t>
            </a:r>
            <a:r>
              <a:rPr spc="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roles</a:t>
            </a:r>
            <a:r>
              <a:rPr spc="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-1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 	stakeholders.</a:t>
            </a: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b="1" spc="-10" dirty="0">
                <a:solidFill>
                  <a:schemeClr val="bg1"/>
                </a:solidFill>
                <a:latin typeface="Courier New"/>
                <a:cs typeface="Courier New"/>
              </a:rPr>
              <a:t>R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esponsibility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b="1" spc="-10" dirty="0">
                <a:solidFill>
                  <a:schemeClr val="bg1"/>
                </a:solidFill>
                <a:latin typeface="Courier New"/>
                <a:cs typeface="Courier New"/>
              </a:rPr>
              <a:t>A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ccountability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b="1" spc="-10" dirty="0">
                <a:solidFill>
                  <a:schemeClr val="bg1"/>
                </a:solidFill>
                <a:latin typeface="Courier New"/>
                <a:cs typeface="Courier New"/>
              </a:rPr>
              <a:t>C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onsultation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b="1" spc="-10" dirty="0">
                <a:solidFill>
                  <a:schemeClr val="bg1"/>
                </a:solidFill>
                <a:latin typeface="Courier New"/>
                <a:cs typeface="Courier New"/>
              </a:rPr>
              <a:t>I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nformed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6261" y="3570478"/>
            <a:ext cx="2942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Sample</a:t>
            </a:r>
            <a:r>
              <a:rPr sz="2400" spc="-6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RACI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Chart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347216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27263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Staffing</a:t>
            </a:r>
            <a:r>
              <a:rPr b="1" spc="-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management</a:t>
            </a:r>
            <a:r>
              <a:rPr b="1" spc="-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plan</a:t>
            </a:r>
            <a:r>
              <a:rPr b="1" spc="-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provides</a:t>
            </a:r>
            <a:r>
              <a:rPr spc="-5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details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about</a:t>
            </a:r>
            <a:r>
              <a:rPr spc="-33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when</a:t>
            </a:r>
            <a:r>
              <a:rPr spc="-310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and</a:t>
            </a:r>
            <a:r>
              <a:rPr spc="-38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how </a:t>
            </a:r>
            <a:r>
              <a:rPr spc="-10" dirty="0" smtClean="0">
                <a:solidFill>
                  <a:schemeClr val="bg1"/>
                </a:solidFill>
              </a:rPr>
              <a:t>people</a:t>
            </a:r>
            <a:r>
              <a:rPr spc="-720" dirty="0" smtClean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will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be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i="1" u="heavy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added</a:t>
            </a:r>
            <a:r>
              <a:rPr i="1" u="heavy" spc="-65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i="1" u="heavy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to</a:t>
            </a:r>
            <a:r>
              <a:rPr i="1" u="heavy" spc="-1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chemeClr val="bg1"/>
                </a:solidFill>
              </a:rPr>
              <a:t>or</a:t>
            </a:r>
            <a:r>
              <a:rPr spc="-720" dirty="0">
                <a:solidFill>
                  <a:schemeClr val="bg1"/>
                </a:solidFill>
              </a:rPr>
              <a:t> </a:t>
            </a:r>
            <a:r>
              <a:rPr i="1" u="heavy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removed</a:t>
            </a:r>
            <a:r>
              <a:rPr i="1" u="heavy" spc="-75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i="1" u="heavy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from</a:t>
            </a:r>
            <a:r>
              <a:rPr i="1" u="heavy" spc="-1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2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team.</a:t>
            </a:r>
          </a:p>
          <a:p>
            <a:pPr marL="240029" marR="1397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number</a:t>
            </a:r>
            <a:r>
              <a:rPr spc="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resources</a:t>
            </a:r>
            <a:r>
              <a:rPr spc="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assigned</a:t>
            </a:r>
            <a:r>
              <a:rPr spc="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</a:t>
            </a:r>
            <a:r>
              <a:rPr spc="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over</a:t>
            </a:r>
            <a:r>
              <a:rPr spc="-1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time</a:t>
            </a:r>
            <a:r>
              <a:rPr spc="114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is 	</a:t>
            </a:r>
            <a:r>
              <a:rPr spc="-10" dirty="0">
                <a:solidFill>
                  <a:schemeClr val="bg1"/>
                </a:solidFill>
              </a:rPr>
              <a:t>shown</a:t>
            </a:r>
            <a:r>
              <a:rPr spc="-73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with</a:t>
            </a:r>
            <a:r>
              <a:rPr spc="-7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help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Resource</a:t>
            </a:r>
            <a:r>
              <a:rPr b="1" spc="-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chemeClr val="bg1"/>
                </a:solidFill>
                <a:latin typeface="Courier New"/>
                <a:cs typeface="Courier New"/>
              </a:rPr>
              <a:t>histogram</a:t>
            </a:r>
            <a:r>
              <a:rPr spc="-1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0372" y="3387216"/>
            <a:ext cx="267462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5620" marR="5080" indent="-502920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Sample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Resource Histogram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347216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5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Resource</a:t>
            </a:r>
            <a:r>
              <a:rPr spc="-1295" dirty="0"/>
              <a:t> </a:t>
            </a:r>
            <a:r>
              <a:rPr spc="-10" dirty="0"/>
              <a:t>Management Plan</a:t>
            </a:r>
            <a:r>
              <a:rPr spc="-1235" dirty="0"/>
              <a:t> </a:t>
            </a:r>
            <a:r>
              <a:rPr spc="-10" dirty="0"/>
              <a:t>and</a:t>
            </a:r>
            <a:r>
              <a:rPr spc="-1280" dirty="0"/>
              <a:t> </a:t>
            </a:r>
            <a:r>
              <a:rPr spc="-10" dirty="0"/>
              <a:t>Team</a:t>
            </a:r>
            <a:r>
              <a:rPr spc="-1290" dirty="0"/>
              <a:t> </a:t>
            </a:r>
            <a:r>
              <a:rPr spc="-10" dirty="0"/>
              <a:t>Charter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90141"/>
            <a:ext cx="8439150" cy="40773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ourier New"/>
                <a:cs typeface="Courier New"/>
              </a:rPr>
              <a:t>The</a:t>
            </a:r>
            <a:r>
              <a:rPr sz="1500" spc="-43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project</a:t>
            </a:r>
            <a:r>
              <a:rPr sz="1500" spc="-49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team</a:t>
            </a:r>
            <a:r>
              <a:rPr sz="1500" spc="-47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members</a:t>
            </a:r>
            <a:r>
              <a:rPr sz="1500" spc="-49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meet</a:t>
            </a:r>
            <a:r>
              <a:rPr sz="1500" spc="-50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after</a:t>
            </a:r>
            <a:r>
              <a:rPr sz="1500" spc="-48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their</a:t>
            </a:r>
            <a:r>
              <a:rPr sz="1500" spc="-47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selection</a:t>
            </a:r>
            <a:r>
              <a:rPr sz="1500" spc="-49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to</a:t>
            </a:r>
            <a:r>
              <a:rPr sz="1500" spc="-48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prepare</a:t>
            </a:r>
            <a:r>
              <a:rPr sz="1500" spc="-49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a</a:t>
            </a:r>
            <a:r>
              <a:rPr sz="1500" spc="-48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team</a:t>
            </a:r>
            <a:r>
              <a:rPr sz="1500" spc="-49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charter.</a:t>
            </a:r>
            <a:endParaRPr sz="15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b="1" dirty="0">
                <a:latin typeface="Courier New"/>
                <a:cs typeface="Courier New"/>
              </a:rPr>
              <a:t>Team</a:t>
            </a:r>
            <a:r>
              <a:rPr sz="1500" b="1" spc="-2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charter</a:t>
            </a:r>
            <a:r>
              <a:rPr sz="1500" b="1" spc="-49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is</a:t>
            </a:r>
            <a:r>
              <a:rPr sz="1500" spc="-50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used</a:t>
            </a:r>
            <a:r>
              <a:rPr sz="1500" spc="-475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to</a:t>
            </a:r>
            <a:r>
              <a:rPr sz="1500" spc="-480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guide</a:t>
            </a:r>
            <a:r>
              <a:rPr sz="1500" spc="-50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how</a:t>
            </a:r>
            <a:r>
              <a:rPr sz="1500" spc="-47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the</a:t>
            </a:r>
            <a:r>
              <a:rPr sz="1500" spc="-480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team</a:t>
            </a:r>
            <a:r>
              <a:rPr sz="1500" spc="-48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will</a:t>
            </a:r>
            <a:r>
              <a:rPr sz="1500" spc="-50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function.</a:t>
            </a:r>
            <a:endParaRPr sz="15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ourier New"/>
                <a:cs typeface="Courier New"/>
              </a:rPr>
              <a:t>Updates</a:t>
            </a:r>
            <a:r>
              <a:rPr sz="1500" spc="-484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should</a:t>
            </a:r>
            <a:r>
              <a:rPr sz="1500" spc="-47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be</a:t>
            </a:r>
            <a:r>
              <a:rPr sz="1500" spc="-48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made</a:t>
            </a:r>
            <a:r>
              <a:rPr sz="1500" spc="-50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to</a:t>
            </a:r>
            <a:r>
              <a:rPr sz="1500" spc="-509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the</a:t>
            </a:r>
            <a:r>
              <a:rPr sz="1500" spc="-47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team</a:t>
            </a:r>
            <a:r>
              <a:rPr sz="1500" spc="-50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charter</a:t>
            </a:r>
            <a:r>
              <a:rPr sz="1500" spc="-46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whenever</a:t>
            </a:r>
            <a:r>
              <a:rPr sz="1500" spc="-49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needed.</a:t>
            </a:r>
            <a:endParaRPr sz="15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560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ourier New"/>
                <a:cs typeface="Courier New"/>
              </a:rPr>
              <a:t>Team</a:t>
            </a:r>
            <a:r>
              <a:rPr sz="1500" spc="-459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charter</a:t>
            </a:r>
            <a:r>
              <a:rPr sz="1500" spc="-47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may</a:t>
            </a:r>
            <a:r>
              <a:rPr sz="1500" spc="-484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consist</a:t>
            </a:r>
            <a:r>
              <a:rPr sz="1500" spc="-495" dirty="0">
                <a:latin typeface="Courier New"/>
                <a:cs typeface="Courier New"/>
              </a:rPr>
              <a:t> </a:t>
            </a:r>
            <a:r>
              <a:rPr sz="1500" spc="-25" dirty="0">
                <a:latin typeface="Courier New"/>
                <a:cs typeface="Courier New"/>
              </a:rPr>
              <a:t>of:</a:t>
            </a:r>
            <a:endParaRPr sz="15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737870" algn="l"/>
              </a:tabLst>
            </a:pPr>
            <a:r>
              <a:rPr sz="1500" dirty="0">
                <a:latin typeface="Courier New"/>
                <a:cs typeface="Courier New"/>
              </a:rPr>
              <a:t>Team</a:t>
            </a:r>
            <a:r>
              <a:rPr sz="1500" spc="-46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values</a:t>
            </a:r>
            <a:endParaRPr sz="15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737870" algn="l"/>
              </a:tabLst>
            </a:pPr>
            <a:r>
              <a:rPr sz="1500" spc="-10" dirty="0">
                <a:latin typeface="Courier New"/>
                <a:cs typeface="Courier New"/>
              </a:rPr>
              <a:t>Communication</a:t>
            </a:r>
            <a:r>
              <a:rPr sz="1500" spc="-41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guidelines</a:t>
            </a:r>
            <a:endParaRPr sz="15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737870" algn="l"/>
              </a:tabLst>
            </a:pPr>
            <a:r>
              <a:rPr sz="1500" spc="-10" dirty="0">
                <a:latin typeface="Courier New"/>
                <a:cs typeface="Courier New"/>
              </a:rPr>
              <a:t>Decision-making</a:t>
            </a:r>
            <a:r>
              <a:rPr sz="1500" spc="-47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criteria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and</a:t>
            </a:r>
            <a:r>
              <a:rPr sz="1500" spc="-459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process</a:t>
            </a:r>
            <a:endParaRPr sz="15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737870" algn="l"/>
              </a:tabLst>
            </a:pPr>
            <a:r>
              <a:rPr sz="1500" dirty="0">
                <a:latin typeface="Courier New"/>
                <a:cs typeface="Courier New"/>
              </a:rPr>
              <a:t>Conflict</a:t>
            </a:r>
            <a:r>
              <a:rPr sz="1500" spc="-465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resolution</a:t>
            </a:r>
            <a:r>
              <a:rPr sz="1500" spc="-46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process</a:t>
            </a:r>
            <a:endParaRPr sz="15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737870" algn="l"/>
              </a:tabLst>
            </a:pPr>
            <a:r>
              <a:rPr sz="1500" dirty="0">
                <a:latin typeface="Courier New"/>
                <a:cs typeface="Courier New"/>
              </a:rPr>
              <a:t>Meeting</a:t>
            </a:r>
            <a:r>
              <a:rPr sz="1500" spc="-484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guidelines</a:t>
            </a:r>
            <a:endParaRPr sz="15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560"/>
              </a:spcBef>
              <a:buFont typeface="Arial MT"/>
              <a:buChar char="•"/>
              <a:tabLst>
                <a:tab pos="737870" algn="l"/>
              </a:tabLst>
            </a:pPr>
            <a:r>
              <a:rPr sz="1500" dirty="0">
                <a:latin typeface="Courier New"/>
                <a:cs typeface="Courier New"/>
              </a:rPr>
              <a:t>Team</a:t>
            </a:r>
            <a:r>
              <a:rPr sz="1500" spc="-46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agreements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Estimating</a:t>
            </a:r>
            <a:r>
              <a:rPr spc="-1235" dirty="0"/>
              <a:t> </a:t>
            </a:r>
            <a:r>
              <a:rPr spc="-10" dirty="0"/>
              <a:t>Activity</a:t>
            </a:r>
            <a:r>
              <a:rPr spc="-1270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40030" y="1792224"/>
            <a:ext cx="11861800" cy="454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1255" marR="57150" indent="-227329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11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people</a:t>
            </a:r>
            <a:r>
              <a:rPr sz="2400" spc="1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involve</a:t>
            </a:r>
            <a:r>
              <a:rPr sz="2400" spc="11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estimating</a:t>
            </a:r>
            <a:r>
              <a:rPr sz="2400" spc="11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resources</a:t>
            </a:r>
            <a:r>
              <a:rPr sz="2400" spc="2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must</a:t>
            </a:r>
            <a:r>
              <a:rPr sz="2400" spc="114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be 	</a:t>
            </a:r>
            <a:r>
              <a:rPr sz="2400" spc="-10" dirty="0">
                <a:latin typeface="Courier New"/>
                <a:cs typeface="Courier New"/>
              </a:rPr>
              <a:t>experienced.</a:t>
            </a:r>
            <a:endParaRPr sz="2400" dirty="0">
              <a:latin typeface="Courier New"/>
              <a:cs typeface="Courier New"/>
            </a:endParaRPr>
          </a:p>
          <a:p>
            <a:pPr marL="1151255" marR="60325" indent="-227329">
              <a:lnSpc>
                <a:spcPct val="140100"/>
              </a:lnSpc>
              <a:spcBef>
                <a:spcPts val="1005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Brainstorming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should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be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performed</a:t>
            </a:r>
            <a:r>
              <a:rPr sz="2400" spc="-4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alternatives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should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be 	</a:t>
            </a:r>
            <a:r>
              <a:rPr sz="2400" spc="-10" dirty="0">
                <a:latin typeface="Courier New"/>
                <a:cs typeface="Courier New"/>
              </a:rPr>
              <a:t>evaluated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estimate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resources.</a:t>
            </a:r>
            <a:endParaRPr sz="2400" dirty="0">
              <a:latin typeface="Courier New"/>
              <a:cs typeface="Courier New"/>
            </a:endParaRPr>
          </a:p>
          <a:p>
            <a:pPr marL="1151255" marR="54610" indent="-227329">
              <a:lnSpc>
                <a:spcPct val="140100"/>
              </a:lnSpc>
              <a:spcBef>
                <a:spcPts val="980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dirty="0">
                <a:latin typeface="Courier New"/>
                <a:cs typeface="Courier New"/>
              </a:rPr>
              <a:t>Major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costs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related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human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resources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include</a:t>
            </a:r>
            <a:r>
              <a:rPr sz="2400" spc="-1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salaries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benefits.</a:t>
            </a:r>
            <a:endParaRPr sz="2400" dirty="0">
              <a:latin typeface="Courier New"/>
              <a:cs typeface="Courier New"/>
            </a:endParaRPr>
          </a:p>
          <a:p>
            <a:pPr marL="227329" marR="61594" indent="-227329" algn="r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27329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13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resource</a:t>
            </a:r>
            <a:r>
              <a:rPr sz="2400" b="1" spc="-11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breakdown</a:t>
            </a:r>
            <a:r>
              <a:rPr sz="2400" b="1" spc="-114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structure</a:t>
            </a:r>
            <a:r>
              <a:rPr sz="2400" b="1" spc="-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refers</a:t>
            </a:r>
            <a:r>
              <a:rPr sz="2400" spc="-11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4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hierarchical</a:t>
            </a:r>
            <a:endParaRPr sz="2400" dirty="0">
              <a:latin typeface="Courier New"/>
              <a:cs typeface="Courier New"/>
            </a:endParaRPr>
          </a:p>
          <a:p>
            <a:pPr marR="55880" algn="r">
              <a:lnSpc>
                <a:spcPct val="100000"/>
              </a:lnSpc>
              <a:spcBef>
                <a:spcPts val="1155"/>
              </a:spcBef>
            </a:pPr>
            <a:r>
              <a:rPr sz="2400" spc="-10" dirty="0">
                <a:latin typeface="Courier New"/>
                <a:cs typeface="Courier New"/>
              </a:rPr>
              <a:t>structure</a:t>
            </a:r>
            <a:r>
              <a:rPr sz="2400" spc="-40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that</a:t>
            </a:r>
            <a:r>
              <a:rPr sz="2400" spc="-390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highlights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the</a:t>
            </a:r>
            <a:r>
              <a:rPr sz="2400" spc="-41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project’s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resources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by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10" dirty="0" smtClean="0">
                <a:latin typeface="Courier New"/>
                <a:cs typeface="Courier New"/>
              </a:rPr>
              <a:t>category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Acquiring</a:t>
            </a:r>
            <a:r>
              <a:rPr spc="-1225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10899775" cy="284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It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critical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to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acquire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qualified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IT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professionals.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According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to</a:t>
            </a:r>
            <a:r>
              <a:rPr sz="2400" spc="-4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3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saying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“the</a:t>
            </a:r>
            <a:r>
              <a:rPr sz="2400" spc="-38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project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manager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who</a:t>
            </a:r>
            <a:r>
              <a:rPr sz="2400" spc="-409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is</a:t>
            </a:r>
            <a:r>
              <a:rPr sz="2400" spc="-39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the</a:t>
            </a:r>
            <a:r>
              <a:rPr sz="2400" spc="-5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smartest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person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on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has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done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poor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job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recruiting.”</a:t>
            </a:r>
            <a:endParaRPr sz="2400">
              <a:latin typeface="Courier New"/>
              <a:cs typeface="Courier New"/>
            </a:endParaRPr>
          </a:p>
          <a:p>
            <a:pPr marL="240029" marR="7620" indent="-227329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work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project,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assigning</a:t>
            </a:r>
            <a:r>
              <a:rPr sz="2400" spc="-204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appropriate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number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people 	with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appropriate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skills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at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appropriate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times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is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crucial.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Acquiring</a:t>
            </a:r>
            <a:r>
              <a:rPr spc="-1225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32812"/>
            <a:ext cx="10898505" cy="450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Resource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Assignment</a:t>
            </a:r>
            <a:endParaRPr sz="2200" dirty="0">
              <a:latin typeface="Courier New"/>
              <a:cs typeface="Courier New"/>
            </a:endParaRPr>
          </a:p>
          <a:p>
            <a:pPr marL="737870" marR="8255" lvl="1" indent="-268605" algn="just">
              <a:lnSpc>
                <a:spcPct val="140100"/>
              </a:lnSpc>
              <a:spcBef>
                <a:spcPts val="985"/>
              </a:spcBef>
              <a:buFont typeface="Arial MT"/>
              <a:buChar char="•"/>
              <a:tabLst>
                <a:tab pos="737870" algn="l"/>
              </a:tabLst>
            </a:pP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Manager</a:t>
            </a:r>
            <a:r>
              <a:rPr sz="2200" spc="-295" dirty="0">
                <a:latin typeface="Courier New"/>
                <a:cs typeface="Courier New"/>
              </a:rPr>
              <a:t> </a:t>
            </a:r>
            <a:r>
              <a:rPr sz="2200" spc="-400" dirty="0">
                <a:latin typeface="Courier New"/>
                <a:cs typeface="Courier New"/>
              </a:rPr>
              <a:t>is</a:t>
            </a:r>
            <a:r>
              <a:rPr sz="2200" spc="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responsible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170" dirty="0">
                <a:latin typeface="Courier New"/>
                <a:cs typeface="Courier New"/>
              </a:rPr>
              <a:t>to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assign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Courier New"/>
                <a:cs typeface="Courier New"/>
              </a:rPr>
              <a:t>the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spc="-70" dirty="0">
                <a:latin typeface="Courier New"/>
                <a:cs typeface="Courier New"/>
              </a:rPr>
              <a:t>team</a:t>
            </a:r>
            <a:r>
              <a:rPr sz="2200" spc="-250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members</a:t>
            </a:r>
            <a:r>
              <a:rPr sz="2200" spc="-2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 </a:t>
            </a:r>
            <a:r>
              <a:rPr sz="2200" spc="-10" dirty="0">
                <a:latin typeface="Courier New"/>
                <a:cs typeface="Courier New"/>
              </a:rPr>
              <a:t>project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work.</a:t>
            </a:r>
            <a:endParaRPr sz="2200" dirty="0">
              <a:latin typeface="Courier New"/>
              <a:cs typeface="Courier New"/>
            </a:endParaRPr>
          </a:p>
          <a:p>
            <a:pPr marL="737870" marR="10795" lvl="1" indent="-268605" algn="just">
              <a:lnSpc>
                <a:spcPct val="140100"/>
              </a:lnSpc>
              <a:spcBef>
                <a:spcPts val="1005"/>
              </a:spcBef>
              <a:buFont typeface="Arial MT"/>
              <a:buChar char="•"/>
              <a:tabLst>
                <a:tab pos="737870" algn="l"/>
              </a:tabLst>
            </a:pPr>
            <a:r>
              <a:rPr sz="2200" dirty="0">
                <a:latin typeface="Courier New"/>
                <a:cs typeface="Courier New"/>
              </a:rPr>
              <a:t>Organizations</a:t>
            </a:r>
            <a:r>
              <a:rPr sz="2200" spc="25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should</a:t>
            </a:r>
            <a:r>
              <a:rPr sz="2200" spc="25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maintain</a:t>
            </a:r>
            <a:r>
              <a:rPr sz="2200" spc="2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accurate</a:t>
            </a:r>
            <a:r>
              <a:rPr sz="2200" spc="2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record</a:t>
            </a:r>
            <a:r>
              <a:rPr sz="2200" spc="2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2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employees’ skills.</a:t>
            </a:r>
            <a:endParaRPr sz="2200" dirty="0">
              <a:latin typeface="Courier New"/>
              <a:cs typeface="Courier New"/>
            </a:endParaRPr>
          </a:p>
          <a:p>
            <a:pPr marL="737870" marR="5080" lvl="1" indent="-268605" algn="just">
              <a:lnSpc>
                <a:spcPct val="140100"/>
              </a:lnSpc>
              <a:spcBef>
                <a:spcPts val="1010"/>
              </a:spcBef>
              <a:buFont typeface="Arial MT"/>
              <a:buChar char="•"/>
              <a:tabLst>
                <a:tab pos="737870" algn="l"/>
              </a:tabLst>
            </a:pP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2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case</a:t>
            </a:r>
            <a:r>
              <a:rPr sz="2200" spc="2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available</a:t>
            </a:r>
            <a:r>
              <a:rPr sz="2200" spc="4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expertise</a:t>
            </a:r>
            <a:r>
              <a:rPr sz="2200" spc="2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do</a:t>
            </a:r>
            <a:r>
              <a:rPr sz="2200" spc="20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not</a:t>
            </a:r>
            <a:r>
              <a:rPr sz="2200" spc="3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fulfil</a:t>
            </a:r>
            <a:r>
              <a:rPr sz="2200" spc="2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22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needs</a:t>
            </a:r>
            <a:r>
              <a:rPr sz="2200" spc="4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18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the </a:t>
            </a:r>
            <a:r>
              <a:rPr sz="2200" dirty="0">
                <a:latin typeface="Courier New"/>
                <a:cs typeface="Courier New"/>
              </a:rPr>
              <a:t>current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project,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it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1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Project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Manager’s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job</a:t>
            </a:r>
            <a:r>
              <a:rPr sz="2200" spc="-1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work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with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top </a:t>
            </a:r>
            <a:r>
              <a:rPr sz="2200" dirty="0">
                <a:latin typeface="Courier New"/>
                <a:cs typeface="Courier New"/>
              </a:rPr>
              <a:t>management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human</a:t>
            </a:r>
            <a:r>
              <a:rPr sz="2200" spc="-229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resource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managers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spc="-120" dirty="0">
                <a:latin typeface="Courier New"/>
                <a:cs typeface="Courier New"/>
              </a:rPr>
              <a:t>to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address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staffing</a:t>
            </a:r>
            <a:r>
              <a:rPr sz="2200" spc="-17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and </a:t>
            </a:r>
            <a:r>
              <a:rPr sz="2200" spc="-10" dirty="0">
                <a:latin typeface="Courier New"/>
                <a:cs typeface="Courier New"/>
              </a:rPr>
              <a:t>training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needs.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Acquiring</a:t>
            </a:r>
            <a:r>
              <a:rPr spc="-1225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40030" y="1783079"/>
            <a:ext cx="11863070" cy="4655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1255" marR="558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b="1" dirty="0">
                <a:latin typeface="Courier New"/>
                <a:cs typeface="Courier New"/>
              </a:rPr>
              <a:t>Resource</a:t>
            </a:r>
            <a:r>
              <a:rPr sz="2400" b="1" spc="-204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loading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amount</a:t>
            </a:r>
            <a:r>
              <a:rPr sz="2400" spc="-110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of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individual</a:t>
            </a:r>
            <a:r>
              <a:rPr sz="2400" spc="-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resources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that 	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3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required</a:t>
            </a:r>
            <a:r>
              <a:rPr sz="2400" spc="3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by</a:t>
            </a:r>
            <a:r>
              <a:rPr sz="2400" spc="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</a:t>
            </a:r>
            <a:r>
              <a:rPr sz="2400" spc="4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existing</a:t>
            </a:r>
            <a:r>
              <a:rPr sz="2400" spc="3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schedule</a:t>
            </a:r>
            <a:r>
              <a:rPr sz="2400" spc="4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during</a:t>
            </a:r>
            <a:r>
              <a:rPr sz="2400" spc="4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specific</a:t>
            </a:r>
            <a:r>
              <a:rPr sz="2400" spc="459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time 	</a:t>
            </a:r>
            <a:r>
              <a:rPr sz="2400" spc="-10" dirty="0">
                <a:latin typeface="Courier New"/>
                <a:cs typeface="Courier New"/>
              </a:rPr>
              <a:t>periods.</a:t>
            </a:r>
            <a:endParaRPr sz="2400" dirty="0">
              <a:latin typeface="Courier New"/>
              <a:cs typeface="Courier New"/>
            </a:endParaRPr>
          </a:p>
          <a:p>
            <a:pPr marL="1151255" marR="56515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spc="-30" dirty="0">
                <a:latin typeface="Courier New"/>
                <a:cs typeface="Courier New"/>
              </a:rPr>
              <a:t>With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150" dirty="0">
                <a:latin typeface="Courier New"/>
                <a:cs typeface="Courier New"/>
              </a:rPr>
              <a:t>the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help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254" dirty="0">
                <a:latin typeface="Courier New"/>
                <a:cs typeface="Courier New"/>
              </a:rPr>
              <a:t>of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this,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Project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Managers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understand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the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 	</a:t>
            </a:r>
            <a:r>
              <a:rPr sz="2400" dirty="0">
                <a:latin typeface="Courier New"/>
                <a:cs typeface="Courier New"/>
              </a:rPr>
              <a:t>demands</a:t>
            </a:r>
            <a:r>
              <a:rPr sz="2400" spc="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20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organization’s</a:t>
            </a:r>
            <a:r>
              <a:rPr sz="2400" spc="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resources</a:t>
            </a:r>
            <a:r>
              <a:rPr sz="2400" spc="2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on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individual 	people’s</a:t>
            </a:r>
            <a:r>
              <a:rPr sz="2400" spc="-6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schedule.</a:t>
            </a:r>
            <a:endParaRPr sz="2400" dirty="0">
              <a:latin typeface="Courier New"/>
              <a:cs typeface="Courier New"/>
            </a:endParaRPr>
          </a:p>
          <a:p>
            <a:pPr marL="1151255" marR="52705" indent="-227329" algn="just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1152525" algn="l"/>
              </a:tabLst>
            </a:pPr>
            <a:r>
              <a:rPr sz="2400" b="1" dirty="0">
                <a:latin typeface="Courier New"/>
                <a:cs typeface="Courier New"/>
              </a:rPr>
              <a:t>Overallocation</a:t>
            </a:r>
            <a:r>
              <a:rPr sz="2400" b="1" spc="-24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means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that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sufficient</a:t>
            </a:r>
            <a:r>
              <a:rPr sz="2400" spc="-229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resources</a:t>
            </a:r>
            <a:r>
              <a:rPr sz="2400" spc="-1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not 	</a:t>
            </a:r>
            <a:r>
              <a:rPr sz="2400" dirty="0">
                <a:latin typeface="Courier New"/>
                <a:cs typeface="Courier New"/>
              </a:rPr>
              <a:t>available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to</a:t>
            </a:r>
            <a:r>
              <a:rPr sz="2400" spc="-36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accomplish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the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assigned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work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during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9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given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20" dirty="0" smtClean="0">
                <a:latin typeface="Courier New"/>
                <a:cs typeface="Courier New"/>
              </a:rPr>
              <a:t>time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Acquiring</a:t>
            </a:r>
            <a:r>
              <a:rPr spc="-1225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55575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Sample 	Showing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3245" y="1783079"/>
            <a:ext cx="1667510" cy="11239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540"/>
              </a:spcBef>
            </a:pPr>
            <a:r>
              <a:rPr sz="2400" spc="-10" dirty="0">
                <a:latin typeface="Courier New"/>
                <a:cs typeface="Courier New"/>
              </a:rPr>
              <a:t>Histogram</a:t>
            </a:r>
            <a:endParaRPr sz="2400" dirty="0">
              <a:latin typeface="Courier New"/>
              <a:cs typeface="Courier New"/>
            </a:endParaRPr>
          </a:p>
          <a:p>
            <a:pPr marR="15875" algn="r">
              <a:lnSpc>
                <a:spcPct val="100000"/>
              </a:lnSpc>
              <a:spcBef>
                <a:spcPts val="1445"/>
              </a:spcBef>
            </a:pPr>
            <a:r>
              <a:rPr sz="2400" spc="-25" dirty="0">
                <a:latin typeface="Courier New"/>
                <a:cs typeface="Courier New"/>
              </a:rPr>
              <a:t>an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0124" y="3064255"/>
            <a:ext cx="35896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Overallocated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Person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1752600"/>
            <a:ext cx="6726935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Acquiring</a:t>
            </a:r>
            <a:r>
              <a:rPr spc="-1225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147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0795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Resource</a:t>
            </a:r>
            <a:r>
              <a:rPr b="1" spc="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leveling</a:t>
            </a:r>
            <a:r>
              <a:rPr b="1" spc="7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used</a:t>
            </a:r>
            <a:r>
              <a:rPr spc="-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resolve</a:t>
            </a:r>
            <a:r>
              <a:rPr spc="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resource</a:t>
            </a:r>
            <a:r>
              <a:rPr spc="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conflicts</a:t>
            </a:r>
            <a:r>
              <a:rPr spc="8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by 	</a:t>
            </a:r>
            <a:r>
              <a:rPr spc="-10" dirty="0">
                <a:solidFill>
                  <a:schemeClr val="bg1"/>
                </a:solidFill>
              </a:rPr>
              <a:t>delaying</a:t>
            </a:r>
            <a:r>
              <a:rPr spc="-6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tasks.</a:t>
            </a:r>
          </a:p>
          <a:p>
            <a:pPr marL="240029" marR="1016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This</a:t>
            </a:r>
            <a:r>
              <a:rPr spc="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helps</a:t>
            </a:r>
            <a:r>
              <a:rPr spc="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</a:t>
            </a:r>
            <a:r>
              <a:rPr spc="-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creating</a:t>
            </a:r>
            <a:r>
              <a:rPr spc="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smoother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distribution</a:t>
            </a:r>
            <a:r>
              <a:rPr spc="11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resource 	usage</a:t>
            </a:r>
            <a:r>
              <a:rPr spc="-6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minimizing</a:t>
            </a:r>
            <a:r>
              <a:rPr spc="-7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overallocation.</a:t>
            </a:r>
          </a:p>
          <a:p>
            <a:pPr marL="240029" marR="5080" indent="-227329">
              <a:lnSpc>
                <a:spcPct val="1501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Network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diagrams</a:t>
            </a:r>
            <a:r>
              <a:rPr spc="-4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</a:t>
            </a:r>
            <a:r>
              <a:rPr spc="-22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examined</a:t>
            </a:r>
            <a:r>
              <a:rPr spc="-24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for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areas</a:t>
            </a:r>
            <a:r>
              <a:rPr spc="-220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of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slack</a:t>
            </a:r>
            <a:r>
              <a:rPr spc="-200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or</a:t>
            </a:r>
            <a:r>
              <a:rPr spc="-5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float</a:t>
            </a:r>
            <a:r>
              <a:rPr spc="-17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and </a:t>
            </a:r>
            <a:r>
              <a:rPr spc="-10" dirty="0" smtClean="0">
                <a:solidFill>
                  <a:schemeClr val="bg1"/>
                </a:solidFill>
              </a:rPr>
              <a:t>for</a:t>
            </a:r>
            <a:r>
              <a:rPr spc="-690" dirty="0" smtClean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identifying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resource</a:t>
            </a:r>
            <a:r>
              <a:rPr spc="-72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conflicts.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Acquiring</a:t>
            </a:r>
            <a:r>
              <a:rPr spc="-1225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3387216"/>
            <a:ext cx="150241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Resource Example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9172" y="3570478"/>
            <a:ext cx="1481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Leveling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420367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27263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762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-3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objective</a:t>
            </a:r>
            <a:r>
              <a:rPr spc="-31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behind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team</a:t>
            </a:r>
            <a:r>
              <a:rPr b="1" spc="-1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development</a:t>
            </a:r>
            <a:r>
              <a:rPr b="1" spc="-10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to</a:t>
            </a:r>
            <a:r>
              <a:rPr spc="-3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help</a:t>
            </a:r>
            <a:r>
              <a:rPr spc="-2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people</a:t>
            </a:r>
            <a:r>
              <a:rPr spc="-24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work 	</a:t>
            </a:r>
            <a:r>
              <a:rPr spc="-10" dirty="0">
                <a:solidFill>
                  <a:schemeClr val="bg1"/>
                </a:solidFill>
              </a:rPr>
              <a:t>together</a:t>
            </a:r>
            <a:r>
              <a:rPr spc="-7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more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effectively</a:t>
            </a:r>
            <a:r>
              <a:rPr spc="-7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to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enhance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performance.</a:t>
            </a: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In</a:t>
            </a:r>
            <a:r>
              <a:rPr spc="-11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some</a:t>
            </a:r>
            <a:r>
              <a:rPr spc="-1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situations,</a:t>
            </a:r>
            <a:r>
              <a:rPr spc="-1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people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working</a:t>
            </a:r>
            <a:r>
              <a:rPr spc="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</a:t>
            </a:r>
            <a:r>
              <a:rPr spc="-2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2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team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guarantees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the 	</a:t>
            </a:r>
            <a:r>
              <a:rPr spc="-10" dirty="0">
                <a:solidFill>
                  <a:schemeClr val="bg1"/>
                </a:solidFill>
              </a:rPr>
              <a:t>successful</a:t>
            </a:r>
            <a:r>
              <a:rPr spc="-6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completion</a:t>
            </a:r>
            <a:r>
              <a:rPr spc="-7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</a:t>
            </a:r>
            <a:r>
              <a:rPr spc="-7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26717"/>
            <a:ext cx="8517890" cy="18630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Courier New"/>
                <a:cs typeface="Courier New"/>
              </a:rPr>
              <a:t>Tuckman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model: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Five</a:t>
            </a:r>
            <a:r>
              <a:rPr sz="2000" spc="-57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stages</a:t>
            </a:r>
            <a:r>
              <a:rPr sz="2000" spc="-6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4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team</a:t>
            </a:r>
            <a:r>
              <a:rPr sz="2000" spc="-6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development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b="1" spc="-20" dirty="0">
                <a:latin typeface="Courier New"/>
                <a:cs typeface="Courier New"/>
              </a:rPr>
              <a:t>Forming</a:t>
            </a:r>
            <a:r>
              <a:rPr sz="2000" b="1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refers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introduction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team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members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b="1" dirty="0">
                <a:latin typeface="Courier New"/>
                <a:cs typeface="Courier New"/>
              </a:rPr>
              <a:t>Storming</a:t>
            </a:r>
            <a:r>
              <a:rPr sz="2000" b="1" spc="1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performed</a:t>
            </a:r>
            <a:r>
              <a:rPr sz="2000" spc="1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by</a:t>
            </a:r>
            <a:r>
              <a:rPr sz="2000" spc="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people</a:t>
            </a:r>
            <a:r>
              <a:rPr sz="2000" spc="1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test</a:t>
            </a:r>
            <a:r>
              <a:rPr sz="2000" spc="2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each</a:t>
            </a:r>
            <a:r>
              <a:rPr sz="2000" spc="1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other</a:t>
            </a:r>
            <a:endParaRPr sz="2000">
              <a:latin typeface="Courier New"/>
              <a:cs typeface="Courier New"/>
            </a:endParaRPr>
          </a:p>
          <a:p>
            <a:pPr marL="737870">
              <a:lnSpc>
                <a:spcPct val="100000"/>
              </a:lnSpc>
              <a:spcBef>
                <a:spcPts val="960"/>
              </a:spcBef>
            </a:pPr>
            <a:r>
              <a:rPr sz="2000" spc="-10" dirty="0">
                <a:latin typeface="Courier New"/>
                <a:cs typeface="Courier New"/>
              </a:rPr>
              <a:t>conflicts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54336" y="3033775"/>
            <a:ext cx="61595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25" dirty="0">
                <a:latin typeface="Courier New"/>
                <a:cs typeface="Courier New"/>
              </a:rPr>
              <a:t>when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40720" y="3033775"/>
            <a:ext cx="6235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20" dirty="0">
                <a:latin typeface="Courier New"/>
                <a:cs typeface="Courier New"/>
              </a:rPr>
              <a:t>they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36630" y="3033775"/>
            <a:ext cx="62484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20" dirty="0">
                <a:latin typeface="Courier New"/>
                <a:cs typeface="Courier New"/>
              </a:rPr>
              <a:t>have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-65430" y="3891965"/>
            <a:ext cx="11859895" cy="2426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4495" marR="38735" indent="-268605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1674495" algn="l"/>
              </a:tabLst>
            </a:pPr>
            <a:r>
              <a:rPr sz="2000" b="1" spc="-20" dirty="0">
                <a:latin typeface="Courier New"/>
                <a:cs typeface="Courier New"/>
              </a:rPr>
              <a:t>Norming</a:t>
            </a:r>
            <a:r>
              <a:rPr sz="2000" b="1" spc="-409" dirty="0">
                <a:latin typeface="Courier New"/>
                <a:cs typeface="Courier New"/>
              </a:rPr>
              <a:t> </a:t>
            </a:r>
            <a:r>
              <a:rPr sz="2000" spc="-55" dirty="0">
                <a:latin typeface="Courier New"/>
                <a:cs typeface="Courier New"/>
              </a:rPr>
              <a:t>is</a:t>
            </a:r>
            <a:r>
              <a:rPr sz="2000" spc="-5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</a:t>
            </a:r>
            <a:r>
              <a:rPr sz="2000" spc="-570" dirty="0">
                <a:latin typeface="Courier New"/>
                <a:cs typeface="Courier New"/>
              </a:rPr>
              <a:t> </a:t>
            </a:r>
            <a:r>
              <a:rPr sz="2000" spc="-40" dirty="0">
                <a:latin typeface="Courier New"/>
                <a:cs typeface="Courier New"/>
              </a:rPr>
              <a:t>situation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spc="-100" dirty="0">
                <a:latin typeface="Courier New"/>
                <a:cs typeface="Courier New"/>
              </a:rPr>
              <a:t>of</a:t>
            </a:r>
            <a:r>
              <a:rPr sz="2000" spc="-56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cooperation</a:t>
            </a:r>
            <a:r>
              <a:rPr sz="2000" spc="-425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and</a:t>
            </a:r>
            <a:r>
              <a:rPr sz="2000" spc="-434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collaboration</a:t>
            </a:r>
            <a:r>
              <a:rPr sz="2000" spc="-40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after</a:t>
            </a:r>
            <a:r>
              <a:rPr sz="2000" spc="-38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conflicts </a:t>
            </a:r>
            <a:r>
              <a:rPr sz="2000" spc="-20" dirty="0">
                <a:latin typeface="Courier New"/>
                <a:cs typeface="Courier New"/>
              </a:rPr>
              <a:t>have</a:t>
            </a:r>
            <a:r>
              <a:rPr sz="2000" spc="-5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been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resolved</a:t>
            </a:r>
            <a:endParaRPr sz="2000" dirty="0">
              <a:latin typeface="Courier New"/>
              <a:cs typeface="Courier New"/>
            </a:endParaRPr>
          </a:p>
          <a:p>
            <a:pPr marL="1674495" indent="-267970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1674495" algn="l"/>
              </a:tabLst>
            </a:pPr>
            <a:r>
              <a:rPr sz="2000" b="1" dirty="0">
                <a:latin typeface="Courier New"/>
                <a:cs typeface="Courier New"/>
              </a:rPr>
              <a:t>Performing</a:t>
            </a:r>
            <a:r>
              <a:rPr sz="2000" b="1" spc="-30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refers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to</a:t>
            </a:r>
            <a:r>
              <a:rPr sz="2000" spc="-4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efforts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of</a:t>
            </a:r>
            <a:r>
              <a:rPr sz="2000" spc="-27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achieving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the</a:t>
            </a:r>
            <a:r>
              <a:rPr sz="2000" spc="-2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team’s</a:t>
            </a:r>
            <a:r>
              <a:rPr sz="2000" spc="-225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Courier New"/>
                <a:cs typeface="Courier New"/>
              </a:rPr>
              <a:t>goals</a:t>
            </a:r>
            <a:r>
              <a:rPr sz="2000" spc="-3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rather</a:t>
            </a:r>
            <a:endParaRPr sz="2000" dirty="0">
              <a:latin typeface="Courier New"/>
              <a:cs typeface="Courier New"/>
            </a:endParaRPr>
          </a:p>
          <a:p>
            <a:pPr marL="1674495">
              <a:lnSpc>
                <a:spcPct val="100000"/>
              </a:lnSpc>
              <a:spcBef>
                <a:spcPts val="960"/>
              </a:spcBef>
            </a:pPr>
            <a:r>
              <a:rPr sz="2000" spc="-20" dirty="0">
                <a:latin typeface="Courier New"/>
                <a:cs typeface="Courier New"/>
              </a:rPr>
              <a:t>than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discussing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the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team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process.</a:t>
            </a:r>
            <a:endParaRPr sz="2000" dirty="0">
              <a:latin typeface="Courier New"/>
              <a:cs typeface="Courier New"/>
            </a:endParaRPr>
          </a:p>
          <a:p>
            <a:pPr marL="1674495" indent="-267970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1674495" algn="l"/>
              </a:tabLst>
            </a:pPr>
            <a:r>
              <a:rPr sz="2000" b="1" dirty="0">
                <a:latin typeface="Courier New"/>
                <a:cs typeface="Courier New"/>
              </a:rPr>
              <a:t>Adjourning</a:t>
            </a:r>
            <a:r>
              <a:rPr sz="2000" b="1" spc="4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refers</a:t>
            </a:r>
            <a:r>
              <a:rPr sz="2000" spc="459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4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4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dissolving</a:t>
            </a:r>
            <a:r>
              <a:rPr sz="2000" spc="4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4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team</a:t>
            </a:r>
            <a:r>
              <a:rPr sz="2000" spc="4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after</a:t>
            </a:r>
            <a:r>
              <a:rPr sz="2000" spc="480" dirty="0">
                <a:latin typeface="Courier New"/>
                <a:cs typeface="Courier New"/>
              </a:rPr>
              <a:t> </a:t>
            </a:r>
            <a:r>
              <a:rPr sz="2000" spc="-10" dirty="0" smtClean="0">
                <a:latin typeface="Courier New"/>
                <a:cs typeface="Courier New"/>
              </a:rPr>
              <a:t>successfully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>
                <a:solidFill>
                  <a:schemeClr val="bg1"/>
                </a:solidFill>
              </a:rPr>
              <a:t>Trainings</a:t>
            </a:r>
            <a:r>
              <a:rPr spc="-350" dirty="0">
                <a:solidFill>
                  <a:schemeClr val="bg1"/>
                </a:solidFill>
              </a:rPr>
              <a:t> </a:t>
            </a:r>
            <a:r>
              <a:rPr spc="-105" dirty="0">
                <a:solidFill>
                  <a:schemeClr val="bg1"/>
                </a:solidFill>
              </a:rPr>
              <a:t>are</a:t>
            </a:r>
            <a:r>
              <a:rPr spc="-254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usually</a:t>
            </a:r>
            <a:r>
              <a:rPr spc="-32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recommended</a:t>
            </a:r>
            <a:r>
              <a:rPr spc="-3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by</a:t>
            </a:r>
            <a:r>
              <a:rPr spc="-32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Project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Managers</a:t>
            </a:r>
            <a:r>
              <a:rPr spc="-195" dirty="0">
                <a:solidFill>
                  <a:schemeClr val="bg1"/>
                </a:solidFill>
              </a:rPr>
              <a:t> </a:t>
            </a:r>
            <a:r>
              <a:rPr spc="-90" dirty="0">
                <a:solidFill>
                  <a:schemeClr val="bg1"/>
                </a:solidFill>
              </a:rPr>
              <a:t>so</a:t>
            </a:r>
            <a:r>
              <a:rPr spc="-26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that 	</a:t>
            </a:r>
            <a:r>
              <a:rPr spc="-25" dirty="0">
                <a:solidFill>
                  <a:schemeClr val="bg1"/>
                </a:solidFill>
              </a:rPr>
              <a:t>people</a:t>
            </a:r>
            <a:r>
              <a:rPr spc="-345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working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520" dirty="0">
                <a:solidFill>
                  <a:schemeClr val="bg1"/>
                </a:solidFill>
              </a:rPr>
              <a:t>on</a:t>
            </a:r>
            <a:r>
              <a:rPr spc="160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the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60" dirty="0">
                <a:solidFill>
                  <a:schemeClr val="bg1"/>
                </a:solidFill>
              </a:rPr>
              <a:t>project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65" dirty="0">
                <a:solidFill>
                  <a:schemeClr val="bg1"/>
                </a:solidFill>
              </a:rPr>
              <a:t>improve</a:t>
            </a:r>
            <a:r>
              <a:rPr spc="-295" dirty="0">
                <a:solidFill>
                  <a:schemeClr val="bg1"/>
                </a:solidFill>
              </a:rPr>
              <a:t> </a:t>
            </a:r>
            <a:r>
              <a:rPr spc="-80" dirty="0">
                <a:solidFill>
                  <a:schemeClr val="bg1"/>
                </a:solidFill>
              </a:rPr>
              <a:t>their</a:t>
            </a:r>
            <a:r>
              <a:rPr spc="-22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individual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spc="-180" dirty="0">
                <a:solidFill>
                  <a:schemeClr val="bg1"/>
                </a:solidFill>
              </a:rPr>
              <a:t>as</a:t>
            </a:r>
            <a:r>
              <a:rPr spc="-17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well </a:t>
            </a:r>
            <a:r>
              <a:rPr spc="-10" dirty="0" smtClean="0">
                <a:solidFill>
                  <a:schemeClr val="bg1"/>
                </a:solidFill>
              </a:rPr>
              <a:t>as</a:t>
            </a:r>
            <a:r>
              <a:rPr spc="-715" dirty="0" smtClean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team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development.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894695" cy="370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Team-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building</a:t>
            </a:r>
            <a:r>
              <a:rPr sz="2400" i="1" u="heavy" spc="-2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trainings</a:t>
            </a:r>
            <a:r>
              <a:rPr sz="2400" i="1" u="heavy" spc="-2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-2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5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provided</a:t>
            </a:r>
            <a:r>
              <a:rPr sz="2400" spc="-260" dirty="0">
                <a:latin typeface="Courier New"/>
                <a:cs typeface="Courier New"/>
              </a:rPr>
              <a:t>  </a:t>
            </a:r>
            <a:r>
              <a:rPr sz="2400" spc="-50" dirty="0">
                <a:latin typeface="Courier New"/>
                <a:cs typeface="Courier New"/>
              </a:rPr>
              <a:t>in-</a:t>
            </a:r>
            <a:r>
              <a:rPr sz="2400" dirty="0">
                <a:latin typeface="Courier New"/>
                <a:cs typeface="Courier New"/>
              </a:rPr>
              <a:t>house</a:t>
            </a:r>
            <a:r>
              <a:rPr sz="2400" spc="-2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-27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by 	</a:t>
            </a:r>
            <a:r>
              <a:rPr sz="2400" dirty="0">
                <a:latin typeface="Courier New"/>
                <a:cs typeface="Courier New"/>
              </a:rPr>
              <a:t>obtaining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services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other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organizations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who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developed 	expertise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providing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training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programs.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Team-building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activities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include: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Physical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challenges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Psychological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preference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indicator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tools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8674" y="1783079"/>
            <a:ext cx="1044003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marR="5080" indent="-2667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80670" algn="l"/>
              </a:tabLst>
            </a:pPr>
            <a:r>
              <a:rPr sz="2400" dirty="0">
                <a:latin typeface="Courier New"/>
                <a:cs typeface="Courier New"/>
              </a:rPr>
              <a:t>Military</a:t>
            </a:r>
            <a:r>
              <a:rPr sz="2400" spc="45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basic</a:t>
            </a:r>
            <a:r>
              <a:rPr sz="2400" spc="4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training</a:t>
            </a:r>
            <a:r>
              <a:rPr sz="2400" spc="4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4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boot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camps</a:t>
            </a:r>
            <a:r>
              <a:rPr sz="2400" spc="48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4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examples</a:t>
            </a:r>
            <a:r>
              <a:rPr sz="2400" spc="53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physically</a:t>
            </a:r>
            <a:r>
              <a:rPr sz="2400" i="1" u="heavy" spc="-7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challenging</a:t>
            </a:r>
            <a:r>
              <a:rPr sz="2400" i="1" u="heavy" spc="-8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activities.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0"/>
            <a:ext cx="9873615" cy="926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Psychological</a:t>
            </a:r>
            <a:r>
              <a:rPr sz="2200" spc="-6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preference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indicator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tools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dirty="0">
                <a:latin typeface="Courier New"/>
                <a:cs typeface="Courier New"/>
              </a:rPr>
              <a:t>Teams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participate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mental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team-</a:t>
            </a:r>
            <a:r>
              <a:rPr sz="2200" dirty="0">
                <a:latin typeface="Courier New"/>
                <a:cs typeface="Courier New"/>
              </a:rPr>
              <a:t>building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activities</a:t>
            </a:r>
            <a:r>
              <a:rPr sz="2200" spc="-10" dirty="0">
                <a:latin typeface="Courier New"/>
                <a:cs typeface="Courier New"/>
              </a:rPr>
              <a:t> </a:t>
            </a:r>
            <a:r>
              <a:rPr sz="2200" spc="-85" dirty="0">
                <a:latin typeface="Courier New"/>
                <a:cs typeface="Courier New"/>
              </a:rPr>
              <a:t>in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08030" y="2370689"/>
            <a:ext cx="859155" cy="89725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885"/>
              </a:spcBef>
            </a:pPr>
            <a:r>
              <a:rPr sz="2200" spc="-10" dirty="0">
                <a:latin typeface="Courier New"/>
                <a:cs typeface="Courier New"/>
              </a:rPr>
              <a:t>which</a:t>
            </a:r>
            <a:endParaRPr sz="22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795"/>
              </a:spcBef>
            </a:pPr>
            <a:r>
              <a:rPr sz="2200" spc="-20" dirty="0">
                <a:latin typeface="Courier New"/>
                <a:cs typeface="Courier New"/>
              </a:rPr>
              <a:t>also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674" y="2805947"/>
            <a:ext cx="8724900" cy="1461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670" marR="5080">
              <a:lnSpc>
                <a:spcPct val="130100"/>
              </a:lnSpc>
              <a:spcBef>
                <a:spcPts val="95"/>
              </a:spcBef>
            </a:pPr>
            <a:r>
              <a:rPr sz="2200" dirty="0">
                <a:latin typeface="Courier New"/>
                <a:cs typeface="Courier New"/>
              </a:rPr>
              <a:t>they</a:t>
            </a:r>
            <a:r>
              <a:rPr sz="2200" spc="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learn</a:t>
            </a:r>
            <a:r>
              <a:rPr sz="2200" spc="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about</a:t>
            </a:r>
            <a:r>
              <a:rPr sz="2200" spc="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themselves</a:t>
            </a:r>
            <a:r>
              <a:rPr sz="2200" spc="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as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well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as</a:t>
            </a:r>
            <a:r>
              <a:rPr sz="2200" spc="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each</a:t>
            </a:r>
            <a:r>
              <a:rPr sz="2200" spc="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other. learn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how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they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can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as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7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more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effectively.</a:t>
            </a:r>
            <a:endParaRPr sz="2200">
              <a:latin typeface="Courier New"/>
              <a:cs typeface="Courier New"/>
            </a:endParaRPr>
          </a:p>
          <a:p>
            <a:pPr marL="280670" indent="-26797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80670" algn="l"/>
              </a:tabLst>
            </a:pPr>
            <a:r>
              <a:rPr sz="2200" spc="-10" dirty="0">
                <a:latin typeface="Courier New"/>
                <a:cs typeface="Courier New"/>
              </a:rPr>
              <a:t>Common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mental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building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exercises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24896" y="2905200"/>
            <a:ext cx="68199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20" dirty="0">
                <a:latin typeface="Courier New"/>
                <a:cs typeface="Courier New"/>
              </a:rPr>
              <a:t>They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5873" y="4466971"/>
            <a:ext cx="6217920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32740" algn="l"/>
              </a:tabLst>
            </a:pPr>
            <a:r>
              <a:rPr sz="2200" spc="-10" dirty="0">
                <a:latin typeface="Courier New"/>
                <a:cs typeface="Courier New"/>
              </a:rPr>
              <a:t>Myers-Briggs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Type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Indicator</a:t>
            </a:r>
            <a:endParaRPr sz="22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332740" algn="l"/>
              </a:tabLst>
            </a:pPr>
            <a:r>
              <a:rPr sz="2200" spc="-10" dirty="0">
                <a:latin typeface="Courier New"/>
                <a:cs typeface="Courier New"/>
              </a:rPr>
              <a:t>Wilson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Learning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Social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Styles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Profile</a:t>
            </a:r>
            <a:endParaRPr sz="22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32740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DISC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Profile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2224"/>
            <a:ext cx="5480050" cy="105029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5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latin typeface="Courier New"/>
                <a:cs typeface="Courier New"/>
              </a:rPr>
              <a:t>Myers-</a:t>
            </a:r>
            <a:r>
              <a:rPr sz="2400" b="1" dirty="0">
                <a:latin typeface="Courier New"/>
                <a:cs typeface="Courier New"/>
              </a:rPr>
              <a:t>Briggs</a:t>
            </a:r>
            <a:r>
              <a:rPr sz="2400" b="1" spc="29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Type</a:t>
            </a:r>
            <a:r>
              <a:rPr sz="2400" b="1" spc="3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Indicator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155"/>
              </a:spcBef>
            </a:pPr>
            <a:r>
              <a:rPr sz="2400" dirty="0">
                <a:latin typeface="Courier New"/>
                <a:cs typeface="Courier New"/>
              </a:rPr>
              <a:t>personality</a:t>
            </a:r>
            <a:r>
              <a:rPr sz="2400" spc="4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preferences</a:t>
            </a:r>
            <a:r>
              <a:rPr sz="2400" spc="4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that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3903" y="1792224"/>
            <a:ext cx="5427980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 marR="5080" indent="-238125">
              <a:lnSpc>
                <a:spcPct val="1401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(MBTI)</a:t>
            </a:r>
            <a:r>
              <a:rPr sz="2400" b="1" spc="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1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tool</a:t>
            </a:r>
            <a:r>
              <a:rPr sz="2400" spc="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determine </a:t>
            </a:r>
            <a:r>
              <a:rPr sz="2400" dirty="0">
                <a:latin typeface="Courier New"/>
                <a:cs typeface="Courier New"/>
              </a:rPr>
              <a:t>helps</a:t>
            </a:r>
            <a:r>
              <a:rPr sz="2400" spc="4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individuals</a:t>
            </a:r>
            <a:r>
              <a:rPr sz="2400" spc="50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5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36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team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524" y="2963671"/>
            <a:ext cx="8254365" cy="358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understand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each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other.</a:t>
            </a:r>
            <a:endParaRPr sz="2400" dirty="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four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dimensions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psychological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type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MBTI: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3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50" dirty="0">
                <a:latin typeface="Courier New"/>
                <a:cs typeface="Courier New"/>
              </a:rPr>
              <a:t>Extrovert/Introvert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(E/I)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50" dirty="0">
                <a:latin typeface="Courier New"/>
                <a:cs typeface="Courier New"/>
              </a:rPr>
              <a:t>Sensation/Intuition</a:t>
            </a:r>
            <a:r>
              <a:rPr sz="2400" spc="-6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(S/N)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60" dirty="0">
                <a:latin typeface="Courier New"/>
                <a:cs typeface="Courier New"/>
              </a:rPr>
              <a:t>Thinking/Feeling</a:t>
            </a:r>
            <a:r>
              <a:rPr sz="2400" spc="-6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(T/F)</a:t>
            </a:r>
            <a:endParaRPr sz="2400" dirty="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14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50" dirty="0">
                <a:latin typeface="Courier New"/>
                <a:cs typeface="Courier New"/>
              </a:rPr>
              <a:t>Judgement/Perception</a:t>
            </a:r>
            <a:r>
              <a:rPr sz="2400" spc="-6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(J/P)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5634"/>
            <a:ext cx="10895330" cy="4587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41275" indent="-228600" algn="just">
              <a:lnSpc>
                <a:spcPct val="13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ourier New"/>
                <a:cs typeface="Courier New"/>
              </a:rPr>
              <a:t>Social</a:t>
            </a:r>
            <a:r>
              <a:rPr sz="2200" b="1" spc="-30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Styles</a:t>
            </a:r>
            <a:r>
              <a:rPr sz="2200" b="1" spc="-7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Profile</a:t>
            </a:r>
            <a:r>
              <a:rPr sz="2200" b="1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also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used</a:t>
            </a:r>
            <a:r>
              <a:rPr sz="2200" spc="-25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by</a:t>
            </a:r>
            <a:r>
              <a:rPr sz="2200" spc="-185" dirty="0">
                <a:latin typeface="Courier New"/>
                <a:cs typeface="Courier New"/>
              </a:rPr>
              <a:t> </a:t>
            </a:r>
            <a:r>
              <a:rPr sz="2200" spc="-75" dirty="0">
                <a:latin typeface="Courier New"/>
                <a:cs typeface="Courier New"/>
              </a:rPr>
              <a:t>many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organizations</a:t>
            </a:r>
            <a:r>
              <a:rPr sz="2200" spc="-80" dirty="0">
                <a:latin typeface="Courier New"/>
                <a:cs typeface="Courier New"/>
              </a:rPr>
              <a:t> </a:t>
            </a:r>
            <a:r>
              <a:rPr sz="2200" spc="-170" dirty="0">
                <a:latin typeface="Courier New"/>
                <a:cs typeface="Courier New"/>
              </a:rPr>
              <a:t>in</a:t>
            </a:r>
            <a:r>
              <a:rPr sz="2200" spc="-16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team-</a:t>
            </a:r>
            <a:r>
              <a:rPr sz="2200" spc="-10" dirty="0">
                <a:latin typeface="Courier New"/>
                <a:cs typeface="Courier New"/>
              </a:rPr>
              <a:t>building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activities.</a:t>
            </a:r>
            <a:endParaRPr sz="2200">
              <a:latin typeface="Courier New"/>
              <a:cs typeface="Courier New"/>
            </a:endParaRPr>
          </a:p>
          <a:p>
            <a:pPr marL="241300" marR="5080" indent="-228600" algn="just">
              <a:lnSpc>
                <a:spcPct val="1301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Based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on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their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assertiveness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or</a:t>
            </a:r>
            <a:r>
              <a:rPr sz="2200" spc="-21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responsiveness,</a:t>
            </a:r>
            <a:r>
              <a:rPr sz="2200" spc="-1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people</a:t>
            </a:r>
            <a:r>
              <a:rPr sz="2200" spc="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fall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into </a:t>
            </a:r>
            <a:r>
              <a:rPr sz="2200" dirty="0">
                <a:latin typeface="Courier New"/>
                <a:cs typeface="Courier New"/>
              </a:rPr>
              <a:t>four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approximate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behavioral</a:t>
            </a:r>
            <a:r>
              <a:rPr sz="2200" spc="-2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profiles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or</a:t>
            </a:r>
            <a:r>
              <a:rPr sz="2200" spc="-2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zones.</a:t>
            </a:r>
            <a:r>
              <a:rPr sz="2200" spc="-2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People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spc="-120" dirty="0">
                <a:latin typeface="Courier New"/>
                <a:cs typeface="Courier New"/>
              </a:rPr>
              <a:t>in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opposite quadrants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may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have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difficulties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in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working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together.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Drivers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Expressives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Analyticals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Amiables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5069" y="3570478"/>
            <a:ext cx="2299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Social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Styles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420367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2224"/>
            <a:ext cx="10897235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4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DISC</a:t>
            </a:r>
            <a:r>
              <a:rPr sz="2400" b="1" spc="-34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profile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uses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four-</a:t>
            </a:r>
            <a:r>
              <a:rPr sz="2400" dirty="0">
                <a:latin typeface="Courier New"/>
                <a:cs typeface="Courier New"/>
              </a:rPr>
              <a:t>dimensional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model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of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normal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behavior. 	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discloses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people’s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behavior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under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stress,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conflicts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0124" y="2817818"/>
            <a:ext cx="7199630" cy="3608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5"/>
              </a:spcBef>
            </a:pPr>
            <a:r>
              <a:rPr sz="2400" dirty="0">
                <a:latin typeface="Courier New"/>
                <a:cs typeface="Courier New"/>
              </a:rPr>
              <a:t>during</a:t>
            </a:r>
            <a:r>
              <a:rPr sz="2400" spc="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communication.</a:t>
            </a:r>
            <a:r>
              <a:rPr sz="2400" spc="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People falling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in </a:t>
            </a:r>
            <a:r>
              <a:rPr sz="2400" spc="-10" dirty="0">
                <a:latin typeface="Courier New"/>
                <a:cs typeface="Courier New"/>
              </a:rPr>
              <a:t>may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have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problems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while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working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group.</a:t>
            </a:r>
            <a:endParaRPr sz="2400">
              <a:latin typeface="Courier New"/>
              <a:cs typeface="Courier New"/>
            </a:endParaRPr>
          </a:p>
          <a:p>
            <a:pPr marL="507365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507365" algn="l"/>
              </a:tabLst>
            </a:pPr>
            <a:r>
              <a:rPr sz="2400" b="1" spc="-10" dirty="0">
                <a:latin typeface="Courier New"/>
                <a:cs typeface="Courier New"/>
              </a:rPr>
              <a:t>D</a:t>
            </a:r>
            <a:r>
              <a:rPr sz="2400" spc="-10" dirty="0">
                <a:latin typeface="Courier New"/>
                <a:cs typeface="Courier New"/>
              </a:rPr>
              <a:t>ominance</a:t>
            </a:r>
            <a:endParaRPr sz="2400">
              <a:latin typeface="Courier New"/>
              <a:cs typeface="Courier New"/>
            </a:endParaRPr>
          </a:p>
          <a:p>
            <a:pPr marL="507365" indent="-266700">
              <a:lnSpc>
                <a:spcPct val="100000"/>
              </a:lnSpc>
              <a:spcBef>
                <a:spcPts val="2140"/>
              </a:spcBef>
              <a:buFont typeface="Arial MT"/>
              <a:buChar char="•"/>
              <a:tabLst>
                <a:tab pos="507365" algn="l"/>
              </a:tabLst>
            </a:pPr>
            <a:r>
              <a:rPr sz="2400" b="1" spc="-10" dirty="0">
                <a:latin typeface="Courier New"/>
                <a:cs typeface="Courier New"/>
              </a:rPr>
              <a:t>I</a:t>
            </a:r>
            <a:r>
              <a:rPr sz="2400" spc="-10" dirty="0">
                <a:latin typeface="Courier New"/>
                <a:cs typeface="Courier New"/>
              </a:rPr>
              <a:t>nfluence</a:t>
            </a:r>
            <a:endParaRPr sz="2400">
              <a:latin typeface="Courier New"/>
              <a:cs typeface="Courier New"/>
            </a:endParaRPr>
          </a:p>
          <a:p>
            <a:pPr marL="507365" indent="-26670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507365" algn="l"/>
              </a:tabLst>
            </a:pPr>
            <a:r>
              <a:rPr sz="2400" b="1" spc="-10" dirty="0">
                <a:latin typeface="Courier New"/>
                <a:cs typeface="Courier New"/>
              </a:rPr>
              <a:t>S</a:t>
            </a:r>
            <a:r>
              <a:rPr sz="2400" spc="-10" dirty="0">
                <a:latin typeface="Courier New"/>
                <a:cs typeface="Courier New"/>
              </a:rPr>
              <a:t>teadiness</a:t>
            </a:r>
            <a:endParaRPr sz="2400">
              <a:latin typeface="Courier New"/>
              <a:cs typeface="Courier New"/>
            </a:endParaRPr>
          </a:p>
          <a:p>
            <a:pPr marL="507365" indent="-2667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507365" algn="l"/>
              </a:tabLst>
            </a:pPr>
            <a:r>
              <a:rPr sz="2400" b="1" spc="-10" dirty="0">
                <a:latin typeface="Courier New"/>
                <a:cs typeface="Courier New"/>
              </a:rPr>
              <a:t>C</a:t>
            </a:r>
            <a:r>
              <a:rPr sz="2400" spc="-10" dirty="0">
                <a:latin typeface="Courier New"/>
                <a:cs typeface="Courier New"/>
              </a:rPr>
              <a:t>ompliance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41563" y="2963671"/>
            <a:ext cx="3324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opposite</a:t>
            </a:r>
            <a:r>
              <a:rPr sz="2400" spc="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quadrants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29892" y="3720210"/>
            <a:ext cx="2759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DISC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Profile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1728" y="1347215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Developing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83079"/>
            <a:ext cx="10912475" cy="412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Team-</a:t>
            </a:r>
            <a:r>
              <a:rPr sz="2400" dirty="0">
                <a:latin typeface="Courier New"/>
                <a:cs typeface="Courier New"/>
              </a:rPr>
              <a:t>based</a:t>
            </a:r>
            <a:r>
              <a:rPr sz="2400" spc="5" dirty="0"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Reward</a:t>
            </a:r>
            <a:r>
              <a:rPr sz="2400" i="1" u="heavy" spc="4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and</a:t>
            </a:r>
            <a:r>
              <a:rPr sz="2400" i="1" u="heavy" spc="6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Recognition</a:t>
            </a:r>
            <a:r>
              <a:rPr sz="2400" i="1" u="heavy" spc="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Systems</a:t>
            </a:r>
            <a:r>
              <a:rPr sz="2400" i="1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used</a:t>
            </a:r>
            <a:r>
              <a:rPr sz="2400" spc="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as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spc="-10" dirty="0">
                <a:latin typeface="Courier New"/>
                <a:cs typeface="Courier New"/>
              </a:rPr>
              <a:t>tool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promote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teamwork.</a:t>
            </a:r>
            <a:endParaRPr sz="2400">
              <a:latin typeface="Courier New"/>
              <a:cs typeface="Courier New"/>
            </a:endParaRPr>
          </a:p>
          <a:p>
            <a:pPr marL="240029" marR="17145" indent="-227329" algn="just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Teams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more</a:t>
            </a:r>
            <a:r>
              <a:rPr sz="2400" spc="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effective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when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rewards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given</a:t>
            </a:r>
            <a:r>
              <a:rPr sz="2400" spc="9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for 	</a:t>
            </a:r>
            <a:r>
              <a:rPr sz="2400" spc="-10" dirty="0">
                <a:latin typeface="Courier New"/>
                <a:cs typeface="Courier New"/>
              </a:rPr>
              <a:t>teamwork.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35" dirty="0">
                <a:latin typeface="Courier New"/>
                <a:cs typeface="Courier New"/>
              </a:rPr>
              <a:t>Project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Managers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can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also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recognize</a:t>
            </a:r>
            <a:r>
              <a:rPr sz="2400" spc="-27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and</a:t>
            </a:r>
            <a:r>
              <a:rPr sz="2400" spc="-27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reward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individuals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who 	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1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willingly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working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overtime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help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teammate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meet</a:t>
            </a:r>
            <a:r>
              <a:rPr sz="2400" spc="-7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spc="-10" dirty="0">
                <a:latin typeface="Courier New"/>
                <a:cs typeface="Courier New"/>
              </a:rPr>
              <a:t>deadline.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Managing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5193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762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Project</a:t>
            </a:r>
            <a:r>
              <a:rPr spc="-36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Manager</a:t>
            </a:r>
            <a:r>
              <a:rPr spc="-26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41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responsible</a:t>
            </a:r>
            <a:r>
              <a:rPr spc="-26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41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lead</a:t>
            </a:r>
            <a:r>
              <a:rPr spc="-360" dirty="0">
                <a:solidFill>
                  <a:schemeClr val="bg1"/>
                </a:solidFill>
              </a:rPr>
              <a:t>  </a:t>
            </a:r>
            <a:r>
              <a:rPr spc="-10" dirty="0">
                <a:solidFill>
                  <a:schemeClr val="bg1"/>
                </a:solidFill>
              </a:rPr>
              <a:t>his/her</a:t>
            </a:r>
            <a:r>
              <a:rPr spc="-31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team</a:t>
            </a:r>
            <a:r>
              <a:rPr spc="-340" dirty="0">
                <a:solidFill>
                  <a:schemeClr val="bg1"/>
                </a:solidFill>
              </a:rPr>
              <a:t>  </a:t>
            </a:r>
            <a:r>
              <a:rPr spc="-25" dirty="0">
                <a:solidFill>
                  <a:schemeClr val="bg1"/>
                </a:solidFill>
              </a:rPr>
              <a:t>in 	</a:t>
            </a:r>
            <a:r>
              <a:rPr spc="-10" dirty="0">
                <a:solidFill>
                  <a:schemeClr val="bg1"/>
                </a:solidFill>
              </a:rPr>
              <a:t>executing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activities.</a:t>
            </a: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Decision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must</a:t>
            </a:r>
            <a:r>
              <a:rPr spc="-31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be</a:t>
            </a:r>
            <a:r>
              <a:rPr spc="-36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taken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by</a:t>
            </a:r>
            <a:r>
              <a:rPr spc="-360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Project</a:t>
            </a:r>
            <a:r>
              <a:rPr spc="-310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Manager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spc="-35" dirty="0">
                <a:solidFill>
                  <a:schemeClr val="bg1"/>
                </a:solidFill>
              </a:rPr>
              <a:t>after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analyzing</a:t>
            </a:r>
            <a:r>
              <a:rPr spc="-229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the 	</a:t>
            </a:r>
            <a:r>
              <a:rPr spc="-10" dirty="0">
                <a:solidFill>
                  <a:schemeClr val="bg1"/>
                </a:solidFill>
              </a:rPr>
              <a:t>team</a:t>
            </a:r>
            <a:r>
              <a:rPr spc="-7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performance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7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related</a:t>
            </a:r>
            <a:r>
              <a:rPr spc="-7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information:</a:t>
            </a:r>
          </a:p>
          <a:p>
            <a:pPr marL="735965" lvl="1" indent="-266700" algn="just">
              <a:lnSpc>
                <a:spcPct val="100000"/>
              </a:lnSpc>
              <a:spcBef>
                <a:spcPts val="243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If</a:t>
            </a:r>
            <a:r>
              <a:rPr sz="2400" spc="-70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changes</a:t>
            </a:r>
            <a:r>
              <a:rPr sz="2400" spc="-77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should</a:t>
            </a:r>
            <a:r>
              <a:rPr sz="2400" spc="-7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be</a:t>
            </a:r>
            <a:r>
              <a:rPr sz="2400" spc="-7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requested</a:t>
            </a:r>
            <a:r>
              <a:rPr sz="2400" spc="-7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to</a:t>
            </a:r>
            <a:r>
              <a:rPr sz="2400" spc="-7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-77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project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965" marR="9525" lvl="1" indent="-266700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737870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If</a:t>
            </a:r>
            <a:r>
              <a:rPr sz="2400" spc="-35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40" dirty="0">
                <a:solidFill>
                  <a:schemeClr val="bg1"/>
                </a:solidFill>
                <a:latin typeface="Courier New"/>
                <a:cs typeface="Courier New"/>
              </a:rPr>
              <a:t>updates</a:t>
            </a:r>
            <a:r>
              <a:rPr sz="2400" spc="-3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5" dirty="0">
                <a:solidFill>
                  <a:schemeClr val="bg1"/>
                </a:solidFill>
                <a:latin typeface="Courier New"/>
                <a:cs typeface="Courier New"/>
              </a:rPr>
              <a:t>are</a:t>
            </a:r>
            <a:r>
              <a:rPr sz="2400" spc="-254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60" dirty="0">
                <a:solidFill>
                  <a:schemeClr val="bg1"/>
                </a:solidFill>
                <a:latin typeface="Courier New"/>
                <a:cs typeface="Courier New"/>
              </a:rPr>
              <a:t>needed</a:t>
            </a:r>
            <a:r>
              <a:rPr sz="2400" spc="-2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80" dirty="0">
                <a:solidFill>
                  <a:schemeClr val="bg1"/>
                </a:solidFill>
                <a:latin typeface="Courier New"/>
                <a:cs typeface="Courier New"/>
              </a:rPr>
              <a:t>to </a:t>
            </a:r>
            <a:r>
              <a:rPr sz="2400" spc="-55" dirty="0">
                <a:solidFill>
                  <a:schemeClr val="bg1"/>
                </a:solidFill>
                <a:latin typeface="Courier New"/>
                <a:cs typeface="Courier New"/>
              </a:rPr>
              <a:t>enterprise</a:t>
            </a:r>
            <a:r>
              <a:rPr sz="2400" spc="-30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environmental</a:t>
            </a:r>
            <a:r>
              <a:rPr sz="2400" spc="-1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factors, 	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organizational</a:t>
            </a:r>
            <a:r>
              <a:rPr sz="2400" spc="-17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process</a:t>
            </a:r>
            <a:r>
              <a:rPr sz="2400" spc="-9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assets,</a:t>
            </a:r>
            <a:r>
              <a:rPr sz="2400" spc="-10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35" dirty="0">
                <a:solidFill>
                  <a:schemeClr val="bg1"/>
                </a:solidFill>
                <a:latin typeface="Courier New"/>
                <a:cs typeface="Courier New"/>
              </a:rPr>
              <a:t>or</a:t>
            </a:r>
            <a:r>
              <a:rPr sz="2400" spc="-3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the</a:t>
            </a:r>
            <a:r>
              <a:rPr sz="2400" spc="-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chemeClr val="bg1"/>
                </a:solidFill>
                <a:latin typeface="Courier New"/>
                <a:cs typeface="Courier New"/>
              </a:rPr>
              <a:t>project</a:t>
            </a:r>
            <a:r>
              <a:rPr sz="2400" spc="-6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management 	</a:t>
            </a:r>
            <a:r>
              <a:rPr sz="2400" spc="-20" dirty="0">
                <a:solidFill>
                  <a:schemeClr val="bg1"/>
                </a:solidFill>
                <a:latin typeface="Courier New"/>
                <a:cs typeface="Courier New"/>
              </a:rPr>
              <a:t>plan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Managing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05381"/>
            <a:ext cx="9262745" cy="29457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0" dirty="0">
                <a:latin typeface="Courier New"/>
                <a:cs typeface="Courier New"/>
              </a:rPr>
              <a:t>A</a:t>
            </a:r>
            <a:r>
              <a:rPr sz="2000" spc="-5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number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of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tools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and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techniques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exist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to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help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managing</a:t>
            </a:r>
            <a:r>
              <a:rPr sz="2000" spc="-6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teams.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Conflict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Decision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making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Emotional</a:t>
            </a:r>
            <a:r>
              <a:rPr sz="2000" spc="-5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intelligence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10" dirty="0">
                <a:latin typeface="Courier New"/>
                <a:cs typeface="Courier New"/>
              </a:rPr>
              <a:t>Influencing</a:t>
            </a:r>
            <a:endParaRPr sz="20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10" dirty="0">
                <a:latin typeface="Courier New"/>
                <a:cs typeface="Courier New"/>
              </a:rPr>
              <a:t>Leadership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524" y="5046345"/>
            <a:ext cx="6318250" cy="1247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37870" indent="-26860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737870" algn="l"/>
              </a:tabLst>
            </a:pPr>
            <a:r>
              <a:rPr sz="2000" spc="-20" dirty="0">
                <a:latin typeface="Courier New"/>
                <a:cs typeface="Courier New"/>
              </a:rPr>
              <a:t>Project</a:t>
            </a:r>
            <a:r>
              <a:rPr sz="2000" spc="-49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management</a:t>
            </a:r>
            <a:r>
              <a:rPr sz="2000" spc="-57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information</a:t>
            </a:r>
            <a:r>
              <a:rPr sz="2000" spc="-57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systems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ourier New"/>
                <a:cs typeface="Courier New"/>
              </a:rPr>
              <a:t>Conflict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</a:t>
            </a:r>
            <a:r>
              <a:rPr sz="2000" spc="-2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will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be</a:t>
            </a:r>
            <a:r>
              <a:rPr sz="2000" spc="-1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discussed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in</a:t>
            </a:r>
            <a:endParaRPr sz="2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sz="2000" spc="-20" dirty="0">
                <a:latin typeface="Courier New"/>
                <a:cs typeface="Courier New"/>
              </a:rPr>
              <a:t>already</a:t>
            </a:r>
            <a:r>
              <a:rPr sz="2000" spc="-5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been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discussed.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49997" y="5567273"/>
            <a:ext cx="441198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ourier New"/>
                <a:cs typeface="Courier New"/>
              </a:rPr>
              <a:t>detail,</a:t>
            </a:r>
            <a:r>
              <a:rPr sz="2000" spc="-1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1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other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topics</a:t>
            </a:r>
            <a:r>
              <a:rPr sz="2000" spc="-6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have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Managing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21057"/>
            <a:ext cx="10883900" cy="394652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Project</a:t>
            </a:r>
            <a:r>
              <a:rPr sz="1700" spc="-305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Managers</a:t>
            </a:r>
            <a:r>
              <a:rPr sz="1700" spc="-305" dirty="0">
                <a:latin typeface="Courier New"/>
                <a:cs typeface="Courier New"/>
              </a:rPr>
              <a:t> </a:t>
            </a:r>
            <a:r>
              <a:rPr sz="1700" spc="-40" dirty="0">
                <a:latin typeface="Courier New"/>
                <a:cs typeface="Courier New"/>
              </a:rPr>
              <a:t>should</a:t>
            </a:r>
            <a:r>
              <a:rPr sz="1700" spc="-310" dirty="0">
                <a:latin typeface="Courier New"/>
                <a:cs typeface="Courier New"/>
              </a:rPr>
              <a:t> </a:t>
            </a:r>
            <a:r>
              <a:rPr sz="1700" spc="-35" dirty="0">
                <a:latin typeface="Courier New"/>
                <a:cs typeface="Courier New"/>
              </a:rPr>
              <a:t>understand</a:t>
            </a:r>
            <a:r>
              <a:rPr sz="1700" spc="-300" dirty="0">
                <a:latin typeface="Courier New"/>
                <a:cs typeface="Courier New"/>
              </a:rPr>
              <a:t> </a:t>
            </a:r>
            <a:r>
              <a:rPr sz="17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conflict</a:t>
            </a:r>
            <a:r>
              <a:rPr sz="1700" i="1" u="heavy" spc="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17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handling</a:t>
            </a:r>
            <a:r>
              <a:rPr sz="1700" i="1" u="heavy" spc="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strategies</a:t>
            </a:r>
            <a:r>
              <a:rPr sz="1700" spc="-305" dirty="0">
                <a:latin typeface="Courier New"/>
                <a:cs typeface="Courier New"/>
              </a:rPr>
              <a:t> </a:t>
            </a:r>
            <a:r>
              <a:rPr sz="1700" spc="-50" dirty="0">
                <a:latin typeface="Courier New"/>
                <a:cs typeface="Courier New"/>
              </a:rPr>
              <a:t>and</a:t>
            </a:r>
            <a:r>
              <a:rPr sz="1700" spc="-335" dirty="0">
                <a:latin typeface="Courier New"/>
                <a:cs typeface="Courier New"/>
              </a:rPr>
              <a:t> </a:t>
            </a:r>
            <a:r>
              <a:rPr sz="1700" spc="-45" dirty="0">
                <a:latin typeface="Courier New"/>
                <a:cs typeface="Courier New"/>
              </a:rPr>
              <a:t>should</a:t>
            </a:r>
            <a:r>
              <a:rPr sz="1700" spc="-31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manage</a:t>
            </a:r>
            <a:r>
              <a:rPr sz="1700" spc="-254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the</a:t>
            </a:r>
            <a:endParaRPr sz="17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600"/>
              </a:spcBef>
            </a:pPr>
            <a:r>
              <a:rPr sz="1700" spc="-10" dirty="0">
                <a:latin typeface="Courier New"/>
                <a:cs typeface="Courier New"/>
              </a:rPr>
              <a:t>conflicts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proactively.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3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10" dirty="0">
                <a:latin typeface="Courier New"/>
                <a:cs typeface="Courier New"/>
              </a:rPr>
              <a:t>Blake</a:t>
            </a:r>
            <a:r>
              <a:rPr sz="1700" spc="-48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and</a:t>
            </a:r>
            <a:r>
              <a:rPr sz="1700" spc="-53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Mouton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five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basic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modes</a:t>
            </a:r>
            <a:r>
              <a:rPr sz="1700" spc="-50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of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conflict</a:t>
            </a:r>
            <a:r>
              <a:rPr sz="1700" spc="-54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handling.</a:t>
            </a:r>
            <a:endParaRPr sz="17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spc="-10" dirty="0">
                <a:latin typeface="Courier New"/>
                <a:cs typeface="Courier New"/>
              </a:rPr>
              <a:t>Confrontation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mode</a:t>
            </a:r>
            <a:endParaRPr sz="17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05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spc="-10" dirty="0">
                <a:latin typeface="Courier New"/>
                <a:cs typeface="Courier New"/>
              </a:rPr>
              <a:t>Compromise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mode</a:t>
            </a:r>
            <a:endParaRPr sz="17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spc="-10" dirty="0">
                <a:latin typeface="Courier New"/>
                <a:cs typeface="Courier New"/>
              </a:rPr>
              <a:t>Smoothing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mode</a:t>
            </a:r>
            <a:endParaRPr sz="17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15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spc="-10" dirty="0">
                <a:latin typeface="Courier New"/>
                <a:cs typeface="Courier New"/>
              </a:rPr>
              <a:t>Forcing</a:t>
            </a:r>
            <a:r>
              <a:rPr sz="1700" spc="-48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mode</a:t>
            </a:r>
            <a:endParaRPr sz="17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spc="-10" dirty="0">
                <a:latin typeface="Courier New"/>
                <a:cs typeface="Courier New"/>
              </a:rPr>
              <a:t>Withdrawal</a:t>
            </a:r>
            <a:r>
              <a:rPr sz="1700" spc="-49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mode</a:t>
            </a:r>
            <a:endParaRPr sz="1700">
              <a:latin typeface="Courier New"/>
              <a:cs typeface="Courier New"/>
            </a:endParaRPr>
          </a:p>
          <a:p>
            <a:pPr marL="737870" lvl="1" indent="-268605">
              <a:lnSpc>
                <a:spcPct val="100000"/>
              </a:lnSpc>
              <a:spcBef>
                <a:spcPts val="1630"/>
              </a:spcBef>
              <a:buFont typeface="Arial MT"/>
              <a:buChar char="•"/>
              <a:tabLst>
                <a:tab pos="737870" algn="l"/>
              </a:tabLst>
            </a:pPr>
            <a:r>
              <a:rPr sz="1700" spc="-10" dirty="0">
                <a:latin typeface="Courier New"/>
                <a:cs typeface="Courier New"/>
              </a:rPr>
              <a:t>Collaborating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mode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(this</a:t>
            </a:r>
            <a:r>
              <a:rPr sz="1700" spc="-49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is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recognized</a:t>
            </a:r>
            <a:r>
              <a:rPr sz="1700" spc="-52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in</a:t>
            </a:r>
            <a:r>
              <a:rPr sz="1700" spc="-52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recent</a:t>
            </a:r>
            <a:r>
              <a:rPr sz="1700" spc="-5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studies)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Managing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7492" y="3387216"/>
            <a:ext cx="304038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3625" marR="5080" indent="-1051560">
              <a:lnSpc>
                <a:spcPct val="1501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Conflict</a:t>
            </a:r>
            <a:r>
              <a:rPr sz="2400" spc="-6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Handling Modes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976" y="1420367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Managing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799538"/>
            <a:ext cx="6379845" cy="4545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4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Teams</a:t>
            </a:r>
            <a:r>
              <a:rPr sz="2200" spc="-5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are</a:t>
            </a:r>
            <a:r>
              <a:rPr sz="2200" spc="-8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subject</a:t>
            </a:r>
            <a:r>
              <a:rPr sz="2200" spc="-6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95" dirty="0">
                <a:latin typeface="Courier New"/>
                <a:cs typeface="Courier New"/>
              </a:rPr>
              <a:t>  </a:t>
            </a:r>
            <a:r>
              <a:rPr sz="2200" spc="-30" dirty="0">
                <a:latin typeface="Courier New"/>
                <a:cs typeface="Courier New"/>
              </a:rPr>
              <a:t>dysfunction, </a:t>
            </a:r>
            <a:r>
              <a:rPr sz="2200" spc="-10" dirty="0">
                <a:latin typeface="Courier New"/>
                <a:cs typeface="Courier New"/>
              </a:rPr>
              <a:t>challenging.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five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dysfunctions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teams: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Absence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trust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Fear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conflict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39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Lack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commitment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70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Avoidance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accountability</a:t>
            </a:r>
            <a:endParaRPr sz="2200">
              <a:latin typeface="Courier New"/>
              <a:cs typeface="Courier New"/>
            </a:endParaRPr>
          </a:p>
          <a:p>
            <a:pPr marL="737235" lvl="1" indent="-267970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737235" algn="l"/>
              </a:tabLst>
            </a:pPr>
            <a:r>
              <a:rPr sz="2200" spc="-10" dirty="0">
                <a:latin typeface="Courier New"/>
                <a:cs typeface="Courier New"/>
              </a:rPr>
              <a:t>Inattention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results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0309" y="1932812"/>
            <a:ext cx="420560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ourier New"/>
                <a:cs typeface="Courier New"/>
              </a:rPr>
              <a:t>maintaining</a:t>
            </a:r>
            <a:r>
              <a:rPr sz="2200" spc="-3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teamwork</a:t>
            </a:r>
            <a:r>
              <a:rPr sz="2200" spc="-35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is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Managing</a:t>
            </a:r>
            <a:r>
              <a:rPr spc="-1225" dirty="0"/>
              <a:t> </a:t>
            </a:r>
            <a:r>
              <a:rPr spc="-10" dirty="0"/>
              <a:t>the</a:t>
            </a:r>
            <a:r>
              <a:rPr spc="-1270" dirty="0"/>
              <a:t> </a:t>
            </a:r>
            <a:r>
              <a:rPr spc="-10" dirty="0"/>
              <a:t>Project</a:t>
            </a:r>
            <a:r>
              <a:rPr spc="-1295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805634"/>
            <a:ext cx="10891520" cy="39496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301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Do</a:t>
            </a:r>
            <a:r>
              <a:rPr sz="2200" spc="-7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not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assume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that</a:t>
            </a:r>
            <a:r>
              <a:rPr sz="2200" spc="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your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team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is</a:t>
            </a:r>
            <a:r>
              <a:rPr sz="2200" spc="-1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lazy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careless;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therefore,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Be </a:t>
            </a:r>
            <a:r>
              <a:rPr sz="2200" spc="-10" dirty="0">
                <a:latin typeface="Courier New"/>
                <a:cs typeface="Courier New"/>
              </a:rPr>
              <a:t>patient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kind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with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your</a:t>
            </a:r>
            <a:r>
              <a:rPr sz="2200" spc="-67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team.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Instead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blaming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people,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fix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problem.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Conduct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regular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and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effective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meetings.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Do</a:t>
            </a:r>
            <a:r>
              <a:rPr sz="2200" spc="-38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not</a:t>
            </a:r>
            <a:r>
              <a:rPr sz="2200" spc="-42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expect</a:t>
            </a:r>
            <a:r>
              <a:rPr sz="2200" spc="-40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highest</a:t>
            </a:r>
            <a:r>
              <a:rPr sz="2200" spc="-380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performance,</a:t>
            </a:r>
            <a:r>
              <a:rPr sz="2200" spc="-375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rather</a:t>
            </a:r>
            <a:r>
              <a:rPr sz="2200" spc="-395" dirty="0">
                <a:latin typeface="Courier New"/>
                <a:cs typeface="Courier New"/>
              </a:rPr>
              <a:t> </a:t>
            </a:r>
            <a:r>
              <a:rPr sz="2200" spc="-45" dirty="0">
                <a:latin typeface="Courier New"/>
                <a:cs typeface="Courier New"/>
              </a:rPr>
              <a:t>allow</a:t>
            </a:r>
            <a:r>
              <a:rPr sz="2200" spc="-380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time</a:t>
            </a:r>
            <a:r>
              <a:rPr sz="2200" spc="-405" dirty="0">
                <a:latin typeface="Courier New"/>
                <a:cs typeface="Courier New"/>
              </a:rPr>
              <a:t> </a:t>
            </a:r>
            <a:r>
              <a:rPr sz="2200" spc="-55" dirty="0">
                <a:latin typeface="Courier New"/>
                <a:cs typeface="Courier New"/>
              </a:rPr>
              <a:t>for</a:t>
            </a:r>
            <a:r>
              <a:rPr sz="2200" spc="-38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teams</a:t>
            </a:r>
            <a:r>
              <a:rPr sz="2200" spc="-320" dirty="0">
                <a:latin typeface="Courier New"/>
                <a:cs typeface="Courier New"/>
              </a:rPr>
              <a:t> </a:t>
            </a:r>
            <a:r>
              <a:rPr sz="2200" spc="-35" dirty="0">
                <a:latin typeface="Courier New"/>
                <a:cs typeface="Courier New"/>
              </a:rPr>
              <a:t>to</a:t>
            </a:r>
            <a:r>
              <a:rPr sz="2200" spc="-40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go</a:t>
            </a:r>
            <a:endParaRPr sz="2200" dirty="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Courier New"/>
                <a:cs typeface="Courier New"/>
              </a:rPr>
              <a:t>through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basic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team-building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activities.</a:t>
            </a:r>
            <a:endParaRPr sz="2200" dirty="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ourier New"/>
                <a:cs typeface="Courier New"/>
              </a:rPr>
              <a:t>Limit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the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size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of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teams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3</a:t>
            </a:r>
            <a:r>
              <a:rPr sz="2200" spc="-71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to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7</a:t>
            </a:r>
            <a:r>
              <a:rPr sz="2200" spc="-685" dirty="0">
                <a:latin typeface="Courier New"/>
                <a:cs typeface="Courier New"/>
              </a:rPr>
              <a:t> </a:t>
            </a:r>
            <a:r>
              <a:rPr sz="2200" spc="-10" dirty="0" smtClean="0">
                <a:latin typeface="Courier New"/>
                <a:cs typeface="Courier New"/>
              </a:rPr>
              <a:t>members</a:t>
            </a:r>
            <a:r>
              <a:rPr lang="en-US" sz="2200" spc="-10" dirty="0" smtClean="0">
                <a:latin typeface="Courier New"/>
                <a:cs typeface="Courier New"/>
              </a:rPr>
              <a:t> </a:t>
            </a:r>
            <a:r>
              <a:rPr sz="2200" spc="-10" dirty="0" smtClean="0">
                <a:latin typeface="Courier New"/>
                <a:cs typeface="Courier New"/>
              </a:rPr>
              <a:t>Read</a:t>
            </a:r>
            <a:r>
              <a:rPr sz="2200" spc="-660" dirty="0" smtClean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more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from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book</a:t>
            </a:r>
            <a:r>
              <a:rPr sz="2200" spc="-7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on</a:t>
            </a:r>
            <a:r>
              <a:rPr sz="2200" spc="-7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page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411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Chapter</a:t>
            </a:r>
            <a:r>
              <a:rPr spc="-122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524" y="1966340"/>
            <a:ext cx="7439659" cy="309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ourier New"/>
                <a:cs typeface="Courier New"/>
              </a:rPr>
              <a:t>Key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processes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Human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Resource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Plan</a:t>
            </a:r>
            <a:r>
              <a:rPr sz="2400" spc="-71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resource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25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Acquire</a:t>
            </a:r>
            <a:r>
              <a:rPr sz="2400" spc="-7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resources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Develop</a:t>
            </a:r>
            <a:r>
              <a:rPr sz="2400" spc="-7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team</a:t>
            </a:r>
            <a:endParaRPr sz="2400">
              <a:latin typeface="Courier New"/>
              <a:cs typeface="Courier New"/>
            </a:endParaRPr>
          </a:p>
          <a:p>
            <a:pPr marL="735965" lvl="1" indent="-26670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965" algn="l"/>
              </a:tabLst>
            </a:pPr>
            <a:r>
              <a:rPr sz="2400" spc="-10" dirty="0">
                <a:latin typeface="Courier New"/>
                <a:cs typeface="Courier New"/>
              </a:rPr>
              <a:t>Manage</a:t>
            </a:r>
            <a:r>
              <a:rPr sz="2400" spc="-6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team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</TotalTime>
  <Words>2286</Words>
  <Application>Microsoft Office PowerPoint</Application>
  <PresentationFormat>Custom</PresentationFormat>
  <Paragraphs>346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Apex</vt:lpstr>
      <vt:lpstr>Chapter 9: Project Human Resource Management</vt:lpstr>
      <vt:lpstr>Contents:</vt:lpstr>
      <vt:lpstr>Week 11 Learning Outcome:</vt:lpstr>
      <vt:lpstr>Project Resource Management</vt:lpstr>
      <vt:lpstr>Project Resource Management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Keys to Managing and Leading People</vt:lpstr>
      <vt:lpstr>Developing the Resource Management Plan and Team Charter</vt:lpstr>
      <vt:lpstr>Developing the Resource Management Plan and Team Charter</vt:lpstr>
      <vt:lpstr>Developing the Resource Management Plan and Team Charter</vt:lpstr>
      <vt:lpstr>Developing the Resource Management Plan and Team Charter</vt:lpstr>
      <vt:lpstr>Developing the Resource Management Plan and Team Charter</vt:lpstr>
      <vt:lpstr>Developing the Resource Management Plan and Team Charter</vt:lpstr>
      <vt:lpstr>Developing the Resource Management Plan and Team Charter</vt:lpstr>
      <vt:lpstr>Developing the Resource Management Plan and Team Charter</vt:lpstr>
      <vt:lpstr>Developing the Resource Management Plan and Team Charter</vt:lpstr>
      <vt:lpstr>Developing the Resource Management Plan and Team Charter</vt:lpstr>
      <vt:lpstr>Developing the Resource Management Plan and Team Charter</vt:lpstr>
      <vt:lpstr>Developing the Resource Management Plan and Team Charter</vt:lpstr>
      <vt:lpstr>Estimating Activity Resources</vt:lpstr>
      <vt:lpstr>Acquiring Resources</vt:lpstr>
      <vt:lpstr>Acquiring Resources</vt:lpstr>
      <vt:lpstr>Acquiring Resources</vt:lpstr>
      <vt:lpstr>Acquiring Resources</vt:lpstr>
      <vt:lpstr>Acquiring Resources</vt:lpstr>
      <vt:lpstr>Acquiring Resources</vt:lpstr>
      <vt:lpstr>Developing the Project Team</vt:lpstr>
      <vt:lpstr>Developing the Project Team</vt:lpstr>
      <vt:lpstr>Developing the Project Team</vt:lpstr>
      <vt:lpstr>Developing the Project Team</vt:lpstr>
      <vt:lpstr>Developing the Project Team</vt:lpstr>
      <vt:lpstr>Developing the Project Team</vt:lpstr>
      <vt:lpstr>Developing the Project Team</vt:lpstr>
      <vt:lpstr>Developing the Project Team</vt:lpstr>
      <vt:lpstr>Developing the Project Team</vt:lpstr>
      <vt:lpstr>Developing the Project Team</vt:lpstr>
      <vt:lpstr>Developing the Project Team</vt:lpstr>
      <vt:lpstr>Developing the Project Team</vt:lpstr>
      <vt:lpstr>Managing the Project Team</vt:lpstr>
      <vt:lpstr>Managing the Project Team</vt:lpstr>
      <vt:lpstr>Managing the Project Team</vt:lpstr>
      <vt:lpstr>Managing the Project Team</vt:lpstr>
      <vt:lpstr>Managing the Project Team</vt:lpstr>
      <vt:lpstr>Managing the Project Team</vt:lpstr>
      <vt:lpstr>Chapter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9: Project Human Resource Management</dc:title>
  <cp:lastModifiedBy>Rashid</cp:lastModifiedBy>
  <cp:revision>5</cp:revision>
  <dcterms:created xsi:type="dcterms:W3CDTF">2026-09-28T15:55:30Z</dcterms:created>
  <dcterms:modified xsi:type="dcterms:W3CDTF">2026-09-29T11:51:43Z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