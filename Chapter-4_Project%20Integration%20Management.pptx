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alancedscorecard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rtboard 3@2x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" y="0"/>
            <a:ext cx="12185904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56305" y="2407482"/>
            <a:ext cx="672109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3200" spc="-25" dirty="0">
                <a:solidFill>
                  <a:schemeClr val="bg1"/>
                </a:solidFill>
                <a:latin typeface="Arial MT"/>
                <a:cs typeface="Arial MT"/>
              </a:rPr>
              <a:t>4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7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Integration</a:t>
            </a:r>
            <a:r>
              <a:rPr sz="32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1"/>
            <a:ext cx="8667115" cy="3991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What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Integration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Management?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Strategic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Planning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Selection.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Developing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Charter.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Plans.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Execution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Directing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Managing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Work.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Change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Control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Using</a:t>
            </a:r>
            <a:r>
              <a:rPr sz="2000" spc="-5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Software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Assist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Integration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Week</a:t>
            </a:r>
            <a:r>
              <a:rPr spc="-1235" dirty="0"/>
              <a:t> </a:t>
            </a:r>
            <a:r>
              <a:rPr spc="-10" dirty="0"/>
              <a:t>Learning</a:t>
            </a:r>
            <a:r>
              <a:rPr spc="-1275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066020" cy="4926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9017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Describe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main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included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integration 	management.</a:t>
            </a:r>
            <a:endParaRPr sz="2400">
              <a:latin typeface="Courier New"/>
              <a:cs typeface="Courier New"/>
            </a:endParaRPr>
          </a:p>
          <a:p>
            <a:pPr marL="240029" marR="110236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Explain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strategic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planning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why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is 	</a:t>
            </a:r>
            <a:r>
              <a:rPr sz="2400" spc="-10" dirty="0">
                <a:latin typeface="Courier New"/>
                <a:cs typeface="Courier New"/>
              </a:rPr>
              <a:t>important.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Identify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describe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components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charter.</a:t>
            </a:r>
            <a:endParaRPr sz="2400">
              <a:latin typeface="Courier New"/>
              <a:cs typeface="Courier New"/>
            </a:endParaRPr>
          </a:p>
          <a:p>
            <a:pPr marL="240029" marR="37084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Describe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tools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techniques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directing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implementing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Describe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three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main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objectives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integrated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What</a:t>
            </a:r>
            <a:r>
              <a:rPr spc="-1240" dirty="0"/>
              <a:t> </a:t>
            </a:r>
            <a:r>
              <a:rPr spc="-10" dirty="0"/>
              <a:t>is</a:t>
            </a:r>
            <a:r>
              <a:rPr spc="-1275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10" dirty="0"/>
              <a:t>Integration 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9300" cy="467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integration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involves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coordinating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all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other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knowledge</a:t>
            </a:r>
            <a:r>
              <a:rPr sz="2400" spc="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areas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throughout</a:t>
            </a:r>
            <a:r>
              <a:rPr sz="2400" spc="30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project’s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life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cycle.</a:t>
            </a:r>
            <a:endParaRPr sz="2400" dirty="0">
              <a:latin typeface="Courier New"/>
              <a:cs typeface="Courier New"/>
            </a:endParaRPr>
          </a:p>
          <a:p>
            <a:pPr marL="240029" marR="1397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This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integration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ensures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all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elements of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 	</a:t>
            </a:r>
            <a:r>
              <a:rPr sz="2400" dirty="0">
                <a:latin typeface="Courier New"/>
                <a:cs typeface="Courier New"/>
              </a:rPr>
              <a:t>come</a:t>
            </a:r>
            <a:r>
              <a:rPr sz="2400" spc="-3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together</a:t>
            </a:r>
            <a:r>
              <a:rPr sz="2400" spc="-3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at</a:t>
            </a:r>
            <a:r>
              <a:rPr sz="2400" spc="-3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40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right</a:t>
            </a:r>
            <a:r>
              <a:rPr sz="2400" spc="-3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times</a:t>
            </a:r>
            <a:r>
              <a:rPr sz="2400" spc="-3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40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complete</a:t>
            </a:r>
            <a:r>
              <a:rPr sz="2400" spc="-3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project 	successfully.</a:t>
            </a:r>
            <a:endParaRPr sz="2400" dirty="0">
              <a:latin typeface="Courier New"/>
              <a:cs typeface="Courier New"/>
            </a:endParaRPr>
          </a:p>
          <a:p>
            <a:pPr marL="240029" marR="17145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5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integration</a:t>
            </a:r>
            <a:r>
              <a:rPr sz="2400" spc="5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5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5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not</a:t>
            </a:r>
            <a:r>
              <a:rPr sz="2400" spc="5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5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same</a:t>
            </a:r>
            <a:r>
              <a:rPr sz="2400" spc="3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thing</a:t>
            </a:r>
            <a:r>
              <a:rPr sz="2400" spc="-40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as 	</a:t>
            </a:r>
            <a:r>
              <a:rPr sz="2400" spc="-10" dirty="0">
                <a:latin typeface="Courier New"/>
                <a:cs typeface="Courier New"/>
              </a:rPr>
              <a:t>software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integration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What</a:t>
            </a:r>
            <a:r>
              <a:rPr spc="-1240" dirty="0"/>
              <a:t> </a:t>
            </a:r>
            <a:r>
              <a:rPr spc="-10" dirty="0"/>
              <a:t>is</a:t>
            </a:r>
            <a:r>
              <a:rPr spc="-1275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10" dirty="0"/>
              <a:t>Integration 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57197"/>
            <a:ext cx="10899140" cy="4768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Integration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Processes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are:</a:t>
            </a:r>
            <a:endParaRPr sz="2200" dirty="0">
              <a:latin typeface="Courier New"/>
              <a:cs typeface="Courier New"/>
            </a:endParaRPr>
          </a:p>
          <a:p>
            <a:pPr marL="469265" marR="9525" indent="-457200" algn="just">
              <a:lnSpc>
                <a:spcPct val="150000"/>
              </a:lnSpc>
              <a:spcBef>
                <a:spcPts val="990"/>
              </a:spcBef>
              <a:buAutoNum type="arabicPeriod"/>
              <a:tabLst>
                <a:tab pos="469265" algn="l"/>
              </a:tabLst>
            </a:pPr>
            <a:r>
              <a:rPr sz="2200" spc="-20" dirty="0">
                <a:latin typeface="Courier New"/>
                <a:cs typeface="Courier New"/>
              </a:rPr>
              <a:t>Developing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145" dirty="0">
                <a:latin typeface="Courier New"/>
                <a:cs typeface="Courier New"/>
              </a:rPr>
              <a:t>the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project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charter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involves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working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85" dirty="0">
                <a:latin typeface="Courier New"/>
                <a:cs typeface="Courier New"/>
              </a:rPr>
              <a:t>with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stakeholders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create</a:t>
            </a:r>
            <a:r>
              <a:rPr sz="2200" spc="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document</a:t>
            </a:r>
            <a:r>
              <a:rPr sz="2200" spc="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1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formally</a:t>
            </a:r>
            <a:r>
              <a:rPr sz="2200" spc="2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authorizes</a:t>
            </a:r>
            <a:r>
              <a:rPr sz="2200" spc="1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project—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charter.</a:t>
            </a:r>
            <a:endParaRPr sz="2200" dirty="0">
              <a:latin typeface="Courier New"/>
              <a:cs typeface="Courier New"/>
            </a:endParaRPr>
          </a:p>
          <a:p>
            <a:pPr marL="469265" marR="5080" indent="-457200" algn="just">
              <a:lnSpc>
                <a:spcPct val="150100"/>
              </a:lnSpc>
              <a:spcBef>
                <a:spcPts val="1005"/>
              </a:spcBef>
              <a:buAutoNum type="arabicPeriod"/>
              <a:tabLst>
                <a:tab pos="469265" algn="l"/>
              </a:tabLst>
            </a:pPr>
            <a:r>
              <a:rPr sz="2200" dirty="0">
                <a:latin typeface="Courier New"/>
                <a:cs typeface="Courier New"/>
              </a:rPr>
              <a:t>Developing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the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project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management</a:t>
            </a:r>
            <a:r>
              <a:rPr sz="2200" spc="-3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plan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involves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coordinating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all </a:t>
            </a:r>
            <a:r>
              <a:rPr sz="2200" dirty="0">
                <a:latin typeface="Courier New"/>
                <a:cs typeface="Courier New"/>
              </a:rPr>
              <a:t>planning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efforts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create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consistent,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coherent </a:t>
            </a:r>
            <a:r>
              <a:rPr sz="2200" spc="-10" dirty="0">
                <a:latin typeface="Courier New"/>
                <a:cs typeface="Courier New"/>
              </a:rPr>
              <a:t>document—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plan.</a:t>
            </a:r>
            <a:endParaRPr sz="2200" dirty="0">
              <a:latin typeface="Courier New"/>
              <a:cs typeface="Courier New"/>
            </a:endParaRPr>
          </a:p>
          <a:p>
            <a:pPr marL="469265" marR="5080" indent="-457200" algn="just">
              <a:lnSpc>
                <a:spcPct val="150100"/>
              </a:lnSpc>
              <a:spcBef>
                <a:spcPts val="1010"/>
              </a:spcBef>
              <a:buAutoNum type="arabicPeriod"/>
              <a:tabLst>
                <a:tab pos="469265" algn="l"/>
              </a:tabLst>
            </a:pPr>
            <a:r>
              <a:rPr sz="2200" dirty="0">
                <a:latin typeface="Courier New"/>
                <a:cs typeface="Courier New"/>
              </a:rPr>
              <a:t>Directing</a:t>
            </a:r>
            <a:r>
              <a:rPr sz="2200" spc="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managing</a:t>
            </a:r>
            <a:r>
              <a:rPr sz="2200" spc="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1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work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involves</a:t>
            </a:r>
            <a:r>
              <a:rPr sz="2200" spc="2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carrying</a:t>
            </a:r>
            <a:r>
              <a:rPr sz="2200" spc="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out</a:t>
            </a:r>
            <a:r>
              <a:rPr sz="2200" spc="24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management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plan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by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performing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activities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included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in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What</a:t>
            </a:r>
            <a:r>
              <a:rPr spc="-1240" dirty="0"/>
              <a:t> </a:t>
            </a:r>
            <a:r>
              <a:rPr spc="-10" dirty="0"/>
              <a:t>is</a:t>
            </a:r>
            <a:r>
              <a:rPr spc="-1275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10" dirty="0"/>
              <a:t>Integration 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3196"/>
            <a:ext cx="1089025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401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4.</a:t>
            </a:r>
            <a:r>
              <a:rPr sz="2000" spc="-11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Managing</a:t>
            </a:r>
            <a:r>
              <a:rPr sz="2000" spc="-26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-27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knowledge</a:t>
            </a:r>
            <a:r>
              <a:rPr sz="2000" spc="-26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involves</a:t>
            </a:r>
            <a:r>
              <a:rPr sz="2000" spc="-27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using</a:t>
            </a:r>
            <a:r>
              <a:rPr sz="2000" spc="-26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existing</a:t>
            </a:r>
            <a:r>
              <a:rPr sz="2000" spc="-27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knowledge</a:t>
            </a:r>
            <a:r>
              <a:rPr sz="2000" spc="-235" dirty="0">
                <a:latin typeface="Courier New"/>
                <a:cs typeface="Courier New"/>
              </a:rPr>
              <a:t>  </a:t>
            </a:r>
            <a:r>
              <a:rPr sz="2000" spc="-25" dirty="0">
                <a:latin typeface="Courier New"/>
                <a:cs typeface="Courier New"/>
              </a:rPr>
              <a:t>and </a:t>
            </a:r>
            <a:r>
              <a:rPr sz="2000" dirty="0">
                <a:latin typeface="Courier New"/>
                <a:cs typeface="Courier New"/>
              </a:rPr>
              <a:t>creating</a:t>
            </a:r>
            <a:r>
              <a:rPr sz="2000" spc="-229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new</a:t>
            </a:r>
            <a:r>
              <a:rPr sz="2000" spc="-24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knowledge</a:t>
            </a:r>
            <a:r>
              <a:rPr sz="2000" spc="-22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2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achieve</a:t>
            </a:r>
            <a:r>
              <a:rPr sz="2000" spc="-240" dirty="0"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project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5739" y="2353818"/>
            <a:ext cx="343598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ourier New"/>
                <a:cs typeface="Courier New"/>
              </a:rPr>
              <a:t>objectives</a:t>
            </a:r>
            <a:r>
              <a:rPr sz="2000" spc="-21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while</a:t>
            </a:r>
            <a:r>
              <a:rPr sz="2000" spc="-204" dirty="0">
                <a:latin typeface="Courier New"/>
                <a:cs typeface="Courier New"/>
              </a:rPr>
              <a:t>  </a:t>
            </a:r>
            <a:r>
              <a:rPr sz="2000" spc="-20" dirty="0">
                <a:latin typeface="Courier New"/>
                <a:cs typeface="Courier New"/>
              </a:rPr>
              <a:t>also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2780233"/>
            <a:ext cx="10888345" cy="3272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Courier New"/>
                <a:cs typeface="Courier New"/>
              </a:rPr>
              <a:t>contributing</a:t>
            </a:r>
            <a:r>
              <a:rPr sz="2000" spc="-4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57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organizational</a:t>
            </a:r>
            <a:r>
              <a:rPr sz="2000" spc="-57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learning.</a:t>
            </a:r>
            <a:endParaRPr sz="2000">
              <a:latin typeface="Courier New"/>
              <a:cs typeface="Courier New"/>
            </a:endParaRPr>
          </a:p>
          <a:p>
            <a:pPr marL="467995" marR="8255" indent="-455930">
              <a:lnSpc>
                <a:spcPct val="140100"/>
              </a:lnSpc>
              <a:spcBef>
                <a:spcPts val="1005"/>
              </a:spcBef>
              <a:buAutoNum type="arabicPeriod" startAt="5"/>
              <a:tabLst>
                <a:tab pos="469265" algn="l"/>
              </a:tabLst>
            </a:pPr>
            <a:r>
              <a:rPr sz="2000" dirty="0">
                <a:latin typeface="Courier New"/>
                <a:cs typeface="Courier New"/>
              </a:rPr>
              <a:t>Monitoring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and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controlling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project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work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involves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overseeing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activities 	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5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meet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performance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objectives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</a:t>
            </a:r>
            <a:r>
              <a:rPr sz="2000" spc="-6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project.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1950"/>
              </a:spcBef>
              <a:buAutoNum type="arabicPeriod" startAt="5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Performing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integrated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change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control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involves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identifying,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evaluating,</a:t>
            </a:r>
            <a:endParaRPr sz="2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managing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changes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throughout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life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cycle.</a:t>
            </a:r>
            <a:endParaRPr sz="2000">
              <a:latin typeface="Courier New"/>
              <a:cs typeface="Courier New"/>
            </a:endParaRPr>
          </a:p>
          <a:p>
            <a:pPr marL="467995" marR="5080" indent="-455930">
              <a:lnSpc>
                <a:spcPct val="140100"/>
              </a:lnSpc>
              <a:spcBef>
                <a:spcPts val="1005"/>
              </a:spcBef>
              <a:buAutoNum type="arabicPeriod" startAt="7"/>
              <a:tabLst>
                <a:tab pos="469265" algn="l"/>
              </a:tabLst>
            </a:pPr>
            <a:r>
              <a:rPr sz="2000" dirty="0">
                <a:latin typeface="Courier New"/>
                <a:cs typeface="Courier New"/>
              </a:rPr>
              <a:t>Closing</a:t>
            </a:r>
            <a:r>
              <a:rPr sz="2000" spc="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2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4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or</a:t>
            </a:r>
            <a:r>
              <a:rPr sz="2000" spc="1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phase</a:t>
            </a:r>
            <a:r>
              <a:rPr sz="2000" spc="2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involves</a:t>
            </a:r>
            <a:r>
              <a:rPr sz="2000" spc="1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finalizing</a:t>
            </a:r>
            <a:r>
              <a:rPr sz="2000" spc="2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all</a:t>
            </a:r>
            <a:r>
              <a:rPr sz="2000" spc="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activities</a:t>
            </a:r>
            <a:r>
              <a:rPr sz="2000" spc="3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to 	</a:t>
            </a:r>
            <a:r>
              <a:rPr sz="2000" spc="-20" dirty="0">
                <a:latin typeface="Courier New"/>
                <a:cs typeface="Courier New"/>
              </a:rPr>
              <a:t>formally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close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or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phase.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687" y="164592"/>
            <a:ext cx="6035040" cy="6409944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9092" y="450545"/>
            <a:ext cx="3858260" cy="15627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spc="-35" dirty="0"/>
              <a:t>What</a:t>
            </a:r>
            <a:r>
              <a:rPr sz="3600" spc="-1065" dirty="0"/>
              <a:t> </a:t>
            </a:r>
            <a:r>
              <a:rPr sz="3600" spc="-30" dirty="0"/>
              <a:t>is</a:t>
            </a:r>
            <a:r>
              <a:rPr sz="3600" spc="-1135" dirty="0"/>
              <a:t> </a:t>
            </a:r>
            <a:r>
              <a:rPr sz="3600" spc="-10" dirty="0"/>
              <a:t>Project Integration Management?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6462140" y="2414727"/>
            <a:ext cx="46405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tools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techniques,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outputs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integration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management.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0"/>
            <a:ext cx="877252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Strategic</a:t>
            </a:r>
            <a:r>
              <a:rPr sz="2200" spc="5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planning</a:t>
            </a:r>
            <a:r>
              <a:rPr sz="2200" spc="-33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involves</a:t>
            </a:r>
            <a:r>
              <a:rPr sz="2200" spc="5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determining</a:t>
            </a:r>
            <a:r>
              <a:rPr sz="2200" spc="53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long-</a:t>
            </a:r>
            <a:r>
              <a:rPr sz="2200" spc="-20" dirty="0">
                <a:latin typeface="Courier New"/>
                <a:cs typeface="Courier New"/>
              </a:rPr>
              <a:t>term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80472" y="1905380"/>
            <a:ext cx="188087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objectives,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2242673"/>
            <a:ext cx="10892155" cy="415099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885"/>
              </a:spcBef>
            </a:pPr>
            <a:r>
              <a:rPr sz="2200" dirty="0">
                <a:latin typeface="Courier New"/>
                <a:cs typeface="Courier New"/>
              </a:rPr>
              <a:t>predicting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future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trends,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and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projecting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need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for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new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products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services.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Organizations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often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perform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SWOT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analysis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(Analyzing</a:t>
            </a:r>
            <a:r>
              <a:rPr sz="2200" spc="-1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Strengths,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Weaknesses,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Opportunities,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Threats).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As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part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strategic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planning,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organizations: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Identify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potential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projects.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Use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realistic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methods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select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which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projects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on.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Formalize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initiation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by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issuing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charter.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524" y="390601"/>
            <a:ext cx="868870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4224" y="1037750"/>
            <a:ext cx="2743200" cy="57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35"/>
              </a:lnSpc>
            </a:pPr>
            <a:r>
              <a:rPr sz="4000" spc="-10" dirty="0">
                <a:solidFill>
                  <a:srgbClr val="00B1BD"/>
                </a:solidFill>
                <a:latin typeface="Courier New"/>
                <a:cs typeface="Courier New"/>
              </a:rPr>
              <a:t>Selection</a:t>
            </a:r>
            <a:endParaRPr sz="40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59" y="1249680"/>
            <a:ext cx="11308080" cy="43586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37178" y="5667552"/>
            <a:ext cx="4292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Mind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map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SWOT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analysis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help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identify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potential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projects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3048" y="-42926"/>
            <a:ext cx="3670935" cy="28098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492125">
              <a:lnSpc>
                <a:spcPct val="90000"/>
              </a:lnSpc>
              <a:spcBef>
                <a:spcPts val="530"/>
              </a:spcBef>
            </a:pPr>
            <a:r>
              <a:rPr sz="3600" spc="-10" dirty="0"/>
              <a:t>Strategic </a:t>
            </a:r>
            <a:r>
              <a:rPr sz="3600" spc="-35" dirty="0"/>
              <a:t>Planning</a:t>
            </a:r>
            <a:r>
              <a:rPr sz="3600" spc="-990" dirty="0"/>
              <a:t> </a:t>
            </a:r>
            <a:r>
              <a:rPr sz="3600" spc="-25" dirty="0"/>
              <a:t>and </a:t>
            </a:r>
            <a:r>
              <a:rPr sz="3600" spc="-10" dirty="0"/>
              <a:t>Project Selection</a:t>
            </a:r>
            <a:endParaRPr sz="3600"/>
          </a:p>
          <a:p>
            <a:pPr marL="12700" marR="5080">
              <a:lnSpc>
                <a:spcPts val="2590"/>
              </a:lnSpc>
              <a:spcBef>
                <a:spcPts val="790"/>
              </a:spcBef>
            </a:pPr>
            <a:r>
              <a:rPr sz="2400" spc="-10" dirty="0">
                <a:solidFill>
                  <a:srgbClr val="000000"/>
                </a:solidFill>
              </a:rPr>
              <a:t>Planning</a:t>
            </a:r>
            <a:r>
              <a:rPr sz="2400" spc="-70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process</a:t>
            </a:r>
            <a:r>
              <a:rPr sz="2400" spc="-735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for </a:t>
            </a:r>
            <a:r>
              <a:rPr sz="2400" spc="-10" dirty="0">
                <a:solidFill>
                  <a:srgbClr val="000000"/>
                </a:solidFill>
              </a:rPr>
              <a:t>selecting</a:t>
            </a:r>
            <a:r>
              <a:rPr sz="2400" spc="-70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IT</a:t>
            </a:r>
            <a:r>
              <a:rPr sz="2400" spc="-76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projects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9015" y="1066800"/>
            <a:ext cx="7443216" cy="47152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7235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Aligning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IT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projects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with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business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strategy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is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at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heart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10" dirty="0">
                <a:latin typeface="Courier New"/>
                <a:cs typeface="Courier New"/>
              </a:rPr>
              <a:t>selecting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  <a:p>
            <a:pPr marL="240029" marR="762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governance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helps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organizations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maximize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their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investments 	in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address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IT-related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risks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opportunities.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ourier New"/>
                <a:cs typeface="Courier New"/>
              </a:rPr>
              <a:t>Th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rg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niz</a:t>
            </a:r>
            <a:r>
              <a:rPr sz="2400" spc="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545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m</a:t>
            </a:r>
            <a:r>
              <a:rPr sz="2400" spc="-5" dirty="0">
                <a:latin typeface="Courier New"/>
                <a:cs typeface="Courier New"/>
              </a:rPr>
              <a:t>us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d</a:t>
            </a:r>
            <a:r>
              <a:rPr sz="2400" spc="-50" dirty="0">
                <a:latin typeface="Courier New"/>
                <a:cs typeface="Courier New"/>
              </a:rPr>
              <a:t>ev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lo</a:t>
            </a:r>
            <a:r>
              <a:rPr sz="2400" dirty="0">
                <a:latin typeface="Courier New"/>
                <a:cs typeface="Courier New"/>
              </a:rPr>
              <a:t>p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7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s</a:t>
            </a:r>
            <a:r>
              <a:rPr sz="2400" spc="-75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teg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50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u</a:t>
            </a:r>
            <a:r>
              <a:rPr sz="2400" spc="-50" dirty="0">
                <a:latin typeface="Courier New"/>
                <a:cs typeface="Courier New"/>
              </a:rPr>
              <a:t>s</a:t>
            </a:r>
            <a:r>
              <a:rPr sz="2400" spc="-25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d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fine 	ho</a:t>
            </a:r>
            <a:r>
              <a:rPr sz="2400" dirty="0">
                <a:latin typeface="Courier New"/>
                <a:cs typeface="Courier New"/>
              </a:rPr>
              <a:t>w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114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w</a:t>
            </a:r>
            <a:r>
              <a:rPr sz="2400" spc="-50" dirty="0">
                <a:latin typeface="Courier New"/>
                <a:cs typeface="Courier New"/>
              </a:rPr>
              <a:t>il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1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50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ppo</a:t>
            </a:r>
            <a:r>
              <a:rPr sz="2400" spc="-5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14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o</a:t>
            </a:r>
            <a:r>
              <a:rPr sz="2400" spc="-7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ga</a:t>
            </a:r>
            <a:r>
              <a:rPr sz="2400" spc="-5" dirty="0">
                <a:latin typeface="Courier New"/>
                <a:cs typeface="Courier New"/>
              </a:rPr>
              <a:t>niz</a:t>
            </a:r>
            <a:r>
              <a:rPr sz="2400" spc="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t</a:t>
            </a:r>
            <a:r>
              <a:rPr sz="2400" spc="-20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spc="-20" dirty="0">
                <a:latin typeface="Courier New"/>
                <a:cs typeface="Courier New"/>
              </a:rPr>
              <a:t>n</a:t>
            </a:r>
            <a:r>
              <a:rPr sz="2400" spc="-5" dirty="0">
                <a:latin typeface="Courier New"/>
                <a:cs typeface="Courier New"/>
              </a:rPr>
              <a:t>’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spc="-75" dirty="0">
                <a:latin typeface="Courier New"/>
                <a:cs typeface="Courier New"/>
              </a:rPr>
              <a:t>b</a:t>
            </a:r>
            <a:r>
              <a:rPr sz="2400" spc="-25" dirty="0">
                <a:latin typeface="Courier New"/>
                <a:cs typeface="Courier New"/>
              </a:rPr>
              <a:t>je</a:t>
            </a:r>
            <a:r>
              <a:rPr sz="2400" spc="-5" dirty="0">
                <a:latin typeface="Courier New"/>
                <a:cs typeface="Courier New"/>
              </a:rPr>
              <a:t>ct</a:t>
            </a:r>
            <a:r>
              <a:rPr sz="2400" spc="20" dirty="0">
                <a:latin typeface="Courier New"/>
                <a:cs typeface="Courier New"/>
              </a:rPr>
              <a:t>ive</a:t>
            </a:r>
            <a:r>
              <a:rPr sz="2400" spc="3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.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spc="25" dirty="0">
                <a:latin typeface="Courier New"/>
                <a:cs typeface="Courier New"/>
              </a:rPr>
              <a:t>Thi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254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IT 	</a:t>
            </a:r>
            <a:r>
              <a:rPr sz="2400" spc="-5" dirty="0">
                <a:latin typeface="Courier New"/>
                <a:cs typeface="Courier New"/>
              </a:rPr>
              <a:t>strateg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mu</a:t>
            </a:r>
            <a:r>
              <a:rPr sz="2400" spc="-3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alig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wit</a:t>
            </a:r>
            <a:r>
              <a:rPr sz="2400" dirty="0">
                <a:latin typeface="Courier New"/>
                <a:cs typeface="Courier New"/>
              </a:rPr>
              <a:t>h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rgani</a:t>
            </a:r>
            <a:r>
              <a:rPr sz="2400" spc="-10" dirty="0">
                <a:latin typeface="Courier New"/>
                <a:cs typeface="Courier New"/>
              </a:rPr>
              <a:t>z</a:t>
            </a:r>
            <a:r>
              <a:rPr sz="2400" spc="-5" dirty="0">
                <a:latin typeface="Courier New"/>
                <a:cs typeface="Courier New"/>
              </a:rPr>
              <a:t>at</a:t>
            </a:r>
            <a:r>
              <a:rPr sz="2400" spc="-30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5" dirty="0">
                <a:latin typeface="Courier New"/>
                <a:cs typeface="Courier New"/>
              </a:rPr>
              <a:t>’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</a:t>
            </a:r>
            <a:r>
              <a:rPr sz="2400" spc="-30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rateg</a:t>
            </a:r>
            <a:r>
              <a:rPr sz="2400" spc="-1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c.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2224"/>
            <a:ext cx="10897235" cy="4758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Selecting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not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exact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science,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many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methods 	</a:t>
            </a:r>
            <a:r>
              <a:rPr sz="2400" dirty="0">
                <a:latin typeface="Courier New"/>
                <a:cs typeface="Courier New"/>
              </a:rPr>
              <a:t>exist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selecting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projects.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Five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common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techniques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as 	</a:t>
            </a:r>
            <a:r>
              <a:rPr sz="2400" spc="-10" dirty="0">
                <a:latin typeface="Courier New"/>
                <a:cs typeface="Courier New"/>
              </a:rPr>
              <a:t>follows: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Focusing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broad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organizational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needs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Categorizing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Performing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net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present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value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other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financial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analyses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Using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weighted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scoring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model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Implementing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balanced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scorecard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922464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practice, many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organizations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combination 	approaches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to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select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85856" y="1966340"/>
            <a:ext cx="1485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these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3009137"/>
            <a:ext cx="1089469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60" dirty="0">
                <a:latin typeface="Courier New"/>
                <a:cs typeface="Courier New"/>
              </a:rPr>
              <a:t>Each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approach</a:t>
            </a:r>
            <a:r>
              <a:rPr sz="2400" spc="-300" dirty="0">
                <a:latin typeface="Courier New"/>
                <a:cs typeface="Courier New"/>
              </a:rPr>
              <a:t> has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advantages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and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disadvantages,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and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it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440" dirty="0">
                <a:latin typeface="Courier New"/>
                <a:cs typeface="Courier New"/>
              </a:rPr>
              <a:t>is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spc="-330" dirty="0">
                <a:latin typeface="Courier New"/>
                <a:cs typeface="Courier New"/>
              </a:rPr>
              <a:t>up</a:t>
            </a:r>
            <a:r>
              <a:rPr sz="2400" spc="-25" dirty="0">
                <a:latin typeface="Courier New"/>
                <a:cs typeface="Courier New"/>
              </a:rPr>
              <a:t> to 	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4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5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determine</a:t>
            </a:r>
            <a:r>
              <a:rPr sz="2400" spc="-4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5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best</a:t>
            </a:r>
            <a:r>
              <a:rPr sz="2400" spc="-3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approach</a:t>
            </a:r>
            <a:r>
              <a:rPr sz="2400" spc="-3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41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selecting 	projects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based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their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particular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4473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35" dirty="0">
                <a:solidFill>
                  <a:schemeClr val="bg1"/>
                </a:solidFill>
              </a:rPr>
              <a:t>Projects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that</a:t>
            </a:r>
            <a:r>
              <a:rPr spc="-235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address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broad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organizational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spc="-85" dirty="0">
                <a:solidFill>
                  <a:schemeClr val="bg1"/>
                </a:solidFill>
              </a:rPr>
              <a:t>needs</a:t>
            </a:r>
            <a:r>
              <a:rPr spc="-204" dirty="0">
                <a:solidFill>
                  <a:schemeClr val="bg1"/>
                </a:solidFill>
              </a:rPr>
              <a:t> </a:t>
            </a:r>
            <a:r>
              <a:rPr spc="-140" dirty="0">
                <a:solidFill>
                  <a:schemeClr val="bg1"/>
                </a:solidFill>
              </a:rPr>
              <a:t>are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spc="-85" dirty="0">
                <a:solidFill>
                  <a:schemeClr val="bg1"/>
                </a:solidFill>
              </a:rPr>
              <a:t>much</a:t>
            </a:r>
            <a:r>
              <a:rPr spc="-1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more 	</a:t>
            </a:r>
            <a:r>
              <a:rPr dirty="0">
                <a:solidFill>
                  <a:schemeClr val="bg1"/>
                </a:solidFill>
              </a:rPr>
              <a:t>likely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to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90" dirty="0">
                <a:solidFill>
                  <a:schemeClr val="bg1"/>
                </a:solidFill>
              </a:rPr>
              <a:t>be</a:t>
            </a:r>
            <a:r>
              <a:rPr spc="-27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successful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because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they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will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be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important</a:t>
            </a:r>
            <a:r>
              <a:rPr spc="-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spc="-10" dirty="0">
                <a:solidFill>
                  <a:schemeClr val="bg1"/>
                </a:solidFill>
              </a:rPr>
              <a:t>organization.</a:t>
            </a:r>
          </a:p>
          <a:p>
            <a:pPr marL="240029" marR="5080" indent="-227329" algn="just">
              <a:lnSpc>
                <a:spcPct val="14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One</a:t>
            </a:r>
            <a:r>
              <a:rPr spc="32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method</a:t>
            </a:r>
            <a:r>
              <a:rPr spc="32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37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selecting</a:t>
            </a:r>
            <a:r>
              <a:rPr spc="31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projects</a:t>
            </a:r>
            <a:r>
              <a:rPr spc="34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based</a:t>
            </a:r>
            <a:r>
              <a:rPr spc="33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380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broad 	</a:t>
            </a:r>
            <a:r>
              <a:rPr dirty="0">
                <a:solidFill>
                  <a:schemeClr val="bg1"/>
                </a:solidFill>
              </a:rPr>
              <a:t>organizational</a:t>
            </a:r>
            <a:r>
              <a:rPr spc="-3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needs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34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determine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whether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they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first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meet 	</a:t>
            </a:r>
            <a:r>
              <a:rPr spc="-10" dirty="0">
                <a:solidFill>
                  <a:schemeClr val="bg1"/>
                </a:solidFill>
              </a:rPr>
              <a:t>three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important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criteria:</a:t>
            </a:r>
          </a:p>
          <a:p>
            <a:pPr marL="735965" lvl="1" indent="-266700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There</a:t>
            </a:r>
            <a:r>
              <a:rPr sz="2400" spc="-7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is</a:t>
            </a:r>
            <a:r>
              <a:rPr sz="2400" spc="-78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sz="2400" spc="-7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i="1" u="heavy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need</a:t>
            </a:r>
            <a:r>
              <a:rPr sz="2400" i="1" spc="-78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for</a:t>
            </a:r>
            <a:r>
              <a:rPr sz="2400" spc="-7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7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project.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There</a:t>
            </a:r>
            <a:r>
              <a:rPr sz="2400" spc="-69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are</a:t>
            </a:r>
            <a:r>
              <a:rPr sz="2400" spc="-7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i="1" u="heavy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funds</a:t>
            </a:r>
            <a:r>
              <a:rPr sz="2400" i="1" spc="-7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available.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53043" y="6546595"/>
            <a:ext cx="1123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 smtClean="0">
                <a:latin typeface="Courier New"/>
                <a:cs typeface="Courier New"/>
              </a:rPr>
              <a:t>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911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762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Another</a:t>
            </a:r>
            <a:r>
              <a:rPr spc="-415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method</a:t>
            </a:r>
            <a:r>
              <a:rPr spc="-405" dirty="0">
                <a:solidFill>
                  <a:schemeClr val="bg1"/>
                </a:solidFill>
              </a:rPr>
              <a:t> </a:t>
            </a:r>
            <a:r>
              <a:rPr spc="-90" dirty="0">
                <a:solidFill>
                  <a:schemeClr val="bg1"/>
                </a:solidFill>
              </a:rPr>
              <a:t>for</a:t>
            </a:r>
            <a:r>
              <a:rPr spc="-40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selecting</a:t>
            </a:r>
            <a:r>
              <a:rPr spc="-40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projects</a:t>
            </a:r>
            <a:r>
              <a:rPr spc="-40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is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based</a:t>
            </a:r>
            <a:r>
              <a:rPr spc="-40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on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the</a:t>
            </a:r>
            <a:r>
              <a:rPr spc="-3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impetus, 	and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could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be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: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Problems.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Opportunity.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Directives.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Organizations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can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also</a:t>
            </a:r>
            <a:r>
              <a:rPr spc="-49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categorize</a:t>
            </a:r>
            <a:r>
              <a:rPr spc="-50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IT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projects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based</a:t>
            </a:r>
            <a:r>
              <a:rPr spc="-455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on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timing, </a:t>
            </a:r>
            <a:r>
              <a:rPr spc="-10" dirty="0" smtClean="0">
                <a:solidFill>
                  <a:schemeClr val="bg1"/>
                </a:solidFill>
              </a:rPr>
              <a:t>or</a:t>
            </a:r>
            <a:r>
              <a:rPr spc="-710" dirty="0" smtClean="0">
                <a:solidFill>
                  <a:schemeClr val="bg1"/>
                </a:solidFill>
              </a:rPr>
              <a:t> </a:t>
            </a:r>
            <a:r>
              <a:rPr lang="en-US" spc="-710" dirty="0" smtClean="0">
                <a:solidFill>
                  <a:schemeClr val="bg1"/>
                </a:solidFill>
              </a:rPr>
              <a:t>     </a:t>
            </a:r>
          </a:p>
          <a:p>
            <a:pPr marL="240029" marR="5080" indent="-227329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 smtClean="0">
                <a:solidFill>
                  <a:schemeClr val="bg1"/>
                </a:solidFill>
              </a:rPr>
              <a:t>priority</a:t>
            </a:r>
            <a:r>
              <a:rPr spc="-1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9775" cy="437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016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Financial</a:t>
            </a:r>
            <a:r>
              <a:rPr sz="2400" spc="-5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considerations</a:t>
            </a:r>
            <a:r>
              <a:rPr sz="2400" spc="-484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are</a:t>
            </a:r>
            <a:r>
              <a:rPr sz="2400" spc="-51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often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important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consideration 	in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selecting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endParaRPr sz="2400" dirty="0"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Three</a:t>
            </a:r>
            <a:r>
              <a:rPr sz="2400" spc="-37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primary</a:t>
            </a:r>
            <a:r>
              <a:rPr sz="2400" spc="-37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methods</a:t>
            </a:r>
            <a:r>
              <a:rPr sz="2400" spc="-37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for</a:t>
            </a:r>
            <a:r>
              <a:rPr sz="2400" spc="-44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determining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the</a:t>
            </a:r>
            <a:r>
              <a:rPr sz="2400" spc="-4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projected</a:t>
            </a:r>
            <a:r>
              <a:rPr sz="2400" spc="-5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financial 	value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projects: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Net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present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value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(NPV)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analysis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Return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investment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(ROI)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Payback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analysis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7577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5" dirty="0">
                <a:solidFill>
                  <a:schemeClr val="bg1"/>
                </a:solidFill>
              </a:rPr>
              <a:t>Ne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re</a:t>
            </a:r>
            <a:r>
              <a:rPr spc="-25" dirty="0">
                <a:solidFill>
                  <a:schemeClr val="bg1"/>
                </a:solidFill>
              </a:rPr>
              <a:t>s</a:t>
            </a:r>
            <a:r>
              <a:rPr spc="-5" dirty="0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53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v</a:t>
            </a:r>
            <a:r>
              <a:rPr spc="-50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lu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(NPV</a:t>
            </a:r>
            <a:r>
              <a:rPr dirty="0">
                <a:solidFill>
                  <a:schemeClr val="bg1"/>
                </a:solidFill>
              </a:rPr>
              <a:t>)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a</a:t>
            </a:r>
            <a:r>
              <a:rPr spc="-50" dirty="0">
                <a:solidFill>
                  <a:schemeClr val="bg1"/>
                </a:solidFill>
              </a:rPr>
              <a:t>n</a:t>
            </a:r>
            <a:r>
              <a:rPr spc="-25" dirty="0">
                <a:solidFill>
                  <a:schemeClr val="bg1"/>
                </a:solidFill>
              </a:rPr>
              <a:t>al</a:t>
            </a:r>
            <a:r>
              <a:rPr spc="-5" dirty="0">
                <a:solidFill>
                  <a:schemeClr val="bg1"/>
                </a:solidFill>
              </a:rPr>
              <a:t>ysi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53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84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m</a:t>
            </a:r>
            <a:r>
              <a:rPr spc="-50" dirty="0">
                <a:solidFill>
                  <a:schemeClr val="bg1"/>
                </a:solidFill>
              </a:rPr>
              <a:t>e</a:t>
            </a:r>
            <a:r>
              <a:rPr spc="-25" dirty="0">
                <a:solidFill>
                  <a:schemeClr val="bg1"/>
                </a:solidFill>
              </a:rPr>
              <a:t>tho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f</a:t>
            </a:r>
            <a:r>
              <a:rPr spc="-605" dirty="0">
                <a:solidFill>
                  <a:schemeClr val="bg1"/>
                </a:solidFill>
              </a:rPr>
              <a:t> </a:t>
            </a:r>
            <a:r>
              <a:rPr spc="-120" dirty="0">
                <a:solidFill>
                  <a:schemeClr val="bg1"/>
                </a:solidFill>
              </a:rPr>
              <a:t>c</a:t>
            </a:r>
            <a:r>
              <a:rPr spc="-25" dirty="0">
                <a:solidFill>
                  <a:schemeClr val="bg1"/>
                </a:solidFill>
              </a:rPr>
              <a:t>a</a:t>
            </a:r>
            <a:r>
              <a:rPr spc="-5" dirty="0">
                <a:solidFill>
                  <a:schemeClr val="bg1"/>
                </a:solidFill>
              </a:rPr>
              <a:t>lc</a:t>
            </a:r>
            <a:r>
              <a:rPr spc="25" dirty="0">
                <a:solidFill>
                  <a:schemeClr val="bg1"/>
                </a:solidFill>
              </a:rPr>
              <a:t>u</a:t>
            </a:r>
            <a:r>
              <a:rPr spc="-5" dirty="0">
                <a:solidFill>
                  <a:schemeClr val="bg1"/>
                </a:solidFill>
              </a:rPr>
              <a:t>l</a:t>
            </a:r>
            <a:r>
              <a:rPr spc="25" dirty="0">
                <a:solidFill>
                  <a:schemeClr val="bg1"/>
                </a:solidFill>
              </a:rPr>
              <a:t>a</a:t>
            </a:r>
            <a:r>
              <a:rPr spc="20" dirty="0">
                <a:solidFill>
                  <a:schemeClr val="bg1"/>
                </a:solidFill>
              </a:rPr>
              <a:t>tin</a:t>
            </a:r>
            <a:r>
              <a:rPr dirty="0">
                <a:solidFill>
                  <a:schemeClr val="bg1"/>
                </a:solidFill>
              </a:rPr>
              <a:t>g</a:t>
            </a:r>
            <a:r>
              <a:rPr spc="-4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t</a:t>
            </a:r>
            <a:r>
              <a:rPr spc="-25" dirty="0">
                <a:solidFill>
                  <a:schemeClr val="bg1"/>
                </a:solidFill>
              </a:rPr>
              <a:t>h</a:t>
            </a:r>
            <a:r>
              <a:rPr dirty="0">
                <a:solidFill>
                  <a:schemeClr val="bg1"/>
                </a:solidFill>
              </a:rPr>
              <a:t>e 	</a:t>
            </a:r>
            <a:r>
              <a:rPr spc="-5" dirty="0">
                <a:solidFill>
                  <a:schemeClr val="bg1"/>
                </a:solidFill>
              </a:rPr>
              <a:t>expecte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1145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n</a:t>
            </a:r>
            <a:r>
              <a:rPr spc="-50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109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m</a:t>
            </a:r>
            <a:r>
              <a:rPr spc="-125" dirty="0">
                <a:solidFill>
                  <a:schemeClr val="bg1"/>
                </a:solidFill>
              </a:rPr>
              <a:t>o</a:t>
            </a:r>
            <a:r>
              <a:rPr spc="-5" dirty="0">
                <a:solidFill>
                  <a:schemeClr val="bg1"/>
                </a:solidFill>
              </a:rPr>
              <a:t>netar</a:t>
            </a:r>
            <a:r>
              <a:rPr dirty="0">
                <a:solidFill>
                  <a:schemeClr val="bg1"/>
                </a:solidFill>
              </a:rPr>
              <a:t>y</a:t>
            </a:r>
            <a:r>
              <a:rPr spc="1145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g</a:t>
            </a:r>
            <a:r>
              <a:rPr spc="-50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111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r</a:t>
            </a:r>
            <a:r>
              <a:rPr spc="83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los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114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f</a:t>
            </a:r>
            <a:r>
              <a:rPr spc="-50" dirty="0">
                <a:solidFill>
                  <a:schemeClr val="bg1"/>
                </a:solidFill>
              </a:rPr>
              <a:t>r</a:t>
            </a:r>
            <a:r>
              <a:rPr spc="-25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m</a:t>
            </a:r>
            <a:r>
              <a:rPr spc="1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105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ro</a:t>
            </a:r>
            <a:r>
              <a:rPr spc="20" dirty="0">
                <a:solidFill>
                  <a:schemeClr val="bg1"/>
                </a:solidFill>
              </a:rPr>
              <a:t>jec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120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by 	</a:t>
            </a:r>
            <a:r>
              <a:rPr spc="-5" dirty="0">
                <a:solidFill>
                  <a:schemeClr val="bg1"/>
                </a:solidFill>
              </a:rPr>
              <a:t>discountin</a:t>
            </a:r>
            <a:r>
              <a:rPr dirty="0">
                <a:solidFill>
                  <a:schemeClr val="bg1"/>
                </a:solidFill>
              </a:rPr>
              <a:t>g</a:t>
            </a:r>
            <a:r>
              <a:rPr spc="-1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a</a:t>
            </a:r>
            <a:r>
              <a:rPr spc="-50" dirty="0">
                <a:solidFill>
                  <a:schemeClr val="bg1"/>
                </a:solidFill>
              </a:rPr>
              <a:t>l</a:t>
            </a:r>
            <a:r>
              <a:rPr dirty="0">
                <a:solidFill>
                  <a:schemeClr val="bg1"/>
                </a:solidFill>
              </a:rPr>
              <a:t>l</a:t>
            </a:r>
            <a:r>
              <a:rPr spc="-220" dirty="0">
                <a:solidFill>
                  <a:schemeClr val="bg1"/>
                </a:solidFill>
              </a:rPr>
              <a:t> e</a:t>
            </a:r>
            <a:r>
              <a:rPr spc="-5" dirty="0">
                <a:solidFill>
                  <a:schemeClr val="bg1"/>
                </a:solidFill>
              </a:rPr>
              <a:t>xpecte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1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f</a:t>
            </a:r>
            <a:r>
              <a:rPr spc="-50" dirty="0">
                <a:solidFill>
                  <a:schemeClr val="bg1"/>
                </a:solidFill>
              </a:rPr>
              <a:t>u</a:t>
            </a:r>
            <a:r>
              <a:rPr spc="-25" dirty="0">
                <a:solidFill>
                  <a:schemeClr val="bg1"/>
                </a:solidFill>
              </a:rPr>
              <a:t>tu</a:t>
            </a:r>
            <a:r>
              <a:rPr spc="-5" dirty="0">
                <a:solidFill>
                  <a:schemeClr val="bg1"/>
                </a:solidFill>
              </a:rPr>
              <a:t>r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17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c</a:t>
            </a:r>
            <a:r>
              <a:rPr spc="-125" dirty="0">
                <a:solidFill>
                  <a:schemeClr val="bg1"/>
                </a:solidFill>
              </a:rPr>
              <a:t>a</a:t>
            </a:r>
            <a:r>
              <a:rPr spc="-5" dirty="0">
                <a:solidFill>
                  <a:schemeClr val="bg1"/>
                </a:solidFill>
              </a:rPr>
              <a:t>s</a:t>
            </a:r>
            <a:r>
              <a:rPr dirty="0">
                <a:solidFill>
                  <a:schemeClr val="bg1"/>
                </a:solidFill>
              </a:rPr>
              <a:t>h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spc="-50" dirty="0">
                <a:solidFill>
                  <a:schemeClr val="bg1"/>
                </a:solidFill>
              </a:rPr>
              <a:t>n</a:t>
            </a:r>
            <a:r>
              <a:rPr spc="-25" dirty="0">
                <a:solidFill>
                  <a:schemeClr val="bg1"/>
                </a:solidFill>
              </a:rPr>
              <a:t>flo</a:t>
            </a:r>
            <a:r>
              <a:rPr spc="-5" dirty="0">
                <a:solidFill>
                  <a:schemeClr val="bg1"/>
                </a:solidFill>
              </a:rPr>
              <a:t>w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17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a</a:t>
            </a:r>
            <a:r>
              <a:rPr spc="-50" dirty="0">
                <a:solidFill>
                  <a:schemeClr val="bg1"/>
                </a:solidFill>
              </a:rPr>
              <a:t>n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175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o</a:t>
            </a:r>
            <a:r>
              <a:rPr spc="-100" dirty="0">
                <a:solidFill>
                  <a:schemeClr val="bg1"/>
                </a:solidFill>
              </a:rPr>
              <a:t>u</a:t>
            </a:r>
            <a:r>
              <a:rPr spc="20" dirty="0">
                <a:solidFill>
                  <a:schemeClr val="bg1"/>
                </a:solidFill>
              </a:rPr>
              <a:t>tflow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to 	</a:t>
            </a:r>
            <a:r>
              <a:rPr spc="-5" dirty="0">
                <a:solidFill>
                  <a:schemeClr val="bg1"/>
                </a:solidFill>
              </a:rPr>
              <a:t>th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7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present</a:t>
            </a:r>
            <a:r>
              <a:rPr spc="-80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poin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t</a:t>
            </a:r>
            <a:r>
              <a:rPr spc="-25" dirty="0">
                <a:solidFill>
                  <a:schemeClr val="bg1"/>
                </a:solidFill>
              </a:rPr>
              <a:t>i</a:t>
            </a:r>
            <a:r>
              <a:rPr spc="-5" dirty="0">
                <a:solidFill>
                  <a:schemeClr val="bg1"/>
                </a:solidFill>
              </a:rPr>
              <a:t>me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240029" marR="10160" indent="-227329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-5" dirty="0">
                <a:solidFill>
                  <a:schemeClr val="bg1"/>
                </a:solidFill>
              </a:rPr>
              <a:t>Project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430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w</a:t>
            </a:r>
            <a:r>
              <a:rPr spc="-50" dirty="0">
                <a:solidFill>
                  <a:schemeClr val="bg1"/>
                </a:solidFill>
              </a:rPr>
              <a:t>i</a:t>
            </a:r>
            <a:r>
              <a:rPr spc="-25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h</a:t>
            </a:r>
            <a:r>
              <a:rPr spc="-4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60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p</a:t>
            </a:r>
            <a:r>
              <a:rPr spc="-145" dirty="0">
                <a:solidFill>
                  <a:schemeClr val="bg1"/>
                </a:solidFill>
              </a:rPr>
              <a:t>o</a:t>
            </a:r>
            <a:r>
              <a:rPr spc="-5" dirty="0">
                <a:solidFill>
                  <a:schemeClr val="bg1"/>
                </a:solidFill>
              </a:rPr>
              <a:t>sitiv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43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N</a:t>
            </a:r>
            <a:r>
              <a:rPr spc="-50" dirty="0">
                <a:solidFill>
                  <a:schemeClr val="bg1"/>
                </a:solidFill>
              </a:rPr>
              <a:t>P</a:t>
            </a:r>
            <a:r>
              <a:rPr dirty="0">
                <a:solidFill>
                  <a:schemeClr val="bg1"/>
                </a:solidFill>
              </a:rPr>
              <a:t>V</a:t>
            </a:r>
            <a:r>
              <a:rPr spc="-509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s</a:t>
            </a:r>
            <a:r>
              <a:rPr spc="-50" dirty="0">
                <a:solidFill>
                  <a:schemeClr val="bg1"/>
                </a:solidFill>
              </a:rPr>
              <a:t>h</a:t>
            </a:r>
            <a:r>
              <a:rPr spc="-25" dirty="0">
                <a:solidFill>
                  <a:schemeClr val="bg1"/>
                </a:solidFill>
              </a:rPr>
              <a:t>oul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65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b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434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c</a:t>
            </a:r>
            <a:r>
              <a:rPr spc="-50" dirty="0">
                <a:solidFill>
                  <a:schemeClr val="bg1"/>
                </a:solidFill>
              </a:rPr>
              <a:t>o</a:t>
            </a:r>
            <a:r>
              <a:rPr spc="-25" dirty="0">
                <a:solidFill>
                  <a:schemeClr val="bg1"/>
                </a:solidFill>
              </a:rPr>
              <a:t>ns</a:t>
            </a:r>
            <a:r>
              <a:rPr spc="-5" dirty="0">
                <a:solidFill>
                  <a:schemeClr val="bg1"/>
                </a:solidFill>
              </a:rPr>
              <a:t>id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spc="-5" dirty="0">
                <a:solidFill>
                  <a:schemeClr val="bg1"/>
                </a:solidFill>
              </a:rPr>
              <a:t>r</a:t>
            </a:r>
            <a:r>
              <a:rPr spc="20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38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f</a:t>
            </a:r>
            <a:r>
              <a:rPr spc="-484" dirty="0">
                <a:solidFill>
                  <a:schemeClr val="bg1"/>
                </a:solidFill>
              </a:rPr>
              <a:t> </a:t>
            </a:r>
            <a:r>
              <a:rPr spc="-220" dirty="0">
                <a:solidFill>
                  <a:schemeClr val="bg1"/>
                </a:solidFill>
              </a:rPr>
              <a:t>f</a:t>
            </a:r>
            <a:r>
              <a:rPr spc="20" dirty="0">
                <a:solidFill>
                  <a:schemeClr val="bg1"/>
                </a:solidFill>
              </a:rPr>
              <a:t>inancia</a:t>
            </a:r>
            <a:r>
              <a:rPr dirty="0">
                <a:solidFill>
                  <a:schemeClr val="bg1"/>
                </a:solidFill>
              </a:rPr>
              <a:t>l </a:t>
            </a:r>
            <a:r>
              <a:rPr spc="-5" dirty="0" smtClean="0">
                <a:solidFill>
                  <a:schemeClr val="bg1"/>
                </a:solidFill>
              </a:rPr>
              <a:t>valu</a:t>
            </a:r>
            <a:r>
              <a:rPr dirty="0" smtClean="0">
                <a:solidFill>
                  <a:schemeClr val="bg1"/>
                </a:solidFill>
              </a:rPr>
              <a:t>e</a:t>
            </a:r>
            <a:r>
              <a:rPr spc="-720" dirty="0" smtClean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ke</a:t>
            </a:r>
            <a:r>
              <a:rPr dirty="0">
                <a:solidFill>
                  <a:schemeClr val="bg1"/>
                </a:solidFill>
              </a:rPr>
              <a:t>y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criteri</a:t>
            </a:r>
            <a:r>
              <a:rPr spc="-30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n.</a:t>
            </a: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higher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NPV,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better.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0111" y="1356359"/>
            <a:ext cx="7351776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867156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Determine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estimated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costs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benefits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products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produces.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25025" y="1966340"/>
            <a:ext cx="2049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life</a:t>
            </a:r>
            <a:r>
              <a:rPr sz="2400" spc="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5" dirty="0">
                <a:latin typeface="Courier New"/>
                <a:cs typeface="Courier New"/>
              </a:rPr>
              <a:t> the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3009137"/>
            <a:ext cx="10900410" cy="357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079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Determine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discount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rate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(check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with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your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organization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on 	</a:t>
            </a:r>
            <a:r>
              <a:rPr sz="2400" spc="-10" dirty="0">
                <a:latin typeface="Courier New"/>
                <a:cs typeface="Courier New"/>
              </a:rPr>
              <a:t>what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use).</a:t>
            </a:r>
            <a:endParaRPr sz="2400" dirty="0">
              <a:latin typeface="Courier New"/>
              <a:cs typeface="Courier New"/>
            </a:endParaRPr>
          </a:p>
          <a:p>
            <a:pPr marL="240029" indent="-227329" algn="just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Calculate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NPV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(see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text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details).</a:t>
            </a:r>
            <a:endParaRPr sz="2400" dirty="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40" dirty="0">
                <a:latin typeface="Courier New"/>
                <a:cs typeface="Courier New"/>
              </a:rPr>
              <a:t>Notes: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Some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organizations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consider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the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investment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year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440" dirty="0">
                <a:latin typeface="Courier New"/>
                <a:cs typeface="Courier New"/>
              </a:rPr>
              <a:t>as</a:t>
            </a:r>
            <a:r>
              <a:rPr sz="2400" spc="8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year 	</a:t>
            </a:r>
            <a:r>
              <a:rPr sz="2400" dirty="0">
                <a:latin typeface="Courier New"/>
                <a:cs typeface="Courier New"/>
              </a:rPr>
              <a:t>0,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while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others</a:t>
            </a:r>
            <a:r>
              <a:rPr sz="2400" spc="-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start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year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1;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some</a:t>
            </a:r>
            <a:r>
              <a:rPr sz="2400" spc="-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people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enter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costs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as 	</a:t>
            </a:r>
            <a:r>
              <a:rPr sz="2400" spc="-10" dirty="0">
                <a:latin typeface="Courier New"/>
                <a:cs typeface="Courier New"/>
              </a:rPr>
              <a:t>negative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numbers,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while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others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not.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9538"/>
            <a:ext cx="10925175" cy="4758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35560" indent="-228600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Return</a:t>
            </a:r>
            <a:r>
              <a:rPr sz="2200" spc="-37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on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investment</a:t>
            </a:r>
            <a:r>
              <a:rPr sz="2200" spc="-36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(ROI)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is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calculated</a:t>
            </a:r>
            <a:r>
              <a:rPr sz="2200" spc="-36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by</a:t>
            </a:r>
            <a:r>
              <a:rPr sz="2200" spc="-4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subtracting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 costs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from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benefits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then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dividing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by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costs</a:t>
            </a:r>
            <a:endParaRPr sz="22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2045"/>
              </a:spcBef>
            </a:pPr>
            <a:r>
              <a:rPr sz="2200" dirty="0">
                <a:latin typeface="Courier New"/>
                <a:cs typeface="Courier New"/>
              </a:rPr>
              <a:t>ROI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=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(total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discounted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benefits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-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total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discounted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costs)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/</a:t>
            </a: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discounted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costs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higher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ROI,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better.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Many</a:t>
            </a:r>
            <a:r>
              <a:rPr sz="2200" spc="5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organizations</a:t>
            </a:r>
            <a:r>
              <a:rPr sz="2200" spc="-3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have</a:t>
            </a:r>
            <a:r>
              <a:rPr sz="2200" spc="45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required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rate</a:t>
            </a:r>
            <a:r>
              <a:rPr sz="2200" spc="5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4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return</a:t>
            </a:r>
            <a:r>
              <a:rPr sz="2200" spc="5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-35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minimum</a:t>
            </a:r>
            <a:endParaRPr sz="2200" dirty="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acceptable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rate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return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investment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projects.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Internal</a:t>
            </a:r>
            <a:r>
              <a:rPr sz="2200" spc="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rate</a:t>
            </a:r>
            <a:r>
              <a:rPr sz="2200" spc="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return</a:t>
            </a:r>
            <a:r>
              <a:rPr sz="2200" spc="1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(IRR)</a:t>
            </a:r>
            <a:r>
              <a:rPr sz="2200" spc="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can</a:t>
            </a:r>
            <a:r>
              <a:rPr sz="2200" spc="1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by</a:t>
            </a:r>
            <a:r>
              <a:rPr sz="2200" spc="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calculated</a:t>
            </a:r>
            <a:r>
              <a:rPr sz="2200" spc="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by</a:t>
            </a:r>
            <a:r>
              <a:rPr sz="2200" spc="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finding</a:t>
            </a:r>
            <a:r>
              <a:rPr sz="2200" spc="23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</a:t>
            </a:r>
            <a:endParaRPr sz="2200" dirty="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discount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rate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that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makes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NPV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equal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zero.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84143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Another</a:t>
            </a:r>
            <a:r>
              <a:rPr sz="2400" spc="1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important</a:t>
            </a:r>
            <a:r>
              <a:rPr sz="2400" spc="16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financial</a:t>
            </a:r>
            <a:r>
              <a:rPr sz="2400" spc="15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consideration 	analysis.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94544" y="1966340"/>
            <a:ext cx="2074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27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payback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3009137"/>
            <a:ext cx="10912475" cy="357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85" dirty="0">
                <a:latin typeface="Courier New"/>
                <a:cs typeface="Courier New"/>
              </a:rPr>
              <a:t>The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payback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period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520" dirty="0">
                <a:latin typeface="Courier New"/>
                <a:cs typeface="Courier New"/>
              </a:rPr>
              <a:t>is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the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amount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345" dirty="0">
                <a:latin typeface="Courier New"/>
                <a:cs typeface="Courier New"/>
              </a:rPr>
              <a:t>of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135" dirty="0">
                <a:latin typeface="Courier New"/>
                <a:cs typeface="Courier New"/>
              </a:rPr>
              <a:t>time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340" dirty="0">
                <a:latin typeface="Courier New"/>
                <a:cs typeface="Courier New"/>
              </a:rPr>
              <a:t>it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50" dirty="0">
                <a:latin typeface="Courier New"/>
                <a:cs typeface="Courier New"/>
              </a:rPr>
              <a:t>will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take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to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recoup, 	</a:t>
            </a:r>
            <a:r>
              <a:rPr sz="2400" spc="-160" dirty="0">
                <a:latin typeface="Courier New"/>
                <a:cs typeface="Courier New"/>
              </a:rPr>
              <a:t>in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185" dirty="0">
                <a:latin typeface="Courier New"/>
                <a:cs typeface="Courier New"/>
              </a:rPr>
              <a:t>the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spc="-140" dirty="0">
                <a:latin typeface="Courier New"/>
                <a:cs typeface="Courier New"/>
              </a:rPr>
              <a:t>form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345" dirty="0">
                <a:latin typeface="Courier New"/>
                <a:cs typeface="Courier New"/>
              </a:rPr>
              <a:t>of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310" dirty="0">
                <a:latin typeface="Courier New"/>
                <a:cs typeface="Courier New"/>
              </a:rPr>
              <a:t>net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cash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inflows,</a:t>
            </a:r>
            <a:r>
              <a:rPr sz="2400" spc="-300" dirty="0">
                <a:latin typeface="Courier New"/>
                <a:cs typeface="Courier New"/>
              </a:rPr>
              <a:t> the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total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dollars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invested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in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 dirty="0">
              <a:latin typeface="Courier New"/>
              <a:cs typeface="Courier New"/>
            </a:endParaRPr>
          </a:p>
          <a:p>
            <a:pPr marL="240029" marR="22225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Payback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occurs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when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net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cumulative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discounted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benefits 	equals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costs.</a:t>
            </a:r>
            <a:endParaRPr sz="2400" dirty="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Many</a:t>
            </a:r>
            <a:r>
              <a:rPr sz="2400" spc="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organizations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want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have</a:t>
            </a:r>
            <a:r>
              <a:rPr sz="2400" spc="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fairly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short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3048" y="-42926"/>
            <a:ext cx="3183255" cy="33337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0"/>
              </a:spcBef>
            </a:pPr>
            <a:r>
              <a:rPr sz="3600" spc="-10" dirty="0"/>
              <a:t>Strategic </a:t>
            </a:r>
            <a:r>
              <a:rPr sz="3600" spc="-35" dirty="0"/>
              <a:t>Planning</a:t>
            </a:r>
            <a:r>
              <a:rPr sz="3600" spc="-990" dirty="0"/>
              <a:t> </a:t>
            </a:r>
            <a:r>
              <a:rPr sz="3600" spc="-25" dirty="0"/>
              <a:t>and </a:t>
            </a:r>
            <a:r>
              <a:rPr sz="3600" spc="-10" dirty="0"/>
              <a:t>Project Selection</a:t>
            </a:r>
            <a:endParaRPr sz="3600"/>
          </a:p>
          <a:p>
            <a:pPr marL="12700" marR="428625">
              <a:lnSpc>
                <a:spcPct val="150000"/>
              </a:lnSpc>
              <a:spcBef>
                <a:spcPts val="340"/>
              </a:spcBef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Charting</a:t>
            </a:r>
            <a:r>
              <a:rPr sz="1800" b="1" spc="-8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the</a:t>
            </a:r>
            <a:r>
              <a:rPr sz="1800" b="1" spc="-4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00"/>
                </a:solidFill>
                <a:latin typeface="Courier New"/>
                <a:cs typeface="Courier New"/>
              </a:rPr>
              <a:t>payback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period</a:t>
            </a:r>
            <a:r>
              <a:rPr sz="18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800" b="1" spc="-4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the</a:t>
            </a:r>
            <a:r>
              <a:rPr sz="1800" b="1" spc="-4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000000"/>
                </a:solidFill>
                <a:latin typeface="Courier New"/>
                <a:cs typeface="Courier New"/>
              </a:rPr>
              <a:t>JWD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Consulting</a:t>
            </a:r>
            <a:r>
              <a:rPr sz="1800" b="1" spc="-9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00"/>
                </a:solidFill>
                <a:latin typeface="Courier New"/>
                <a:cs typeface="Courier New"/>
              </a:rPr>
              <a:t>project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7240" y="792479"/>
            <a:ext cx="7271374" cy="50585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90830" y="1792224"/>
            <a:ext cx="11913235" cy="46746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2055" marR="61594" indent="-227329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1203325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weighted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scoring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model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is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09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tool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provides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systematic 	process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selecting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based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criteria:</a:t>
            </a:r>
            <a:endParaRPr sz="2400" dirty="0">
              <a:latin typeface="Courier New"/>
              <a:cs typeface="Courier New"/>
            </a:endParaRPr>
          </a:p>
          <a:p>
            <a:pPr marL="1698625" marR="60325" lvl="1" indent="-267335">
              <a:lnSpc>
                <a:spcPct val="140100"/>
              </a:lnSpc>
              <a:spcBef>
                <a:spcPts val="1005"/>
              </a:spcBef>
              <a:buFont typeface="Wingdings"/>
              <a:buChar char=""/>
              <a:tabLst>
                <a:tab pos="1699895" algn="l"/>
              </a:tabLst>
            </a:pPr>
            <a:r>
              <a:rPr sz="2400" dirty="0">
                <a:latin typeface="Courier New"/>
                <a:cs typeface="Courier New"/>
              </a:rPr>
              <a:t>Identify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criteria</a:t>
            </a:r>
            <a:r>
              <a:rPr sz="2400" spc="-2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important</a:t>
            </a:r>
            <a:r>
              <a:rPr sz="2400" spc="-2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5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6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selection 	process.</a:t>
            </a:r>
            <a:endParaRPr sz="2400" dirty="0">
              <a:latin typeface="Courier New"/>
              <a:cs typeface="Courier New"/>
            </a:endParaRPr>
          </a:p>
          <a:p>
            <a:pPr marL="1698625" marR="55880" lvl="1" indent="-267335">
              <a:lnSpc>
                <a:spcPct val="140100"/>
              </a:lnSpc>
              <a:spcBef>
                <a:spcPts val="980"/>
              </a:spcBef>
              <a:buFont typeface="Wingdings"/>
              <a:buChar char=""/>
              <a:tabLst>
                <a:tab pos="1699895" algn="l"/>
              </a:tabLst>
            </a:pPr>
            <a:r>
              <a:rPr sz="2400" dirty="0">
                <a:latin typeface="Courier New"/>
                <a:cs typeface="Courier New"/>
              </a:rPr>
              <a:t>Assign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weights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(percentages)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to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each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criterion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so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they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add 	</a:t>
            </a:r>
            <a:r>
              <a:rPr sz="2400" spc="-10" dirty="0">
                <a:latin typeface="Courier New"/>
                <a:cs typeface="Courier New"/>
              </a:rPr>
              <a:t>up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100%.</a:t>
            </a:r>
            <a:endParaRPr sz="2400" dirty="0">
              <a:latin typeface="Courier New"/>
              <a:cs typeface="Courier New"/>
            </a:endParaRPr>
          </a:p>
          <a:p>
            <a:pPr marL="1699260" lvl="1" indent="-267335">
              <a:lnSpc>
                <a:spcPct val="100000"/>
              </a:lnSpc>
              <a:spcBef>
                <a:spcPts val="2165"/>
              </a:spcBef>
              <a:buFont typeface="Wingdings"/>
              <a:buChar char=""/>
              <a:tabLst>
                <a:tab pos="1699260" algn="l"/>
              </a:tabLst>
            </a:pPr>
            <a:r>
              <a:rPr sz="2400" spc="-10" dirty="0">
                <a:latin typeface="Courier New"/>
                <a:cs typeface="Courier New"/>
              </a:rPr>
              <a:t>Assign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scores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each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criterion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each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 dirty="0">
              <a:latin typeface="Courier New"/>
              <a:cs typeface="Courier New"/>
            </a:endParaRPr>
          </a:p>
          <a:p>
            <a:pPr marL="1699260" lvl="1" indent="-267335">
              <a:lnSpc>
                <a:spcPct val="100000"/>
              </a:lnSpc>
              <a:spcBef>
                <a:spcPts val="2160"/>
              </a:spcBef>
              <a:buFont typeface="Wingdings"/>
              <a:buChar char=""/>
              <a:tabLst>
                <a:tab pos="1699260" algn="l"/>
              </a:tabLst>
            </a:pPr>
            <a:r>
              <a:rPr sz="2400" dirty="0">
                <a:latin typeface="Courier New"/>
                <a:cs typeface="Courier New"/>
              </a:rPr>
              <a:t>Multiply</a:t>
            </a:r>
            <a:r>
              <a:rPr sz="2400" spc="5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5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scores</a:t>
            </a:r>
            <a:r>
              <a:rPr sz="2400" spc="5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5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5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weights</a:t>
            </a:r>
            <a:r>
              <a:rPr sz="2400" spc="5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5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get</a:t>
            </a:r>
            <a:r>
              <a:rPr sz="2400" spc="5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55" dirty="0">
                <a:latin typeface="Courier New"/>
                <a:cs typeface="Courier New"/>
              </a:rPr>
              <a:t>  </a:t>
            </a:r>
            <a:r>
              <a:rPr sz="2400" spc="-10" dirty="0" smtClean="0">
                <a:latin typeface="Courier New"/>
                <a:cs typeface="Courier New"/>
              </a:rPr>
              <a:t>total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Strategic</a:t>
            </a:r>
            <a:r>
              <a:rPr spc="-1235" dirty="0"/>
              <a:t> </a:t>
            </a:r>
            <a:r>
              <a:rPr spc="-10" dirty="0"/>
              <a:t>Planning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Project Selection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112519" y="4632833"/>
            <a:ext cx="10594975" cy="21590"/>
          </a:xfrm>
          <a:custGeom>
            <a:avLst/>
            <a:gdLst/>
            <a:ahLst/>
            <a:cxnLst/>
            <a:rect l="l" t="t" r="r" b="b"/>
            <a:pathLst>
              <a:path w="10594975" h="21589">
                <a:moveTo>
                  <a:pt x="10594848" y="0"/>
                </a:moveTo>
                <a:lnTo>
                  <a:pt x="0" y="0"/>
                </a:lnTo>
                <a:lnTo>
                  <a:pt x="0" y="21336"/>
                </a:lnTo>
                <a:lnTo>
                  <a:pt x="10594848" y="21336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12519" y="5181472"/>
            <a:ext cx="10594975" cy="21590"/>
          </a:xfrm>
          <a:custGeom>
            <a:avLst/>
            <a:gdLst/>
            <a:ahLst/>
            <a:cxnLst/>
            <a:rect l="l" t="t" r="r" b="b"/>
            <a:pathLst>
              <a:path w="10594975" h="21589">
                <a:moveTo>
                  <a:pt x="10594848" y="0"/>
                </a:moveTo>
                <a:lnTo>
                  <a:pt x="0" y="0"/>
                </a:lnTo>
                <a:lnTo>
                  <a:pt x="0" y="21335"/>
                </a:lnTo>
                <a:lnTo>
                  <a:pt x="10594848" y="21335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69" y="1783079"/>
            <a:ext cx="11760835" cy="47089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0455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01725" algn="l"/>
              </a:tabLst>
            </a:pPr>
            <a:r>
              <a:rPr sz="2400" spc="-30" dirty="0">
                <a:latin typeface="Courier New"/>
                <a:cs typeface="Courier New"/>
              </a:rPr>
              <a:t>Drs.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Robert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Kaplan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40" dirty="0">
                <a:latin typeface="Courier New"/>
                <a:cs typeface="Courier New"/>
              </a:rPr>
              <a:t>and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David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Norton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developed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this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approach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dirty="0">
                <a:latin typeface="Courier New"/>
                <a:cs typeface="Courier New"/>
              </a:rPr>
              <a:t>help</a:t>
            </a:r>
            <a:r>
              <a:rPr sz="2400" spc="4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select</a:t>
            </a:r>
            <a:r>
              <a:rPr sz="2400" spc="4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</a:t>
            </a:r>
            <a:r>
              <a:rPr sz="2400" spc="4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4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align</a:t>
            </a:r>
            <a:r>
              <a:rPr sz="2400" spc="4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business 	strategy</a:t>
            </a:r>
            <a:endParaRPr sz="2400" dirty="0">
              <a:latin typeface="Courier New"/>
              <a:cs typeface="Courier New"/>
            </a:endParaRPr>
          </a:p>
          <a:p>
            <a:pPr marL="1100455" marR="50165" indent="-227329" algn="just">
              <a:lnSpc>
                <a:spcPct val="149500"/>
              </a:lnSpc>
              <a:spcBef>
                <a:spcPts val="1025"/>
              </a:spcBef>
              <a:buFont typeface="Arial MT"/>
              <a:buChar char="•"/>
              <a:tabLst>
                <a:tab pos="1101725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balanced</a:t>
            </a:r>
            <a:r>
              <a:rPr sz="2400" spc="-3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scorecard</a:t>
            </a:r>
            <a:r>
              <a:rPr sz="2400" spc="-36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05" dirty="0"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</a:t>
            </a:r>
            <a:r>
              <a:rPr sz="2400" i="1" u="heavy" spc="57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methodology</a:t>
            </a:r>
            <a:r>
              <a:rPr sz="2400" i="1" u="heavy" spc="-3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that</a:t>
            </a:r>
            <a:r>
              <a:rPr sz="2400" i="1" u="heavy" spc="-3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converts</a:t>
            </a:r>
            <a:r>
              <a:rPr sz="2400" i="1" u="heavy" spc="-3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an</a:t>
            </a:r>
            <a:r>
              <a:rPr sz="2400" i="1" spc="-25" dirty="0">
                <a:latin typeface="Courier New"/>
                <a:cs typeface="Courier New"/>
              </a:rPr>
              <a:t> 	</a:t>
            </a:r>
            <a:r>
              <a:rPr sz="2400" i="1" dirty="0">
                <a:latin typeface="Courier New"/>
                <a:cs typeface="Courier New"/>
              </a:rPr>
              <a:t>organization’s</a:t>
            </a:r>
            <a:r>
              <a:rPr sz="2400" i="1" spc="-38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value</a:t>
            </a:r>
            <a:r>
              <a:rPr sz="2400" i="1" spc="-38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drivers,</a:t>
            </a:r>
            <a:r>
              <a:rPr sz="2400" i="1" spc="-38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such</a:t>
            </a:r>
            <a:r>
              <a:rPr sz="2400" i="1" spc="-37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as</a:t>
            </a:r>
            <a:r>
              <a:rPr sz="2400" i="1" spc="-38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customer</a:t>
            </a:r>
            <a:r>
              <a:rPr sz="2400" i="1" spc="-390" dirty="0">
                <a:latin typeface="Courier New"/>
                <a:cs typeface="Courier New"/>
              </a:rPr>
              <a:t>  </a:t>
            </a:r>
            <a:r>
              <a:rPr sz="2400" i="1" spc="-10" dirty="0">
                <a:latin typeface="Courier New"/>
                <a:cs typeface="Courier New"/>
              </a:rPr>
              <a:t>service, 	</a:t>
            </a:r>
            <a:r>
              <a:rPr sz="2400" i="1" dirty="0">
                <a:latin typeface="Courier New"/>
                <a:cs typeface="Courier New"/>
              </a:rPr>
              <a:t>innovation,</a:t>
            </a:r>
            <a:r>
              <a:rPr sz="2400" i="1" spc="100" dirty="0">
                <a:latin typeface="Courier New"/>
                <a:cs typeface="Courier New"/>
              </a:rPr>
              <a:t>   </a:t>
            </a:r>
            <a:r>
              <a:rPr sz="2400" i="1" dirty="0">
                <a:latin typeface="Courier New"/>
                <a:cs typeface="Courier New"/>
              </a:rPr>
              <a:t>operational</a:t>
            </a:r>
            <a:r>
              <a:rPr sz="2400" i="1" spc="100" dirty="0">
                <a:latin typeface="Courier New"/>
                <a:cs typeface="Courier New"/>
              </a:rPr>
              <a:t>   </a:t>
            </a:r>
            <a:r>
              <a:rPr sz="2400" i="1" dirty="0">
                <a:latin typeface="Courier New"/>
                <a:cs typeface="Courier New"/>
              </a:rPr>
              <a:t>efficiency,</a:t>
            </a:r>
            <a:r>
              <a:rPr sz="2400" i="1" spc="100" dirty="0">
                <a:latin typeface="Courier New"/>
                <a:cs typeface="Courier New"/>
              </a:rPr>
              <a:t>   </a:t>
            </a:r>
            <a:r>
              <a:rPr sz="2400" i="1" dirty="0">
                <a:latin typeface="Courier New"/>
                <a:cs typeface="Courier New"/>
              </a:rPr>
              <a:t>and</a:t>
            </a:r>
            <a:r>
              <a:rPr sz="2400" i="1" spc="95" dirty="0">
                <a:latin typeface="Courier New"/>
                <a:cs typeface="Courier New"/>
              </a:rPr>
              <a:t>   </a:t>
            </a:r>
            <a:r>
              <a:rPr sz="2400" i="1" spc="-10" dirty="0">
                <a:latin typeface="Courier New"/>
                <a:cs typeface="Courier New"/>
              </a:rPr>
              <a:t>financial 	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performance,</a:t>
            </a:r>
            <a:r>
              <a:rPr sz="2400" i="1" u="heavy" spc="-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to</a:t>
            </a:r>
            <a:r>
              <a:rPr sz="2400" i="1" u="heavy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</a:t>
            </a:r>
            <a:r>
              <a:rPr sz="2400" i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series</a:t>
            </a:r>
            <a:r>
              <a:rPr sz="2400" i="1" u="heavy" spc="-4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400" i="1" u="heavy" spc="-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defined</a:t>
            </a:r>
            <a:r>
              <a:rPr sz="2400" i="1" u="heavy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metrics.</a:t>
            </a:r>
            <a:endParaRPr sz="2400" dirty="0">
              <a:latin typeface="Courier New"/>
              <a:cs typeface="Courier New"/>
            </a:endParaRPr>
          </a:p>
          <a:p>
            <a:pPr marL="1100455" indent="-227329">
              <a:lnSpc>
                <a:spcPct val="100000"/>
              </a:lnSpc>
              <a:spcBef>
                <a:spcPts val="2470"/>
              </a:spcBef>
              <a:buFont typeface="Arial MT"/>
              <a:buChar char="•"/>
              <a:tabLst>
                <a:tab pos="1100455" algn="l"/>
              </a:tabLst>
            </a:pPr>
            <a:r>
              <a:rPr sz="2400" spc="-10" dirty="0">
                <a:latin typeface="Courier New"/>
                <a:cs typeface="Courier New"/>
              </a:rPr>
              <a:t>See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2"/>
              </a:rPr>
              <a:t>www.balancedscorecard.org</a:t>
            </a:r>
            <a:r>
              <a:rPr sz="2400" spc="-760" dirty="0">
                <a:solidFill>
                  <a:srgbClr val="0000FF"/>
                </a:solidFill>
                <a:latin typeface="Courier New"/>
                <a:cs typeface="Courier New"/>
                <a:hlinkClick r:id="rId2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more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information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40" dirty="0"/>
              <a:t> </a:t>
            </a:r>
            <a:r>
              <a:rPr dirty="0"/>
              <a:t>a</a:t>
            </a:r>
            <a:r>
              <a:rPr spc="-1275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65430" y="1783079"/>
            <a:ext cx="11884660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6655" marR="52069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77925" algn="l"/>
              </a:tabLst>
            </a:pPr>
            <a:r>
              <a:rPr sz="2400" dirty="0">
                <a:latin typeface="Courier New"/>
                <a:cs typeface="Courier New"/>
              </a:rPr>
              <a:t>After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deciding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what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project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60" dirty="0">
                <a:latin typeface="Courier New"/>
                <a:cs typeface="Courier New"/>
              </a:rPr>
              <a:t>to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work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75" dirty="0">
                <a:latin typeface="Courier New"/>
                <a:cs typeface="Courier New"/>
              </a:rPr>
              <a:t>on,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175" dirty="0">
                <a:latin typeface="Courier New"/>
                <a:cs typeface="Courier New"/>
              </a:rPr>
              <a:t>it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180" dirty="0">
                <a:latin typeface="Courier New"/>
                <a:cs typeface="Courier New"/>
              </a:rPr>
              <a:t>is </a:t>
            </a:r>
            <a:r>
              <a:rPr sz="2400" spc="-10" dirty="0">
                <a:latin typeface="Courier New"/>
                <a:cs typeface="Courier New"/>
              </a:rPr>
              <a:t>important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to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let 	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rest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know.</a:t>
            </a:r>
            <a:endParaRPr sz="2400" dirty="0">
              <a:latin typeface="Courier New"/>
              <a:cs typeface="Courier New"/>
            </a:endParaRPr>
          </a:p>
          <a:p>
            <a:pPr marL="1176655" marR="52069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1177925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oj</a:t>
            </a:r>
            <a:r>
              <a:rPr sz="2400" spc="-5" dirty="0">
                <a:latin typeface="Courier New"/>
                <a:cs typeface="Courier New"/>
              </a:rPr>
              <a:t>ec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75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ar</a:t>
            </a:r>
            <a:r>
              <a:rPr sz="2400" spc="-5" dirty="0">
                <a:latin typeface="Courier New"/>
                <a:cs typeface="Courier New"/>
              </a:rPr>
              <a:t>te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5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d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cu</a:t>
            </a:r>
            <a:r>
              <a:rPr sz="2400" spc="-5" dirty="0">
                <a:latin typeface="Courier New"/>
                <a:cs typeface="Courier New"/>
              </a:rPr>
              <a:t>m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t</a:t>
            </a:r>
            <a:r>
              <a:rPr sz="2400" spc="-120" dirty="0">
                <a:latin typeface="Courier New"/>
                <a:cs typeface="Courier New"/>
              </a:rPr>
              <a:t>h</a:t>
            </a:r>
            <a:r>
              <a:rPr sz="2400" spc="-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rm</a:t>
            </a:r>
            <a:r>
              <a:rPr sz="2400" spc="-5" dirty="0">
                <a:latin typeface="Courier New"/>
                <a:cs typeface="Courier New"/>
              </a:rPr>
              <a:t>all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cog</a:t>
            </a:r>
            <a:r>
              <a:rPr sz="2400" spc="30" dirty="0">
                <a:latin typeface="Courier New"/>
                <a:cs typeface="Courier New"/>
              </a:rPr>
              <a:t>n</a:t>
            </a:r>
            <a:r>
              <a:rPr sz="2400" spc="20" dirty="0">
                <a:latin typeface="Courier New"/>
                <a:cs typeface="Courier New"/>
              </a:rPr>
              <a:t>ize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 	</a:t>
            </a:r>
            <a:r>
              <a:rPr sz="2400" spc="-5" dirty="0">
                <a:latin typeface="Courier New"/>
                <a:cs typeface="Courier New"/>
              </a:rPr>
              <a:t>existenc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2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p</a:t>
            </a:r>
            <a:r>
              <a:rPr sz="2400" spc="-75" dirty="0">
                <a:latin typeface="Courier New"/>
                <a:cs typeface="Courier New"/>
              </a:rPr>
              <a:t>ro</a:t>
            </a:r>
            <a:r>
              <a:rPr sz="2400" spc="-5" dirty="0">
                <a:latin typeface="Courier New"/>
                <a:cs typeface="Courier New"/>
              </a:rPr>
              <a:t>jec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4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ov</a:t>
            </a:r>
            <a:r>
              <a:rPr sz="2400" spc="-5" dirty="0">
                <a:latin typeface="Courier New"/>
                <a:cs typeface="Courier New"/>
              </a:rPr>
              <a:t>id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65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directio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p</a:t>
            </a:r>
            <a:r>
              <a:rPr sz="2400" spc="20" dirty="0">
                <a:latin typeface="Courier New"/>
                <a:cs typeface="Courier New"/>
              </a:rPr>
              <a:t>rojec</a:t>
            </a:r>
            <a:r>
              <a:rPr sz="2400" spc="35" dirty="0">
                <a:latin typeface="Courier New"/>
                <a:cs typeface="Courier New"/>
              </a:rPr>
              <a:t>t</a:t>
            </a:r>
            <a:r>
              <a:rPr sz="2400" spc="20" dirty="0">
                <a:latin typeface="Courier New"/>
                <a:cs typeface="Courier New"/>
              </a:rPr>
              <a:t>’</a:t>
            </a:r>
            <a:r>
              <a:rPr sz="2400" dirty="0">
                <a:latin typeface="Courier New"/>
                <a:cs typeface="Courier New"/>
              </a:rPr>
              <a:t>s 	</a:t>
            </a:r>
            <a:r>
              <a:rPr sz="2400" spc="-5" dirty="0">
                <a:latin typeface="Courier New"/>
                <a:cs typeface="Courier New"/>
              </a:rPr>
              <a:t>objective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man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gemen</a:t>
            </a:r>
            <a:r>
              <a:rPr sz="2400" dirty="0">
                <a:latin typeface="Courier New"/>
                <a:cs typeface="Courier New"/>
              </a:rPr>
              <a:t>t.</a:t>
            </a:r>
          </a:p>
          <a:p>
            <a:pPr marL="1176655" marR="4318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1177925" algn="l"/>
              </a:tabLst>
            </a:pPr>
            <a:r>
              <a:rPr sz="2400" dirty="0">
                <a:latin typeface="Courier New"/>
                <a:cs typeface="Courier New"/>
              </a:rPr>
              <a:t>Key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stakeholders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should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sign</a:t>
            </a:r>
            <a:r>
              <a:rPr sz="2400" spc="2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charter</a:t>
            </a:r>
            <a:r>
              <a:rPr sz="2400" spc="30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spc="-10" dirty="0">
                <a:latin typeface="Courier New"/>
                <a:cs typeface="Courier New"/>
              </a:rPr>
              <a:t>acknowledge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agreement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on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130" dirty="0">
                <a:latin typeface="Courier New"/>
                <a:cs typeface="Courier New"/>
              </a:rPr>
              <a:t>the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need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and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intent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of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the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project;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dirty="0">
                <a:latin typeface="Courier New"/>
                <a:cs typeface="Courier New"/>
              </a:rPr>
              <a:t>signed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charter</a:t>
            </a:r>
            <a:r>
              <a:rPr sz="2400" spc="-3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key</a:t>
            </a:r>
            <a:r>
              <a:rPr sz="2400" spc="-2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output</a:t>
            </a:r>
            <a:r>
              <a:rPr sz="2400" spc="-16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1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15" dirty="0">
                <a:latin typeface="Courier New"/>
                <a:cs typeface="Courier New"/>
              </a:rPr>
              <a:t>  </a:t>
            </a:r>
            <a:r>
              <a:rPr sz="2400" spc="-10" dirty="0" smtClean="0">
                <a:latin typeface="Courier New"/>
                <a:cs typeface="Courier New"/>
              </a:rPr>
              <a:t>integration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35" dirty="0"/>
              <a:t> </a:t>
            </a:r>
            <a:r>
              <a:rPr spc="-10" dirty="0"/>
              <a:t>Management</a:t>
            </a:r>
            <a:r>
              <a:rPr spc="-1270" dirty="0"/>
              <a:t> </a:t>
            </a:r>
            <a:r>
              <a:rPr spc="-10" dirty="0"/>
              <a:t>Plans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7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3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r</a:t>
            </a:r>
            <a:r>
              <a:rPr spc="-25" dirty="0">
                <a:solidFill>
                  <a:schemeClr val="bg1"/>
                </a:solidFill>
              </a:rPr>
              <a:t>oje</a:t>
            </a:r>
            <a:r>
              <a:rPr spc="-5" dirty="0">
                <a:solidFill>
                  <a:schemeClr val="bg1"/>
                </a:solidFill>
              </a:rPr>
              <a:t>c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38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m</a:t>
            </a:r>
            <a:r>
              <a:rPr spc="-50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na</a:t>
            </a:r>
            <a:r>
              <a:rPr spc="-5" dirty="0">
                <a:solidFill>
                  <a:schemeClr val="bg1"/>
                </a:solidFill>
              </a:rPr>
              <a:t>ge</a:t>
            </a:r>
            <a:r>
              <a:rPr spc="-25" dirty="0">
                <a:solidFill>
                  <a:schemeClr val="bg1"/>
                </a:solidFill>
              </a:rPr>
              <a:t>m</a:t>
            </a:r>
            <a:r>
              <a:rPr spc="-5" dirty="0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la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-409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45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55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d</a:t>
            </a:r>
            <a:r>
              <a:rPr spc="-75" dirty="0">
                <a:solidFill>
                  <a:schemeClr val="bg1"/>
                </a:solidFill>
              </a:rPr>
              <a:t>o</a:t>
            </a:r>
            <a:r>
              <a:rPr spc="-25" dirty="0">
                <a:solidFill>
                  <a:schemeClr val="bg1"/>
                </a:solidFill>
              </a:rPr>
              <a:t>c</a:t>
            </a:r>
            <a:r>
              <a:rPr spc="-50" dirty="0">
                <a:solidFill>
                  <a:schemeClr val="bg1"/>
                </a:solidFill>
              </a:rPr>
              <a:t>u</a:t>
            </a:r>
            <a:r>
              <a:rPr spc="-5" dirty="0">
                <a:solidFill>
                  <a:schemeClr val="bg1"/>
                </a:solidFill>
              </a:rPr>
              <a:t>men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u</a:t>
            </a:r>
            <a:r>
              <a:rPr spc="-70" dirty="0">
                <a:solidFill>
                  <a:schemeClr val="bg1"/>
                </a:solidFill>
              </a:rPr>
              <a:t>s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41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o</a:t>
            </a:r>
            <a:r>
              <a:rPr spc="-45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c</a:t>
            </a:r>
            <a:r>
              <a:rPr spc="-25" dirty="0">
                <a:solidFill>
                  <a:schemeClr val="bg1"/>
                </a:solidFill>
              </a:rPr>
              <a:t>o</a:t>
            </a:r>
            <a:r>
              <a:rPr spc="-5" dirty="0">
                <a:solidFill>
                  <a:schemeClr val="bg1"/>
                </a:solidFill>
              </a:rPr>
              <a:t>ord</a:t>
            </a:r>
            <a:r>
              <a:rPr spc="20" dirty="0">
                <a:solidFill>
                  <a:schemeClr val="bg1"/>
                </a:solidFill>
              </a:rPr>
              <a:t>inat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l</a:t>
            </a:r>
            <a:r>
              <a:rPr dirty="0">
                <a:solidFill>
                  <a:schemeClr val="bg1"/>
                </a:solidFill>
              </a:rPr>
              <a:t>l 	</a:t>
            </a:r>
            <a:r>
              <a:rPr spc="-5" dirty="0">
                <a:solidFill>
                  <a:schemeClr val="bg1"/>
                </a:solidFill>
              </a:rPr>
              <a:t>projec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122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l</a:t>
            </a:r>
            <a:r>
              <a:rPr spc="-25" dirty="0">
                <a:solidFill>
                  <a:schemeClr val="bg1"/>
                </a:solidFill>
              </a:rPr>
              <a:t>an</a:t>
            </a:r>
            <a:r>
              <a:rPr spc="-5" dirty="0">
                <a:solidFill>
                  <a:schemeClr val="bg1"/>
                </a:solidFill>
              </a:rPr>
              <a:t>ni</a:t>
            </a:r>
            <a:r>
              <a:rPr spc="-25" dirty="0">
                <a:solidFill>
                  <a:schemeClr val="bg1"/>
                </a:solidFill>
              </a:rPr>
              <a:t>n</a:t>
            </a:r>
            <a:r>
              <a:rPr dirty="0">
                <a:solidFill>
                  <a:schemeClr val="bg1"/>
                </a:solidFill>
              </a:rPr>
              <a:t>g</a:t>
            </a:r>
            <a:r>
              <a:rPr spc="1390" dirty="0">
                <a:solidFill>
                  <a:schemeClr val="bg1"/>
                </a:solidFill>
              </a:rPr>
              <a:t> </a:t>
            </a:r>
            <a:r>
              <a:rPr spc="-195" dirty="0">
                <a:solidFill>
                  <a:schemeClr val="bg1"/>
                </a:solidFill>
              </a:rPr>
              <a:t>d</a:t>
            </a:r>
            <a:r>
              <a:rPr spc="-100" dirty="0">
                <a:solidFill>
                  <a:schemeClr val="bg1"/>
                </a:solidFill>
              </a:rPr>
              <a:t>o</a:t>
            </a:r>
            <a:r>
              <a:rPr spc="-50" dirty="0">
                <a:solidFill>
                  <a:schemeClr val="bg1"/>
                </a:solidFill>
              </a:rPr>
              <a:t>c</a:t>
            </a:r>
            <a:r>
              <a:rPr spc="-25" dirty="0">
                <a:solidFill>
                  <a:schemeClr val="bg1"/>
                </a:solidFill>
              </a:rPr>
              <a:t>um</a:t>
            </a:r>
            <a:r>
              <a:rPr spc="-5" dirty="0">
                <a:solidFill>
                  <a:schemeClr val="bg1"/>
                </a:solidFill>
              </a:rPr>
              <a:t>ent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122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a</a:t>
            </a:r>
            <a:r>
              <a:rPr spc="-50" dirty="0">
                <a:solidFill>
                  <a:schemeClr val="bg1"/>
                </a:solidFill>
              </a:rPr>
              <a:t>n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1340" dirty="0">
                <a:solidFill>
                  <a:schemeClr val="bg1"/>
                </a:solidFill>
              </a:rPr>
              <a:t> </a:t>
            </a:r>
            <a:r>
              <a:rPr spc="-195" dirty="0">
                <a:solidFill>
                  <a:schemeClr val="bg1"/>
                </a:solidFill>
              </a:rPr>
              <a:t>h</a:t>
            </a:r>
            <a:r>
              <a:rPr spc="-100" dirty="0">
                <a:solidFill>
                  <a:schemeClr val="bg1"/>
                </a:solidFill>
              </a:rPr>
              <a:t>e</a:t>
            </a:r>
            <a:r>
              <a:rPr spc="-50" dirty="0">
                <a:solidFill>
                  <a:schemeClr val="bg1"/>
                </a:solidFill>
              </a:rPr>
              <a:t>l</a:t>
            </a:r>
            <a:r>
              <a:rPr dirty="0">
                <a:solidFill>
                  <a:schemeClr val="bg1"/>
                </a:solidFill>
              </a:rPr>
              <a:t>p</a:t>
            </a:r>
            <a:r>
              <a:rPr spc="117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g</a:t>
            </a:r>
            <a:r>
              <a:rPr spc="-50" dirty="0">
                <a:solidFill>
                  <a:schemeClr val="bg1"/>
                </a:solidFill>
              </a:rPr>
              <a:t>u</a:t>
            </a:r>
            <a:r>
              <a:rPr spc="-5" dirty="0">
                <a:solidFill>
                  <a:schemeClr val="bg1"/>
                </a:solidFill>
              </a:rPr>
              <a:t>id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12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855" dirty="0">
                <a:solidFill>
                  <a:schemeClr val="bg1"/>
                </a:solidFill>
              </a:rPr>
              <a:t> </a:t>
            </a:r>
            <a:r>
              <a:rPr spc="20" dirty="0">
                <a:solidFill>
                  <a:schemeClr val="bg1"/>
                </a:solidFill>
              </a:rPr>
              <a:t>projec</a:t>
            </a:r>
            <a:r>
              <a:rPr spc="25" dirty="0">
                <a:solidFill>
                  <a:schemeClr val="bg1"/>
                </a:solidFill>
              </a:rPr>
              <a:t>t</a:t>
            </a:r>
            <a:r>
              <a:rPr spc="20" dirty="0">
                <a:solidFill>
                  <a:schemeClr val="bg1"/>
                </a:solidFill>
              </a:rPr>
              <a:t>’</a:t>
            </a:r>
            <a:r>
              <a:rPr dirty="0">
                <a:solidFill>
                  <a:schemeClr val="bg1"/>
                </a:solidFill>
              </a:rPr>
              <a:t>s 	</a:t>
            </a:r>
            <a:r>
              <a:rPr spc="-5" dirty="0">
                <a:solidFill>
                  <a:schemeClr val="bg1"/>
                </a:solidFill>
              </a:rPr>
              <a:t>executio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n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cont</a:t>
            </a:r>
            <a:r>
              <a:rPr spc="-25" dirty="0">
                <a:solidFill>
                  <a:schemeClr val="bg1"/>
                </a:solidFill>
              </a:rPr>
              <a:t>r</a:t>
            </a:r>
            <a:r>
              <a:rPr spc="-5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l.</a:t>
            </a:r>
          </a:p>
          <a:p>
            <a:pPr marL="240029" marR="1079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Plans</a:t>
            </a:r>
            <a:r>
              <a:rPr spc="20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created</a:t>
            </a:r>
            <a:r>
              <a:rPr spc="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2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other</a:t>
            </a:r>
            <a:r>
              <a:rPr spc="1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knowledge</a:t>
            </a:r>
            <a:r>
              <a:rPr spc="20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areas</a:t>
            </a:r>
            <a:r>
              <a:rPr spc="1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204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subsidiary 	parts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overall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management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plan.</a:t>
            </a:r>
          </a:p>
          <a:p>
            <a:pPr marL="240029" marR="762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Many</a:t>
            </a:r>
            <a:r>
              <a:rPr spc="13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organizations</a:t>
            </a:r>
            <a:r>
              <a:rPr spc="15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use</a:t>
            </a:r>
            <a:r>
              <a:rPr spc="11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guidelines</a:t>
            </a:r>
            <a:r>
              <a:rPr spc="15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11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create</a:t>
            </a:r>
            <a:r>
              <a:rPr spc="254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project 	management</a:t>
            </a:r>
            <a:r>
              <a:rPr spc="-6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plans.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35" dirty="0"/>
              <a:t> </a:t>
            </a:r>
            <a:r>
              <a:rPr spc="-10" dirty="0"/>
              <a:t>Management</a:t>
            </a:r>
            <a:r>
              <a:rPr spc="-1270" dirty="0"/>
              <a:t> </a:t>
            </a:r>
            <a:r>
              <a:rPr spc="-10" dirty="0"/>
              <a:t>Plans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0410" cy="180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plans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should</a:t>
            </a:r>
            <a:r>
              <a:rPr sz="2400" spc="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dynamic,</a:t>
            </a:r>
            <a:r>
              <a:rPr sz="2400" spc="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flexible,</a:t>
            </a:r>
            <a:r>
              <a:rPr sz="2400" spc="3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receptive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when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environment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common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elements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most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plans,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follows: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3606070"/>
            <a:ext cx="4594225" cy="27692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469265" algn="l"/>
              </a:tabLst>
            </a:pPr>
            <a:r>
              <a:rPr sz="2000" spc="-45" dirty="0">
                <a:latin typeface="Courier New"/>
                <a:cs typeface="Courier New"/>
              </a:rPr>
              <a:t>Introduction/overview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57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the</a:t>
            </a:r>
            <a:endParaRPr sz="2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Courier New"/>
                <a:cs typeface="Courier New"/>
              </a:rPr>
              <a:t>project.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AutoNum type="arabicPeriod" startAt="2"/>
              <a:tabLst>
                <a:tab pos="469265" algn="l"/>
              </a:tabLst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organization.</a:t>
            </a:r>
            <a:endParaRPr sz="2000">
              <a:latin typeface="Courier New"/>
              <a:cs typeface="Courier New"/>
            </a:endParaRPr>
          </a:p>
          <a:p>
            <a:pPr marL="467995" marR="5080" indent="-455930">
              <a:lnSpc>
                <a:spcPct val="150000"/>
              </a:lnSpc>
              <a:buAutoNum type="arabicPeriod" startAt="2"/>
              <a:tabLst>
                <a:tab pos="469265" algn="l"/>
              </a:tabLst>
            </a:pP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technical 	</a:t>
            </a:r>
            <a:r>
              <a:rPr sz="2000" spc="-20" dirty="0">
                <a:latin typeface="Courier New"/>
                <a:cs typeface="Courier New"/>
              </a:rPr>
              <a:t>processes</a:t>
            </a:r>
            <a:r>
              <a:rPr sz="2000" spc="-4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(including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 	</a:t>
            </a:r>
            <a:r>
              <a:rPr sz="2000" spc="-20" dirty="0">
                <a:latin typeface="Courier New"/>
                <a:cs typeface="Courier New"/>
              </a:rPr>
              <a:t>lifecycle</a:t>
            </a:r>
            <a:r>
              <a:rPr sz="2000" spc="-5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description</a:t>
            </a:r>
            <a:r>
              <a:rPr sz="2000" spc="-57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and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5408" y="3606070"/>
            <a:ext cx="5130800" cy="27692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295"/>
              </a:spcBef>
            </a:pPr>
            <a:r>
              <a:rPr sz="2000" spc="-10" dirty="0">
                <a:latin typeface="Courier New"/>
                <a:cs typeface="Courier New"/>
              </a:rPr>
              <a:t>development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approach,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as</a:t>
            </a:r>
            <a:endParaRPr sz="200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Courier New"/>
                <a:cs typeface="Courier New"/>
              </a:rPr>
              <a:t>applicable).</a:t>
            </a:r>
            <a:endParaRPr sz="2000">
              <a:latin typeface="Courier New"/>
              <a:cs typeface="Courier New"/>
            </a:endParaRPr>
          </a:p>
          <a:p>
            <a:pPr marL="468630" indent="-455930">
              <a:lnSpc>
                <a:spcPct val="100000"/>
              </a:lnSpc>
              <a:spcBef>
                <a:spcPts val="1205"/>
              </a:spcBef>
              <a:buAutoNum type="arabicPeriod" startAt="4"/>
              <a:tabLst>
                <a:tab pos="468630" algn="l"/>
              </a:tabLst>
            </a:pPr>
            <a:r>
              <a:rPr sz="2000" spc="-10" dirty="0">
                <a:latin typeface="Courier New"/>
                <a:cs typeface="Courier New"/>
              </a:rPr>
              <a:t>Work</a:t>
            </a:r>
            <a:r>
              <a:rPr sz="2000" spc="-57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to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be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performed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(scope).</a:t>
            </a:r>
            <a:endParaRPr sz="2000">
              <a:latin typeface="Courier New"/>
              <a:cs typeface="Courier New"/>
            </a:endParaRPr>
          </a:p>
          <a:p>
            <a:pPr marL="468630" indent="-455930">
              <a:lnSpc>
                <a:spcPct val="100000"/>
              </a:lnSpc>
              <a:spcBef>
                <a:spcPts val="1200"/>
              </a:spcBef>
              <a:buAutoNum type="arabicPeriod" startAt="4"/>
              <a:tabLst>
                <a:tab pos="468630" algn="l"/>
              </a:tabLst>
            </a:pPr>
            <a:r>
              <a:rPr sz="2000" spc="-10" dirty="0">
                <a:latin typeface="Courier New"/>
                <a:cs typeface="Courier New"/>
              </a:rPr>
              <a:t>Schedule</a:t>
            </a:r>
            <a:r>
              <a:rPr sz="2000" spc="-5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and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budget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information.</a:t>
            </a:r>
            <a:endParaRPr sz="2000">
              <a:latin typeface="Courier New"/>
              <a:cs typeface="Courier New"/>
            </a:endParaRPr>
          </a:p>
          <a:p>
            <a:pPr marL="469265" marR="768350" indent="-457200">
              <a:lnSpc>
                <a:spcPts val="3600"/>
              </a:lnSpc>
              <a:spcBef>
                <a:spcPts val="120"/>
              </a:spcBef>
              <a:buAutoNum type="arabicPeriod" startAt="4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References</a:t>
            </a:r>
            <a:r>
              <a:rPr sz="2000" spc="-56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to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other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 planning</a:t>
            </a:r>
            <a:r>
              <a:rPr sz="2000" spc="-5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documents.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25" dirty="0"/>
              <a:t> </a:t>
            </a:r>
            <a:r>
              <a:rPr spc="-10" dirty="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40030" y="1792224"/>
            <a:ext cx="11859260" cy="4552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1255" marR="52069" indent="-227329" algn="just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execution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involves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managing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performing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work 	</a:t>
            </a:r>
            <a:r>
              <a:rPr sz="2400" spc="-10" dirty="0">
                <a:latin typeface="Courier New"/>
                <a:cs typeface="Courier New"/>
              </a:rPr>
              <a:t>described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plan.</a:t>
            </a:r>
            <a:endParaRPr sz="2400" dirty="0">
              <a:latin typeface="Courier New"/>
              <a:cs typeface="Courier New"/>
            </a:endParaRPr>
          </a:p>
          <a:p>
            <a:pPr marL="1151255" indent="-227329" algn="just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1151255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majority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money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usually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spent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execution.</a:t>
            </a:r>
            <a:endParaRPr sz="2400" dirty="0">
              <a:latin typeface="Courier New"/>
              <a:cs typeface="Courier New"/>
            </a:endParaRPr>
          </a:p>
          <a:p>
            <a:pPr marL="1151255" marR="55244" indent="-227329" algn="just">
              <a:lnSpc>
                <a:spcPct val="140100"/>
              </a:lnSpc>
              <a:spcBef>
                <a:spcPts val="98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application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area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directly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affects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 	</a:t>
            </a:r>
            <a:r>
              <a:rPr sz="2400" dirty="0">
                <a:latin typeface="Courier New"/>
                <a:cs typeface="Courier New"/>
              </a:rPr>
              <a:t>execution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because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products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produced 	during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execution.</a:t>
            </a:r>
            <a:endParaRPr sz="2400" dirty="0">
              <a:latin typeface="Courier New"/>
              <a:cs typeface="Courier New"/>
            </a:endParaRPr>
          </a:p>
          <a:p>
            <a:pPr marL="1151255" indent="-227329" algn="just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1151255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planning</a:t>
            </a:r>
            <a:r>
              <a:rPr sz="2400" spc="2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22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execution</a:t>
            </a:r>
            <a:r>
              <a:rPr sz="2400" spc="26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22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intertwined</a:t>
            </a:r>
            <a:r>
              <a:rPr sz="2400" spc="30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</a:t>
            </a:r>
            <a:endParaRPr sz="2400" dirty="0">
              <a:latin typeface="Courier New"/>
              <a:cs typeface="Courier New"/>
            </a:endParaRPr>
          </a:p>
          <a:p>
            <a:pPr marL="1152525">
              <a:lnSpc>
                <a:spcPct val="100000"/>
              </a:lnSpc>
              <a:spcBef>
                <a:spcPts val="1155"/>
              </a:spcBef>
            </a:pPr>
            <a:r>
              <a:rPr sz="2400" spc="-10" dirty="0">
                <a:latin typeface="Courier New"/>
                <a:cs typeface="Courier New"/>
              </a:rPr>
              <a:t>inseparable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activities</a:t>
            </a:r>
            <a:r>
              <a:rPr sz="2400" spc="-10" dirty="0" smtClean="0">
                <a:latin typeface="Courier New"/>
                <a:cs typeface="Courier New"/>
              </a:rPr>
              <a:t>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Project</a:t>
            </a:r>
            <a:r>
              <a:rPr spc="-1225" dirty="0"/>
              <a:t> </a:t>
            </a:r>
            <a:r>
              <a:rPr spc="-10" dirty="0"/>
              <a:t>Execution</a:t>
            </a:r>
            <a:r>
              <a:rPr spc="-1270" dirty="0"/>
              <a:t> </a:t>
            </a:r>
            <a:r>
              <a:rPr spc="-10" dirty="0"/>
              <a:t>Tools</a:t>
            </a:r>
            <a:r>
              <a:rPr spc="-1295" dirty="0"/>
              <a:t> </a:t>
            </a:r>
            <a:r>
              <a:rPr spc="-25" dirty="0"/>
              <a:t>and </a:t>
            </a:r>
            <a:r>
              <a:rPr spc="-10" dirty="0"/>
              <a:t>Techniques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/>
              <a:t>This</a:t>
            </a:r>
            <a:r>
              <a:rPr spc="-55" dirty="0"/>
              <a:t> </a:t>
            </a:r>
            <a:r>
              <a:rPr dirty="0"/>
              <a:t>Presentation</a:t>
            </a:r>
            <a:r>
              <a:rPr spc="-7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mainly</a:t>
            </a:r>
            <a:r>
              <a:rPr spc="-30" dirty="0"/>
              <a:t> </a:t>
            </a:r>
            <a:r>
              <a:rPr dirty="0"/>
              <a:t>dependent</a:t>
            </a:r>
            <a:r>
              <a:rPr spc="-70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textbook: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25" dirty="0"/>
              <a:t> </a:t>
            </a:r>
            <a:r>
              <a:rPr dirty="0"/>
              <a:t>technology:</a:t>
            </a:r>
            <a:r>
              <a:rPr spc="-60" dirty="0"/>
              <a:t> </a:t>
            </a:r>
            <a:r>
              <a:rPr dirty="0"/>
              <a:t>Project</a:t>
            </a:r>
            <a:r>
              <a:rPr spc="20" dirty="0"/>
              <a:t> </a:t>
            </a:r>
            <a:r>
              <a:rPr spc="-10" dirty="0"/>
              <a:t>management</a:t>
            </a:r>
            <a:r>
              <a:rPr spc="-5" dirty="0"/>
              <a:t> </a:t>
            </a:r>
            <a:r>
              <a:rPr dirty="0"/>
              <a:t>(9th</a:t>
            </a:r>
            <a:r>
              <a:rPr spc="-20" dirty="0"/>
              <a:t> </a:t>
            </a:r>
            <a:r>
              <a:rPr dirty="0"/>
              <a:t>edition)</a:t>
            </a:r>
            <a:r>
              <a:rPr spc="-85" dirty="0"/>
              <a:t> </a:t>
            </a:r>
            <a:r>
              <a:rPr dirty="0"/>
              <a:t>by</a:t>
            </a:r>
            <a:r>
              <a:rPr spc="-5" dirty="0"/>
              <a:t> </a:t>
            </a:r>
            <a:r>
              <a:rPr dirty="0"/>
              <a:t>Schwalbe,</a:t>
            </a:r>
            <a:r>
              <a:rPr spc="-20" dirty="0"/>
              <a:t> </a:t>
            </a:r>
            <a:r>
              <a:rPr spc="-25" dirty="0"/>
              <a:t>K.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3996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079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Expert</a:t>
            </a:r>
            <a:r>
              <a:rPr sz="2400" u="heavy" spc="-3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u="heavy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judgment:</a:t>
            </a:r>
            <a:r>
              <a:rPr sz="2400" u="heavy" spc="-3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experts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can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help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managers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their 	teams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make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many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decisions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related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execution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Project</a:t>
            </a:r>
            <a:r>
              <a:rPr sz="2400" u="heavy" spc="-3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u="heavy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management</a:t>
            </a:r>
            <a:r>
              <a:rPr sz="2400" u="heavy" spc="-3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u="heavy" spc="-3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information</a:t>
            </a:r>
            <a:r>
              <a:rPr sz="2400" u="heavy" spc="-28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systems:</a:t>
            </a:r>
            <a:r>
              <a:rPr sz="2400" u="heavy" spc="-30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there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are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hundreds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management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software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products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available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market 	</a:t>
            </a:r>
            <a:r>
              <a:rPr sz="2400" dirty="0">
                <a:latin typeface="Courier New"/>
                <a:cs typeface="Courier New"/>
              </a:rPr>
              <a:t>today,</a:t>
            </a:r>
            <a:r>
              <a:rPr sz="2400" spc="4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43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many</a:t>
            </a:r>
            <a:r>
              <a:rPr sz="2400" spc="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organizations</a:t>
            </a:r>
            <a:r>
              <a:rPr sz="2400" spc="43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4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moving</a:t>
            </a:r>
            <a:r>
              <a:rPr sz="2400" spc="45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toward</a:t>
            </a:r>
            <a:r>
              <a:rPr sz="2400" spc="3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powerful 	</a:t>
            </a:r>
            <a:r>
              <a:rPr sz="2400" spc="-20" dirty="0">
                <a:latin typeface="Courier New"/>
                <a:cs typeface="Courier New"/>
              </a:rPr>
              <a:t>enterprise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project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management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systems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that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are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accessible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via 	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Internet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Directing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295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3424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Project</a:t>
            </a:r>
            <a:r>
              <a:rPr spc="3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managers</a:t>
            </a:r>
            <a:r>
              <a:rPr spc="5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must</a:t>
            </a:r>
            <a:r>
              <a:rPr spc="3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lead</a:t>
            </a:r>
            <a:r>
              <a:rPr spc="3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3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example</a:t>
            </a:r>
            <a:r>
              <a:rPr spc="4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3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demonstrate</a:t>
            </a:r>
            <a:r>
              <a:rPr spc="46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spc="-10" dirty="0">
                <a:solidFill>
                  <a:schemeClr val="bg1"/>
                </a:solidFill>
              </a:rPr>
              <a:t>importance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of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creating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then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following</a:t>
            </a:r>
            <a:r>
              <a:rPr spc="-7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good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plans.</a:t>
            </a: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Organizational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culture</a:t>
            </a:r>
            <a:r>
              <a:rPr spc="-7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can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help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execution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by:</a:t>
            </a: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Providing</a:t>
            </a:r>
            <a:r>
              <a:rPr sz="2400" spc="-6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guidelines</a:t>
            </a:r>
            <a:r>
              <a:rPr sz="2400" spc="-7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and</a:t>
            </a:r>
            <a:r>
              <a:rPr sz="2400" spc="-7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templates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Tracking</a:t>
            </a:r>
            <a:r>
              <a:rPr sz="2400" spc="-6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performance</a:t>
            </a:r>
            <a:r>
              <a:rPr sz="2400" spc="-75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based</a:t>
            </a:r>
            <a:r>
              <a:rPr sz="2400" spc="-7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on</a:t>
            </a:r>
            <a:r>
              <a:rPr sz="2400" spc="-7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plans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Directing</a:t>
            </a:r>
            <a:r>
              <a:rPr spc="-1225" dirty="0"/>
              <a:t> </a:t>
            </a:r>
            <a:r>
              <a:rPr spc="-10" dirty="0"/>
              <a:t>and</a:t>
            </a:r>
            <a:r>
              <a:rPr spc="-1270" dirty="0"/>
              <a:t> </a:t>
            </a:r>
            <a:r>
              <a:rPr spc="-10" dirty="0"/>
              <a:t>Managing</a:t>
            </a:r>
            <a:r>
              <a:rPr spc="-1295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357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7145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Changes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are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inevitable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on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most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projects,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so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it’s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important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spc="-10" dirty="0">
                <a:latin typeface="Courier New"/>
                <a:cs typeface="Courier New"/>
              </a:rPr>
              <a:t>develop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monitor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Monitoring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work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includes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collecting,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measuring,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disseminating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performance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endParaRPr sz="2400">
              <a:latin typeface="Courier New"/>
              <a:cs typeface="Courier New"/>
            </a:endParaRPr>
          </a:p>
          <a:p>
            <a:pPr marL="240029" marR="7620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5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baseline</a:t>
            </a:r>
            <a:r>
              <a:rPr sz="2400" spc="5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50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5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approved</a:t>
            </a:r>
            <a:r>
              <a:rPr sz="2400" spc="5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5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4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plan</a:t>
            </a:r>
            <a:r>
              <a:rPr sz="2400" spc="-405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plus 	</a:t>
            </a:r>
            <a:r>
              <a:rPr sz="2400" spc="-10" dirty="0">
                <a:latin typeface="Courier New"/>
                <a:cs typeface="Courier New"/>
              </a:rPr>
              <a:t>approved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Change</a:t>
            </a:r>
            <a:r>
              <a:rPr spc="-1240" dirty="0"/>
              <a:t> </a:t>
            </a:r>
            <a:r>
              <a:rPr spc="-10" dirty="0"/>
              <a:t>Control</a:t>
            </a:r>
            <a:r>
              <a:rPr spc="-1265" dirty="0"/>
              <a:t> </a:t>
            </a:r>
            <a:r>
              <a:rPr spc="-10" dirty="0"/>
              <a:t>on</a:t>
            </a:r>
            <a:r>
              <a:rPr spc="-1295" dirty="0"/>
              <a:t> </a:t>
            </a:r>
            <a:r>
              <a:rPr spc="-10" dirty="0"/>
              <a:t>Information Technology</a:t>
            </a:r>
            <a:r>
              <a:rPr spc="-1230" dirty="0"/>
              <a:t> </a:t>
            </a:r>
            <a:r>
              <a:rPr spc="-10" dirty="0"/>
              <a:t>Projects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7870" cy="443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Former</a:t>
            </a:r>
            <a:r>
              <a:rPr sz="2200" b="1" spc="-8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view: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project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team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should</a:t>
            </a:r>
            <a:r>
              <a:rPr sz="2200" spc="-45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strive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to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do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exactly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what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was </a:t>
            </a:r>
            <a:r>
              <a:rPr sz="2200" spc="-10" dirty="0">
                <a:latin typeface="Courier New"/>
                <a:cs typeface="Courier New"/>
              </a:rPr>
              <a:t>planned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time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within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budget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1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ourier New"/>
                <a:cs typeface="Courier New"/>
              </a:rPr>
              <a:t>Problem: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stakeholders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rarely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agreed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up-</a:t>
            </a:r>
            <a:r>
              <a:rPr sz="2200" spc="-10" dirty="0">
                <a:latin typeface="Courier New"/>
                <a:cs typeface="Courier New"/>
              </a:rPr>
              <a:t>front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on</a:t>
            </a:r>
            <a:r>
              <a:rPr sz="2200" spc="-44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the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scope,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time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cost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estimates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were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inaccurate.</a:t>
            </a:r>
            <a:endParaRPr sz="2200">
              <a:latin typeface="Courier New"/>
              <a:cs typeface="Courier New"/>
            </a:endParaRPr>
          </a:p>
          <a:p>
            <a:pPr marL="241300" marR="6985" indent="-228600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Modern</a:t>
            </a:r>
            <a:r>
              <a:rPr sz="2200" b="1" spc="-30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view:</a:t>
            </a:r>
            <a:r>
              <a:rPr sz="2200" b="1" spc="-4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5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management</a:t>
            </a:r>
            <a:r>
              <a:rPr sz="2200" spc="-14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5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process</a:t>
            </a:r>
            <a:r>
              <a:rPr sz="2200" spc="-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5" dirty="0">
                <a:latin typeface="Courier New"/>
                <a:cs typeface="Courier New"/>
              </a:rPr>
              <a:t>  </a:t>
            </a:r>
            <a:r>
              <a:rPr sz="2200" spc="-20" dirty="0">
                <a:latin typeface="Courier New"/>
                <a:cs typeface="Courier New"/>
              </a:rPr>
              <a:t>constant </a:t>
            </a:r>
            <a:r>
              <a:rPr sz="2200" spc="-10" dirty="0">
                <a:latin typeface="Courier New"/>
                <a:cs typeface="Courier New"/>
              </a:rPr>
              <a:t>communication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negotiation.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latin typeface="Courier New"/>
                <a:cs typeface="Courier New"/>
              </a:rPr>
              <a:t>Solution:</a:t>
            </a:r>
            <a:r>
              <a:rPr sz="2200" b="1" spc="-36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changes</a:t>
            </a:r>
            <a:r>
              <a:rPr sz="2200" spc="-385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are</a:t>
            </a:r>
            <a:r>
              <a:rPr sz="2200" spc="-36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often</a:t>
            </a:r>
            <a:r>
              <a:rPr sz="2200" spc="-38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beneficial,</a:t>
            </a:r>
            <a:r>
              <a:rPr sz="2200" spc="-36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and</a:t>
            </a:r>
            <a:r>
              <a:rPr sz="2200" spc="-40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the</a:t>
            </a:r>
            <a:r>
              <a:rPr sz="2200" spc="-409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project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team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should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325"/>
              </a:spcBef>
            </a:pPr>
            <a:r>
              <a:rPr sz="2200" spc="-10" dirty="0">
                <a:latin typeface="Courier New"/>
                <a:cs typeface="Courier New"/>
              </a:rPr>
              <a:t>plan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them.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Change</a:t>
            </a:r>
            <a:r>
              <a:rPr spc="-1240" dirty="0"/>
              <a:t> </a:t>
            </a:r>
            <a:r>
              <a:rPr spc="-10" dirty="0"/>
              <a:t>Control</a:t>
            </a:r>
            <a:r>
              <a:rPr spc="-126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52730" y="1783079"/>
            <a:ext cx="11859895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3955" marR="4000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65225" algn="l"/>
              </a:tabLst>
            </a:pPr>
            <a:r>
              <a:rPr sz="2400" dirty="0">
                <a:latin typeface="Courier New"/>
                <a:cs typeface="Courier New"/>
              </a:rPr>
              <a:t>Change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Control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System</a:t>
            </a:r>
            <a:r>
              <a:rPr sz="2400" spc="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formal,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documented</a:t>
            </a:r>
            <a:r>
              <a:rPr sz="2400" spc="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process</a:t>
            </a:r>
            <a:r>
              <a:rPr sz="2400" spc="8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that 	</a:t>
            </a:r>
            <a:r>
              <a:rPr sz="2400" spc="-25" dirty="0">
                <a:latin typeface="Courier New"/>
                <a:cs typeface="Courier New"/>
              </a:rPr>
              <a:t>describes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when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and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40" dirty="0">
                <a:latin typeface="Courier New"/>
                <a:cs typeface="Courier New"/>
              </a:rPr>
              <a:t>how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official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project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documents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and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work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may 	</a:t>
            </a:r>
            <a:r>
              <a:rPr sz="2400" spc="-160" dirty="0">
                <a:latin typeface="Courier New"/>
                <a:cs typeface="Courier New"/>
              </a:rPr>
              <a:t>be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changed,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and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describes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185" dirty="0">
                <a:latin typeface="Courier New"/>
                <a:cs typeface="Courier New"/>
              </a:rPr>
              <a:t>who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spc="-350" dirty="0">
                <a:latin typeface="Courier New"/>
                <a:cs typeface="Courier New"/>
              </a:rPr>
              <a:t>is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authorized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350" dirty="0">
                <a:latin typeface="Courier New"/>
                <a:cs typeface="Courier New"/>
              </a:rPr>
              <a:t>to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make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changes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make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them.</a:t>
            </a:r>
            <a:endParaRPr sz="2400" dirty="0">
              <a:latin typeface="Courier New"/>
              <a:cs typeface="Courier New"/>
            </a:endParaRPr>
          </a:p>
          <a:p>
            <a:pPr marL="1163955" marR="43180" indent="-227329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1165225" algn="l"/>
              </a:tabLst>
            </a:pPr>
            <a:r>
              <a:rPr sz="2400" dirty="0">
                <a:latin typeface="Courier New"/>
                <a:cs typeface="Courier New"/>
              </a:rPr>
              <a:t>Change</a:t>
            </a:r>
            <a:r>
              <a:rPr sz="2400" spc="-3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Control</a:t>
            </a:r>
            <a:r>
              <a:rPr sz="2400" spc="-3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Board</a:t>
            </a:r>
            <a:r>
              <a:rPr sz="2400" spc="-3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(CCB)</a:t>
            </a:r>
            <a:r>
              <a:rPr sz="2400" spc="-3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0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formal</a:t>
            </a:r>
            <a:r>
              <a:rPr sz="2400" spc="-3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group</a:t>
            </a:r>
            <a:r>
              <a:rPr sz="2400" spc="-36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36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people 	responsible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approving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rejecting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 dirty="0">
              <a:latin typeface="Courier New"/>
              <a:cs typeface="Courier New"/>
            </a:endParaRPr>
          </a:p>
          <a:p>
            <a:pPr marL="1163955" marR="40005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1165225" algn="l"/>
              </a:tabLst>
            </a:pPr>
            <a:r>
              <a:rPr sz="2400" dirty="0">
                <a:latin typeface="Courier New"/>
                <a:cs typeface="Courier New"/>
              </a:rPr>
              <a:t>CCBs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provide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guidelines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preparing</a:t>
            </a:r>
            <a:r>
              <a:rPr sz="2400" spc="-2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change</a:t>
            </a:r>
            <a:r>
              <a:rPr sz="2400" spc="-31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requests, 	</a:t>
            </a:r>
            <a:r>
              <a:rPr sz="2400" dirty="0">
                <a:latin typeface="Courier New"/>
                <a:cs typeface="Courier New"/>
              </a:rPr>
              <a:t>evaluate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change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requests,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</a:t>
            </a:r>
            <a:r>
              <a:rPr sz="2400" spc="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implementation</a:t>
            </a:r>
            <a:r>
              <a:rPr sz="2400" spc="120" dirty="0">
                <a:latin typeface="Courier New"/>
                <a:cs typeface="Courier New"/>
              </a:rPr>
              <a:t> </a:t>
            </a:r>
            <a:r>
              <a:rPr sz="2400" spc="-25" dirty="0" smtClean="0">
                <a:latin typeface="Courier New"/>
                <a:cs typeface="Courier New"/>
              </a:rPr>
              <a:t>of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Integrated</a:t>
            </a:r>
            <a:r>
              <a:rPr spc="-1225" dirty="0"/>
              <a:t> </a:t>
            </a:r>
            <a:r>
              <a:rPr spc="-10" dirty="0"/>
              <a:t>Change</a:t>
            </a:r>
            <a:r>
              <a:rPr spc="-1270" dirty="0"/>
              <a:t> </a:t>
            </a:r>
            <a:r>
              <a:rPr spc="-10" dirty="0"/>
              <a:t>Control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3286924"/>
          </a:xfrm>
          <a:prstGeom prst="rect">
            <a:avLst/>
          </a:prstGeom>
        </p:spPr>
        <p:txBody>
          <a:bodyPr vert="horz" wrap="square" lIns="0" tIns="186816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Three</a:t>
            </a:r>
            <a:r>
              <a:rPr spc="-6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main</a:t>
            </a:r>
            <a:r>
              <a:rPr spc="-7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objectives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are: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Influencing</a:t>
            </a:r>
            <a:r>
              <a:rPr sz="2400" spc="-3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6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3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35" dirty="0">
                <a:solidFill>
                  <a:schemeClr val="bg1"/>
                </a:solidFill>
                <a:latin typeface="Courier New"/>
                <a:cs typeface="Courier New"/>
              </a:rPr>
              <a:t>factors</a:t>
            </a:r>
            <a:r>
              <a:rPr sz="2400" spc="-3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55" dirty="0">
                <a:solidFill>
                  <a:schemeClr val="bg1"/>
                </a:solidFill>
                <a:latin typeface="Courier New"/>
                <a:cs typeface="Courier New"/>
              </a:rPr>
              <a:t>that</a:t>
            </a:r>
            <a:r>
              <a:rPr sz="2400" spc="-3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0" dirty="0">
                <a:solidFill>
                  <a:schemeClr val="bg1"/>
                </a:solidFill>
                <a:latin typeface="Courier New"/>
                <a:cs typeface="Courier New"/>
              </a:rPr>
              <a:t>create</a:t>
            </a:r>
            <a:r>
              <a:rPr sz="2400" spc="-3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Courier New"/>
                <a:cs typeface="Courier New"/>
              </a:rPr>
              <a:t>changes</a:t>
            </a:r>
            <a:r>
              <a:rPr sz="2400" spc="-2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5" dirty="0">
                <a:solidFill>
                  <a:schemeClr val="bg1"/>
                </a:solidFill>
                <a:latin typeface="Courier New"/>
                <a:cs typeface="Courier New"/>
              </a:rPr>
              <a:t>to</a:t>
            </a:r>
            <a:r>
              <a:rPr sz="2400" spc="-3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ensure</a:t>
            </a:r>
            <a:r>
              <a:rPr sz="2400" spc="-2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20" dirty="0">
                <a:solidFill>
                  <a:schemeClr val="bg1"/>
                </a:solidFill>
                <a:latin typeface="Courier New"/>
                <a:cs typeface="Courier New"/>
              </a:rPr>
              <a:t>that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pc="-10" dirty="0">
                <a:solidFill>
                  <a:schemeClr val="bg1"/>
                </a:solidFill>
              </a:rPr>
              <a:t>changes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-7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beneficial</a:t>
            </a:r>
          </a:p>
          <a:p>
            <a:pPr marL="735965" lvl="1" indent="-266700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Determining</a:t>
            </a:r>
            <a:r>
              <a:rPr sz="2400" spc="-7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that</a:t>
            </a:r>
            <a:r>
              <a:rPr sz="2400" spc="-7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sz="2400" spc="-7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change</a:t>
            </a:r>
            <a:r>
              <a:rPr sz="2400" spc="-7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has</a:t>
            </a:r>
            <a:r>
              <a:rPr sz="2400" spc="-7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occurred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Managing</a:t>
            </a:r>
            <a:r>
              <a:rPr sz="2400" spc="-70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actual</a:t>
            </a:r>
            <a:r>
              <a:rPr sz="2400" spc="-7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changes</a:t>
            </a:r>
            <a:r>
              <a:rPr sz="2400" spc="-7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as</a:t>
            </a:r>
            <a:r>
              <a:rPr sz="2400" spc="-7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they</a:t>
            </a:r>
            <a:r>
              <a:rPr sz="2400" spc="-7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occur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Configuration</a:t>
            </a:r>
            <a:r>
              <a:rPr spc="-122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40030" y="1783079"/>
            <a:ext cx="11856085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1255" marR="4889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Ensures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descriptions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project’s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products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are 	</a:t>
            </a:r>
            <a:r>
              <a:rPr sz="2400" spc="-10" dirty="0">
                <a:latin typeface="Courier New"/>
                <a:cs typeface="Courier New"/>
              </a:rPr>
              <a:t>correct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complete</a:t>
            </a:r>
            <a:endParaRPr sz="2400" dirty="0">
              <a:latin typeface="Courier New"/>
              <a:cs typeface="Courier New"/>
            </a:endParaRPr>
          </a:p>
          <a:p>
            <a:pPr marL="1151255" marR="4572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Involves</a:t>
            </a:r>
            <a:r>
              <a:rPr sz="2400" spc="-3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identifying</a:t>
            </a:r>
            <a:r>
              <a:rPr sz="2400" spc="-3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controlling</a:t>
            </a:r>
            <a:r>
              <a:rPr sz="2400" spc="-3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functional</a:t>
            </a:r>
            <a:r>
              <a:rPr sz="2400" spc="-31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20" dirty="0">
                <a:latin typeface="Courier New"/>
                <a:cs typeface="Courier New"/>
              </a:rPr>
              <a:t>physical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design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characteristics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of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products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and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their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support 	documentation.</a:t>
            </a:r>
            <a:endParaRPr sz="2400" dirty="0">
              <a:latin typeface="Courier New"/>
              <a:cs typeface="Courier New"/>
            </a:endParaRPr>
          </a:p>
          <a:p>
            <a:pPr marL="1151255" marR="4572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Configuration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specialists</a:t>
            </a:r>
            <a:r>
              <a:rPr sz="2400" spc="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identify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document 	</a:t>
            </a:r>
            <a:r>
              <a:rPr sz="2400" dirty="0">
                <a:latin typeface="Courier New"/>
                <a:cs typeface="Courier New"/>
              </a:rPr>
              <a:t>configuration</a:t>
            </a:r>
            <a:r>
              <a:rPr sz="2400" spc="-2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requirements,</a:t>
            </a:r>
            <a:r>
              <a:rPr sz="2400" spc="-2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control</a:t>
            </a:r>
            <a:r>
              <a:rPr sz="2400" spc="-2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changes,</a:t>
            </a:r>
            <a:r>
              <a:rPr sz="2400" spc="-25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record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dirty="0">
                <a:latin typeface="Courier New"/>
                <a:cs typeface="Courier New"/>
              </a:rPr>
              <a:t>report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changes,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audit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products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verify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conformance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Closing</a:t>
            </a:r>
            <a:r>
              <a:rPr spc="-1225" dirty="0"/>
              <a:t> </a:t>
            </a:r>
            <a:r>
              <a:rPr spc="-10" dirty="0"/>
              <a:t>Projects</a:t>
            </a:r>
            <a:r>
              <a:rPr spc="-1270" dirty="0"/>
              <a:t> </a:t>
            </a:r>
            <a:r>
              <a:rPr spc="-10" dirty="0"/>
              <a:t>and</a:t>
            </a:r>
            <a:r>
              <a:rPr spc="-1295" dirty="0"/>
              <a:t> </a:t>
            </a:r>
            <a:r>
              <a:rPr spc="-10" dirty="0"/>
              <a:t>Phases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370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l</a:t>
            </a:r>
            <a:r>
              <a:rPr sz="2400" spc="-25" dirty="0">
                <a:latin typeface="Courier New"/>
                <a:cs typeface="Courier New"/>
              </a:rPr>
              <a:t>os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p</a:t>
            </a:r>
            <a:r>
              <a:rPr sz="2400" spc="-7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oj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spc="-20" dirty="0">
                <a:latin typeface="Courier New"/>
                <a:cs typeface="Courier New"/>
              </a:rPr>
              <a:t>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ase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y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u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m</a:t>
            </a:r>
            <a:r>
              <a:rPr sz="2400" spc="-125" dirty="0">
                <a:latin typeface="Courier New"/>
                <a:cs typeface="Courier New"/>
              </a:rPr>
              <a:t>u</a:t>
            </a:r>
            <a:r>
              <a:rPr sz="2400" spc="-5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f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nal</a:t>
            </a:r>
            <a:r>
              <a:rPr sz="2400" spc="-5" dirty="0">
                <a:latin typeface="Courier New"/>
                <a:cs typeface="Courier New"/>
              </a:rPr>
              <a:t>iz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a</a:t>
            </a:r>
            <a:r>
              <a:rPr sz="2400" spc="20" dirty="0">
                <a:latin typeface="Courier New"/>
                <a:cs typeface="Courier New"/>
              </a:rPr>
              <a:t>ctivitie</a:t>
            </a:r>
            <a:r>
              <a:rPr sz="2400" dirty="0">
                <a:latin typeface="Courier New"/>
                <a:cs typeface="Courier New"/>
              </a:rPr>
              <a:t>s 	</a:t>
            </a:r>
            <a:r>
              <a:rPr sz="2400" spc="-5" dirty="0">
                <a:latin typeface="Courier New"/>
                <a:cs typeface="Courier New"/>
              </a:rPr>
              <a:t>an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14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an</a:t>
            </a:r>
            <a:r>
              <a:rPr sz="2400" spc="-5" dirty="0">
                <a:latin typeface="Courier New"/>
                <a:cs typeface="Courier New"/>
              </a:rPr>
              <a:t>sf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14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1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14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mp</a:t>
            </a:r>
            <a:r>
              <a:rPr sz="2400" spc="-5" dirty="0">
                <a:latin typeface="Courier New"/>
                <a:cs typeface="Courier New"/>
              </a:rPr>
              <a:t>lete</a:t>
            </a:r>
            <a:r>
              <a:rPr sz="2400" dirty="0">
                <a:latin typeface="Courier New"/>
                <a:cs typeface="Courier New"/>
              </a:rPr>
              <a:t>d  </a:t>
            </a:r>
            <a:r>
              <a:rPr sz="2400" spc="-9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152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c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spc="-25" dirty="0">
                <a:latin typeface="Courier New"/>
                <a:cs typeface="Courier New"/>
              </a:rPr>
              <a:t>ce</a:t>
            </a:r>
            <a:r>
              <a:rPr sz="2400" spc="-5" dirty="0">
                <a:latin typeface="Courier New"/>
                <a:cs typeface="Courier New"/>
              </a:rPr>
              <a:t>ll</a:t>
            </a:r>
            <a:r>
              <a:rPr sz="2400" spc="20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148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w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1650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13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 	</a:t>
            </a:r>
            <a:r>
              <a:rPr sz="2400" spc="-5" dirty="0">
                <a:latin typeface="Courier New"/>
                <a:cs typeface="Courier New"/>
              </a:rPr>
              <a:t>appropriat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peopl</a:t>
            </a:r>
            <a:r>
              <a:rPr sz="2400" dirty="0">
                <a:latin typeface="Courier New"/>
                <a:cs typeface="Courier New"/>
              </a:rPr>
              <a:t>e.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Main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outputs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include: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Final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product,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service,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result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transition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Organizational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process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asset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updates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Using</a:t>
            </a:r>
            <a:r>
              <a:rPr spc="-1220" dirty="0"/>
              <a:t> </a:t>
            </a:r>
            <a:r>
              <a:rPr spc="-10" dirty="0"/>
              <a:t>Software</a:t>
            </a:r>
            <a:r>
              <a:rPr spc="-1275" dirty="0"/>
              <a:t> </a:t>
            </a:r>
            <a:r>
              <a:rPr spc="-10" dirty="0"/>
              <a:t>to</a:t>
            </a:r>
            <a:r>
              <a:rPr spc="-1295" dirty="0"/>
              <a:t> </a:t>
            </a:r>
            <a:r>
              <a:rPr spc="-10" dirty="0"/>
              <a:t>Assist</a:t>
            </a:r>
            <a:r>
              <a:rPr spc="-1295" dirty="0"/>
              <a:t> </a:t>
            </a:r>
            <a:r>
              <a:rPr spc="-10" dirty="0"/>
              <a:t>in</a:t>
            </a:r>
            <a:r>
              <a:rPr spc="-1275" dirty="0"/>
              <a:t> </a:t>
            </a:r>
            <a:r>
              <a:rPr spc="-10" dirty="0"/>
              <a:t>Project Integration</a:t>
            </a:r>
            <a:r>
              <a:rPr spc="-12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9" y="1803196"/>
            <a:ext cx="11751310" cy="453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9820" marR="11430" indent="-226695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1101725" algn="l"/>
              </a:tabLst>
            </a:pPr>
            <a:r>
              <a:rPr sz="2000" dirty="0">
                <a:latin typeface="Courier New"/>
                <a:cs typeface="Courier New"/>
              </a:rPr>
              <a:t>Several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types</a:t>
            </a:r>
            <a:r>
              <a:rPr sz="2000" spc="-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1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software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can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be</a:t>
            </a:r>
            <a:r>
              <a:rPr sz="2000" spc="-1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used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 assist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1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integration 	management: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spc="-20" dirty="0">
                <a:latin typeface="Courier New"/>
                <a:cs typeface="Courier New"/>
              </a:rPr>
              <a:t>Documents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can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created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with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word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processing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software.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spc="-20" dirty="0">
                <a:latin typeface="Courier New"/>
                <a:cs typeface="Courier New"/>
              </a:rPr>
              <a:t>Presentations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created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with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presentation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software.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spc="-20" dirty="0">
                <a:latin typeface="Courier New"/>
                <a:cs typeface="Courier New"/>
              </a:rPr>
              <a:t>Tracking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can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be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done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with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spreadsheets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or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databases.</a:t>
            </a:r>
            <a:endParaRPr sz="2000" dirty="0">
              <a:latin typeface="Courier New"/>
              <a:cs typeface="Courier New"/>
            </a:endParaRPr>
          </a:p>
          <a:p>
            <a:pPr marL="1598295" marR="10795" lvl="1" indent="-268605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spc="-10" dirty="0">
                <a:latin typeface="Courier New"/>
                <a:cs typeface="Courier New"/>
              </a:rPr>
              <a:t>Communication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software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like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e-</a:t>
            </a:r>
            <a:r>
              <a:rPr sz="2000" spc="-20" dirty="0">
                <a:latin typeface="Courier New"/>
                <a:cs typeface="Courier New"/>
              </a:rPr>
              <a:t>mail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and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80" dirty="0">
                <a:latin typeface="Courier New"/>
                <a:cs typeface="Courier New"/>
              </a:rPr>
              <a:t>Web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authoring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tools</a:t>
            </a:r>
            <a:r>
              <a:rPr sz="2000" spc="-2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facilitate communications.</a:t>
            </a:r>
            <a:endParaRPr sz="20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939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1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management</a:t>
            </a:r>
            <a:r>
              <a:rPr sz="2000" spc="1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software</a:t>
            </a:r>
            <a:r>
              <a:rPr sz="2000" spc="1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can</a:t>
            </a:r>
            <a:r>
              <a:rPr sz="2000" spc="1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pull</a:t>
            </a:r>
            <a:r>
              <a:rPr sz="2000" spc="1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everything</a:t>
            </a:r>
            <a:r>
              <a:rPr sz="2000" spc="1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together</a:t>
            </a:r>
            <a:r>
              <a:rPr sz="2000" spc="1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1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show</a:t>
            </a:r>
            <a:endParaRPr sz="2000" dirty="0">
              <a:latin typeface="Courier New"/>
              <a:cs typeface="Courier New"/>
            </a:endParaRPr>
          </a:p>
          <a:p>
            <a:pPr marL="1598295">
              <a:lnSpc>
                <a:spcPct val="100000"/>
              </a:lnSpc>
              <a:spcBef>
                <a:spcPts val="965"/>
              </a:spcBef>
            </a:pPr>
            <a:r>
              <a:rPr sz="2000" spc="-20" dirty="0">
                <a:latin typeface="Courier New"/>
                <a:cs typeface="Courier New"/>
              </a:rPr>
              <a:t>detailed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summarized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information</a:t>
            </a:r>
            <a:r>
              <a:rPr sz="2000" spc="-10" dirty="0" smtClean="0">
                <a:latin typeface="Courier New"/>
                <a:cs typeface="Courier New"/>
              </a:rPr>
              <a:t>.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Chapter</a:t>
            </a:r>
            <a:r>
              <a:rPr spc="-122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44384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integration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involves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coordinating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all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other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knowledge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areas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throughout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project’s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life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cycle.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3192271"/>
            <a:ext cx="4969510" cy="2268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Main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include:</a:t>
            </a:r>
            <a:endParaRPr sz="24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pos="469265" algn="l"/>
              </a:tabLst>
            </a:pPr>
            <a:r>
              <a:rPr sz="2000" spc="-20" dirty="0">
                <a:latin typeface="Courier New"/>
                <a:cs typeface="Courier New"/>
              </a:rPr>
              <a:t>Develop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charter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sz="2000" spc="-20" dirty="0">
                <a:latin typeface="Courier New"/>
                <a:cs typeface="Courier New"/>
              </a:rPr>
              <a:t>Develop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plan</a:t>
            </a:r>
            <a:endParaRPr sz="2000">
              <a:latin typeface="Courier New"/>
              <a:cs typeface="Courier New"/>
            </a:endParaRPr>
          </a:p>
          <a:p>
            <a:pPr marL="467995" marR="921385" indent="-455930">
              <a:lnSpc>
                <a:spcPct val="150100"/>
              </a:lnSpc>
              <a:buAutoNum type="arabicPeriod"/>
              <a:tabLst>
                <a:tab pos="469265" algn="l"/>
              </a:tabLst>
            </a:pPr>
            <a:r>
              <a:rPr sz="2000" spc="-20" dirty="0">
                <a:latin typeface="Courier New"/>
                <a:cs typeface="Courier New"/>
              </a:rPr>
              <a:t>Direct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 	execution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5408" y="3606070"/>
            <a:ext cx="5283835" cy="13970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8630" indent="-455930">
              <a:lnSpc>
                <a:spcPct val="100000"/>
              </a:lnSpc>
              <a:spcBef>
                <a:spcPts val="1295"/>
              </a:spcBef>
              <a:buAutoNum type="arabicPeriod" startAt="4"/>
              <a:tabLst>
                <a:tab pos="468630" algn="l"/>
              </a:tabLst>
            </a:pPr>
            <a:r>
              <a:rPr sz="2000" spc="-10" dirty="0">
                <a:latin typeface="Courier New"/>
                <a:cs typeface="Courier New"/>
              </a:rPr>
              <a:t>Monitor</a:t>
            </a:r>
            <a:r>
              <a:rPr sz="2000" spc="-5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and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control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work</a:t>
            </a:r>
            <a:endParaRPr sz="2000">
              <a:latin typeface="Courier New"/>
              <a:cs typeface="Courier New"/>
            </a:endParaRPr>
          </a:p>
          <a:p>
            <a:pPr marL="468630" indent="-455930">
              <a:lnSpc>
                <a:spcPct val="100000"/>
              </a:lnSpc>
              <a:spcBef>
                <a:spcPts val="1200"/>
              </a:spcBef>
              <a:buAutoNum type="arabicPeriod" startAt="4"/>
              <a:tabLst>
                <a:tab pos="468630" algn="l"/>
              </a:tabLst>
            </a:pPr>
            <a:r>
              <a:rPr sz="2000" spc="-10" dirty="0">
                <a:latin typeface="Courier New"/>
                <a:cs typeface="Courier New"/>
              </a:rPr>
              <a:t>Perform</a:t>
            </a:r>
            <a:r>
              <a:rPr sz="2000" spc="-5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integrated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change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control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AutoNum type="arabicPeriod" startAt="4"/>
              <a:tabLst>
                <a:tab pos="469265" algn="l"/>
              </a:tabLst>
            </a:pPr>
            <a:r>
              <a:rPr sz="2000" spc="-10" dirty="0">
                <a:latin typeface="Courier New"/>
                <a:cs typeface="Courier New"/>
              </a:rPr>
              <a:t>Close</a:t>
            </a:r>
            <a:r>
              <a:rPr sz="2000" spc="-57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or</a:t>
            </a:r>
            <a:r>
              <a:rPr sz="2000" spc="-6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phase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</TotalTime>
  <Words>980</Words>
  <Application>Microsoft Office PowerPoint</Application>
  <PresentationFormat>Custom</PresentationFormat>
  <Paragraphs>207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Apex</vt:lpstr>
      <vt:lpstr>Chapter 4: Project Integration Management</vt:lpstr>
      <vt:lpstr>Contents:</vt:lpstr>
      <vt:lpstr>Week Learning Outcome:</vt:lpstr>
      <vt:lpstr>What is Project Integration Management?</vt:lpstr>
      <vt:lpstr>What is Project Integration Management?</vt:lpstr>
      <vt:lpstr>What is Project Integration Management?</vt:lpstr>
      <vt:lpstr>What is Project Integration Management?</vt:lpstr>
      <vt:lpstr>Strategic Planning and Project Selection</vt:lpstr>
      <vt:lpstr>Strategic Planning and Project</vt:lpstr>
      <vt:lpstr>Strategic Planning and Project Selection Planning process for selecting IT projects</vt:lpstr>
      <vt:lpstr>Strategic Planning and Project Selection</vt:lpstr>
      <vt:lpstr>Strategic Planning and Project Selection</vt:lpstr>
      <vt:lpstr>Strategic Planning and Project Selection</vt:lpstr>
      <vt:lpstr>Strategic Planning and Project Selection</vt:lpstr>
      <vt:lpstr>Strategic Planning and Project Selection</vt:lpstr>
      <vt:lpstr>Strategic Planning and Project Selection</vt:lpstr>
      <vt:lpstr>Strategic Planning and Project Selection</vt:lpstr>
      <vt:lpstr>Strategic Planning and Project Selection</vt:lpstr>
      <vt:lpstr>Strategic Planning and Project Selection</vt:lpstr>
      <vt:lpstr>Strategic Planning and Project Selection</vt:lpstr>
      <vt:lpstr>Strategic Planning and Project Selection</vt:lpstr>
      <vt:lpstr>Strategic Planning and Project Selection Charting the payback period for the JWD Consulting project</vt:lpstr>
      <vt:lpstr>Strategic Planning and Project Selection</vt:lpstr>
      <vt:lpstr>Strategic Planning and Project Selection</vt:lpstr>
      <vt:lpstr>Developing a Project Charter</vt:lpstr>
      <vt:lpstr>Project Management Plans</vt:lpstr>
      <vt:lpstr>Project Management Plans</vt:lpstr>
      <vt:lpstr>Project Execution</vt:lpstr>
      <vt:lpstr>Project Execution Tools and Techniques</vt:lpstr>
      <vt:lpstr>Directing and Managing Project Work</vt:lpstr>
      <vt:lpstr>Directing and Managing Project Work</vt:lpstr>
      <vt:lpstr>Change Control on Information Technology Projects</vt:lpstr>
      <vt:lpstr>Change Control Management</vt:lpstr>
      <vt:lpstr>Integrated Change Control</vt:lpstr>
      <vt:lpstr>Configuration Management</vt:lpstr>
      <vt:lpstr>Closing Projects and Phases</vt:lpstr>
      <vt:lpstr>Using Software to Assist in Project Integration Management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Project Integration Management</dc:title>
  <cp:lastModifiedBy>Rashid</cp:lastModifiedBy>
  <cp:revision>5</cp:revision>
  <dcterms:created xsi:type="dcterms:W3CDTF">2026-09-28T15:53:31Z</dcterms:created>
  <dcterms:modified xsi:type="dcterms:W3CDTF">2026-09-29T11:38:47Z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