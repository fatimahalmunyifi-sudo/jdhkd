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40" smtClean="0"/>
              <a:t> </a:t>
            </a:r>
            <a:r>
              <a:rPr lang="en-US" smtClean="0"/>
              <a:t>Presentation</a:t>
            </a:r>
            <a:r>
              <a:rPr lang="en-US" spc="-60" smtClean="0"/>
              <a:t> </a:t>
            </a:r>
            <a:r>
              <a:rPr lang="en-US" smtClean="0"/>
              <a:t>is</a:t>
            </a:r>
            <a:r>
              <a:rPr lang="en-US" spc="-20" smtClean="0"/>
              <a:t> </a:t>
            </a:r>
            <a:r>
              <a:rPr lang="en-US" smtClean="0"/>
              <a:t>mainly</a:t>
            </a:r>
            <a:r>
              <a:rPr lang="en-US" spc="-45" smtClean="0"/>
              <a:t> </a:t>
            </a:r>
            <a:r>
              <a:rPr lang="en-US" smtClean="0"/>
              <a:t>dependent</a:t>
            </a:r>
            <a:r>
              <a:rPr lang="en-US" spc="-40" smtClean="0"/>
              <a:t> </a:t>
            </a:r>
            <a:r>
              <a:rPr lang="en-US" smtClean="0"/>
              <a:t>on</a:t>
            </a:r>
            <a:r>
              <a:rPr lang="en-US" spc="-40" smtClean="0"/>
              <a:t> </a:t>
            </a:r>
            <a:r>
              <a:rPr lang="en-US" smtClean="0"/>
              <a:t>the</a:t>
            </a:r>
            <a:r>
              <a:rPr lang="en-US" spc="-30" smtClean="0"/>
              <a:t> </a:t>
            </a:r>
            <a:r>
              <a:rPr lang="en-US" smtClean="0"/>
              <a:t>textbook:</a:t>
            </a:r>
            <a:r>
              <a:rPr lang="en-US" spc="-20" smtClean="0"/>
              <a:t> </a:t>
            </a:r>
            <a:r>
              <a:rPr lang="en-US" smtClean="0"/>
              <a:t>Information</a:t>
            </a:r>
            <a:r>
              <a:rPr lang="en-US" spc="-60" smtClean="0"/>
              <a:t> </a:t>
            </a:r>
            <a:r>
              <a:rPr lang="en-US" smtClean="0"/>
              <a:t>technology:</a:t>
            </a:r>
            <a:r>
              <a:rPr lang="en-US" spc="-20" smtClean="0"/>
              <a:t> </a:t>
            </a:r>
            <a:r>
              <a:rPr lang="en-US" smtClean="0"/>
              <a:t>Project</a:t>
            </a:r>
            <a:r>
              <a:rPr lang="en-US" spc="-40" smtClean="0"/>
              <a:t> </a:t>
            </a:r>
            <a:r>
              <a:rPr lang="en-US" spc="-10" smtClean="0"/>
              <a:t>management</a:t>
            </a:r>
            <a:endParaRPr lang="en-US" spc="-1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2129" y="2141635"/>
            <a:ext cx="10384791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Chapter</a:t>
            </a:r>
            <a:r>
              <a:rPr sz="3200" spc="-30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Calibri"/>
                <a:cs typeface="Calibri"/>
              </a:rPr>
              <a:t>2</a:t>
            </a:r>
            <a:r>
              <a:rPr sz="3200" spc="-25" dirty="0" smtClean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endParaRPr sz="320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3200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Project</a:t>
            </a:r>
            <a:r>
              <a:rPr sz="3200" spc="-6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 smtClean="0">
                <a:solidFill>
                  <a:schemeClr val="bg1"/>
                </a:solidFill>
                <a:latin typeface="Calibri"/>
                <a:cs typeface="Calibri"/>
              </a:rPr>
              <a:t>Management</a:t>
            </a:r>
            <a:r>
              <a:rPr sz="3200" spc="-35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and</a:t>
            </a:r>
            <a:r>
              <a:rPr sz="32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Information</a:t>
            </a:r>
            <a:r>
              <a:rPr sz="32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Technology</a:t>
            </a:r>
            <a:r>
              <a:rPr sz="32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Context</a:t>
            </a:r>
            <a:endParaRPr sz="3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965708"/>
            <a:ext cx="6640831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View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Life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Cycles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Context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Information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Week</a:t>
            </a:r>
            <a:r>
              <a:rPr spc="-250" dirty="0"/>
              <a:t> </a:t>
            </a:r>
            <a:r>
              <a:rPr spc="-20" dirty="0"/>
              <a:t>Learning</a:t>
            </a:r>
            <a:r>
              <a:rPr spc="-229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965706"/>
            <a:ext cx="10800715" cy="4208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Describe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spc="-10" dirty="0">
                <a:latin typeface="Arial MT"/>
                <a:cs typeface="Arial MT"/>
              </a:rPr>
              <a:t>Describe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characteristics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organization's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culture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affect 	project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  <a:p>
            <a:pPr marL="240029" marR="778510" indent="-227329">
              <a:lnSpc>
                <a:spcPct val="1501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elements,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purpose,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benefits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using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life-</a:t>
            </a:r>
            <a:r>
              <a:rPr sz="2400" spc="-10" dirty="0">
                <a:latin typeface="Arial MT"/>
                <a:cs typeface="Arial MT"/>
              </a:rPr>
              <a:t>cycle 	phases.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Describe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characteristics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diverse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nature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recent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trends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affect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3"/>
            <a:ext cx="10855960" cy="4000171"/>
          </a:xfrm>
          <a:prstGeom prst="rect">
            <a:avLst/>
          </a:prstGeom>
        </p:spPr>
        <p:txBody>
          <a:bodyPr vert="horz" wrap="square" lIns="0" tIns="17180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Projects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must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operate</a:t>
            </a:r>
            <a:r>
              <a:rPr spc="-1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broad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organizational</a:t>
            </a:r>
            <a:r>
              <a:rPr spc="-8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environment.</a:t>
            </a: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managers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need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use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systems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thinking:</a:t>
            </a:r>
          </a:p>
          <a:p>
            <a:pPr marL="736600" marR="5080" lvl="1" indent="-266700">
              <a:lnSpc>
                <a:spcPct val="150000"/>
              </a:lnSpc>
              <a:spcBef>
                <a:spcPts val="1005"/>
              </a:spcBef>
              <a:buFont typeface="Wingdings"/>
              <a:buChar char=""/>
              <a:tabLst>
                <a:tab pos="736600" algn="l"/>
              </a:tabLst>
            </a:pP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Taking</a:t>
            </a:r>
            <a:r>
              <a:rPr sz="2400" spc="4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2400" spc="4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holistic</a:t>
            </a:r>
            <a:r>
              <a:rPr sz="2400" spc="45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view</a:t>
            </a:r>
            <a:r>
              <a:rPr sz="2400" spc="4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400" spc="40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carrying</a:t>
            </a:r>
            <a:r>
              <a:rPr sz="2400" spc="4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out</a:t>
            </a:r>
            <a:r>
              <a:rPr sz="2400" spc="43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projects</a:t>
            </a:r>
            <a:r>
              <a:rPr sz="2400" spc="4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within</a:t>
            </a:r>
            <a:r>
              <a:rPr sz="2400" spc="4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00" spc="4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context</a:t>
            </a:r>
            <a:r>
              <a:rPr sz="2400" spc="4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400" spc="4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Arial MT"/>
                <a:cs typeface="Arial MT"/>
              </a:rPr>
              <a:t>the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organization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40029" marR="10795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Senior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managers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must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make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sure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projects</a:t>
            </a:r>
            <a:r>
              <a:rPr spc="-1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continue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support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current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business </a:t>
            </a:r>
            <a:r>
              <a:rPr spc="-10" dirty="0" smtClean="0">
                <a:solidFill>
                  <a:schemeClr val="bg1"/>
                </a:solidFill>
              </a:rPr>
              <a:t>needs</a:t>
            </a:r>
            <a:r>
              <a:rPr spc="-1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4"/>
            <a:ext cx="10858500" cy="49468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12700" indent="-227329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5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approach</a:t>
            </a:r>
            <a:r>
              <a:rPr sz="2400" spc="5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emerged</a:t>
            </a:r>
            <a:r>
              <a:rPr sz="2400" spc="5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1950s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50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describe</a:t>
            </a:r>
            <a:r>
              <a:rPr sz="2400" i="1" spc="5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</a:t>
            </a:r>
            <a:r>
              <a:rPr sz="2400" i="1" spc="5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more</a:t>
            </a:r>
            <a:r>
              <a:rPr sz="2400" i="1" spc="52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analytical 	</a:t>
            </a:r>
            <a:r>
              <a:rPr sz="2400" i="1" dirty="0">
                <a:latin typeface="Arial"/>
                <a:cs typeface="Arial"/>
              </a:rPr>
              <a:t>approach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to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management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and</a:t>
            </a:r>
            <a:r>
              <a:rPr sz="2400" i="1" spc="-9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problem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solving.</a:t>
            </a:r>
            <a:endParaRPr sz="2400" dirty="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parts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include:</a:t>
            </a:r>
            <a:endParaRPr sz="2400" dirty="0">
              <a:latin typeface="Arial MT"/>
              <a:cs typeface="Arial MT"/>
            </a:endParaRPr>
          </a:p>
          <a:p>
            <a:pPr marL="963294" marR="5080" lvl="1" indent="-455295">
              <a:lnSpc>
                <a:spcPct val="150100"/>
              </a:lnSpc>
              <a:spcBef>
                <a:spcPts val="1005"/>
              </a:spcBef>
              <a:buAutoNum type="arabicPeriod"/>
              <a:tabLst>
                <a:tab pos="965200" algn="l"/>
              </a:tabLst>
            </a:pP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philosophy:</a:t>
            </a:r>
            <a:r>
              <a:rPr sz="2400" spc="10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overall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model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thinking</a:t>
            </a:r>
            <a:r>
              <a:rPr sz="2400" spc="1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things</a:t>
            </a:r>
            <a:r>
              <a:rPr sz="2400" spc="100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as 	</a:t>
            </a:r>
            <a:r>
              <a:rPr sz="2400" spc="-10" dirty="0">
                <a:latin typeface="Arial MT"/>
                <a:cs typeface="Arial MT"/>
              </a:rPr>
              <a:t>systems</a:t>
            </a:r>
            <a:endParaRPr sz="2400" dirty="0">
              <a:latin typeface="Arial MT"/>
              <a:cs typeface="Arial MT"/>
            </a:endParaRPr>
          </a:p>
          <a:p>
            <a:pPr marL="963294" lvl="1" indent="-455295">
              <a:lnSpc>
                <a:spcPct val="100000"/>
              </a:lnSpc>
              <a:spcBef>
                <a:spcPts val="2435"/>
              </a:spcBef>
              <a:buAutoNum type="arabicPeriod"/>
              <a:tabLst>
                <a:tab pos="963294" algn="l"/>
              </a:tabLst>
            </a:pP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analysis: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problem-</a:t>
            </a:r>
            <a:r>
              <a:rPr sz="2400" spc="-10" dirty="0">
                <a:latin typeface="Arial MT"/>
                <a:cs typeface="Arial MT"/>
              </a:rPr>
              <a:t>solving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</a:t>
            </a:r>
            <a:endParaRPr sz="2400" dirty="0">
              <a:latin typeface="Arial MT"/>
              <a:cs typeface="Arial MT"/>
            </a:endParaRPr>
          </a:p>
          <a:p>
            <a:pPr marL="963294" marR="5080" lvl="1" indent="-455295">
              <a:lnSpc>
                <a:spcPct val="150000"/>
              </a:lnSpc>
              <a:spcBef>
                <a:spcPts val="1000"/>
              </a:spcBef>
              <a:buAutoNum type="arabicPeriod"/>
              <a:tabLst>
                <a:tab pos="965200" algn="l"/>
                <a:tab pos="2559050" algn="l"/>
                <a:tab pos="4839335" algn="l"/>
                <a:tab pos="6343650" algn="l"/>
                <a:tab pos="8049895" algn="l"/>
                <a:tab pos="10335895" algn="l"/>
              </a:tabLst>
            </a:pPr>
            <a:r>
              <a:rPr sz="2400" spc="-10" dirty="0">
                <a:latin typeface="Arial MT"/>
                <a:cs typeface="Arial MT"/>
              </a:rPr>
              <a:t>Systems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management: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address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business,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technological,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issues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before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making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changes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systems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3048" y="200784"/>
            <a:ext cx="3129280" cy="2075568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/>
              <a:t>A</a:t>
            </a:r>
            <a:r>
              <a:rPr sz="3600" spc="-190" dirty="0"/>
              <a:t> </a:t>
            </a:r>
            <a:r>
              <a:rPr sz="3600" spc="-10" dirty="0"/>
              <a:t>Systems </a:t>
            </a:r>
            <a:r>
              <a:rPr sz="3600" dirty="0"/>
              <a:t>View</a:t>
            </a:r>
            <a:r>
              <a:rPr sz="3600" spc="590" dirty="0"/>
              <a:t> </a:t>
            </a:r>
            <a:r>
              <a:rPr sz="3600" dirty="0"/>
              <a:t>of</a:t>
            </a:r>
            <a:r>
              <a:rPr sz="3600" spc="-195" dirty="0"/>
              <a:t> </a:t>
            </a:r>
            <a:r>
              <a:rPr sz="3600" spc="-10" dirty="0"/>
              <a:t>Project Management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12623" y="2861564"/>
            <a:ext cx="272034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25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Three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Sphere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825"/>
              </a:lnSpc>
            </a:pPr>
            <a:r>
              <a:rPr sz="1600" spc="-10" dirty="0">
                <a:latin typeface="Calibri"/>
                <a:cs typeface="Calibri"/>
              </a:rPr>
              <a:t>Management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5655" y="457200"/>
            <a:ext cx="7787640" cy="53995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702875"/>
              </p:ext>
            </p:extLst>
          </p:nvPr>
        </p:nvGraphicFramePr>
        <p:xfrm>
          <a:off x="718045" y="2074291"/>
          <a:ext cx="10951210" cy="3230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75605"/>
                <a:gridCol w="5475605"/>
              </a:tblGrid>
              <a:tr h="16154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Structural</a:t>
                      </a:r>
                      <a:r>
                        <a:rPr sz="2000" b="1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Frame: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91440" marR="16573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Focuses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roles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responsibilities,</a:t>
                      </a:r>
                      <a:r>
                        <a:rPr sz="2000" spc="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coordination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control.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Organization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charts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help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define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this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frame.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Human</a:t>
                      </a:r>
                      <a:r>
                        <a:rPr sz="2000" b="1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Resources</a:t>
                      </a:r>
                      <a:r>
                        <a:rPr sz="2000" b="1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Frame: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92075" marR="297180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Focuses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20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providing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harmony</a:t>
                      </a:r>
                      <a:r>
                        <a:rPr sz="2000" spc="-7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organization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people.</a:t>
                      </a:r>
                      <a:endParaRPr sz="20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5440">
                <a:tc>
                  <a:txBody>
                    <a:bodyPr/>
                    <a:lstStyle/>
                    <a:p>
                      <a:pPr marL="91440" algn="just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Political</a:t>
                      </a:r>
                      <a:r>
                        <a:rPr sz="2000" b="1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Frame: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91440" marR="139065" algn="just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Assumes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organizations</a:t>
                      </a:r>
                      <a:r>
                        <a:rPr sz="2000" spc="-6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coalitions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composed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varied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individuals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groups.</a:t>
                      </a:r>
                      <a:r>
                        <a:rPr sz="20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Conflict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issues.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Symbolic</a:t>
                      </a:r>
                      <a:r>
                        <a:rPr sz="2000" b="1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Frame: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92075" marR="75628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Focuses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20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symbols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meanings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related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events.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Culture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important.</a:t>
                      </a:r>
                      <a:endParaRPr sz="20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965708"/>
            <a:ext cx="10854691" cy="3639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organization’s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structures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can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divided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into:</a:t>
            </a:r>
            <a:endParaRPr sz="2400">
              <a:latin typeface="Arial MT"/>
              <a:cs typeface="Arial MT"/>
            </a:endParaRPr>
          </a:p>
          <a:p>
            <a:pPr marL="963294" lvl="1" indent="-455295">
              <a:lnSpc>
                <a:spcPct val="100000"/>
              </a:lnSpc>
              <a:spcBef>
                <a:spcPts val="2440"/>
              </a:spcBef>
              <a:buAutoNum type="arabicPeriod"/>
              <a:tabLst>
                <a:tab pos="963294" algn="l"/>
              </a:tabLst>
            </a:pPr>
            <a:r>
              <a:rPr sz="2400" spc="-20" dirty="0">
                <a:latin typeface="Arial MT"/>
                <a:cs typeface="Arial MT"/>
              </a:rPr>
              <a:t>Functional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Organizational: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functional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managers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CEO.</a:t>
            </a:r>
            <a:endParaRPr sz="2400">
              <a:latin typeface="Arial MT"/>
              <a:cs typeface="Arial MT"/>
            </a:endParaRPr>
          </a:p>
          <a:p>
            <a:pPr marL="963294" lvl="1" indent="-455295">
              <a:lnSpc>
                <a:spcPct val="100000"/>
              </a:lnSpc>
              <a:spcBef>
                <a:spcPts val="2445"/>
              </a:spcBef>
              <a:buAutoNum type="arabicPeriod"/>
              <a:tabLst>
                <a:tab pos="963294" algn="l"/>
              </a:tabLst>
            </a:pP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Organizational: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managers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CEO.</a:t>
            </a:r>
            <a:endParaRPr sz="2400">
              <a:latin typeface="Arial MT"/>
              <a:cs typeface="Arial MT"/>
            </a:endParaRPr>
          </a:p>
          <a:p>
            <a:pPr marL="963294" lvl="1" indent="-455295">
              <a:lnSpc>
                <a:spcPct val="100000"/>
              </a:lnSpc>
              <a:spcBef>
                <a:spcPts val="2435"/>
              </a:spcBef>
              <a:buAutoNum type="arabicPeriod"/>
              <a:tabLst>
                <a:tab pos="963294" algn="l"/>
              </a:tabLst>
            </a:pP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Organizational:</a:t>
            </a:r>
            <a:r>
              <a:rPr sz="2400" spc="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middle</a:t>
            </a:r>
            <a:r>
              <a:rPr sz="2400" spc="-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ground  between</a:t>
            </a:r>
            <a:r>
              <a:rPr sz="2400" spc="-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functional</a:t>
            </a:r>
            <a:r>
              <a:rPr sz="2400" spc="-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project</a:t>
            </a:r>
            <a:endParaRPr sz="2400">
              <a:latin typeface="Arial MT"/>
              <a:cs typeface="Arial MT"/>
            </a:endParaRPr>
          </a:p>
          <a:p>
            <a:pPr marL="965200">
              <a:lnSpc>
                <a:spcPct val="100000"/>
              </a:lnSpc>
              <a:spcBef>
                <a:spcPts val="1445"/>
              </a:spcBef>
            </a:pPr>
            <a:r>
              <a:rPr sz="2400" spc="-10" dirty="0">
                <a:latin typeface="Arial MT"/>
                <a:cs typeface="Arial MT"/>
              </a:rPr>
              <a:t>structures</a:t>
            </a:r>
            <a:endParaRPr sz="2400">
              <a:latin typeface="Arial MT"/>
              <a:cs typeface="Arial MT"/>
            </a:endParaRPr>
          </a:p>
          <a:p>
            <a:pPr marL="1246505" lvl="2" indent="-319405">
              <a:lnSpc>
                <a:spcPct val="100000"/>
              </a:lnSpc>
              <a:spcBef>
                <a:spcPts val="2435"/>
              </a:spcBef>
              <a:buFont typeface="Wingdings"/>
              <a:buChar char=""/>
              <a:tabLst>
                <a:tab pos="1246505" algn="l"/>
              </a:tabLst>
            </a:pPr>
            <a:r>
              <a:rPr sz="2400" spc="-10" dirty="0">
                <a:latin typeface="Arial MT"/>
                <a:cs typeface="Arial MT"/>
              </a:rPr>
              <a:t>personnel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two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more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bosses.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5876" y="5894019"/>
            <a:ext cx="699706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32105" algn="l"/>
              </a:tabLst>
            </a:pPr>
            <a:r>
              <a:rPr sz="2400" spc="-10" dirty="0">
                <a:latin typeface="Arial MT"/>
                <a:cs typeface="Arial MT"/>
              </a:rPr>
              <a:t>structure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weak,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balanced,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strong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matrix.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873050" y="-824228"/>
            <a:ext cx="4177665" cy="2839239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/>
              <a:t>A</a:t>
            </a:r>
            <a:r>
              <a:rPr spc="-235" dirty="0"/>
              <a:t> </a:t>
            </a:r>
            <a:r>
              <a:rPr spc="-20" dirty="0"/>
              <a:t>Systems</a:t>
            </a:r>
            <a:r>
              <a:rPr spc="-225" dirty="0"/>
              <a:t> </a:t>
            </a:r>
            <a:r>
              <a:rPr spc="-20" dirty="0"/>
              <a:t>View</a:t>
            </a:r>
            <a:r>
              <a:rPr spc="-215" dirty="0"/>
              <a:t> </a:t>
            </a:r>
            <a:r>
              <a:rPr spc="-25" dirty="0"/>
              <a:t>of </a:t>
            </a:r>
            <a:r>
              <a:rPr spc="-10" dirty="0"/>
              <a:t>Project 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503" y="3060956"/>
            <a:ext cx="3780791" cy="475771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473835" marR="5080" indent="-146177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Calibri"/>
                <a:cs typeface="Calibri"/>
              </a:rPr>
              <a:t>Functional,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matrix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organizational structures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1691" y="208792"/>
            <a:ext cx="5251007" cy="56525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0"/>
            <a:ext cx="10855960" cy="27257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13970" indent="-227329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Organizational</a:t>
            </a:r>
            <a:r>
              <a:rPr spc="1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culture</a:t>
            </a:r>
            <a:r>
              <a:rPr spc="1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170" dirty="0">
                <a:solidFill>
                  <a:schemeClr val="bg1"/>
                </a:solidFill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i="1" spc="1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set</a:t>
            </a:r>
            <a:r>
              <a:rPr i="1" spc="1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of</a:t>
            </a:r>
            <a:r>
              <a:rPr i="1" spc="1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shared</a:t>
            </a:r>
            <a:r>
              <a:rPr i="1" spc="1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assumptions,</a:t>
            </a:r>
            <a:r>
              <a:rPr i="1" spc="17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values,</a:t>
            </a:r>
            <a:r>
              <a:rPr i="1" spc="16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and</a:t>
            </a:r>
            <a:r>
              <a:rPr i="1" spc="1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chemeClr val="bg1"/>
                </a:solidFill>
                <a:latin typeface="Arial"/>
                <a:cs typeface="Arial"/>
              </a:rPr>
              <a:t>behaviors 	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that</a:t>
            </a:r>
            <a:r>
              <a:rPr i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chemeClr val="bg1"/>
                </a:solidFill>
                <a:latin typeface="Arial"/>
                <a:cs typeface="Arial"/>
              </a:rPr>
              <a:t>characterize</a:t>
            </a:r>
            <a:r>
              <a:rPr i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functioning</a:t>
            </a:r>
            <a:r>
              <a:rPr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of</a:t>
            </a:r>
            <a:r>
              <a:rPr i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chemeClr val="bg1"/>
                </a:solidFill>
                <a:latin typeface="Arial"/>
                <a:cs typeface="Arial"/>
              </a:rPr>
              <a:t>an</a:t>
            </a:r>
            <a:r>
              <a:rPr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chemeClr val="bg1"/>
                </a:solidFill>
                <a:latin typeface="Arial"/>
                <a:cs typeface="Arial"/>
              </a:rPr>
              <a:t>organization.</a:t>
            </a: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Many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experts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believe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underlying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causes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many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companies’</a:t>
            </a:r>
            <a:r>
              <a:rPr spc="-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problems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are 	</a:t>
            </a:r>
            <a:r>
              <a:rPr dirty="0">
                <a:solidFill>
                  <a:schemeClr val="bg1"/>
                </a:solidFill>
              </a:rPr>
              <a:t>not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structure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or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staff,</a:t>
            </a:r>
            <a:r>
              <a:rPr spc="-16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but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culture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7315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There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10</a:t>
            </a:r>
            <a:r>
              <a:rPr sz="2400" spc="-2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characteristics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culture: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219" y="2598168"/>
            <a:ext cx="2672080" cy="27622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20" dirty="0">
                <a:latin typeface="Arial MT"/>
                <a:cs typeface="Arial MT"/>
              </a:rPr>
              <a:t>Member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identity.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10" dirty="0">
                <a:latin typeface="Arial MT"/>
                <a:cs typeface="Arial MT"/>
              </a:rPr>
              <a:t>Group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emphasis.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10" dirty="0">
                <a:latin typeface="Arial MT"/>
                <a:cs typeface="Arial MT"/>
              </a:rPr>
              <a:t>People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focus.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integration.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10" dirty="0">
                <a:latin typeface="Arial MT"/>
                <a:cs typeface="Arial MT"/>
              </a:rPr>
              <a:t>Control.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3250" y="2598168"/>
            <a:ext cx="3538855" cy="27622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Risk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tolerance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Reward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criteria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Conflict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tolerance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Means-</a:t>
            </a:r>
            <a:r>
              <a:rPr sz="2400" dirty="0">
                <a:latin typeface="Arial MT"/>
                <a:cs typeface="Arial MT"/>
              </a:rPr>
              <a:t>ends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orientation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spc="-25" dirty="0">
                <a:latin typeface="Arial MT"/>
                <a:cs typeface="Arial MT"/>
              </a:rPr>
              <a:t>Open-</a:t>
            </a:r>
            <a:r>
              <a:rPr sz="2400" dirty="0">
                <a:latin typeface="Arial MT"/>
                <a:cs typeface="Arial MT"/>
              </a:rPr>
              <a:t>systems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783314"/>
            <a:ext cx="10857231" cy="30463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715" indent="-227329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  <a:tab pos="1411605" algn="l"/>
                <a:tab pos="2980055" algn="l"/>
                <a:tab pos="3860800" algn="l"/>
                <a:tab pos="4656455" algn="l"/>
                <a:tab pos="5446395" algn="l"/>
                <a:tab pos="5916930" algn="l"/>
                <a:tab pos="7183755" algn="l"/>
                <a:tab pos="9006840" algn="l"/>
                <a:tab pos="9738360" algn="l"/>
              </a:tabLst>
            </a:pP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managers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must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take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time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identify,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understand,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manage 	</a:t>
            </a:r>
            <a:r>
              <a:rPr sz="2400" spc="-20" dirty="0">
                <a:latin typeface="Arial MT"/>
                <a:cs typeface="Arial MT"/>
              </a:rPr>
              <a:t>relationships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stakeholders.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frames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organizations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meet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stakeholder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needs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spc="-10" dirty="0">
                <a:latin typeface="Arial MT"/>
                <a:cs typeface="Arial MT"/>
              </a:rPr>
              <a:t>expectations.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5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Senior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executives/</a:t>
            </a:r>
            <a:r>
              <a:rPr sz="2400" spc="-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management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very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important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stakeholders.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8"/>
            <a:ext cx="10853420" cy="35317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People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top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management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positions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key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stakeholders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projects.</a:t>
            </a:r>
            <a:endParaRPr sz="2400">
              <a:latin typeface="Arial MT"/>
              <a:cs typeface="Arial MT"/>
            </a:endParaRPr>
          </a:p>
          <a:p>
            <a:pPr marL="241300" marR="6350" indent="-228600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  <a:tab pos="318135" algn="l"/>
              </a:tabLst>
            </a:pPr>
            <a:r>
              <a:rPr sz="2400" dirty="0">
                <a:latin typeface="Arial MT"/>
                <a:cs typeface="Arial MT"/>
              </a:rPr>
              <a:t>	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helping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 managers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successfully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level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commitment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they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receive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top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Without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top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management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commitment,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many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fail.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governance</a:t>
            </a:r>
            <a:r>
              <a:rPr sz="2400" spc="5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addresses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authority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5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dirty="0">
                <a:latin typeface="Arial MT"/>
                <a:cs typeface="Arial MT"/>
              </a:rPr>
              <a:t>organizations,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including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infrastructure,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use,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0"/>
            <a:ext cx="10855960" cy="4013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Top</a:t>
            </a:r>
            <a:r>
              <a:rPr spc="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management</a:t>
            </a:r>
            <a:r>
              <a:rPr spc="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commitment</a:t>
            </a:r>
            <a:r>
              <a:rPr spc="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is</a:t>
            </a:r>
            <a:r>
              <a:rPr spc="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crucial</a:t>
            </a:r>
            <a:r>
              <a:rPr spc="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</a:t>
            </a:r>
            <a:r>
              <a:rPr spc="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managers</a:t>
            </a:r>
            <a:r>
              <a:rPr spc="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following 	reasons:</a:t>
            </a:r>
          </a:p>
          <a:p>
            <a:pPr marL="735965" lvl="1" indent="-266065">
              <a:lnSpc>
                <a:spcPct val="100000"/>
              </a:lnSpc>
              <a:spcBef>
                <a:spcPts val="2440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Providing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adequate</a:t>
            </a:r>
            <a:r>
              <a:rPr sz="240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resources.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45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20" dirty="0">
                <a:solidFill>
                  <a:schemeClr val="bg1"/>
                </a:solidFill>
                <a:latin typeface="Arial MT"/>
                <a:cs typeface="Arial MT"/>
              </a:rPr>
              <a:t>Approving</a:t>
            </a:r>
            <a:r>
              <a:rPr sz="24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unique</a:t>
            </a:r>
            <a:r>
              <a:rPr sz="24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needs</a:t>
            </a:r>
            <a:r>
              <a:rPr sz="24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4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24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timely</a:t>
            </a:r>
            <a:r>
              <a:rPr sz="24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manner.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40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Getting</a:t>
            </a:r>
            <a:r>
              <a:rPr sz="24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chemeClr val="bg1"/>
                </a:solidFill>
                <a:latin typeface="Arial MT"/>
                <a:cs typeface="Arial MT"/>
              </a:rPr>
              <a:t>cooperation</a:t>
            </a:r>
            <a:r>
              <a:rPr sz="24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from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other</a:t>
            </a:r>
            <a:r>
              <a:rPr sz="24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parts</a:t>
            </a:r>
            <a:r>
              <a:rPr sz="24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organization.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35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Mentoring</a:t>
            </a:r>
            <a:r>
              <a:rPr sz="240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4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chemeClr val="bg1"/>
                </a:solidFill>
                <a:latin typeface="Arial MT"/>
                <a:cs typeface="Arial MT"/>
              </a:rPr>
              <a:t>coaching</a:t>
            </a:r>
            <a:r>
              <a:rPr sz="24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on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leadership</a:t>
            </a:r>
            <a:r>
              <a:rPr sz="24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issues.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2" y="1783313"/>
            <a:ext cx="10857865" cy="41466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715" indent="-227329" algn="just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difficult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successful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organization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itself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does 	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IT.</a:t>
            </a:r>
            <a:endParaRPr sz="2400">
              <a:latin typeface="Arial MT"/>
              <a:cs typeface="Arial MT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companies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realized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integral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business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have 	</a:t>
            </a:r>
            <a:r>
              <a:rPr sz="2400" dirty="0">
                <a:latin typeface="Arial MT"/>
                <a:cs typeface="Arial MT"/>
              </a:rPr>
              <a:t>created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vice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president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position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head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IT,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called 	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Chief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Information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Officer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(CIO).</a:t>
            </a:r>
            <a:endParaRPr sz="2400">
              <a:latin typeface="Arial MT"/>
              <a:cs typeface="Arial MT"/>
            </a:endParaRPr>
          </a:p>
          <a:p>
            <a:pPr marL="240029" marR="8890" indent="-227329" algn="just">
              <a:lnSpc>
                <a:spcPct val="15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governance</a:t>
            </a:r>
            <a:r>
              <a:rPr sz="2400" spc="5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addresses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authority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control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5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dirty="0">
                <a:latin typeface="Arial MT"/>
                <a:cs typeface="Arial MT"/>
              </a:rPr>
              <a:t>organizations,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including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infrastructure,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use,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342900"/>
            <a:ext cx="8956675" cy="1274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40" dirty="0"/>
              <a:t> </a:t>
            </a:r>
            <a:r>
              <a:rPr spc="-10" dirty="0"/>
              <a:t>Systems</a:t>
            </a:r>
            <a:r>
              <a:rPr spc="-229" dirty="0"/>
              <a:t> </a:t>
            </a:r>
            <a:r>
              <a:rPr dirty="0"/>
              <a:t>View</a:t>
            </a:r>
            <a:r>
              <a:rPr spc="-225" dirty="0"/>
              <a:t> </a:t>
            </a:r>
            <a:r>
              <a:rPr dirty="0"/>
              <a:t>of</a:t>
            </a:r>
            <a:r>
              <a:rPr spc="-235" dirty="0"/>
              <a:t> </a:t>
            </a:r>
            <a:r>
              <a:rPr spc="-10" dirty="0"/>
              <a:t>Project</a:t>
            </a:r>
            <a:r>
              <a:rPr spc="-210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2"/>
            <a:ext cx="10855960" cy="36097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3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chemeClr val="bg1"/>
                </a:solidFill>
              </a:rPr>
              <a:t>Another</a:t>
            </a:r>
            <a:r>
              <a:rPr sz="2200" spc="16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problem</a:t>
            </a:r>
            <a:r>
              <a:rPr sz="2200" spc="16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in</a:t>
            </a:r>
            <a:r>
              <a:rPr sz="2200" spc="16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most</a:t>
            </a:r>
            <a:r>
              <a:rPr sz="2200" spc="16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organizations</a:t>
            </a:r>
            <a:r>
              <a:rPr sz="2200" spc="17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is</a:t>
            </a:r>
            <a:r>
              <a:rPr sz="2200" spc="15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</a:t>
            </a:r>
            <a:r>
              <a:rPr sz="2200" spc="13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lack</a:t>
            </a:r>
            <a:r>
              <a:rPr sz="2200" spc="18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of</a:t>
            </a:r>
            <a:r>
              <a:rPr sz="2200" spc="13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standards</a:t>
            </a:r>
            <a:r>
              <a:rPr sz="2200" spc="17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or</a:t>
            </a:r>
            <a:r>
              <a:rPr sz="2200" spc="14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guidelines</a:t>
            </a:r>
            <a:r>
              <a:rPr sz="2200" spc="17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to</a:t>
            </a:r>
            <a:r>
              <a:rPr sz="2200" spc="15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follow when</a:t>
            </a:r>
            <a:r>
              <a:rPr sz="2200" spc="-13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performing</a:t>
            </a:r>
            <a:r>
              <a:rPr sz="2200" spc="-9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project</a:t>
            </a:r>
            <a:r>
              <a:rPr sz="2200" spc="-114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management.</a:t>
            </a:r>
            <a:endParaRPr sz="2200" dirty="0">
              <a:solidFill>
                <a:schemeClr val="bg1"/>
              </a:solidFill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chemeClr val="bg1"/>
                </a:solidFill>
              </a:rPr>
              <a:t>Standards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and</a:t>
            </a:r>
            <a:r>
              <a:rPr sz="2200" spc="-13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guidelines</a:t>
            </a:r>
            <a:r>
              <a:rPr sz="2200" spc="-12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help</a:t>
            </a:r>
            <a:r>
              <a:rPr sz="2200" spc="-14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project</a:t>
            </a:r>
            <a:r>
              <a:rPr sz="2200" spc="-12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managers</a:t>
            </a:r>
            <a:r>
              <a:rPr sz="2200" spc="-12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be</a:t>
            </a:r>
            <a:r>
              <a:rPr sz="2200" spc="-13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more</a:t>
            </a:r>
            <a:r>
              <a:rPr sz="2200" spc="-11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effective</a:t>
            </a:r>
            <a:endParaRPr sz="2200" dirty="0">
              <a:solidFill>
                <a:schemeClr val="bg1"/>
              </a:solidFill>
            </a:endParaRPr>
          </a:p>
          <a:p>
            <a:pPr marL="240665" indent="-227965">
              <a:lnSpc>
                <a:spcPct val="100000"/>
              </a:lnSpc>
              <a:spcBef>
                <a:spcPts val="1790"/>
              </a:spcBef>
              <a:buChar char="•"/>
              <a:tabLst>
                <a:tab pos="240665" algn="l"/>
              </a:tabLst>
            </a:pPr>
            <a:r>
              <a:rPr sz="2200" spc="-10" dirty="0">
                <a:solidFill>
                  <a:schemeClr val="bg1"/>
                </a:solidFill>
              </a:rPr>
              <a:t>Senior</a:t>
            </a:r>
            <a:r>
              <a:rPr sz="2200" spc="-14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management</a:t>
            </a:r>
            <a:r>
              <a:rPr sz="2200" spc="-10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can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encourage:</a:t>
            </a:r>
            <a:endParaRPr sz="2200" dirty="0">
              <a:solidFill>
                <a:schemeClr val="bg1"/>
              </a:solidFill>
            </a:endParaRPr>
          </a:p>
          <a:p>
            <a:pPr marL="735965" lvl="1" indent="-266065">
              <a:lnSpc>
                <a:spcPct val="100000"/>
              </a:lnSpc>
              <a:spcBef>
                <a:spcPts val="1800"/>
              </a:spcBef>
              <a:buFont typeface="Wingdings"/>
              <a:buChar char=""/>
              <a:tabLst>
                <a:tab pos="735965" algn="l"/>
              </a:tabLst>
            </a:pP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use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standard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forms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software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22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management.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6600" marR="5715" lvl="1" indent="-266700">
              <a:lnSpc>
                <a:spcPct val="130000"/>
              </a:lnSpc>
              <a:spcBef>
                <a:spcPts val="994"/>
              </a:spcBef>
              <a:buFont typeface="Wingdings"/>
              <a:buChar char=""/>
              <a:tabLst>
                <a:tab pos="736600" algn="l"/>
              </a:tabLst>
            </a:pP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development</a:t>
            </a:r>
            <a:r>
              <a:rPr sz="22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2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use</a:t>
            </a:r>
            <a:r>
              <a:rPr sz="22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2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guidelines</a:t>
            </a:r>
            <a:r>
              <a:rPr sz="220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220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writing</a:t>
            </a:r>
            <a:r>
              <a:rPr sz="22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20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plans</a:t>
            </a:r>
            <a:r>
              <a:rPr sz="22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or</a:t>
            </a:r>
            <a:r>
              <a:rPr sz="22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providing</a:t>
            </a:r>
            <a:r>
              <a:rPr sz="22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status information.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676" y="5619632"/>
            <a:ext cx="8595995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30"/>
              </a:lnSpc>
            </a:pPr>
            <a:r>
              <a:rPr sz="2200" dirty="0">
                <a:latin typeface="Wingdings"/>
                <a:cs typeface="Wingdings"/>
              </a:rPr>
              <a:t></a:t>
            </a:r>
            <a:r>
              <a:rPr sz="2200" spc="4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creation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office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centre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excellence.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2" y="1806602"/>
            <a:ext cx="10854055" cy="4309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3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4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life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cycle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i="1" dirty="0">
                <a:latin typeface="Arial"/>
                <a:cs typeface="Arial"/>
              </a:rPr>
              <a:t>collection</a:t>
            </a:r>
            <a:r>
              <a:rPr sz="2200" i="1" spc="38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of</a:t>
            </a:r>
            <a:r>
              <a:rPr sz="2200" i="1" spc="39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project</a:t>
            </a:r>
            <a:r>
              <a:rPr sz="2200" i="1" spc="40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phases.</a:t>
            </a:r>
            <a:r>
              <a:rPr sz="2200" i="1" spc="42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Projects</a:t>
            </a:r>
            <a:r>
              <a:rPr sz="2200" spc="4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pass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through</a:t>
            </a:r>
            <a:r>
              <a:rPr sz="2200" spc="4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these phases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their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start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their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completion.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deliverable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i="1" dirty="0">
                <a:latin typeface="Arial"/>
                <a:cs typeface="Arial"/>
              </a:rPr>
              <a:t>is</a:t>
            </a:r>
            <a:r>
              <a:rPr sz="2200" i="1" spc="-5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a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product</a:t>
            </a:r>
            <a:r>
              <a:rPr sz="2200" i="1" spc="-2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or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service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produced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or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provided</a:t>
            </a:r>
            <a:r>
              <a:rPr sz="2200" i="1" spc="-2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as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part</a:t>
            </a:r>
            <a:r>
              <a:rPr sz="2200" i="1" spc="-25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of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dirty="0">
                <a:latin typeface="Arial"/>
                <a:cs typeface="Arial"/>
              </a:rPr>
              <a:t>a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spc="-10" dirty="0">
                <a:latin typeface="Arial"/>
                <a:cs typeface="Arial"/>
              </a:rPr>
              <a:t>project.</a:t>
            </a:r>
            <a:endParaRPr sz="22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79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generic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life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cycle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includes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the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following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four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phases:</a:t>
            </a:r>
            <a:endParaRPr sz="22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1800"/>
              </a:spcBef>
              <a:buChar char="•"/>
              <a:tabLst>
                <a:tab pos="735965" algn="l"/>
              </a:tabLst>
            </a:pPr>
            <a:r>
              <a:rPr sz="2200" spc="-10" dirty="0">
                <a:latin typeface="Arial MT"/>
                <a:cs typeface="Arial MT"/>
              </a:rPr>
              <a:t>Starting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project.</a:t>
            </a:r>
            <a:endParaRPr sz="22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1790"/>
              </a:spcBef>
              <a:buChar char="•"/>
              <a:tabLst>
                <a:tab pos="735965" algn="l"/>
              </a:tabLst>
            </a:pPr>
            <a:r>
              <a:rPr sz="2200" spc="-10" dirty="0">
                <a:latin typeface="Arial MT"/>
                <a:cs typeface="Arial MT"/>
              </a:rPr>
              <a:t>Organizing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preparing.</a:t>
            </a:r>
            <a:endParaRPr sz="22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1785"/>
              </a:spcBef>
              <a:buChar char="•"/>
              <a:tabLst>
                <a:tab pos="735965" algn="l"/>
              </a:tabLst>
            </a:pPr>
            <a:r>
              <a:rPr sz="2200" spc="-10" dirty="0">
                <a:latin typeface="Arial MT"/>
                <a:cs typeface="Arial MT"/>
              </a:rPr>
              <a:t>Carrying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work.</a:t>
            </a:r>
            <a:endParaRPr sz="22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1800"/>
              </a:spcBef>
              <a:buChar char="•"/>
              <a:tabLst>
                <a:tab pos="735965" algn="l"/>
              </a:tabLst>
            </a:pPr>
            <a:r>
              <a:rPr sz="2200" spc="-10" dirty="0">
                <a:latin typeface="Arial MT"/>
                <a:cs typeface="Arial MT"/>
              </a:rPr>
              <a:t>Finishing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2"/>
            <a:ext cx="10855960" cy="4192814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15"/>
              </a:spcBef>
              <a:buChar char="•"/>
              <a:tabLst>
                <a:tab pos="240665" algn="l"/>
              </a:tabLst>
            </a:pPr>
            <a:r>
              <a:rPr sz="2200" dirty="0">
                <a:solidFill>
                  <a:schemeClr val="bg1"/>
                </a:solidFill>
              </a:rPr>
              <a:t>These</a:t>
            </a:r>
            <a:r>
              <a:rPr sz="2200" spc="-10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phases</a:t>
            </a:r>
            <a:r>
              <a:rPr sz="2200" spc="-10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should</a:t>
            </a:r>
            <a:r>
              <a:rPr sz="2200" spc="-114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not</a:t>
            </a:r>
            <a:r>
              <a:rPr sz="2200" spc="-10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be</a:t>
            </a:r>
            <a:r>
              <a:rPr sz="2200" spc="-114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confused</a:t>
            </a:r>
            <a:r>
              <a:rPr sz="2200" spc="-10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with</a:t>
            </a:r>
            <a:r>
              <a:rPr sz="2200" spc="-11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the</a:t>
            </a:r>
            <a:r>
              <a:rPr sz="2200" spc="-114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project</a:t>
            </a:r>
            <a:r>
              <a:rPr sz="2200" spc="-10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management</a:t>
            </a:r>
            <a:r>
              <a:rPr sz="2200" spc="-9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process</a:t>
            </a:r>
            <a:r>
              <a:rPr sz="2200" spc="-10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groups</a:t>
            </a:r>
            <a:r>
              <a:rPr sz="2200" spc="-114" dirty="0">
                <a:solidFill>
                  <a:schemeClr val="bg1"/>
                </a:solidFill>
              </a:rPr>
              <a:t> </a:t>
            </a:r>
            <a:r>
              <a:rPr sz="2200" spc="-25" dirty="0">
                <a:solidFill>
                  <a:schemeClr val="bg1"/>
                </a:solidFill>
              </a:rPr>
              <a:t>of</a:t>
            </a:r>
            <a:endParaRPr sz="2200" dirty="0">
              <a:solidFill>
                <a:schemeClr val="bg1"/>
              </a:solidFill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solidFill>
                  <a:schemeClr val="bg1"/>
                </a:solidFill>
              </a:rPr>
              <a:t>initiating,</a:t>
            </a:r>
            <a:r>
              <a:rPr sz="2200" spc="-14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planning,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executing,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monitoring</a:t>
            </a:r>
            <a:r>
              <a:rPr sz="2200" spc="-10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and</a:t>
            </a:r>
            <a:r>
              <a:rPr sz="2200" spc="-13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controlling,</a:t>
            </a:r>
            <a:r>
              <a:rPr sz="2200" spc="-13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and</a:t>
            </a:r>
            <a:r>
              <a:rPr sz="2200" spc="-12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closing.</a:t>
            </a:r>
            <a:endParaRPr sz="2200" dirty="0">
              <a:solidFill>
                <a:schemeClr val="bg1"/>
              </a:solidFill>
            </a:endParaRPr>
          </a:p>
          <a:p>
            <a:pPr marL="240665" indent="-227965">
              <a:lnSpc>
                <a:spcPct val="100000"/>
              </a:lnSpc>
              <a:spcBef>
                <a:spcPts val="2320"/>
              </a:spcBef>
              <a:buChar char="•"/>
              <a:tabLst>
                <a:tab pos="240665" algn="l"/>
              </a:tabLst>
            </a:pPr>
            <a:r>
              <a:rPr sz="2200" dirty="0">
                <a:solidFill>
                  <a:schemeClr val="bg1"/>
                </a:solidFill>
              </a:rPr>
              <a:t>The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project</a:t>
            </a:r>
            <a:r>
              <a:rPr sz="2200" spc="-114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life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cycle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defines:</a:t>
            </a:r>
            <a:endParaRPr sz="2200" dirty="0">
              <a:solidFill>
                <a:schemeClr val="bg1"/>
              </a:solidFill>
            </a:endParaRPr>
          </a:p>
          <a:p>
            <a:pPr marL="735965" lvl="1" indent="-266065">
              <a:lnSpc>
                <a:spcPct val="100000"/>
              </a:lnSpc>
              <a:spcBef>
                <a:spcPts val="2315"/>
              </a:spcBef>
              <a:buChar char="•"/>
              <a:tabLst>
                <a:tab pos="735965" algn="l"/>
              </a:tabLst>
            </a:pP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What</a:t>
            </a:r>
            <a:r>
              <a:rPr sz="22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work</a:t>
            </a:r>
            <a:r>
              <a:rPr sz="22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will</a:t>
            </a:r>
            <a:r>
              <a:rPr sz="22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be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performed</a:t>
            </a:r>
            <a:r>
              <a:rPr sz="22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2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each</a:t>
            </a:r>
            <a:r>
              <a:rPr sz="22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phase?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330"/>
              </a:spcBef>
              <a:buChar char="•"/>
              <a:tabLst>
                <a:tab pos="735965" algn="l"/>
              </a:tabLst>
            </a:pP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What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deliverables</a:t>
            </a:r>
            <a:r>
              <a:rPr sz="22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will</a:t>
            </a:r>
            <a:r>
              <a:rPr sz="22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be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produced</a:t>
            </a:r>
            <a:r>
              <a:rPr sz="22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when?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315"/>
              </a:spcBef>
              <a:buChar char="•"/>
              <a:tabLst>
                <a:tab pos="735965" algn="l"/>
              </a:tabLst>
            </a:pP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Who</a:t>
            </a:r>
            <a:r>
              <a:rPr sz="22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involved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each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phase</a:t>
            </a:r>
            <a:r>
              <a:rPr sz="22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50" dirty="0">
                <a:solidFill>
                  <a:schemeClr val="bg1"/>
                </a:solidFill>
                <a:latin typeface="Arial MT"/>
                <a:cs typeface="Arial MT"/>
              </a:rPr>
              <a:t>?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320"/>
              </a:spcBef>
              <a:buChar char="•"/>
              <a:tabLst>
                <a:tab pos="735965" algn="l"/>
              </a:tabLst>
            </a:pP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How</a:t>
            </a:r>
            <a:r>
              <a:rPr sz="22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r>
              <a:rPr sz="22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will</a:t>
            </a:r>
            <a:r>
              <a:rPr sz="22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control</a:t>
            </a:r>
            <a:r>
              <a:rPr sz="22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2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approve</a:t>
            </a:r>
            <a:r>
              <a:rPr sz="22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work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produced</a:t>
            </a:r>
            <a:r>
              <a:rPr sz="22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2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each</a:t>
            </a:r>
            <a:r>
              <a:rPr sz="22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phase?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9"/>
            <a:ext cx="10642600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early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phases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life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cycle:</a:t>
            </a:r>
            <a:endParaRPr sz="24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40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20" dirty="0">
                <a:latin typeface="Arial MT"/>
                <a:cs typeface="Arial MT"/>
              </a:rPr>
              <a:t>Resource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needs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usually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lowest.</a:t>
            </a:r>
            <a:endParaRPr sz="24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45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level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uncertainty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(risk)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highest.</a:t>
            </a:r>
            <a:endParaRPr sz="24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35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stakeholders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have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greatest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opportunity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influence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965708"/>
            <a:ext cx="7045325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middle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phases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life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cycle:</a:t>
            </a:r>
            <a:endParaRPr sz="24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40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certainty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completing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improves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45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10" dirty="0">
                <a:latin typeface="Arial MT"/>
                <a:cs typeface="Arial MT"/>
              </a:rPr>
              <a:t>More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resources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needed.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6"/>
            <a:ext cx="7182484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329" marR="500380" indent="-227329" algn="r">
              <a:lnSpc>
                <a:spcPct val="100000"/>
              </a:lnSpc>
              <a:spcBef>
                <a:spcPts val="100"/>
              </a:spcBef>
              <a:buChar char="•"/>
              <a:tabLst>
                <a:tab pos="227329" algn="l"/>
              </a:tabLst>
            </a:pP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final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phase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life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cycle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focuses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on:</a:t>
            </a:r>
            <a:endParaRPr sz="2400">
              <a:latin typeface="Arial MT"/>
              <a:cs typeface="Arial MT"/>
            </a:endParaRPr>
          </a:p>
          <a:p>
            <a:pPr marL="266065" marR="429895" lvl="1" indent="-266065" algn="r">
              <a:lnSpc>
                <a:spcPct val="100000"/>
              </a:lnSpc>
              <a:spcBef>
                <a:spcPts val="2440"/>
              </a:spcBef>
              <a:buFont typeface="Wingdings"/>
              <a:buChar char=""/>
              <a:tabLst>
                <a:tab pos="266065" algn="l"/>
              </a:tabLst>
            </a:pPr>
            <a:r>
              <a:rPr sz="2400" spc="-20" dirty="0">
                <a:latin typeface="Arial MT"/>
                <a:cs typeface="Arial MT"/>
              </a:rPr>
              <a:t>Ensuring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requirements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were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met.</a:t>
            </a:r>
            <a:endParaRPr sz="2400">
              <a:latin typeface="Arial MT"/>
              <a:cs typeface="Arial MT"/>
            </a:endParaRPr>
          </a:p>
          <a:p>
            <a:pPr marL="735965" lvl="1" indent="-266065">
              <a:lnSpc>
                <a:spcPct val="100000"/>
              </a:lnSpc>
              <a:spcBef>
                <a:spcPts val="2445"/>
              </a:spcBef>
              <a:buFont typeface="Wingdings"/>
              <a:buChar char=""/>
              <a:tabLst>
                <a:tab pos="735965" algn="l"/>
              </a:tabLst>
            </a:pP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sponsor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approves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completion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901701"/>
            <a:ext cx="10856595" cy="402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life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cycle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process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used</a:t>
            </a:r>
            <a:r>
              <a:rPr sz="2000" i="1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to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define,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create,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and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deliver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products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239395" indent="-226695" algn="just">
              <a:lnSpc>
                <a:spcPct val="100000"/>
              </a:lnSpc>
              <a:spcBef>
                <a:spcPts val="1714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Life</a:t>
            </a:r>
            <a:r>
              <a:rPr sz="2000" spc="4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</a:t>
            </a:r>
            <a:r>
              <a:rPr sz="2000" spc="-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(SDLC)</a:t>
            </a:r>
            <a:r>
              <a:rPr sz="2000" spc="49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is</a:t>
            </a:r>
            <a:r>
              <a:rPr sz="2000" i="1" spc="46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</a:t>
            </a:r>
            <a:r>
              <a:rPr sz="2000" i="1" spc="48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framework</a:t>
            </a:r>
            <a:r>
              <a:rPr sz="2000" i="1" spc="4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for</a:t>
            </a:r>
            <a:r>
              <a:rPr sz="2000" i="1" spc="48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describing</a:t>
            </a:r>
            <a:r>
              <a:rPr sz="2000" i="1" spc="48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the</a:t>
            </a:r>
            <a:r>
              <a:rPr sz="2000" i="1" spc="484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phases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2000" i="1" dirty="0">
                <a:latin typeface="Arial"/>
                <a:cs typeface="Arial"/>
              </a:rPr>
              <a:t>involved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developing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and</a:t>
            </a:r>
            <a:r>
              <a:rPr sz="2000" i="1" spc="-6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maintaining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information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systems.</a:t>
            </a:r>
            <a:endParaRPr sz="2000">
              <a:latin typeface="Arial"/>
              <a:cs typeface="Arial"/>
            </a:endParaRPr>
          </a:p>
          <a:p>
            <a:pPr marL="239395" indent="-226695" algn="just">
              <a:lnSpc>
                <a:spcPct val="100000"/>
              </a:lnSpc>
              <a:spcBef>
                <a:spcPts val="1730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projects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follow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923925" marR="5080" lvl="1" indent="-454025" algn="just">
              <a:lnSpc>
                <a:spcPct val="130100"/>
              </a:lnSpc>
              <a:spcBef>
                <a:spcPts val="995"/>
              </a:spcBef>
              <a:buAutoNum type="arabicPeriod"/>
              <a:tabLst>
                <a:tab pos="927100" algn="l"/>
              </a:tabLst>
            </a:pPr>
            <a:r>
              <a:rPr sz="2000" b="1" dirty="0">
                <a:latin typeface="Arial"/>
                <a:cs typeface="Arial"/>
              </a:rPr>
              <a:t>Predictive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life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cycle: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scope,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schedule,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early,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changes 	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scope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carefully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managed.</a:t>
            </a:r>
            <a:r>
              <a:rPr sz="2000" spc="-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PMI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refers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predictive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life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cycles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waterfall.</a:t>
            </a:r>
            <a:endParaRPr sz="2000">
              <a:latin typeface="Arial"/>
              <a:cs typeface="Arial"/>
            </a:endParaRPr>
          </a:p>
          <a:p>
            <a:pPr marL="923925" marR="5080" lvl="1" indent="-454025" algn="just">
              <a:lnSpc>
                <a:spcPct val="130000"/>
              </a:lnSpc>
              <a:spcBef>
                <a:spcPts val="994"/>
              </a:spcBef>
              <a:buAutoNum type="arabicPeriod"/>
              <a:tabLst>
                <a:tab pos="927100" algn="l"/>
              </a:tabLst>
            </a:pPr>
            <a:r>
              <a:rPr sz="2000" b="1" dirty="0">
                <a:latin typeface="Arial"/>
                <a:cs typeface="Arial"/>
              </a:rPr>
              <a:t>Iterative</a:t>
            </a:r>
            <a:r>
              <a:rPr sz="2000" b="1" spc="29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life</a:t>
            </a:r>
            <a:r>
              <a:rPr sz="2000" b="1" spc="29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cycle:</a:t>
            </a:r>
            <a:r>
              <a:rPr sz="2000" b="1" spc="30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scope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determined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early,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estimates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are 	</a:t>
            </a:r>
            <a:r>
              <a:rPr sz="2000" dirty="0">
                <a:latin typeface="Arial MT"/>
                <a:cs typeface="Arial MT"/>
              </a:rPr>
              <a:t>modified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understanding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increases.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approach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when 	</a:t>
            </a:r>
            <a:r>
              <a:rPr sz="2000" spc="-10" dirty="0">
                <a:latin typeface="Arial MT"/>
                <a:cs typeface="Arial MT"/>
              </a:rPr>
              <a:t>there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degree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change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low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frequency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delivery.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2" y="1803250"/>
            <a:ext cx="10857865" cy="4152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marR="5715" indent="-454659" algn="just">
              <a:lnSpc>
                <a:spcPct val="140000"/>
              </a:lnSpc>
              <a:spcBef>
                <a:spcPts val="100"/>
              </a:spcBef>
              <a:buAutoNum type="arabicPeriod" startAt="3"/>
              <a:tabLst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Incremental</a:t>
            </a:r>
            <a:r>
              <a:rPr sz="2000" b="1" spc="30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life</a:t>
            </a:r>
            <a:r>
              <a:rPr sz="2000" b="1" spc="3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cycle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Deliverables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produced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series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iteration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add 	</a:t>
            </a:r>
            <a:r>
              <a:rPr sz="2000" dirty="0">
                <a:latin typeface="Arial MT"/>
                <a:cs typeface="Arial MT"/>
              </a:rPr>
              <a:t>functionality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within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frame.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deliverable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3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complete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until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final 	</a:t>
            </a:r>
            <a:r>
              <a:rPr sz="2000" dirty="0">
                <a:latin typeface="Arial MT"/>
                <a:cs typeface="Arial MT"/>
              </a:rPr>
              <a:t>iteration.</a:t>
            </a:r>
            <a:r>
              <a:rPr sz="2000" spc="4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approach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4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43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43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low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degree</a:t>
            </a:r>
            <a:r>
              <a:rPr sz="2000" spc="43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high 	</a:t>
            </a:r>
            <a:r>
              <a:rPr sz="2000" spc="-10" dirty="0">
                <a:latin typeface="Arial MT"/>
                <a:cs typeface="Arial MT"/>
              </a:rPr>
              <a:t>frequency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delivery.</a:t>
            </a:r>
            <a:endParaRPr sz="2000">
              <a:latin typeface="Arial MT"/>
              <a:cs typeface="Arial MT"/>
            </a:endParaRPr>
          </a:p>
          <a:p>
            <a:pPr marL="466725" marR="5080" indent="-454659" algn="just">
              <a:lnSpc>
                <a:spcPct val="140000"/>
              </a:lnSpc>
              <a:spcBef>
                <a:spcPts val="994"/>
              </a:spcBef>
              <a:buAutoNum type="arabicPeriod" startAt="3"/>
              <a:tabLst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Adaptive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life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cycle:</a:t>
            </a:r>
            <a:r>
              <a:rPr sz="2000" b="1" spc="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Stakeholders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define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approve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detailed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scope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before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	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iteration,</a:t>
            </a:r>
            <a:r>
              <a:rPr sz="2000" spc="22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producing</a:t>
            </a:r>
            <a:r>
              <a:rPr sz="2000" spc="2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2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useable</a:t>
            </a:r>
            <a:r>
              <a:rPr sz="2000" spc="2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end</a:t>
            </a:r>
            <a:r>
              <a:rPr sz="2000" spc="2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2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iteration.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PMI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also</a:t>
            </a:r>
            <a:r>
              <a:rPr sz="2000" spc="2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refers</a:t>
            </a:r>
            <a:r>
              <a:rPr sz="2000" spc="30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	</a:t>
            </a:r>
            <a:r>
              <a:rPr sz="2000" dirty="0">
                <a:latin typeface="Arial MT"/>
                <a:cs typeface="Arial MT"/>
              </a:rPr>
              <a:t>adaptive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life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cycles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agile</a:t>
            </a:r>
            <a:r>
              <a:rPr sz="2000" b="1" spc="1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or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change</a:t>
            </a:r>
            <a:r>
              <a:rPr sz="2000" b="1" spc="1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driven</a:t>
            </a:r>
            <a:r>
              <a:rPr sz="2000" dirty="0">
                <a:latin typeface="Arial MT"/>
                <a:cs typeface="Arial MT"/>
              </a:rPr>
              <a:t>.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approach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works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a 	</a:t>
            </a:r>
            <a:r>
              <a:rPr sz="2000" dirty="0">
                <a:latin typeface="Arial MT"/>
                <a:cs typeface="Arial MT"/>
              </a:rPr>
              <a:t>high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degree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change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frequency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delivery.</a:t>
            </a:r>
            <a:endParaRPr sz="20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964"/>
              </a:spcBef>
              <a:buAutoNum type="arabicPeriod" startAt="3"/>
              <a:tabLst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Hybrid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life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cycle</a:t>
            </a:r>
            <a:r>
              <a:rPr sz="2000" spc="-10" dirty="0">
                <a:latin typeface="Arial MT"/>
                <a:cs typeface="Arial MT"/>
              </a:rPr>
              <a:t>: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combination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approaches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based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nature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0" y="1924557"/>
            <a:ext cx="10855325" cy="44403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several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predictive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SDLC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models:</a:t>
            </a:r>
            <a:endParaRPr sz="2000">
              <a:latin typeface="Arial MT"/>
              <a:cs typeface="Arial MT"/>
            </a:endParaRPr>
          </a:p>
          <a:p>
            <a:pPr marL="927100" lvl="1" indent="-45720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927100" algn="l"/>
              </a:tabLst>
            </a:pPr>
            <a:r>
              <a:rPr sz="2000" b="1" dirty="0">
                <a:latin typeface="Arial"/>
                <a:cs typeface="Arial"/>
              </a:rPr>
              <a:t>Waterfall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model: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well-defined,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stages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systems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development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support</a:t>
            </a:r>
            <a:endParaRPr sz="2000">
              <a:latin typeface="Arial MT"/>
              <a:cs typeface="Arial MT"/>
            </a:endParaRPr>
          </a:p>
          <a:p>
            <a:pPr marL="927100" marR="5715" lvl="1" indent="-457200">
              <a:lnSpc>
                <a:spcPct val="140000"/>
              </a:lnSpc>
              <a:spcBef>
                <a:spcPts val="1010"/>
              </a:spcBef>
              <a:buAutoNum type="arabicPeriod"/>
              <a:tabLst>
                <a:tab pos="927100" algn="l"/>
              </a:tabLst>
            </a:pPr>
            <a:r>
              <a:rPr sz="2000" b="1" dirty="0">
                <a:latin typeface="Arial"/>
                <a:cs typeface="Arial"/>
              </a:rPr>
              <a:t>Spiral</a:t>
            </a:r>
            <a:r>
              <a:rPr sz="2000" b="1" spc="2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model:</a:t>
            </a:r>
            <a:r>
              <a:rPr sz="2000" b="1" spc="2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shows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2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2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developed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22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iterative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spiral</a:t>
            </a:r>
            <a:r>
              <a:rPr sz="2000" spc="2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approach rather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than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linear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approach.</a:t>
            </a:r>
            <a:endParaRPr sz="2000">
              <a:latin typeface="Arial MT"/>
              <a:cs typeface="Arial MT"/>
            </a:endParaRPr>
          </a:p>
          <a:p>
            <a:pPr marL="927100" lvl="1" indent="-45720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927100" algn="l"/>
                <a:tab pos="2545715" algn="l"/>
                <a:tab pos="3347720" algn="l"/>
                <a:tab pos="4373245" algn="l"/>
                <a:tab pos="5534660" algn="l"/>
                <a:tab pos="6022340" algn="l"/>
                <a:tab pos="7529830" algn="l"/>
                <a:tab pos="9178925" algn="l"/>
                <a:tab pos="9584055" algn="l"/>
              </a:tabLst>
            </a:pPr>
            <a:r>
              <a:rPr sz="2000" b="1" spc="-10" dirty="0">
                <a:latin typeface="Arial"/>
                <a:cs typeface="Arial"/>
              </a:rPr>
              <a:t>Incremental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build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model: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spc="-10" dirty="0">
                <a:latin typeface="Arial MT"/>
                <a:cs typeface="Arial MT"/>
              </a:rPr>
              <a:t>provides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for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progressive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development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10" dirty="0">
                <a:latin typeface="Arial MT"/>
                <a:cs typeface="Arial MT"/>
              </a:rPr>
              <a:t>operational</a:t>
            </a:r>
            <a:endParaRPr sz="20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965"/>
              </a:spcBef>
            </a:pPr>
            <a:r>
              <a:rPr sz="2000" spc="-10" dirty="0">
                <a:latin typeface="Arial MT"/>
                <a:cs typeface="Arial MT"/>
              </a:rPr>
              <a:t>software.</a:t>
            </a:r>
            <a:endParaRPr sz="2000">
              <a:latin typeface="Arial MT"/>
              <a:cs typeface="Arial MT"/>
            </a:endParaRPr>
          </a:p>
          <a:p>
            <a:pPr marL="927100" lvl="1" indent="-457200">
              <a:lnSpc>
                <a:spcPct val="100000"/>
              </a:lnSpc>
              <a:spcBef>
                <a:spcPts val="1955"/>
              </a:spcBef>
              <a:buAutoNum type="arabicPeriod" startAt="4"/>
              <a:tabLst>
                <a:tab pos="927100" algn="l"/>
              </a:tabLst>
            </a:pPr>
            <a:r>
              <a:rPr sz="2000" b="1" dirty="0">
                <a:latin typeface="Arial"/>
                <a:cs typeface="Arial"/>
              </a:rPr>
              <a:t>Prototyping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model: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developing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prototypes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clarify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requirements.</a:t>
            </a:r>
            <a:endParaRPr sz="2000">
              <a:latin typeface="Arial MT"/>
              <a:cs typeface="Arial MT"/>
            </a:endParaRPr>
          </a:p>
          <a:p>
            <a:pPr marL="927100" lvl="1" indent="-457200">
              <a:lnSpc>
                <a:spcPct val="100000"/>
              </a:lnSpc>
              <a:spcBef>
                <a:spcPts val="1964"/>
              </a:spcBef>
              <a:buAutoNum type="arabicPeriod" startAt="4"/>
              <a:tabLst>
                <a:tab pos="927100" algn="l"/>
                <a:tab pos="6929120" algn="l"/>
              </a:tabLst>
            </a:pPr>
            <a:r>
              <a:rPr sz="2000" b="1" dirty="0">
                <a:latin typeface="Arial"/>
                <a:cs typeface="Arial"/>
              </a:rPr>
              <a:t>Rapid</a:t>
            </a:r>
            <a:r>
              <a:rPr sz="2000" b="1" spc="4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Application</a:t>
            </a:r>
            <a:r>
              <a:rPr sz="2000" b="1" spc="4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Development</a:t>
            </a:r>
            <a:r>
              <a:rPr sz="2000" b="1" spc="4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(RAD)</a:t>
            </a:r>
            <a:r>
              <a:rPr sz="2000" b="1" spc="434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model</a:t>
            </a:r>
            <a:r>
              <a:rPr sz="2000" spc="-10" dirty="0">
                <a:latin typeface="Arial MT"/>
                <a:cs typeface="Arial MT"/>
              </a:rPr>
              <a:t>:</a:t>
            </a:r>
            <a:r>
              <a:rPr sz="2000" dirty="0">
                <a:latin typeface="Arial MT"/>
                <a:cs typeface="Arial MT"/>
              </a:rPr>
              <a:t>	used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produce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quickly</a:t>
            </a:r>
            <a:endParaRPr sz="20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965"/>
              </a:spcBef>
            </a:pP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sacrificing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quality.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45" dirty="0"/>
              <a:t> </a:t>
            </a:r>
            <a:r>
              <a:rPr spc="-10" dirty="0"/>
              <a:t>and</a:t>
            </a:r>
            <a:r>
              <a:rPr spc="-254" dirty="0"/>
              <a:t> </a:t>
            </a:r>
            <a:r>
              <a:rPr spc="-10" dirty="0"/>
              <a:t>Product</a:t>
            </a:r>
            <a:r>
              <a:rPr spc="-250" dirty="0"/>
              <a:t> </a:t>
            </a:r>
            <a:r>
              <a:rPr spc="-10" dirty="0"/>
              <a:t>Life</a:t>
            </a:r>
            <a:r>
              <a:rPr spc="-260" dirty="0"/>
              <a:t> </a:t>
            </a:r>
            <a:r>
              <a:rPr spc="-10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858500" cy="29104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 algn="just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Please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note</a:t>
            </a:r>
            <a:r>
              <a:rPr sz="2400" spc="45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4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4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successfully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</a:t>
            </a:r>
            <a:r>
              <a:rPr sz="2400" spc="48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	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phases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order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continue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on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next.</a:t>
            </a:r>
            <a:endParaRPr sz="2400">
              <a:latin typeface="Arial MT"/>
              <a:cs typeface="Arial MT"/>
            </a:endParaRPr>
          </a:p>
          <a:p>
            <a:pPr marL="240029" marR="7620" indent="-227329" algn="just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reviews,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phase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exits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kill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points,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occur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after 	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phase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evaluate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project’s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progress,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likely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success,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continued 	compatibility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organizational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91399"/>
            <a:ext cx="870394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0" dirty="0"/>
              <a:t>The</a:t>
            </a:r>
            <a:r>
              <a:rPr spc="-245" dirty="0"/>
              <a:t> </a:t>
            </a:r>
            <a:r>
              <a:rPr spc="-10" dirty="0"/>
              <a:t>Context</a:t>
            </a:r>
            <a:r>
              <a:rPr spc="-229" dirty="0"/>
              <a:t> </a:t>
            </a:r>
            <a:r>
              <a:rPr dirty="0"/>
              <a:t>of</a:t>
            </a:r>
            <a:r>
              <a:rPr spc="-240" dirty="0"/>
              <a:t> </a:t>
            </a:r>
            <a:r>
              <a:rPr spc="-20" dirty="0"/>
              <a:t>Information</a:t>
            </a:r>
            <a:r>
              <a:rPr spc="-210" dirty="0"/>
              <a:t> </a:t>
            </a:r>
            <a:r>
              <a:rPr spc="-10" dirty="0"/>
              <a:t>Technology Projects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2"/>
            <a:ext cx="10855960" cy="38952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715" indent="-227329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IT</a:t>
            </a:r>
            <a:r>
              <a:rPr spc="-1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projects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can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very</a:t>
            </a:r>
            <a:r>
              <a:rPr spc="-8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diverse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terms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size,</a:t>
            </a:r>
            <a:r>
              <a:rPr spc="4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complexity,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products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produced, </a:t>
            </a:r>
            <a:r>
              <a:rPr spc="-20" dirty="0" smtClean="0">
                <a:solidFill>
                  <a:schemeClr val="bg1"/>
                </a:solidFill>
              </a:rPr>
              <a:t>application</a:t>
            </a:r>
            <a:r>
              <a:rPr spc="-90"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area,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resource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requirements</a:t>
            </a: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IT</a:t>
            </a:r>
            <a:r>
              <a:rPr spc="-16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project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team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members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often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have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diverse</a:t>
            </a:r>
            <a:r>
              <a:rPr spc="-114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backgrounds</a:t>
            </a:r>
            <a:r>
              <a:rPr spc="-10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and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skill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sets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IT</a:t>
            </a:r>
            <a:r>
              <a:rPr spc="5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projects</a:t>
            </a:r>
            <a:r>
              <a:rPr spc="5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</a:t>
            </a:r>
            <a:r>
              <a:rPr spc="5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diverse</a:t>
            </a:r>
            <a:r>
              <a:rPr spc="5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technologies</a:t>
            </a:r>
            <a:r>
              <a:rPr spc="5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5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change</a:t>
            </a:r>
            <a:r>
              <a:rPr spc="5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rapidly;</a:t>
            </a:r>
            <a:r>
              <a:rPr spc="5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even</a:t>
            </a:r>
            <a:r>
              <a:rPr spc="5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within</a:t>
            </a:r>
            <a:r>
              <a:rPr spc="57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one </a:t>
            </a:r>
            <a:r>
              <a:rPr spc="-10" dirty="0" smtClean="0">
                <a:solidFill>
                  <a:schemeClr val="bg1"/>
                </a:solidFill>
              </a:rPr>
              <a:t>technology</a:t>
            </a:r>
            <a:r>
              <a:rPr spc="-120" dirty="0" smtClean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area,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people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must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highly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specialized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91399"/>
            <a:ext cx="870394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0" dirty="0"/>
              <a:t>The</a:t>
            </a:r>
            <a:r>
              <a:rPr spc="-245" dirty="0"/>
              <a:t> </a:t>
            </a:r>
            <a:r>
              <a:rPr spc="-10" dirty="0"/>
              <a:t>Context</a:t>
            </a:r>
            <a:r>
              <a:rPr spc="-229" dirty="0"/>
              <a:t> </a:t>
            </a:r>
            <a:r>
              <a:rPr dirty="0"/>
              <a:t>of</a:t>
            </a:r>
            <a:r>
              <a:rPr spc="-240" dirty="0"/>
              <a:t> </a:t>
            </a:r>
            <a:r>
              <a:rPr spc="-20" dirty="0"/>
              <a:t>Information</a:t>
            </a:r>
            <a:r>
              <a:rPr spc="-210" dirty="0"/>
              <a:t> </a:t>
            </a:r>
            <a:r>
              <a:rPr spc="-10" dirty="0"/>
              <a:t>Technology Projects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2"/>
            <a:ext cx="10855960" cy="42297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301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chemeClr val="bg1"/>
                </a:solidFill>
              </a:rPr>
              <a:t>Recent</a:t>
            </a:r>
            <a:r>
              <a:rPr sz="2200" spc="14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trends</a:t>
            </a:r>
            <a:r>
              <a:rPr sz="2200" spc="14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such</a:t>
            </a:r>
            <a:r>
              <a:rPr sz="2200" spc="14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as</a:t>
            </a:r>
            <a:r>
              <a:rPr sz="2200" spc="12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increased</a:t>
            </a:r>
            <a:r>
              <a:rPr sz="2200" spc="15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globalization,</a:t>
            </a:r>
            <a:r>
              <a:rPr sz="2200" spc="12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outsourcing,</a:t>
            </a:r>
            <a:r>
              <a:rPr sz="2200" spc="18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virtual</a:t>
            </a:r>
            <a:r>
              <a:rPr sz="2200" spc="14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teams,</a:t>
            </a:r>
            <a:r>
              <a:rPr sz="2200" spc="14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and</a:t>
            </a:r>
            <a:r>
              <a:rPr sz="2200" spc="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agile </a:t>
            </a:r>
            <a:r>
              <a:rPr sz="2200" dirty="0">
                <a:solidFill>
                  <a:schemeClr val="bg1"/>
                </a:solidFill>
              </a:rPr>
              <a:t>project</a:t>
            </a:r>
            <a:r>
              <a:rPr sz="2200" spc="-8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management</a:t>
            </a:r>
            <a:r>
              <a:rPr sz="2200" spc="-7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are</a:t>
            </a:r>
            <a:r>
              <a:rPr sz="2200" spc="-8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creating</a:t>
            </a:r>
            <a:r>
              <a:rPr sz="2200" spc="-8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additional</a:t>
            </a:r>
            <a:r>
              <a:rPr sz="2200" spc="-7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challenges</a:t>
            </a:r>
            <a:r>
              <a:rPr sz="2200" spc="-8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and</a:t>
            </a:r>
            <a:r>
              <a:rPr sz="2200" spc="-7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opportunities</a:t>
            </a:r>
            <a:r>
              <a:rPr sz="2200" spc="-65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for</a:t>
            </a:r>
            <a:r>
              <a:rPr sz="2200" spc="-8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IT</a:t>
            </a:r>
            <a:r>
              <a:rPr sz="2200" spc="-10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project managers</a:t>
            </a:r>
            <a:r>
              <a:rPr sz="2200" spc="-14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and</a:t>
            </a:r>
            <a:r>
              <a:rPr sz="2200" spc="-140" dirty="0">
                <a:solidFill>
                  <a:schemeClr val="bg1"/>
                </a:solidFill>
              </a:rPr>
              <a:t> </a:t>
            </a:r>
            <a:r>
              <a:rPr sz="2200" dirty="0">
                <a:solidFill>
                  <a:schemeClr val="bg1"/>
                </a:solidFill>
              </a:rPr>
              <a:t>their</a:t>
            </a:r>
            <a:r>
              <a:rPr sz="2200" spc="-135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teams:</a:t>
            </a:r>
            <a:endParaRPr sz="2200" dirty="0">
              <a:solidFill>
                <a:schemeClr val="bg1"/>
              </a:solidFill>
            </a:endParaRPr>
          </a:p>
          <a:p>
            <a:pPr marL="927100" marR="5080" lvl="1" indent="-457200" algn="just">
              <a:lnSpc>
                <a:spcPct val="130000"/>
              </a:lnSpc>
              <a:spcBef>
                <a:spcPts val="1000"/>
              </a:spcBef>
              <a:buAutoNum type="arabicPeriod"/>
              <a:tabLst>
                <a:tab pos="927100" algn="l"/>
              </a:tabLst>
            </a:pP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Globalization:</a:t>
            </a:r>
            <a:r>
              <a:rPr sz="2200" spc="2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lower</a:t>
            </a:r>
            <a:r>
              <a:rPr sz="2200" spc="22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trade</a:t>
            </a:r>
            <a:r>
              <a:rPr sz="2200" spc="2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200" spc="22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political</a:t>
            </a:r>
            <a:r>
              <a:rPr sz="2200" spc="22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barriers</a:t>
            </a:r>
            <a:r>
              <a:rPr sz="2200" spc="27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200" spc="2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spc="22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digital</a:t>
            </a:r>
            <a:r>
              <a:rPr sz="2200" spc="2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revolution</a:t>
            </a:r>
            <a:r>
              <a:rPr sz="2200" spc="2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chemeClr val="bg1"/>
                </a:solidFill>
                <a:latin typeface="Arial MT"/>
                <a:cs typeface="Arial MT"/>
              </a:rPr>
              <a:t>have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made</a:t>
            </a:r>
            <a:r>
              <a:rPr sz="2200" spc="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it</a:t>
            </a:r>
            <a:r>
              <a:rPr sz="2200" spc="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possible</a:t>
            </a:r>
            <a:r>
              <a:rPr sz="2200" spc="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200" spc="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interact</a:t>
            </a:r>
            <a:r>
              <a:rPr sz="2200" spc="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almost</a:t>
            </a:r>
            <a:r>
              <a:rPr sz="2200" spc="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instantaneously</a:t>
            </a:r>
            <a:r>
              <a:rPr sz="2200" spc="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with</a:t>
            </a:r>
            <a:r>
              <a:rPr sz="2200" spc="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billions</a:t>
            </a:r>
            <a:r>
              <a:rPr sz="2200" spc="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200" spc="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other</a:t>
            </a:r>
            <a:r>
              <a:rPr sz="2200" spc="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people across</a:t>
            </a:r>
            <a:r>
              <a:rPr sz="22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planet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927100" marR="5080" lvl="1" indent="-457200" algn="just">
              <a:lnSpc>
                <a:spcPct val="130000"/>
              </a:lnSpc>
              <a:spcBef>
                <a:spcPts val="994"/>
              </a:spcBef>
              <a:buAutoNum type="arabicPeriod"/>
              <a:tabLst>
                <a:tab pos="927100" algn="l"/>
              </a:tabLst>
            </a:pP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Outsourcing:</a:t>
            </a:r>
            <a:r>
              <a:rPr sz="2200" spc="110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outsourcing</a:t>
            </a:r>
            <a:r>
              <a:rPr sz="2200" spc="105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sz="2200" spc="100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when</a:t>
            </a:r>
            <a:r>
              <a:rPr sz="2200" spc="114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</a:t>
            </a:r>
            <a:r>
              <a:rPr sz="2200" spc="100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organization</a:t>
            </a:r>
            <a:r>
              <a:rPr sz="2200" spc="114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acquires</a:t>
            </a:r>
            <a:r>
              <a:rPr sz="2200" spc="110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goods</a:t>
            </a:r>
            <a:r>
              <a:rPr sz="2200" spc="114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and/or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sources</a:t>
            </a:r>
            <a:r>
              <a:rPr sz="2200" spc="-15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from</a:t>
            </a:r>
            <a:r>
              <a:rPr sz="2200" spc="-20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an</a:t>
            </a:r>
            <a:r>
              <a:rPr sz="2200" spc="-25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outside</a:t>
            </a:r>
            <a:r>
              <a:rPr sz="2200" spc="-15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source;</a:t>
            </a:r>
            <a:r>
              <a:rPr sz="2200" spc="5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offshoring</a:t>
            </a:r>
            <a:r>
              <a:rPr sz="2200" spc="-15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sz="2200" spc="-20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sometimes</a:t>
            </a:r>
            <a:r>
              <a:rPr sz="2200" spc="-20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used</a:t>
            </a:r>
            <a:r>
              <a:rPr sz="2200" spc="-25" dirty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200" spc="5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describe outsourcing</a:t>
            </a:r>
            <a:r>
              <a:rPr sz="22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chemeClr val="bg1"/>
                </a:solidFill>
                <a:latin typeface="Arial MT"/>
                <a:cs typeface="Arial MT"/>
              </a:rPr>
              <a:t>from</a:t>
            </a:r>
            <a:r>
              <a:rPr sz="22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another</a:t>
            </a:r>
            <a:r>
              <a:rPr sz="22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chemeClr val="bg1"/>
                </a:solidFill>
                <a:latin typeface="Arial MT"/>
                <a:cs typeface="Arial MT"/>
              </a:rPr>
              <a:t>country.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2" y="391399"/>
            <a:ext cx="870394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10" dirty="0"/>
              <a:t>The</a:t>
            </a:r>
            <a:r>
              <a:rPr spc="-245" dirty="0"/>
              <a:t> </a:t>
            </a:r>
            <a:r>
              <a:rPr spc="-10" dirty="0"/>
              <a:t>Context</a:t>
            </a:r>
            <a:r>
              <a:rPr spc="-229" dirty="0"/>
              <a:t> </a:t>
            </a:r>
            <a:r>
              <a:rPr dirty="0"/>
              <a:t>of</a:t>
            </a:r>
            <a:r>
              <a:rPr spc="-240" dirty="0"/>
              <a:t> </a:t>
            </a:r>
            <a:r>
              <a:rPr spc="-20" dirty="0"/>
              <a:t>Information</a:t>
            </a:r>
            <a:r>
              <a:rPr spc="-210" dirty="0"/>
              <a:t> </a:t>
            </a:r>
            <a:r>
              <a:rPr spc="-10" dirty="0"/>
              <a:t>Technology Projects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8677" y="1783313"/>
            <a:ext cx="10400665" cy="29104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marR="6350" indent="-455295" algn="just">
              <a:lnSpc>
                <a:spcPct val="150000"/>
              </a:lnSpc>
              <a:spcBef>
                <a:spcPts val="95"/>
              </a:spcBef>
              <a:buAutoNum type="arabicPeriod" startAt="3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Virtual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teams: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virtual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team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group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individuals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who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across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time 	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space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communication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technologies.</a:t>
            </a:r>
            <a:endParaRPr sz="2400">
              <a:latin typeface="Arial MT"/>
              <a:cs typeface="Arial MT"/>
            </a:endParaRPr>
          </a:p>
          <a:p>
            <a:pPr marL="467995" marR="5080" indent="-455295" algn="just">
              <a:lnSpc>
                <a:spcPct val="150000"/>
              </a:lnSpc>
              <a:spcBef>
                <a:spcPts val="1000"/>
              </a:spcBef>
              <a:buAutoNum type="arabicPeriod" startAt="3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Agile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management: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Agile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able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quickly</a:t>
            </a:r>
            <a:r>
              <a:rPr sz="2400" spc="1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dirty="0">
                <a:latin typeface="Arial MT"/>
                <a:cs typeface="Arial MT"/>
              </a:rPr>
              <a:t>easily,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people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feel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 </a:t>
            </a:r>
            <a:r>
              <a:rPr sz="2400" spc="-20" dirty="0">
                <a:latin typeface="Arial MT"/>
                <a:cs typeface="Arial MT"/>
              </a:rPr>
              <a:t>seen 	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used,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does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not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allow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people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work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quickly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easily.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Globalization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857" y="1965708"/>
            <a:ext cx="4041775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Char char="•"/>
              <a:tabLst>
                <a:tab pos="278130" algn="l"/>
              </a:tabLst>
            </a:pPr>
            <a:r>
              <a:rPr sz="2400" spc="-10" dirty="0">
                <a:latin typeface="Arial MT"/>
                <a:cs typeface="Arial MT"/>
              </a:rPr>
              <a:t>Issues</a:t>
            </a:r>
            <a:endParaRPr sz="2400">
              <a:latin typeface="Arial MT"/>
              <a:cs typeface="Arial MT"/>
            </a:endParaRPr>
          </a:p>
          <a:p>
            <a:pPr marL="789305" lvl="1" indent="-320040">
              <a:lnSpc>
                <a:spcPct val="100000"/>
              </a:lnSpc>
              <a:spcBef>
                <a:spcPts val="2440"/>
              </a:spcBef>
              <a:buChar char="•"/>
              <a:tabLst>
                <a:tab pos="789305" algn="l"/>
              </a:tabLst>
            </a:pPr>
            <a:r>
              <a:rPr sz="2400" spc="-10" dirty="0">
                <a:latin typeface="Arial MT"/>
                <a:cs typeface="Arial MT"/>
              </a:rPr>
              <a:t>Communications</a:t>
            </a:r>
            <a:endParaRPr sz="2400">
              <a:latin typeface="Arial MT"/>
              <a:cs typeface="Arial MT"/>
            </a:endParaRPr>
          </a:p>
          <a:p>
            <a:pPr marL="789305" lvl="1" indent="-320040">
              <a:lnSpc>
                <a:spcPct val="100000"/>
              </a:lnSpc>
              <a:spcBef>
                <a:spcPts val="2445"/>
              </a:spcBef>
              <a:buChar char="•"/>
              <a:tabLst>
                <a:tab pos="789305" algn="l"/>
              </a:tabLst>
            </a:pPr>
            <a:r>
              <a:rPr sz="2400" spc="-10" dirty="0">
                <a:latin typeface="Arial MT"/>
                <a:cs typeface="Arial MT"/>
              </a:rPr>
              <a:t>Trust</a:t>
            </a:r>
            <a:endParaRPr sz="2400">
              <a:latin typeface="Arial MT"/>
              <a:cs typeface="Arial MT"/>
            </a:endParaRPr>
          </a:p>
          <a:p>
            <a:pPr marL="789305" lvl="1" indent="-320040">
              <a:lnSpc>
                <a:spcPct val="100000"/>
              </a:lnSpc>
              <a:spcBef>
                <a:spcPts val="2435"/>
              </a:spcBef>
              <a:buChar char="•"/>
              <a:tabLst>
                <a:tab pos="789305" algn="l"/>
              </a:tabLst>
            </a:pPr>
            <a:r>
              <a:rPr sz="2400" spc="-20" dirty="0">
                <a:latin typeface="Arial MT"/>
                <a:cs typeface="Arial MT"/>
              </a:rPr>
              <a:t>Common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practices</a:t>
            </a:r>
            <a:endParaRPr sz="2400">
              <a:latin typeface="Arial MT"/>
              <a:cs typeface="Arial MT"/>
            </a:endParaRPr>
          </a:p>
          <a:p>
            <a:pPr marL="789305" lvl="1" indent="-320040">
              <a:lnSpc>
                <a:spcPct val="100000"/>
              </a:lnSpc>
              <a:spcBef>
                <a:spcPts val="2440"/>
              </a:spcBef>
              <a:buChar char="•"/>
              <a:tabLst>
                <a:tab pos="789305" algn="l"/>
              </a:tabLst>
            </a:pPr>
            <a:r>
              <a:rPr sz="2400" spc="-10" dirty="0">
                <a:latin typeface="Arial MT"/>
                <a:cs typeface="Arial MT"/>
              </a:rPr>
              <a:t>Tools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35931" y="1965708"/>
            <a:ext cx="5159375" cy="309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130" indent="-265430">
              <a:lnSpc>
                <a:spcPct val="100000"/>
              </a:lnSpc>
              <a:spcBef>
                <a:spcPts val="100"/>
              </a:spcBef>
              <a:buChar char="•"/>
              <a:tabLst>
                <a:tab pos="278130" algn="l"/>
              </a:tabLst>
            </a:pPr>
            <a:r>
              <a:rPr sz="2400" spc="-10" dirty="0">
                <a:latin typeface="Arial MT"/>
                <a:cs typeface="Arial MT"/>
              </a:rPr>
              <a:t>Suggestions</a:t>
            </a:r>
            <a:endParaRPr sz="24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440"/>
              </a:spcBef>
              <a:buChar char="•"/>
              <a:tabLst>
                <a:tab pos="789940" algn="l"/>
              </a:tabLst>
            </a:pPr>
            <a:r>
              <a:rPr sz="2400" spc="-10" dirty="0">
                <a:latin typeface="Arial MT"/>
                <a:cs typeface="Arial MT"/>
              </a:rPr>
              <a:t>Employ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greater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discipline</a:t>
            </a:r>
            <a:endParaRPr sz="24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445"/>
              </a:spcBef>
              <a:buChar char="•"/>
              <a:tabLst>
                <a:tab pos="789940" algn="l"/>
              </a:tabLst>
            </a:pPr>
            <a:r>
              <a:rPr sz="2400" spc="-10" dirty="0">
                <a:latin typeface="Arial MT"/>
                <a:cs typeface="Arial MT"/>
              </a:rPr>
              <a:t>Think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global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local</a:t>
            </a:r>
            <a:endParaRPr sz="24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435"/>
              </a:spcBef>
              <a:buChar char="•"/>
              <a:tabLst>
                <a:tab pos="789940" algn="l"/>
              </a:tabLst>
            </a:pPr>
            <a:r>
              <a:rPr sz="2400" spc="-10" dirty="0">
                <a:latin typeface="Arial MT"/>
                <a:cs typeface="Arial MT"/>
              </a:rPr>
              <a:t>Keep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momentum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going</a:t>
            </a:r>
            <a:endParaRPr sz="2400">
              <a:latin typeface="Arial MT"/>
              <a:cs typeface="Arial MT"/>
            </a:endParaRPr>
          </a:p>
          <a:p>
            <a:pPr marL="789940" lvl="1" indent="-320040">
              <a:lnSpc>
                <a:spcPct val="100000"/>
              </a:lnSpc>
              <a:spcBef>
                <a:spcPts val="2440"/>
              </a:spcBef>
              <a:buChar char="•"/>
              <a:tabLst>
                <a:tab pos="789940" algn="l"/>
              </a:tabLst>
            </a:pPr>
            <a:r>
              <a:rPr sz="2400" spc="-10" dirty="0">
                <a:latin typeface="Arial MT"/>
                <a:cs typeface="Arial MT"/>
              </a:rPr>
              <a:t>Use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newer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tools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Outsourcing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2" y="1786934"/>
            <a:ext cx="7343775" cy="1132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40000"/>
              </a:lnSpc>
              <a:spcBef>
                <a:spcPts val="95"/>
              </a:spcBef>
              <a:buChar char="•"/>
              <a:tabLst>
                <a:tab pos="241300" algn="l"/>
                <a:tab pos="2586355" algn="l"/>
                <a:tab pos="3897629" algn="l"/>
                <a:tab pos="5869940" algn="l"/>
                <a:tab pos="6523990" algn="l"/>
              </a:tabLst>
            </a:pPr>
            <a:r>
              <a:rPr sz="2600" spc="-10" dirty="0">
                <a:latin typeface="Arial MT"/>
                <a:cs typeface="Arial MT"/>
              </a:rPr>
              <a:t>Organizations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remain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competitive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by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using advantage,</a:t>
            </a:r>
            <a:r>
              <a:rPr sz="2600" spc="-1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such</a:t>
            </a:r>
            <a:r>
              <a:rPr sz="2600" spc="-1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as</a:t>
            </a:r>
            <a:r>
              <a:rPr sz="2600" spc="-1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finding</a:t>
            </a:r>
            <a:r>
              <a:rPr sz="2600" spc="-1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ways</a:t>
            </a:r>
            <a:r>
              <a:rPr sz="2600" spc="-1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1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reduce</a:t>
            </a:r>
            <a:r>
              <a:rPr sz="2600" spc="-17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costs.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65060" y="1944372"/>
            <a:ext cx="3263265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28825" algn="l"/>
                <a:tab pos="2604770" algn="l"/>
              </a:tabLst>
            </a:pPr>
            <a:r>
              <a:rPr sz="2600" spc="-10" dirty="0">
                <a:latin typeface="Arial MT"/>
                <a:cs typeface="Arial MT"/>
              </a:rPr>
              <a:t>outsourcing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to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0" dirty="0">
                <a:latin typeface="Arial MT"/>
                <a:cs typeface="Arial MT"/>
              </a:rPr>
              <a:t>their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219" y="3022832"/>
            <a:ext cx="10855960" cy="29418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4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Their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next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challenge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make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strategic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IT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investments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outsourcing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improving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their</a:t>
            </a:r>
            <a:r>
              <a:rPr sz="2600" spc="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enterprise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architecture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ensure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IT</a:t>
            </a:r>
            <a:r>
              <a:rPr sz="2600" spc="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infrastructure and</a:t>
            </a:r>
            <a:r>
              <a:rPr sz="2600" spc="-1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business</a:t>
            </a:r>
            <a:r>
              <a:rPr sz="2600" spc="-1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processes</a:t>
            </a:r>
            <a:r>
              <a:rPr sz="2600" spc="-1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are</a:t>
            </a:r>
            <a:r>
              <a:rPr sz="2600" spc="-12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integrated</a:t>
            </a:r>
            <a:r>
              <a:rPr sz="2600" spc="-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13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standardized.</a:t>
            </a:r>
            <a:endParaRPr sz="2600">
              <a:latin typeface="Arial MT"/>
              <a:cs typeface="Arial MT"/>
            </a:endParaRPr>
          </a:p>
          <a:p>
            <a:pPr marL="241300" marR="5715" indent="-228600" algn="just">
              <a:lnSpc>
                <a:spcPct val="14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Project</a:t>
            </a:r>
            <a:r>
              <a:rPr sz="2600" spc="32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managers</a:t>
            </a:r>
            <a:r>
              <a:rPr sz="2600" spc="36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should</a:t>
            </a:r>
            <a:r>
              <a:rPr sz="2600" spc="32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become</a:t>
            </a:r>
            <a:r>
              <a:rPr sz="2600" spc="33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more</a:t>
            </a:r>
            <a:r>
              <a:rPr sz="2600" spc="35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familiar</a:t>
            </a:r>
            <a:r>
              <a:rPr sz="2600" spc="34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350" dirty="0">
                <a:latin typeface="Arial MT"/>
                <a:cs typeface="Arial MT"/>
              </a:rPr>
              <a:t>  </a:t>
            </a:r>
            <a:r>
              <a:rPr sz="2600" spc="-10" dirty="0">
                <a:latin typeface="Arial MT"/>
                <a:cs typeface="Arial MT"/>
              </a:rPr>
              <a:t>negotiating </a:t>
            </a:r>
            <a:r>
              <a:rPr sz="2600" dirty="0">
                <a:latin typeface="Arial MT"/>
                <a:cs typeface="Arial MT"/>
              </a:rPr>
              <a:t>contracts</a:t>
            </a:r>
            <a:r>
              <a:rPr sz="2600" spc="-1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1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other</a:t>
            </a:r>
            <a:r>
              <a:rPr sz="2600" spc="-13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outsourcing</a:t>
            </a:r>
            <a:r>
              <a:rPr sz="2600" spc="-1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issues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Virtual</a:t>
            </a:r>
            <a:r>
              <a:rPr spc="-240" dirty="0"/>
              <a:t> </a:t>
            </a:r>
            <a:r>
              <a:rPr spc="-10" dirty="0"/>
              <a:t>Teams</a:t>
            </a:r>
            <a:r>
              <a:rPr spc="-235" dirty="0"/>
              <a:t> </a:t>
            </a:r>
            <a:r>
              <a:rPr spc="-10" dirty="0"/>
              <a:t>(Advantages)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2"/>
            <a:ext cx="10855960" cy="51382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10795" indent="-227329">
              <a:lnSpc>
                <a:spcPct val="13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Increasing</a:t>
            </a:r>
            <a:r>
              <a:rPr spc="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competitiveness</a:t>
            </a:r>
            <a:r>
              <a:rPr spc="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1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responsiveness</a:t>
            </a:r>
            <a:r>
              <a:rPr spc="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having</a:t>
            </a:r>
            <a:r>
              <a:rPr spc="13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1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team</a:t>
            </a:r>
            <a:r>
              <a:rPr spc="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11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workers 	available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24/7.</a:t>
            </a:r>
          </a:p>
          <a:p>
            <a:pPr marL="240029" marR="10160" indent="-227329">
              <a:lnSpc>
                <a:spcPct val="13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Lowering</a:t>
            </a:r>
            <a:r>
              <a:rPr spc="22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costs</a:t>
            </a:r>
            <a:r>
              <a:rPr spc="2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because</a:t>
            </a:r>
            <a:r>
              <a:rPr spc="2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many</a:t>
            </a:r>
            <a:r>
              <a:rPr spc="2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virtual</a:t>
            </a:r>
            <a:r>
              <a:rPr spc="2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workers</a:t>
            </a:r>
            <a:r>
              <a:rPr spc="2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do</a:t>
            </a:r>
            <a:r>
              <a:rPr spc="2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not</a:t>
            </a:r>
            <a:r>
              <a:rPr spc="22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require</a:t>
            </a:r>
            <a:r>
              <a:rPr spc="2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office</a:t>
            </a:r>
            <a:r>
              <a:rPr spc="2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space</a:t>
            </a:r>
            <a:r>
              <a:rPr spc="21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or 	</a:t>
            </a:r>
            <a:r>
              <a:rPr spc="-10" dirty="0">
                <a:solidFill>
                  <a:schemeClr val="bg1"/>
                </a:solidFill>
              </a:rPr>
              <a:t>support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beyond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their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home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offices.</a:t>
            </a:r>
          </a:p>
          <a:p>
            <a:pPr marL="240029" indent="-227329">
              <a:lnSpc>
                <a:spcPct val="100000"/>
              </a:lnSpc>
              <a:spcBef>
                <a:spcPts val="1870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Providing</a:t>
            </a:r>
            <a:r>
              <a:rPr spc="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more</a:t>
            </a:r>
            <a:r>
              <a:rPr spc="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expertise</a:t>
            </a:r>
            <a:r>
              <a:rPr spc="1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flexibility</a:t>
            </a:r>
            <a:r>
              <a:rPr spc="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having</a:t>
            </a:r>
            <a:r>
              <a:rPr spc="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team</a:t>
            </a:r>
            <a:r>
              <a:rPr spc="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members</a:t>
            </a:r>
            <a:r>
              <a:rPr spc="1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from</a:t>
            </a:r>
            <a:r>
              <a:rPr spc="1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across</a:t>
            </a:r>
          </a:p>
          <a:p>
            <a:pPr marL="241300">
              <a:lnSpc>
                <a:spcPct val="100000"/>
              </a:lnSpc>
              <a:spcBef>
                <a:spcPts val="865"/>
              </a:spcBef>
            </a:pPr>
            <a:r>
              <a:rPr dirty="0">
                <a:solidFill>
                  <a:schemeClr val="bg1"/>
                </a:solidFill>
              </a:rPr>
              <a:t>the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globe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working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any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time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day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or</a:t>
            </a:r>
            <a:r>
              <a:rPr spc="-15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night.</a:t>
            </a:r>
          </a:p>
          <a:p>
            <a:pPr marL="240029" indent="-227329">
              <a:lnSpc>
                <a:spcPct val="100000"/>
              </a:lnSpc>
              <a:spcBef>
                <a:spcPts val="1860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Increasing</a:t>
            </a:r>
            <a:r>
              <a:rPr spc="114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work/life</a:t>
            </a:r>
            <a:r>
              <a:rPr spc="1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balance</a:t>
            </a:r>
            <a:r>
              <a:rPr spc="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team</a:t>
            </a:r>
            <a:r>
              <a:rPr spc="14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members</a:t>
            </a:r>
            <a:r>
              <a:rPr spc="15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by</a:t>
            </a:r>
            <a:r>
              <a:rPr spc="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eliminating</a:t>
            </a:r>
            <a:r>
              <a:rPr spc="1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fixed</a:t>
            </a:r>
            <a:r>
              <a:rPr spc="1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office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21" y="658371"/>
            <a:ext cx="8956675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Virtual</a:t>
            </a:r>
            <a:r>
              <a:rPr spc="-240" dirty="0"/>
              <a:t> </a:t>
            </a:r>
            <a:r>
              <a:rPr spc="-10" dirty="0"/>
              <a:t>Teams</a:t>
            </a:r>
            <a:r>
              <a:rPr spc="-235" dirty="0"/>
              <a:t> </a:t>
            </a:r>
            <a:r>
              <a:rPr spc="-10" dirty="0"/>
              <a:t>(Disadvantages)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1219" y="1806601"/>
            <a:ext cx="10855960" cy="4468505"/>
          </a:xfrm>
          <a:prstGeom prst="rect">
            <a:avLst/>
          </a:prstGeom>
        </p:spPr>
        <p:txBody>
          <a:bodyPr vert="horz" wrap="square" lIns="0" tIns="144373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Isolating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team</a:t>
            </a:r>
            <a:r>
              <a:rPr spc="-14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members.</a:t>
            </a:r>
          </a:p>
          <a:p>
            <a:pPr marL="240029" indent="-227329">
              <a:lnSpc>
                <a:spcPct val="100000"/>
              </a:lnSpc>
              <a:spcBef>
                <a:spcPts val="2145"/>
              </a:spcBef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Increasing</a:t>
            </a:r>
            <a:r>
              <a:rPr spc="-1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-12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potential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communications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problems.</a:t>
            </a:r>
          </a:p>
          <a:p>
            <a:pPr marL="240029" marR="6985" indent="-227329">
              <a:lnSpc>
                <a:spcPct val="14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dirty="0">
                <a:solidFill>
                  <a:schemeClr val="bg1"/>
                </a:solidFill>
              </a:rPr>
              <a:t>Reducing</a:t>
            </a:r>
            <a:r>
              <a:rPr spc="3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the</a:t>
            </a:r>
            <a:r>
              <a:rPr spc="4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ability</a:t>
            </a:r>
            <a:r>
              <a:rPr spc="4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4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team</a:t>
            </a:r>
            <a:r>
              <a:rPr spc="3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members</a:t>
            </a:r>
            <a:r>
              <a:rPr spc="4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35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network</a:t>
            </a:r>
            <a:r>
              <a:rPr spc="409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4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transfer</a:t>
            </a:r>
            <a:r>
              <a:rPr spc="4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information 	informally.</a:t>
            </a:r>
          </a:p>
          <a:p>
            <a:pPr marL="240029" indent="-227329">
              <a:lnSpc>
                <a:spcPct val="100000"/>
              </a:lnSpc>
              <a:spcBef>
                <a:spcPts val="2150"/>
              </a:spcBef>
              <a:buChar char="•"/>
              <a:tabLst>
                <a:tab pos="240029" algn="l"/>
              </a:tabLst>
            </a:pPr>
            <a:r>
              <a:rPr spc="-10" dirty="0">
                <a:solidFill>
                  <a:schemeClr val="bg1"/>
                </a:solidFill>
              </a:rPr>
              <a:t>Increasing</a:t>
            </a:r>
            <a:r>
              <a:rPr spc="-13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the</a:t>
            </a:r>
            <a:r>
              <a:rPr spc="-14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dependence</a:t>
            </a:r>
            <a:r>
              <a:rPr spc="-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on</a:t>
            </a:r>
            <a:r>
              <a:rPr spc="-13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technology</a:t>
            </a:r>
            <a:r>
              <a:rPr spc="-1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to</a:t>
            </a:r>
            <a:r>
              <a:rPr spc="-150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accomplish</a:t>
            </a:r>
            <a:r>
              <a:rPr spc="-10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work.</a:t>
            </a:r>
          </a:p>
          <a:p>
            <a:pPr marL="240029" indent="-227329">
              <a:lnSpc>
                <a:spcPct val="100000"/>
              </a:lnSpc>
              <a:spcBef>
                <a:spcPts val="2150"/>
              </a:spcBef>
              <a:buChar char="•"/>
              <a:tabLst>
                <a:tab pos="240029" algn="l"/>
              </a:tabLst>
            </a:pPr>
            <a:r>
              <a:rPr dirty="0">
                <a:solidFill>
                  <a:schemeClr val="bg1"/>
                </a:solidFill>
              </a:rPr>
              <a:t>See</a:t>
            </a:r>
            <a:r>
              <a:rPr spc="28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text</a:t>
            </a:r>
            <a:r>
              <a:rPr spc="2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for</a:t>
            </a:r>
            <a:r>
              <a:rPr spc="30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</a:t>
            </a:r>
            <a:r>
              <a:rPr spc="26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list</a:t>
            </a:r>
            <a:r>
              <a:rPr spc="2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of</a:t>
            </a:r>
            <a:r>
              <a:rPr spc="27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factors</a:t>
            </a:r>
            <a:r>
              <a:rPr spc="29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that</a:t>
            </a:r>
            <a:r>
              <a:rPr spc="3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help</a:t>
            </a:r>
            <a:r>
              <a:rPr spc="27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virtual</a:t>
            </a:r>
            <a:r>
              <a:rPr spc="29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teams</a:t>
            </a:r>
            <a:r>
              <a:rPr spc="28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succeed,</a:t>
            </a:r>
            <a:r>
              <a:rPr spc="30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including</a:t>
            </a:r>
            <a:r>
              <a:rPr spc="305" dirty="0">
                <a:solidFill>
                  <a:schemeClr val="bg1"/>
                </a:solidFill>
              </a:rPr>
              <a:t> </a:t>
            </a:r>
            <a:r>
              <a:rPr spc="-20" dirty="0">
                <a:solidFill>
                  <a:schemeClr val="bg1"/>
                </a:solidFill>
              </a:rPr>
              <a:t>team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9600" y="524576"/>
            <a:ext cx="10972800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Chapter</a:t>
            </a:r>
            <a:r>
              <a:rPr spc="-26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21" y="1924560"/>
            <a:ext cx="10633075" cy="35785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har char="•"/>
              <a:tabLst>
                <a:tab pos="239395" algn="l"/>
              </a:tabLst>
            </a:pPr>
            <a:r>
              <a:rPr sz="2000" spc="-10" dirty="0">
                <a:latin typeface="Arial MT"/>
                <a:cs typeface="Arial MT"/>
              </a:rPr>
              <a:t>Project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managers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approach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working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projects.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55"/>
              </a:spcBef>
              <a:buChar char="•"/>
              <a:tabLst>
                <a:tab pos="239395" algn="l"/>
              </a:tabLst>
            </a:pPr>
            <a:r>
              <a:rPr sz="2000" spc="-10" dirty="0">
                <a:latin typeface="Arial MT"/>
                <a:cs typeface="Arial MT"/>
              </a:rPr>
              <a:t>Organizations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different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frames: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structural,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human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resources,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political,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symbolic.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70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structure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culture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organization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strong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implications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managers.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55"/>
              </a:spcBef>
              <a:buChar char="•"/>
              <a:tabLst>
                <a:tab pos="239395" algn="l"/>
              </a:tabLst>
            </a:pPr>
            <a:r>
              <a:rPr sz="2000" spc="-10" dirty="0">
                <a:latin typeface="Arial MT"/>
                <a:cs typeface="Arial MT"/>
              </a:rPr>
              <a:t>Projects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should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successfully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phase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life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cycle.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55"/>
              </a:spcBef>
              <a:buChar char="•"/>
              <a:tabLst>
                <a:tab pos="239395" algn="l"/>
              </a:tabLst>
            </a:pPr>
            <a:r>
              <a:rPr sz="2000" spc="-10" dirty="0">
                <a:latin typeface="Arial MT"/>
                <a:cs typeface="Arial MT"/>
              </a:rPr>
              <a:t>Project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managers</a:t>
            </a:r>
            <a:r>
              <a:rPr sz="2000" spc="-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consider</a:t>
            </a:r>
            <a:r>
              <a:rPr sz="2000" spc="-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several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factors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unique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context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information</a:t>
            </a:r>
            <a:endParaRPr sz="20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965"/>
              </a:spcBef>
            </a:pPr>
            <a:r>
              <a:rPr sz="2000" spc="-10" dirty="0">
                <a:latin typeface="Arial MT"/>
                <a:cs typeface="Arial MT"/>
              </a:rPr>
              <a:t>technology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projects.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964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Recent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trends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affecting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project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management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include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globalization,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outsourcing,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virtual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9820" y="5571603"/>
            <a:ext cx="791211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spc="-10" dirty="0">
                <a:latin typeface="Arial MT"/>
                <a:cs typeface="Arial MT"/>
              </a:rPr>
              <a:t>teams.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15</TotalTime>
  <Words>1260</Words>
  <Application>Microsoft Office PowerPoint</Application>
  <PresentationFormat>Custom</PresentationFormat>
  <Paragraphs>186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Apex</vt:lpstr>
      <vt:lpstr>Chapter 2: The Project Management and Information Technology Context</vt:lpstr>
      <vt:lpstr>Contents:</vt:lpstr>
      <vt:lpstr>Week Learning Outcome: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A Systems View of Project Management</vt:lpstr>
      <vt:lpstr>Project and Product Life Cycles</vt:lpstr>
      <vt:lpstr>Project and Product Life Cycles</vt:lpstr>
      <vt:lpstr>Project and Product Life Cycles</vt:lpstr>
      <vt:lpstr>Project and Product Life Cycles</vt:lpstr>
      <vt:lpstr>Project and Product Life Cycles</vt:lpstr>
      <vt:lpstr>Project and Product Life Cycles</vt:lpstr>
      <vt:lpstr>Project and Product Life Cycles</vt:lpstr>
      <vt:lpstr>Project and Product Life Cycles</vt:lpstr>
      <vt:lpstr>Project and Product Life Cycles</vt:lpstr>
      <vt:lpstr>The Context of Information Technology Projects</vt:lpstr>
      <vt:lpstr>The Context of Information Technology Projects</vt:lpstr>
      <vt:lpstr>The Context of Information Technology Projects</vt:lpstr>
      <vt:lpstr>Globalization</vt:lpstr>
      <vt:lpstr>Outsourcing</vt:lpstr>
      <vt:lpstr>Virtual Teams (Advantages)</vt:lpstr>
      <vt:lpstr>Virtual Teams (Disadvantages)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The Project Management and Information Technology Context</dc:title>
  <cp:lastModifiedBy>Rashid</cp:lastModifiedBy>
  <cp:revision>6</cp:revision>
  <dcterms:created xsi:type="dcterms:W3CDTF">2026-09-28T15:52:46Z</dcterms:created>
  <dcterms:modified xsi:type="dcterms:W3CDTF">2026-09-29T11:35:29Z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