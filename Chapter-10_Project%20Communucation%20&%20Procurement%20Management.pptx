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5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15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mtClean="0"/>
              <a:t>management</a:t>
            </a:r>
            <a:r>
              <a:rPr lang="en-US" spc="-55" smtClean="0"/>
              <a:t> </a:t>
            </a:r>
            <a:r>
              <a:rPr lang="en-US" smtClean="0"/>
              <a:t>(9th</a:t>
            </a:r>
            <a:r>
              <a:rPr lang="en-US" spc="-25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4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5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15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mtClean="0"/>
              <a:t>management</a:t>
            </a:r>
            <a:r>
              <a:rPr lang="en-US" spc="-55" smtClean="0"/>
              <a:t> </a:t>
            </a:r>
            <a:r>
              <a:rPr lang="en-US" smtClean="0"/>
              <a:t>(9th</a:t>
            </a:r>
            <a:r>
              <a:rPr lang="en-US" spc="-25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4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5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15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mtClean="0"/>
              <a:t>management</a:t>
            </a:r>
            <a:r>
              <a:rPr lang="en-US" spc="-55" smtClean="0"/>
              <a:t> </a:t>
            </a:r>
            <a:r>
              <a:rPr lang="en-US" smtClean="0"/>
              <a:t>(9th</a:t>
            </a:r>
            <a:r>
              <a:rPr lang="en-US" spc="-25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4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5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15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mtClean="0"/>
              <a:t>management</a:t>
            </a:r>
            <a:r>
              <a:rPr lang="en-US" spc="-55" smtClean="0"/>
              <a:t> </a:t>
            </a:r>
            <a:r>
              <a:rPr lang="en-US" smtClean="0"/>
              <a:t>(9th</a:t>
            </a:r>
            <a:r>
              <a:rPr lang="en-US" spc="-25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4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5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15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mtClean="0"/>
              <a:t>management</a:t>
            </a:r>
            <a:r>
              <a:rPr lang="en-US" spc="-55" smtClean="0"/>
              <a:t> </a:t>
            </a:r>
            <a:r>
              <a:rPr lang="en-US" smtClean="0"/>
              <a:t>(9th</a:t>
            </a:r>
            <a:r>
              <a:rPr lang="en-US" spc="-25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4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5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15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mtClean="0"/>
              <a:t>management</a:t>
            </a:r>
            <a:r>
              <a:rPr lang="en-US" spc="-55" smtClean="0"/>
              <a:t> </a:t>
            </a:r>
            <a:r>
              <a:rPr lang="en-US" smtClean="0"/>
              <a:t>(9th</a:t>
            </a:r>
            <a:r>
              <a:rPr lang="en-US" spc="-25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4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5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15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mtClean="0"/>
              <a:t>management</a:t>
            </a:r>
            <a:r>
              <a:rPr lang="en-US" spc="-55" smtClean="0"/>
              <a:t> </a:t>
            </a:r>
            <a:r>
              <a:rPr lang="en-US" smtClean="0"/>
              <a:t>(9th</a:t>
            </a:r>
            <a:r>
              <a:rPr lang="en-US" spc="-25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4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5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15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mtClean="0"/>
              <a:t>management</a:t>
            </a:r>
            <a:r>
              <a:rPr lang="en-US" spc="-55" smtClean="0"/>
              <a:t> </a:t>
            </a:r>
            <a:r>
              <a:rPr lang="en-US" smtClean="0"/>
              <a:t>(9th</a:t>
            </a:r>
            <a:r>
              <a:rPr lang="en-US" spc="-25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4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5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15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mtClean="0"/>
              <a:t>management</a:t>
            </a:r>
            <a:r>
              <a:rPr lang="en-US" spc="-55" smtClean="0"/>
              <a:t> </a:t>
            </a:r>
            <a:r>
              <a:rPr lang="en-US" smtClean="0"/>
              <a:t>(9th</a:t>
            </a:r>
            <a:r>
              <a:rPr lang="en-US" spc="-25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4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5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15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mtClean="0"/>
              <a:t>management</a:t>
            </a:r>
            <a:r>
              <a:rPr lang="en-US" spc="-55" smtClean="0"/>
              <a:t> </a:t>
            </a:r>
            <a:r>
              <a:rPr lang="en-US" smtClean="0"/>
              <a:t>(9th</a:t>
            </a:r>
            <a:r>
              <a:rPr lang="en-US" spc="-25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4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5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15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mtClean="0"/>
              <a:t>management</a:t>
            </a:r>
            <a:r>
              <a:rPr lang="en-US" spc="-55" smtClean="0"/>
              <a:t> </a:t>
            </a:r>
            <a:r>
              <a:rPr lang="en-US" smtClean="0"/>
              <a:t>(9th</a:t>
            </a:r>
            <a:r>
              <a:rPr lang="en-US" spc="-25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4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5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15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mtClean="0"/>
              <a:t>management</a:t>
            </a:r>
            <a:r>
              <a:rPr lang="en-US" spc="-55" smtClean="0"/>
              <a:t> </a:t>
            </a:r>
            <a:r>
              <a:rPr lang="en-US" smtClean="0"/>
              <a:t>(9th</a:t>
            </a:r>
            <a:r>
              <a:rPr lang="en-US" spc="-25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4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01061" y="2401029"/>
            <a:ext cx="7428739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3200" dirty="0" smtClean="0">
                <a:solidFill>
                  <a:schemeClr val="bg1"/>
                </a:solidFill>
                <a:latin typeface="Arial MT"/>
                <a:cs typeface="Arial MT"/>
              </a:rPr>
              <a:t>Chapter</a:t>
            </a:r>
            <a:r>
              <a:rPr sz="320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25" dirty="0" smtClean="0">
                <a:solidFill>
                  <a:schemeClr val="bg1"/>
                </a:solidFill>
                <a:latin typeface="Arial MT"/>
                <a:cs typeface="Arial MT"/>
              </a:rPr>
              <a:t>1</a:t>
            </a:r>
            <a:r>
              <a:rPr lang="en-US" sz="3200" spc="-25" dirty="0" smtClean="0">
                <a:solidFill>
                  <a:schemeClr val="bg1"/>
                </a:solidFill>
                <a:latin typeface="Arial MT"/>
                <a:cs typeface="Arial MT"/>
              </a:rPr>
              <a:t>0</a:t>
            </a:r>
            <a:r>
              <a:rPr sz="3200" spc="-25" dirty="0" smtClean="0">
                <a:solidFill>
                  <a:schemeClr val="bg1"/>
                </a:solidFill>
                <a:latin typeface="Arial MT"/>
                <a:cs typeface="Arial MT"/>
              </a:rPr>
              <a:t>: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2065" marR="5080" algn="ctr">
              <a:lnSpc>
                <a:spcPct val="100000"/>
              </a:lnSpc>
            </a:pP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3200" spc="-7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Communications</a:t>
            </a:r>
            <a:r>
              <a:rPr sz="3200" spc="-7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Arial MT"/>
                <a:cs typeface="Arial MT"/>
              </a:rPr>
              <a:t>Management </a:t>
            </a: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3200" spc="-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Procurement</a:t>
            </a:r>
            <a:r>
              <a:rPr sz="3200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Arial MT"/>
                <a:cs typeface="Arial MT"/>
              </a:rPr>
              <a:t>Management</a:t>
            </a:r>
            <a:endParaRPr sz="3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895601"/>
            <a:ext cx="6165215" cy="3995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20" dirty="0">
                <a:latin typeface="Courier New"/>
                <a:cs typeface="Courier New"/>
              </a:rPr>
              <a:t>Project</a:t>
            </a:r>
            <a:r>
              <a:rPr sz="1700" spc="-45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Communications</a:t>
            </a:r>
            <a:r>
              <a:rPr sz="1700" spc="-4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Management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0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20" dirty="0">
                <a:latin typeface="Courier New"/>
                <a:cs typeface="Courier New"/>
              </a:rPr>
              <a:t>Keys</a:t>
            </a:r>
            <a:r>
              <a:rPr sz="1700" spc="-484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to</a:t>
            </a:r>
            <a:r>
              <a:rPr sz="1700" spc="-50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Good</a:t>
            </a:r>
            <a:r>
              <a:rPr sz="1700" spc="-509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Communications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20" dirty="0">
                <a:latin typeface="Courier New"/>
                <a:cs typeface="Courier New"/>
              </a:rPr>
              <a:t>Planning</a:t>
            </a:r>
            <a:r>
              <a:rPr sz="1700" spc="-445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Communications</a:t>
            </a:r>
            <a:r>
              <a:rPr sz="1700" spc="-43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Management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2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20" dirty="0">
                <a:latin typeface="Courier New"/>
                <a:cs typeface="Courier New"/>
              </a:rPr>
              <a:t>Managing</a:t>
            </a:r>
            <a:r>
              <a:rPr sz="1700" spc="-46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Communications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20" dirty="0">
                <a:latin typeface="Courier New"/>
                <a:cs typeface="Courier New"/>
              </a:rPr>
              <a:t>Monitoring</a:t>
            </a:r>
            <a:r>
              <a:rPr sz="1700" spc="-44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Communications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20" dirty="0">
                <a:latin typeface="Courier New"/>
                <a:cs typeface="Courier New"/>
              </a:rPr>
              <a:t>The</a:t>
            </a:r>
            <a:r>
              <a:rPr sz="1700" spc="-455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Importance</a:t>
            </a:r>
            <a:r>
              <a:rPr sz="1700" spc="-450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of</a:t>
            </a:r>
            <a:r>
              <a:rPr sz="1700" spc="-459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Project</a:t>
            </a:r>
            <a:r>
              <a:rPr sz="1700" spc="-450" dirty="0">
                <a:latin typeface="Courier New"/>
                <a:cs typeface="Courier New"/>
              </a:rPr>
              <a:t> </a:t>
            </a:r>
            <a:r>
              <a:rPr sz="1700" spc="-25" dirty="0">
                <a:latin typeface="Courier New"/>
                <a:cs typeface="Courier New"/>
              </a:rPr>
              <a:t>Procurement</a:t>
            </a:r>
            <a:r>
              <a:rPr sz="1700" spc="-45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Management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2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20" dirty="0">
                <a:latin typeface="Courier New"/>
                <a:cs typeface="Courier New"/>
              </a:rPr>
              <a:t>Planning</a:t>
            </a:r>
            <a:r>
              <a:rPr sz="1700" spc="-459" dirty="0">
                <a:latin typeface="Courier New"/>
                <a:cs typeface="Courier New"/>
              </a:rPr>
              <a:t> </a:t>
            </a:r>
            <a:r>
              <a:rPr sz="1700" spc="-20" dirty="0">
                <a:latin typeface="Courier New"/>
                <a:cs typeface="Courier New"/>
              </a:rPr>
              <a:t>Procurement</a:t>
            </a:r>
            <a:r>
              <a:rPr sz="1700" spc="-44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Management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20" dirty="0">
                <a:latin typeface="Courier New"/>
                <a:cs typeface="Courier New"/>
              </a:rPr>
              <a:t>Conducting</a:t>
            </a:r>
            <a:r>
              <a:rPr sz="1700" spc="-445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Procurements</a:t>
            </a:r>
            <a:endParaRPr sz="17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60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spc="-20" dirty="0">
                <a:latin typeface="Courier New"/>
                <a:cs typeface="Courier New"/>
              </a:rPr>
              <a:t>Controlling</a:t>
            </a:r>
            <a:r>
              <a:rPr sz="1700" spc="-440" dirty="0">
                <a:latin typeface="Courier New"/>
                <a:cs typeface="Courier New"/>
              </a:rPr>
              <a:t> </a:t>
            </a:r>
            <a:r>
              <a:rPr sz="1700" spc="-10" dirty="0">
                <a:latin typeface="Courier New"/>
                <a:cs typeface="Courier New"/>
              </a:rPr>
              <a:t>Procurements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Week</a:t>
            </a:r>
            <a:r>
              <a:rPr spc="-1210" dirty="0"/>
              <a:t> </a:t>
            </a:r>
            <a:r>
              <a:rPr spc="-120" dirty="0"/>
              <a:t>12</a:t>
            </a:r>
            <a:r>
              <a:rPr spc="-1435" dirty="0"/>
              <a:t> </a:t>
            </a:r>
            <a:r>
              <a:rPr spc="-35" dirty="0"/>
              <a:t>Learning</a:t>
            </a:r>
            <a:r>
              <a:rPr spc="-1245" dirty="0"/>
              <a:t> </a:t>
            </a:r>
            <a:r>
              <a:rPr spc="-10" dirty="0"/>
              <a:t>Outcome: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806600"/>
            <a:ext cx="10323195" cy="4892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84455" indent="-228600">
              <a:lnSpc>
                <a:spcPct val="13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20" dirty="0">
                <a:latin typeface="Courier New"/>
                <a:cs typeface="Courier New"/>
              </a:rPr>
              <a:t>Discuss</a:t>
            </a:r>
            <a:r>
              <a:rPr sz="2200" spc="-59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the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importance</a:t>
            </a:r>
            <a:r>
              <a:rPr sz="2200" spc="-60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of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project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communications</a:t>
            </a:r>
            <a:r>
              <a:rPr sz="2200" spc="-59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management</a:t>
            </a:r>
            <a:r>
              <a:rPr sz="2200" spc="-59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and </a:t>
            </a:r>
            <a:r>
              <a:rPr sz="2200" spc="-20" dirty="0">
                <a:latin typeface="Courier New"/>
                <a:cs typeface="Courier New"/>
              </a:rPr>
              <a:t>project</a:t>
            </a:r>
            <a:r>
              <a:rPr sz="2200" spc="-58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procurement</a:t>
            </a:r>
            <a:r>
              <a:rPr sz="2200" spc="-5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management.</a:t>
            </a:r>
            <a:endParaRPr sz="2200">
              <a:latin typeface="Courier New"/>
              <a:cs typeface="Courier New"/>
            </a:endParaRPr>
          </a:p>
          <a:p>
            <a:pPr marL="241300" marR="1007744" indent="-228600">
              <a:lnSpc>
                <a:spcPct val="13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20" dirty="0">
                <a:latin typeface="Courier New"/>
                <a:cs typeface="Courier New"/>
              </a:rPr>
              <a:t>Explain</a:t>
            </a:r>
            <a:r>
              <a:rPr sz="2200" spc="-60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why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identifying</a:t>
            </a:r>
            <a:r>
              <a:rPr sz="2200" spc="-59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project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stakeholders</a:t>
            </a:r>
            <a:r>
              <a:rPr sz="2200" spc="-59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and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managing </a:t>
            </a:r>
            <a:r>
              <a:rPr sz="2200" spc="-20" dirty="0">
                <a:latin typeface="Courier New"/>
                <a:cs typeface="Courier New"/>
              </a:rPr>
              <a:t>stakeholder</a:t>
            </a:r>
            <a:r>
              <a:rPr sz="2200" spc="-59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expectations</a:t>
            </a:r>
            <a:r>
              <a:rPr sz="2200" spc="-58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are</a:t>
            </a:r>
            <a:r>
              <a:rPr sz="2200" spc="-59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important.</a:t>
            </a:r>
            <a:endParaRPr sz="2200">
              <a:latin typeface="Courier New"/>
              <a:cs typeface="Courier New"/>
            </a:endParaRPr>
          </a:p>
          <a:p>
            <a:pPr marL="241300" marR="5080" indent="-228600">
              <a:lnSpc>
                <a:spcPct val="1301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20" dirty="0">
                <a:latin typeface="Courier New"/>
                <a:cs typeface="Courier New"/>
              </a:rPr>
              <a:t>Explore</a:t>
            </a:r>
            <a:r>
              <a:rPr sz="2200" spc="-60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strategies,</a:t>
            </a:r>
            <a:r>
              <a:rPr sz="2200" spc="-60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processes,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tools,</a:t>
            </a:r>
            <a:r>
              <a:rPr sz="2200" spc="-62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and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techniques</a:t>
            </a:r>
            <a:r>
              <a:rPr sz="2200" spc="-60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used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in </a:t>
            </a:r>
            <a:r>
              <a:rPr sz="2200" spc="-20" dirty="0">
                <a:latin typeface="Courier New"/>
                <a:cs typeface="Courier New"/>
              </a:rPr>
              <a:t>project</a:t>
            </a:r>
            <a:r>
              <a:rPr sz="2200" spc="-59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communication</a:t>
            </a:r>
            <a:r>
              <a:rPr sz="2200" spc="-58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and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procurement</a:t>
            </a:r>
            <a:r>
              <a:rPr sz="2200" spc="-6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management.</a:t>
            </a:r>
            <a:endParaRPr sz="2200">
              <a:latin typeface="Courier New"/>
              <a:cs typeface="Courier New"/>
            </a:endParaRPr>
          </a:p>
          <a:p>
            <a:pPr marL="241300" marR="516255" indent="-228600">
              <a:lnSpc>
                <a:spcPct val="13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20" dirty="0">
                <a:latin typeface="Courier New"/>
                <a:cs typeface="Courier New"/>
              </a:rPr>
              <a:t>Outline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the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elements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of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communications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plan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and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procurement </a:t>
            </a:r>
            <a:r>
              <a:rPr sz="2200" spc="-20" dirty="0">
                <a:latin typeface="Courier New"/>
                <a:cs typeface="Courier New"/>
              </a:rPr>
              <a:t>management</a:t>
            </a:r>
            <a:r>
              <a:rPr sz="2200" spc="-5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plan.</a:t>
            </a:r>
            <a:endParaRPr sz="2200">
              <a:latin typeface="Courier New"/>
              <a:cs typeface="Courier New"/>
            </a:endParaRPr>
          </a:p>
          <a:p>
            <a:pPr marL="241300" marR="421640" indent="-228600">
              <a:lnSpc>
                <a:spcPct val="13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20" dirty="0">
                <a:latin typeface="Courier New"/>
                <a:cs typeface="Courier New"/>
              </a:rPr>
              <a:t>Discuss</a:t>
            </a:r>
            <a:r>
              <a:rPr sz="2200" spc="-59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strategies</a:t>
            </a:r>
            <a:r>
              <a:rPr sz="2200" spc="-60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used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in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conducting,</a:t>
            </a:r>
            <a:r>
              <a:rPr sz="2200" spc="-59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administering,</a:t>
            </a:r>
            <a:r>
              <a:rPr sz="2200" spc="-59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and </a:t>
            </a:r>
            <a:r>
              <a:rPr sz="2200" spc="-20" dirty="0">
                <a:latin typeface="Courier New"/>
                <a:cs typeface="Courier New"/>
              </a:rPr>
              <a:t>closing</a:t>
            </a:r>
            <a:r>
              <a:rPr sz="2200" spc="-60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procurements.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Project</a:t>
            </a:r>
            <a:r>
              <a:rPr spc="-1190" dirty="0"/>
              <a:t> </a:t>
            </a:r>
            <a:r>
              <a:rPr spc="-30" dirty="0"/>
              <a:t>Communications</a:t>
            </a:r>
            <a:r>
              <a:rPr spc="-123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282813"/>
          </a:xfrm>
          <a:prstGeom prst="rect">
            <a:avLst/>
          </a:prstGeom>
        </p:spPr>
        <p:txBody>
          <a:bodyPr vert="horz" wrap="square" lIns="0" tIns="144373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chemeClr val="bg1"/>
                </a:solidFill>
              </a:rPr>
              <a:t>Communication</a:t>
            </a:r>
            <a:r>
              <a:rPr sz="2400" spc="-790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failure</a:t>
            </a:r>
            <a:r>
              <a:rPr sz="2400" spc="-770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leads</a:t>
            </a:r>
            <a:r>
              <a:rPr sz="2400" spc="-76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to</a:t>
            </a:r>
            <a:r>
              <a:rPr sz="2400" spc="-770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the</a:t>
            </a:r>
            <a:r>
              <a:rPr sz="2400" spc="-770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failure</a:t>
            </a:r>
            <a:r>
              <a:rPr sz="2400" spc="-76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of</a:t>
            </a:r>
            <a:r>
              <a:rPr sz="2400" spc="-76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projects</a:t>
            </a:r>
            <a:endParaRPr sz="2400" dirty="0">
              <a:solidFill>
                <a:schemeClr val="bg1"/>
              </a:solidFill>
            </a:endParaRPr>
          </a:p>
          <a:p>
            <a:pPr marL="240029" indent="-227329">
              <a:lnSpc>
                <a:spcPct val="100000"/>
              </a:lnSpc>
              <a:spcBef>
                <a:spcPts val="214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chemeClr val="bg1"/>
                </a:solidFill>
              </a:rPr>
              <a:t>Communication</a:t>
            </a:r>
            <a:r>
              <a:rPr sz="2400" spc="275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failure</a:t>
            </a:r>
            <a:r>
              <a:rPr sz="2400" spc="295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occurs</a:t>
            </a:r>
            <a:r>
              <a:rPr sz="2400" spc="335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between</a:t>
            </a:r>
            <a:r>
              <a:rPr sz="2400" spc="335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IT</a:t>
            </a:r>
            <a:r>
              <a:rPr sz="2400" spc="55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professionals</a:t>
            </a:r>
            <a:r>
              <a:rPr sz="2400" spc="360" dirty="0">
                <a:solidFill>
                  <a:schemeClr val="bg1"/>
                </a:solidFill>
              </a:rPr>
              <a:t> </a:t>
            </a:r>
            <a:r>
              <a:rPr sz="2400" spc="-25" dirty="0">
                <a:solidFill>
                  <a:schemeClr val="bg1"/>
                </a:solidFill>
              </a:rPr>
              <a:t>and</a:t>
            </a:r>
            <a:endParaRPr sz="2400" dirty="0">
              <a:solidFill>
                <a:schemeClr val="bg1"/>
              </a:solidFill>
            </a:endParaRPr>
          </a:p>
          <a:p>
            <a:pPr marL="241300">
              <a:lnSpc>
                <a:spcPct val="100000"/>
              </a:lnSpc>
              <a:spcBef>
                <a:spcPts val="1155"/>
              </a:spcBef>
            </a:pPr>
            <a:r>
              <a:rPr sz="2400" dirty="0">
                <a:solidFill>
                  <a:schemeClr val="bg1"/>
                </a:solidFill>
              </a:rPr>
              <a:t>nontechnical</a:t>
            </a:r>
            <a:r>
              <a:rPr sz="2400" spc="-78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business</a:t>
            </a:r>
            <a:r>
              <a:rPr sz="2400" spc="-77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teammates.</a:t>
            </a:r>
            <a:endParaRPr sz="2400" dirty="0">
              <a:solidFill>
                <a:schemeClr val="bg1"/>
              </a:solidFill>
            </a:endParaRPr>
          </a:p>
          <a:p>
            <a:pPr marL="240029" indent="-227329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chemeClr val="bg1"/>
                </a:solidFill>
              </a:rPr>
              <a:t>Three</a:t>
            </a:r>
            <a:r>
              <a:rPr sz="2400" spc="-75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key</a:t>
            </a:r>
            <a:r>
              <a:rPr sz="2400" spc="-760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processes</a:t>
            </a:r>
            <a:r>
              <a:rPr sz="2400" spc="-75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in</a:t>
            </a:r>
            <a:r>
              <a:rPr sz="2400" spc="-76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Project</a:t>
            </a:r>
            <a:r>
              <a:rPr sz="2400" spc="-75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Communications</a:t>
            </a:r>
            <a:r>
              <a:rPr sz="2400" spc="-75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Management</a:t>
            </a:r>
            <a:endParaRPr sz="2400" dirty="0">
              <a:solidFill>
                <a:schemeClr val="bg1"/>
              </a:solidFill>
            </a:endParaRPr>
          </a:p>
          <a:p>
            <a:pPr marL="735330" lvl="1" indent="-265430">
              <a:lnSpc>
                <a:spcPct val="100000"/>
              </a:lnSpc>
              <a:spcBef>
                <a:spcPts val="2150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Planning</a:t>
            </a:r>
            <a:r>
              <a:rPr sz="2400" spc="-7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communications</a:t>
            </a:r>
            <a:r>
              <a:rPr sz="2400" spc="-7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management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150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Managing</a:t>
            </a:r>
            <a:r>
              <a:rPr sz="2400" spc="-7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communications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Monitoring</a:t>
            </a:r>
            <a:r>
              <a:rPr sz="2400" spc="-7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Courier New"/>
                <a:cs typeface="Courier New"/>
              </a:rPr>
              <a:t>communications</a:t>
            </a:r>
            <a:endParaRPr sz="2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Keys</a:t>
            </a:r>
            <a:r>
              <a:rPr spc="-1230" dirty="0"/>
              <a:t> </a:t>
            </a:r>
            <a:r>
              <a:rPr spc="-35" dirty="0"/>
              <a:t>to</a:t>
            </a:r>
            <a:r>
              <a:rPr spc="-1265" dirty="0"/>
              <a:t> </a:t>
            </a:r>
            <a:r>
              <a:rPr spc="-35" dirty="0"/>
              <a:t>Good</a:t>
            </a:r>
            <a:r>
              <a:rPr spc="-1255" dirty="0"/>
              <a:t> </a:t>
            </a:r>
            <a:r>
              <a:rPr spc="-10" dirty="0"/>
              <a:t>Communications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07793"/>
            <a:ext cx="10899140" cy="2485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20" dirty="0">
                <a:latin typeface="Courier New"/>
                <a:cs typeface="Courier New"/>
              </a:rPr>
              <a:t>Communicating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effectively</a:t>
            </a:r>
            <a:r>
              <a:rPr sz="2200" spc="-62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with</a:t>
            </a:r>
            <a:r>
              <a:rPr sz="2200" spc="-60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other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people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is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challenging</a:t>
            </a:r>
            <a:r>
              <a:rPr sz="2200" spc="-61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job.</a:t>
            </a:r>
            <a:endParaRPr sz="2200">
              <a:latin typeface="Courier New"/>
              <a:cs typeface="Courier New"/>
            </a:endParaRPr>
          </a:p>
          <a:p>
            <a:pPr marL="735965" lvl="1" indent="-266065">
              <a:lnSpc>
                <a:spcPct val="100000"/>
              </a:lnSpc>
              <a:spcBef>
                <a:spcPts val="1750"/>
              </a:spcBef>
              <a:buFont typeface="Arial MT"/>
              <a:buChar char="•"/>
              <a:tabLst>
                <a:tab pos="735965" algn="l"/>
              </a:tabLst>
            </a:pPr>
            <a:r>
              <a:rPr sz="2200" b="1" dirty="0">
                <a:latin typeface="Courier New"/>
                <a:cs typeface="Courier New"/>
              </a:rPr>
              <a:t>Focusing</a:t>
            </a:r>
            <a:r>
              <a:rPr sz="2200" b="1" spc="-5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on</a:t>
            </a:r>
            <a:r>
              <a:rPr sz="2200" b="1" spc="-7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group</a:t>
            </a:r>
            <a:r>
              <a:rPr sz="2200" b="1" spc="-5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and</a:t>
            </a:r>
            <a:r>
              <a:rPr sz="2200" b="1" spc="-8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individual</a:t>
            </a:r>
            <a:r>
              <a:rPr sz="2200" b="1" spc="-3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communication</a:t>
            </a:r>
            <a:r>
              <a:rPr sz="2200" b="1" spc="-15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ourier New"/>
                <a:cs typeface="Courier New"/>
              </a:rPr>
              <a:t>needs</a:t>
            </a:r>
            <a:endParaRPr sz="2200">
              <a:latin typeface="Courier New"/>
              <a:cs typeface="Courier New"/>
            </a:endParaRPr>
          </a:p>
          <a:p>
            <a:pPr marL="1247140" marR="5080" lvl="2" indent="-320040">
              <a:lnSpc>
                <a:spcPct val="130000"/>
              </a:lnSpc>
              <a:spcBef>
                <a:spcPts val="1035"/>
              </a:spcBef>
              <a:buFont typeface="Arial MT"/>
              <a:buChar char="•"/>
              <a:tabLst>
                <a:tab pos="1247140" algn="l"/>
              </a:tabLst>
            </a:pPr>
            <a:r>
              <a:rPr sz="2200" dirty="0">
                <a:latin typeface="Courier New"/>
                <a:cs typeface="Courier New"/>
              </a:rPr>
              <a:t>the</a:t>
            </a:r>
            <a:r>
              <a:rPr sz="2200" spc="-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complexity</a:t>
            </a:r>
            <a:r>
              <a:rPr sz="2200" spc="-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1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communications</a:t>
            </a:r>
            <a:r>
              <a:rPr sz="2200" spc="9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increases  with</a:t>
            </a:r>
            <a:r>
              <a:rPr sz="2200" spc="70" dirty="0">
                <a:latin typeface="Courier New"/>
                <a:cs typeface="Courier New"/>
              </a:rPr>
              <a:t>  </a:t>
            </a:r>
            <a:r>
              <a:rPr sz="2200" spc="-25" dirty="0">
                <a:latin typeface="Courier New"/>
                <a:cs typeface="Courier New"/>
              </a:rPr>
              <a:t>the </a:t>
            </a:r>
            <a:r>
              <a:rPr sz="2200" spc="-20" dirty="0">
                <a:latin typeface="Courier New"/>
                <a:cs typeface="Courier New"/>
              </a:rPr>
              <a:t>increasing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number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of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team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members.</a:t>
            </a:r>
            <a:endParaRPr sz="2200">
              <a:latin typeface="Courier New"/>
              <a:cs typeface="Courier New"/>
            </a:endParaRPr>
          </a:p>
          <a:p>
            <a:pPr marL="1247140" lvl="2" indent="-32004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1247140" algn="l"/>
                <a:tab pos="3760470" algn="l"/>
                <a:tab pos="5701030" algn="l"/>
                <a:tab pos="8291830" algn="l"/>
              </a:tabLst>
            </a:pPr>
            <a:r>
              <a:rPr sz="2200" dirty="0">
                <a:latin typeface="Courier New"/>
                <a:cs typeface="Courier New"/>
              </a:rPr>
              <a:t>People</a:t>
            </a:r>
            <a:r>
              <a:rPr sz="2200" spc="229" dirty="0">
                <a:latin typeface="Courier New"/>
                <a:cs typeface="Courier New"/>
              </a:rPr>
              <a:t>  </a:t>
            </a:r>
            <a:r>
              <a:rPr sz="2200" spc="-20" dirty="0">
                <a:latin typeface="Courier New"/>
                <a:cs typeface="Courier New"/>
              </a:rPr>
              <a:t>with</a:t>
            </a:r>
            <a:r>
              <a:rPr sz="2200" dirty="0">
                <a:latin typeface="Courier New"/>
                <a:cs typeface="Courier New"/>
              </a:rPr>
              <a:t>	</a:t>
            </a:r>
            <a:r>
              <a:rPr sz="2200" spc="-10" dirty="0">
                <a:latin typeface="Courier New"/>
                <a:cs typeface="Courier New"/>
              </a:rPr>
              <a:t>different</a:t>
            </a:r>
            <a:r>
              <a:rPr sz="2200" dirty="0">
                <a:latin typeface="Courier New"/>
                <a:cs typeface="Courier New"/>
              </a:rPr>
              <a:t>	</a:t>
            </a:r>
            <a:r>
              <a:rPr sz="2200" spc="-10" dirty="0">
                <a:latin typeface="Courier New"/>
                <a:cs typeface="Courier New"/>
              </a:rPr>
              <a:t>personalities</a:t>
            </a:r>
            <a:r>
              <a:rPr sz="2200" dirty="0">
                <a:latin typeface="Courier New"/>
                <a:cs typeface="Courier New"/>
              </a:rPr>
              <a:t>	have</a:t>
            </a:r>
            <a:r>
              <a:rPr sz="2200" spc="65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different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85873" y="4468748"/>
            <a:ext cx="8112759" cy="148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latin typeface="Courier New"/>
                <a:cs typeface="Courier New"/>
              </a:rPr>
              <a:t>communication</a:t>
            </a:r>
            <a:r>
              <a:rPr sz="2200" spc="-56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needs</a:t>
            </a:r>
            <a:endParaRPr sz="2200">
              <a:latin typeface="Courier New"/>
              <a:cs typeface="Courier New"/>
            </a:endParaRPr>
          </a:p>
          <a:p>
            <a:pPr marL="332105" indent="-319405">
              <a:lnSpc>
                <a:spcPct val="100000"/>
              </a:lnSpc>
              <a:spcBef>
                <a:spcPts val="1785"/>
              </a:spcBef>
              <a:buFont typeface="Arial MT"/>
              <a:buChar char="•"/>
              <a:tabLst>
                <a:tab pos="332105" algn="l"/>
              </a:tabLst>
            </a:pPr>
            <a:r>
              <a:rPr sz="2200" spc="-20" dirty="0">
                <a:latin typeface="Courier New"/>
                <a:cs typeface="Courier New"/>
              </a:rPr>
              <a:t>Be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aware</a:t>
            </a:r>
            <a:r>
              <a:rPr sz="2200" spc="-65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of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your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own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communication</a:t>
            </a:r>
            <a:r>
              <a:rPr sz="2200" spc="-61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style</a:t>
            </a:r>
            <a:endParaRPr sz="2200">
              <a:latin typeface="Courier New"/>
              <a:cs typeface="Courier New"/>
            </a:endParaRPr>
          </a:p>
          <a:p>
            <a:pPr marL="332105" indent="-319405">
              <a:lnSpc>
                <a:spcPct val="100000"/>
              </a:lnSpc>
              <a:spcBef>
                <a:spcPts val="1789"/>
              </a:spcBef>
              <a:buFont typeface="Arial MT"/>
              <a:buChar char="•"/>
              <a:tabLst>
                <a:tab pos="332105" algn="l"/>
              </a:tabLst>
            </a:pPr>
            <a:r>
              <a:rPr sz="2200" dirty="0">
                <a:latin typeface="Courier New"/>
                <a:cs typeface="Courier New"/>
              </a:rPr>
              <a:t>People  with</a:t>
            </a:r>
            <a:r>
              <a:rPr sz="2200" spc="-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different</a:t>
            </a:r>
            <a:r>
              <a:rPr sz="2200" spc="1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cultural</a:t>
            </a:r>
            <a:r>
              <a:rPr sz="2200" spc="15" dirty="0">
                <a:latin typeface="Courier New"/>
                <a:cs typeface="Courier New"/>
              </a:rPr>
              <a:t>  </a:t>
            </a:r>
            <a:r>
              <a:rPr sz="2200" spc="-10" dirty="0">
                <a:latin typeface="Courier New"/>
                <a:cs typeface="Courier New"/>
              </a:rPr>
              <a:t>backgrounds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38993" y="5593181"/>
            <a:ext cx="15252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ourier New"/>
                <a:cs typeface="Courier New"/>
              </a:rPr>
              <a:t>and</a:t>
            </a:r>
            <a:r>
              <a:rPr sz="2200" spc="20" dirty="0">
                <a:latin typeface="Courier New"/>
                <a:cs typeface="Courier New"/>
              </a:rPr>
              <a:t>  </a:t>
            </a:r>
            <a:r>
              <a:rPr sz="2200" spc="-35" dirty="0">
                <a:latin typeface="Courier New"/>
                <a:cs typeface="Courier New"/>
              </a:rPr>
              <a:t>from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5914" y="6029655"/>
            <a:ext cx="94132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latin typeface="Courier New"/>
                <a:cs typeface="Courier New"/>
              </a:rPr>
              <a:t>different</a:t>
            </a:r>
            <a:r>
              <a:rPr sz="2200" spc="-59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countries</a:t>
            </a:r>
            <a:r>
              <a:rPr sz="2200" spc="-59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also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have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different</a:t>
            </a:r>
            <a:r>
              <a:rPr sz="2200" spc="-60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communication</a:t>
            </a:r>
            <a:r>
              <a:rPr sz="2200" spc="-59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needs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Keys</a:t>
            </a:r>
            <a:r>
              <a:rPr spc="-1230" dirty="0"/>
              <a:t> </a:t>
            </a:r>
            <a:r>
              <a:rPr spc="-35" dirty="0"/>
              <a:t>to</a:t>
            </a:r>
            <a:r>
              <a:rPr spc="-1265" dirty="0"/>
              <a:t> </a:t>
            </a:r>
            <a:r>
              <a:rPr spc="-35" dirty="0"/>
              <a:t>Good</a:t>
            </a:r>
            <a:r>
              <a:rPr spc="-1255" dirty="0"/>
              <a:t> </a:t>
            </a:r>
            <a:r>
              <a:rPr spc="-10" dirty="0"/>
              <a:t>Communications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8674" y="1932178"/>
            <a:ext cx="10441940" cy="397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8130" algn="l"/>
              </a:tabLst>
            </a:pPr>
            <a:r>
              <a:rPr sz="2400" b="1" dirty="0">
                <a:latin typeface="Courier New"/>
                <a:cs typeface="Courier New"/>
              </a:rPr>
              <a:t>Formal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and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Informal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methods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for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communicating</a:t>
            </a:r>
            <a:endParaRPr sz="2400">
              <a:latin typeface="Courier New"/>
              <a:cs typeface="Courier New"/>
            </a:endParaRPr>
          </a:p>
          <a:p>
            <a:pPr marL="789305" lvl="1" indent="-319405">
              <a:lnSpc>
                <a:spcPct val="100000"/>
              </a:lnSpc>
              <a:spcBef>
                <a:spcPts val="2195"/>
              </a:spcBef>
              <a:buFont typeface="Arial MT"/>
              <a:buChar char="•"/>
              <a:tabLst>
                <a:tab pos="789305" algn="l"/>
              </a:tabLst>
            </a:pPr>
            <a:r>
              <a:rPr sz="2400" spc="-10" dirty="0">
                <a:latin typeface="Courier New"/>
                <a:cs typeface="Courier New"/>
              </a:rPr>
              <a:t>Informal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communications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are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preferred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by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many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people</a:t>
            </a:r>
            <a:endParaRPr sz="2400">
              <a:latin typeface="Courier New"/>
              <a:cs typeface="Courier New"/>
            </a:endParaRPr>
          </a:p>
          <a:p>
            <a:pPr marL="789305" marR="7620" lvl="1" indent="-320040">
              <a:lnSpc>
                <a:spcPct val="140000"/>
              </a:lnSpc>
              <a:spcBef>
                <a:spcPts val="1010"/>
              </a:spcBef>
              <a:buFont typeface="Arial MT"/>
              <a:buChar char="•"/>
              <a:tabLst>
                <a:tab pos="789305" algn="l"/>
              </a:tabLst>
            </a:pPr>
            <a:r>
              <a:rPr sz="2400" dirty="0">
                <a:latin typeface="Courier New"/>
                <a:cs typeface="Courier New"/>
              </a:rPr>
              <a:t>Many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people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love</a:t>
            </a:r>
            <a:r>
              <a:rPr sz="2400" spc="-43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2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talk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or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have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5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two-way</a:t>
            </a:r>
            <a:r>
              <a:rPr sz="2400" spc="-4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conversation rather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than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reading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reports</a:t>
            </a:r>
            <a:endParaRPr sz="2400">
              <a:latin typeface="Courier New"/>
              <a:cs typeface="Courier New"/>
            </a:endParaRPr>
          </a:p>
          <a:p>
            <a:pPr marL="789305" marR="5080" lvl="1" indent="-320040">
              <a:lnSpc>
                <a:spcPct val="140000"/>
              </a:lnSpc>
              <a:spcBef>
                <a:spcPts val="1000"/>
              </a:spcBef>
              <a:buFont typeface="Arial MT"/>
              <a:buChar char="•"/>
              <a:tabLst>
                <a:tab pos="789305" algn="l"/>
              </a:tabLst>
            </a:pPr>
            <a:r>
              <a:rPr sz="2400" dirty="0">
                <a:latin typeface="Courier New"/>
                <a:cs typeface="Courier New"/>
              </a:rPr>
              <a:t>Excellent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managers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have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ability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promote relationships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through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good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communication</a:t>
            </a:r>
            <a:endParaRPr sz="2400">
              <a:latin typeface="Courier New"/>
              <a:cs typeface="Courier New"/>
            </a:endParaRPr>
          </a:p>
          <a:p>
            <a:pPr marL="789305" lvl="1" indent="-319405">
              <a:lnSpc>
                <a:spcPct val="100000"/>
              </a:lnSpc>
              <a:spcBef>
                <a:spcPts val="2145"/>
              </a:spcBef>
              <a:buFont typeface="Arial MT"/>
              <a:buChar char="•"/>
              <a:tabLst>
                <a:tab pos="789305" algn="l"/>
              </a:tabLst>
            </a:pPr>
            <a:r>
              <a:rPr sz="2400" spc="-10" dirty="0">
                <a:latin typeface="Courier New"/>
                <a:cs typeface="Courier New"/>
              </a:rPr>
              <a:t>They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must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empathic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listeners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Keys</a:t>
            </a:r>
            <a:r>
              <a:rPr spc="-1230" dirty="0"/>
              <a:t> </a:t>
            </a:r>
            <a:r>
              <a:rPr spc="-35" dirty="0"/>
              <a:t>to</a:t>
            </a:r>
            <a:r>
              <a:rPr spc="-1265" dirty="0"/>
              <a:t> </a:t>
            </a:r>
            <a:r>
              <a:rPr spc="-35" dirty="0"/>
              <a:t>Good</a:t>
            </a:r>
            <a:r>
              <a:rPr spc="-1255" dirty="0"/>
              <a:t> </a:t>
            </a:r>
            <a:r>
              <a:rPr spc="-10" dirty="0"/>
              <a:t>Communications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8674" y="1777216"/>
            <a:ext cx="2668270" cy="1804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130" marR="5080" indent="-265430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79400" algn="l"/>
              </a:tabLst>
            </a:pPr>
            <a:r>
              <a:rPr sz="2400" b="1" spc="-10" dirty="0">
                <a:latin typeface="Courier New"/>
                <a:cs typeface="Courier New"/>
              </a:rPr>
              <a:t>Distributing 	</a:t>
            </a:r>
            <a:r>
              <a:rPr sz="2400" b="1" dirty="0">
                <a:latin typeface="Courier New"/>
                <a:cs typeface="Courier New"/>
              </a:rPr>
              <a:t>timely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manner</a:t>
            </a:r>
            <a:endParaRPr sz="2400">
              <a:latin typeface="Courier New"/>
              <a:cs typeface="Courier New"/>
            </a:endParaRPr>
          </a:p>
          <a:p>
            <a:pPr marL="789305" lvl="1" indent="-319405">
              <a:lnSpc>
                <a:spcPct val="100000"/>
              </a:lnSpc>
              <a:spcBef>
                <a:spcPts val="2485"/>
              </a:spcBef>
              <a:buFont typeface="Arial MT"/>
              <a:buChar char="•"/>
              <a:tabLst>
                <a:tab pos="789305" algn="l"/>
              </a:tabLst>
            </a:pPr>
            <a:r>
              <a:rPr sz="2400" spc="-10" dirty="0">
                <a:latin typeface="Courier New"/>
                <a:cs typeface="Courier New"/>
              </a:rPr>
              <a:t>Technical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09771" y="1959609"/>
            <a:ext cx="7713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important</a:t>
            </a:r>
            <a:r>
              <a:rPr sz="2400" b="1" spc="27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information</a:t>
            </a:r>
            <a:r>
              <a:rPr sz="2400" b="1" spc="27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in</a:t>
            </a:r>
            <a:r>
              <a:rPr sz="2400" b="1" spc="27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an</a:t>
            </a:r>
            <a:r>
              <a:rPr sz="2400" b="1" spc="26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effective</a:t>
            </a:r>
            <a:r>
              <a:rPr sz="2400" b="1" spc="275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and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5595" y="3189859"/>
            <a:ext cx="2009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ourier New"/>
                <a:cs typeface="Courier New"/>
              </a:rPr>
              <a:t>information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2140" y="3189859"/>
            <a:ext cx="5300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any</a:t>
            </a:r>
            <a:r>
              <a:rPr sz="2400" spc="3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changes</a:t>
            </a:r>
            <a:r>
              <a:rPr sz="2400" spc="-2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should</a:t>
            </a:r>
            <a:r>
              <a:rPr sz="2400" spc="-3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be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5873" y="3738498"/>
            <a:ext cx="4086225" cy="1616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documented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properly</a:t>
            </a:r>
            <a:endParaRPr sz="2400">
              <a:latin typeface="Courier New"/>
              <a:cs typeface="Courier New"/>
            </a:endParaRPr>
          </a:p>
          <a:p>
            <a:pPr marL="332105" marR="5080" indent="-320040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332105" algn="l"/>
              </a:tabLst>
            </a:pPr>
            <a:r>
              <a:rPr sz="2400" dirty="0">
                <a:latin typeface="Courier New"/>
                <a:cs typeface="Courier New"/>
              </a:rPr>
              <a:t>Short</a:t>
            </a:r>
            <a:r>
              <a:rPr sz="2400" spc="-32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31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frequent important</a:t>
            </a:r>
            <a:r>
              <a:rPr sz="2400" spc="-7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information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6925" y="4415408"/>
            <a:ext cx="5891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meetings</a:t>
            </a:r>
            <a:r>
              <a:rPr sz="2400" spc="-34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2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necessary</a:t>
            </a:r>
            <a:r>
              <a:rPr sz="2400" spc="-34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370" dirty="0">
                <a:latin typeface="Courier New"/>
                <a:cs typeface="Courier New"/>
              </a:rPr>
              <a:t>  </a:t>
            </a:r>
            <a:r>
              <a:rPr sz="2400" spc="-20" dirty="0">
                <a:latin typeface="Courier New"/>
                <a:cs typeface="Courier New"/>
              </a:rPr>
              <a:t>know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5873" y="5455594"/>
            <a:ext cx="5266055" cy="11239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545"/>
              </a:spcBef>
              <a:buFont typeface="Arial MT"/>
              <a:buChar char="•"/>
              <a:tabLst>
                <a:tab pos="332105" algn="l"/>
              </a:tabLst>
            </a:pPr>
            <a:r>
              <a:rPr sz="2400" spc="-10" dirty="0">
                <a:latin typeface="Courier New"/>
                <a:cs typeface="Courier New"/>
              </a:rPr>
              <a:t>Stand-</a:t>
            </a:r>
            <a:r>
              <a:rPr sz="2400" dirty="0">
                <a:latin typeface="Courier New"/>
                <a:cs typeface="Courier New"/>
              </a:rPr>
              <a:t>up</a:t>
            </a:r>
            <a:r>
              <a:rPr sz="2400" spc="15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meetings</a:t>
            </a:r>
            <a:r>
              <a:rPr sz="2400" spc="90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force</a:t>
            </a:r>
            <a:endParaRPr sz="2400">
              <a:latin typeface="Courier New"/>
              <a:cs typeface="Courier New"/>
            </a:endParaRPr>
          </a:p>
          <a:p>
            <a:pPr marL="332105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Courier New"/>
                <a:cs typeface="Courier New"/>
              </a:rPr>
              <a:t>important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information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timely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34225" y="5638901"/>
            <a:ext cx="46323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people</a:t>
            </a:r>
            <a:r>
              <a:rPr sz="2400" spc="10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70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communication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Keys</a:t>
            </a:r>
            <a:r>
              <a:rPr spc="-1230" dirty="0"/>
              <a:t> </a:t>
            </a:r>
            <a:r>
              <a:rPr spc="-35" dirty="0"/>
              <a:t>to</a:t>
            </a:r>
            <a:r>
              <a:rPr spc="-1265" dirty="0"/>
              <a:t> </a:t>
            </a:r>
            <a:r>
              <a:rPr spc="-35" dirty="0"/>
              <a:t>Good</a:t>
            </a:r>
            <a:r>
              <a:rPr spc="-1255" dirty="0"/>
              <a:t> </a:t>
            </a:r>
            <a:r>
              <a:rPr spc="-10" dirty="0"/>
              <a:t>Communications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8674" y="1959609"/>
            <a:ext cx="10440035" cy="284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8130" algn="l"/>
              </a:tabLst>
            </a:pPr>
            <a:r>
              <a:rPr sz="2400" b="1" dirty="0">
                <a:latin typeface="Courier New"/>
                <a:cs typeface="Courier New"/>
              </a:rPr>
              <a:t>Setting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the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stage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for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communicating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bad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news</a:t>
            </a:r>
            <a:endParaRPr sz="2400">
              <a:latin typeface="Courier New"/>
              <a:cs typeface="Courier New"/>
            </a:endParaRPr>
          </a:p>
          <a:p>
            <a:pPr marL="787400" lvl="1" indent="-317500" algn="just">
              <a:lnSpc>
                <a:spcPct val="100000"/>
              </a:lnSpc>
              <a:spcBef>
                <a:spcPts val="2485"/>
              </a:spcBef>
              <a:buFont typeface="Arial MT"/>
              <a:buChar char="•"/>
              <a:tabLst>
                <a:tab pos="787400" algn="l"/>
              </a:tabLst>
            </a:pPr>
            <a:r>
              <a:rPr sz="2400" spc="-10" dirty="0">
                <a:latin typeface="Courier New"/>
                <a:cs typeface="Courier New"/>
              </a:rPr>
              <a:t>Always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communication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with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contextual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information</a:t>
            </a:r>
            <a:endParaRPr sz="2400">
              <a:latin typeface="Courier New"/>
              <a:cs typeface="Courier New"/>
            </a:endParaRPr>
          </a:p>
          <a:p>
            <a:pPr marL="786765" marR="5080" lvl="1" indent="-317500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789305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5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impact</a:t>
            </a:r>
            <a:r>
              <a:rPr sz="2400" spc="-1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114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situation</a:t>
            </a:r>
            <a:r>
              <a:rPr sz="2400" spc="-5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should</a:t>
            </a:r>
            <a:r>
              <a:rPr sz="2400" spc="-6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-215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analyzed, 	</a:t>
            </a:r>
            <a:r>
              <a:rPr sz="2400" spc="-30" dirty="0">
                <a:latin typeface="Courier New"/>
                <a:cs typeface="Courier New"/>
              </a:rPr>
              <a:t>alternatives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80" dirty="0">
                <a:latin typeface="Courier New"/>
                <a:cs typeface="Courier New"/>
              </a:rPr>
              <a:t>should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345" dirty="0">
                <a:latin typeface="Courier New"/>
                <a:cs typeface="Courier New"/>
              </a:rPr>
              <a:t>be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considered,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then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recommendations 	should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made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Keys</a:t>
            </a:r>
            <a:r>
              <a:rPr spc="-1230" dirty="0"/>
              <a:t> </a:t>
            </a:r>
            <a:r>
              <a:rPr spc="-35" dirty="0"/>
              <a:t>to</a:t>
            </a:r>
            <a:r>
              <a:rPr spc="-1265" dirty="0"/>
              <a:t> </a:t>
            </a:r>
            <a:r>
              <a:rPr spc="-35" dirty="0"/>
              <a:t>Good</a:t>
            </a:r>
            <a:r>
              <a:rPr spc="-1255" dirty="0"/>
              <a:t> </a:t>
            </a:r>
            <a:r>
              <a:rPr spc="-10" dirty="0"/>
              <a:t>Communications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8674" y="1959609"/>
            <a:ext cx="10441940" cy="419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130" indent="-26543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8130" algn="l"/>
              </a:tabLst>
            </a:pPr>
            <a:r>
              <a:rPr sz="2400" b="1" dirty="0">
                <a:latin typeface="Courier New"/>
                <a:cs typeface="Courier New"/>
              </a:rPr>
              <a:t>Determining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the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number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of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communication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channels</a:t>
            </a:r>
            <a:endParaRPr sz="2400">
              <a:latin typeface="Courier New"/>
              <a:cs typeface="Courier New"/>
            </a:endParaRPr>
          </a:p>
          <a:p>
            <a:pPr marL="786765" marR="5080" lvl="1" indent="-317500" algn="just">
              <a:lnSpc>
                <a:spcPct val="150000"/>
              </a:lnSpc>
              <a:spcBef>
                <a:spcPts val="1045"/>
              </a:spcBef>
              <a:buFont typeface="Arial MT"/>
              <a:buChar char="•"/>
              <a:tabLst>
                <a:tab pos="789305" algn="l"/>
              </a:tabLst>
            </a:pPr>
            <a:r>
              <a:rPr sz="2400" spc="-40" dirty="0">
                <a:latin typeface="Courier New"/>
                <a:cs typeface="Courier New"/>
              </a:rPr>
              <a:t>Adding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125" dirty="0">
                <a:latin typeface="Courier New"/>
                <a:cs typeface="Courier New"/>
              </a:rPr>
              <a:t>more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people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520" dirty="0">
                <a:latin typeface="Courier New"/>
                <a:cs typeface="Courier New"/>
              </a:rPr>
              <a:t>to</a:t>
            </a:r>
            <a:r>
              <a:rPr sz="2400" spc="160" dirty="0">
                <a:latin typeface="Courier New"/>
                <a:cs typeface="Courier New"/>
              </a:rPr>
              <a:t> </a:t>
            </a:r>
            <a:r>
              <a:rPr sz="2400" spc="-215" dirty="0">
                <a:latin typeface="Courier New"/>
                <a:cs typeface="Courier New"/>
              </a:rPr>
              <a:t>the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project,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increase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the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number</a:t>
            </a:r>
            <a:r>
              <a:rPr sz="2400" spc="-25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dirty="0">
                <a:latin typeface="Courier New"/>
                <a:cs typeface="Courier New"/>
              </a:rPr>
              <a:t>communication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channels</a:t>
            </a:r>
            <a:r>
              <a:rPr sz="2400" spc="-18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31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also</a:t>
            </a:r>
            <a:r>
              <a:rPr sz="2400" spc="-26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9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complexity</a:t>
            </a:r>
            <a:r>
              <a:rPr sz="2400" spc="-254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of 	</a:t>
            </a:r>
            <a:r>
              <a:rPr sz="2400" spc="-10" dirty="0">
                <a:latin typeface="Courier New"/>
                <a:cs typeface="Courier New"/>
              </a:rPr>
              <a:t>communication</a:t>
            </a:r>
            <a:endParaRPr sz="2400">
              <a:latin typeface="Courier New"/>
              <a:cs typeface="Courier New"/>
            </a:endParaRPr>
          </a:p>
          <a:p>
            <a:pPr marL="789305" lvl="1" indent="-319405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89305" algn="l"/>
              </a:tabLst>
            </a:pP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determine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number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communication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channels:</a:t>
            </a:r>
            <a:endParaRPr sz="2400">
              <a:latin typeface="Courier New"/>
              <a:cs typeface="Courier New"/>
            </a:endParaRPr>
          </a:p>
          <a:p>
            <a:pPr marL="1282065" lvl="2" indent="-354965">
              <a:lnSpc>
                <a:spcPct val="100000"/>
              </a:lnSpc>
              <a:spcBef>
                <a:spcPts val="2435"/>
              </a:spcBef>
              <a:buFont typeface="Arial MT"/>
              <a:buChar char="•"/>
              <a:tabLst>
                <a:tab pos="1282065" algn="l"/>
              </a:tabLst>
            </a:pPr>
            <a:r>
              <a:rPr sz="2400" spc="-10" dirty="0">
                <a:latin typeface="Courier New"/>
                <a:cs typeface="Courier New"/>
              </a:rPr>
              <a:t>Number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communication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channels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n(n-</a:t>
            </a:r>
            <a:r>
              <a:rPr sz="2400" spc="-20" dirty="0">
                <a:latin typeface="Courier New"/>
                <a:cs typeface="Courier New"/>
              </a:rPr>
              <a:t>1)/2</a:t>
            </a:r>
            <a:endParaRPr sz="2400">
              <a:latin typeface="Courier New"/>
              <a:cs typeface="Courier New"/>
            </a:endParaRPr>
          </a:p>
          <a:p>
            <a:pPr marL="1282065" lvl="2" indent="-354965">
              <a:lnSpc>
                <a:spcPct val="100000"/>
              </a:lnSpc>
              <a:spcBef>
                <a:spcPts val="2440"/>
              </a:spcBef>
              <a:buFont typeface="Arial MT"/>
              <a:buChar char="•"/>
              <a:tabLst>
                <a:tab pos="1282065" algn="l"/>
              </a:tabLst>
            </a:pPr>
            <a:r>
              <a:rPr sz="2400" spc="-10" dirty="0">
                <a:latin typeface="Courier New"/>
                <a:cs typeface="Courier New"/>
              </a:rPr>
              <a:t>Where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indicates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number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people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involved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Keys</a:t>
            </a:r>
            <a:r>
              <a:rPr spc="-1230" dirty="0"/>
              <a:t> </a:t>
            </a:r>
            <a:r>
              <a:rPr spc="-35" dirty="0"/>
              <a:t>to</a:t>
            </a:r>
            <a:r>
              <a:rPr spc="-1265" dirty="0"/>
              <a:t> </a:t>
            </a:r>
            <a:r>
              <a:rPr spc="-35" dirty="0"/>
              <a:t>Good</a:t>
            </a:r>
            <a:r>
              <a:rPr spc="-1255" dirty="0"/>
              <a:t> </a:t>
            </a:r>
            <a:r>
              <a:rPr spc="-10" dirty="0"/>
              <a:t>Communications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1367027"/>
            <a:ext cx="6574535" cy="44256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1685" y="3405585"/>
            <a:ext cx="4236085" cy="8496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5"/>
              </a:spcBef>
            </a:pPr>
            <a:r>
              <a:rPr sz="1800" spc="-10" dirty="0">
                <a:latin typeface="Courier New"/>
                <a:cs typeface="Courier New"/>
              </a:rPr>
              <a:t>The</a:t>
            </a:r>
            <a:r>
              <a:rPr sz="1800" spc="-5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impact</a:t>
            </a:r>
            <a:r>
              <a:rPr sz="1800" spc="-5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of</a:t>
            </a:r>
            <a:r>
              <a:rPr sz="1800" spc="-58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the</a:t>
            </a:r>
            <a:r>
              <a:rPr sz="1800" spc="-58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number</a:t>
            </a:r>
            <a:r>
              <a:rPr sz="1800" spc="-58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of</a:t>
            </a:r>
            <a:r>
              <a:rPr sz="1800" spc="-58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people</a:t>
            </a:r>
            <a:endParaRPr sz="1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ourier New"/>
                <a:cs typeface="Courier New"/>
              </a:rPr>
              <a:t>on</a:t>
            </a:r>
            <a:r>
              <a:rPr sz="1800" spc="-55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communication</a:t>
            </a:r>
            <a:r>
              <a:rPr sz="1800" spc="-5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channels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85" dirty="0"/>
              <a:t> </a:t>
            </a:r>
            <a:r>
              <a:rPr spc="-30" dirty="0"/>
              <a:t>Communications</a:t>
            </a:r>
            <a:r>
              <a:rPr spc="-123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822450"/>
            <a:ext cx="10879455" cy="443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3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b="1" dirty="0">
                <a:latin typeface="Courier New"/>
                <a:cs typeface="Courier New"/>
              </a:rPr>
              <a:t>Communications</a:t>
            </a:r>
            <a:r>
              <a:rPr sz="1500" b="1" spc="-30" dirty="0">
                <a:latin typeface="Courier New"/>
                <a:cs typeface="Courier New"/>
              </a:rPr>
              <a:t>  </a:t>
            </a:r>
            <a:r>
              <a:rPr sz="1500" b="1" dirty="0">
                <a:latin typeface="Courier New"/>
                <a:cs typeface="Courier New"/>
              </a:rPr>
              <a:t>management</a:t>
            </a:r>
            <a:r>
              <a:rPr sz="1500" b="1" spc="-5" dirty="0">
                <a:latin typeface="Courier New"/>
                <a:cs typeface="Courier New"/>
              </a:rPr>
              <a:t>  </a:t>
            </a:r>
            <a:r>
              <a:rPr sz="1500" b="1" dirty="0">
                <a:latin typeface="Courier New"/>
                <a:cs typeface="Courier New"/>
              </a:rPr>
              <a:t>plan</a:t>
            </a:r>
            <a:r>
              <a:rPr sz="1500" b="1" spc="-20" dirty="0">
                <a:latin typeface="Courier New"/>
                <a:cs typeface="Courier New"/>
              </a:rPr>
              <a:t>  </a:t>
            </a:r>
            <a:r>
              <a:rPr sz="1500" dirty="0">
                <a:latin typeface="Courier New"/>
                <a:cs typeface="Courier New"/>
              </a:rPr>
              <a:t>is</a:t>
            </a:r>
            <a:r>
              <a:rPr sz="1500" spc="-45" dirty="0">
                <a:latin typeface="Courier New"/>
                <a:cs typeface="Courier New"/>
              </a:rPr>
              <a:t>  </a:t>
            </a:r>
            <a:r>
              <a:rPr sz="1500" dirty="0">
                <a:latin typeface="Courier New"/>
                <a:cs typeface="Courier New"/>
              </a:rPr>
              <a:t>a</a:t>
            </a:r>
            <a:r>
              <a:rPr sz="1500" spc="-30" dirty="0">
                <a:latin typeface="Courier New"/>
                <a:cs typeface="Courier New"/>
              </a:rPr>
              <a:t>  </a:t>
            </a:r>
            <a:r>
              <a:rPr sz="1500" dirty="0">
                <a:latin typeface="Courier New"/>
                <a:cs typeface="Courier New"/>
              </a:rPr>
              <a:t>document</a:t>
            </a:r>
            <a:r>
              <a:rPr sz="1500" spc="-30" dirty="0">
                <a:latin typeface="Courier New"/>
                <a:cs typeface="Courier New"/>
              </a:rPr>
              <a:t>  </a:t>
            </a:r>
            <a:r>
              <a:rPr sz="1500" dirty="0">
                <a:latin typeface="Courier New"/>
                <a:cs typeface="Courier New"/>
              </a:rPr>
              <a:t>that</a:t>
            </a:r>
            <a:r>
              <a:rPr sz="1500" spc="-15" dirty="0">
                <a:latin typeface="Courier New"/>
                <a:cs typeface="Courier New"/>
              </a:rPr>
              <a:t>  </a:t>
            </a:r>
            <a:r>
              <a:rPr sz="1500" dirty="0">
                <a:latin typeface="Courier New"/>
                <a:cs typeface="Courier New"/>
              </a:rPr>
              <a:t>includes</a:t>
            </a:r>
            <a:r>
              <a:rPr sz="1500" spc="35" dirty="0">
                <a:latin typeface="Courier New"/>
                <a:cs typeface="Courier New"/>
              </a:rPr>
              <a:t>  </a:t>
            </a:r>
            <a:r>
              <a:rPr sz="1500" dirty="0">
                <a:latin typeface="Courier New"/>
                <a:cs typeface="Courier New"/>
              </a:rPr>
              <a:t>guidelines</a:t>
            </a:r>
            <a:r>
              <a:rPr sz="1500" spc="45" dirty="0">
                <a:latin typeface="Courier New"/>
                <a:cs typeface="Courier New"/>
              </a:rPr>
              <a:t>  </a:t>
            </a:r>
            <a:r>
              <a:rPr sz="1500" dirty="0">
                <a:latin typeface="Courier New"/>
                <a:cs typeface="Courier New"/>
              </a:rPr>
              <a:t>about</a:t>
            </a:r>
            <a:r>
              <a:rPr sz="1500" spc="-15" dirty="0">
                <a:latin typeface="Courier New"/>
                <a:cs typeface="Courier New"/>
              </a:rPr>
              <a:t>  </a:t>
            </a:r>
            <a:r>
              <a:rPr sz="1500" spc="-10" dirty="0">
                <a:latin typeface="Courier New"/>
                <a:cs typeface="Courier New"/>
              </a:rPr>
              <a:t>project communications.</a:t>
            </a:r>
            <a:endParaRPr sz="15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1545"/>
              </a:spcBef>
              <a:buFont typeface="Arial MT"/>
              <a:buChar char="•"/>
              <a:tabLst>
                <a:tab pos="240665" algn="l"/>
              </a:tabLst>
            </a:pPr>
            <a:r>
              <a:rPr sz="1500" dirty="0">
                <a:latin typeface="Courier New"/>
                <a:cs typeface="Courier New"/>
              </a:rPr>
              <a:t>Following</a:t>
            </a:r>
            <a:r>
              <a:rPr sz="1500" spc="-44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items</a:t>
            </a:r>
            <a:r>
              <a:rPr sz="1500" spc="-45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should</a:t>
            </a:r>
            <a:r>
              <a:rPr sz="1500" spc="-459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be</a:t>
            </a:r>
            <a:r>
              <a:rPr sz="1500" spc="-45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included</a:t>
            </a:r>
            <a:r>
              <a:rPr sz="1500" spc="-46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in</a:t>
            </a:r>
            <a:r>
              <a:rPr sz="1500" spc="-459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communications</a:t>
            </a:r>
            <a:r>
              <a:rPr sz="1500" spc="-44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management</a:t>
            </a:r>
            <a:r>
              <a:rPr sz="1500" spc="-459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plan</a:t>
            </a:r>
            <a:endParaRPr sz="1500">
              <a:latin typeface="Courier New"/>
              <a:cs typeface="Courier New"/>
            </a:endParaRPr>
          </a:p>
          <a:p>
            <a:pPr marL="736600" lvl="1" indent="-266700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736600" algn="l"/>
              </a:tabLst>
            </a:pPr>
            <a:r>
              <a:rPr sz="1500" spc="-10" dirty="0">
                <a:latin typeface="Courier New"/>
                <a:cs typeface="Courier New"/>
              </a:rPr>
              <a:t>Stakeholder</a:t>
            </a:r>
            <a:r>
              <a:rPr sz="1500" spc="-40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communications</a:t>
            </a:r>
            <a:r>
              <a:rPr sz="1500" spc="-409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requirements</a:t>
            </a:r>
            <a:endParaRPr sz="1500">
              <a:latin typeface="Courier New"/>
              <a:cs typeface="Courier New"/>
            </a:endParaRPr>
          </a:p>
          <a:p>
            <a:pPr marL="736600" lvl="1" indent="-266700">
              <a:lnSpc>
                <a:spcPct val="100000"/>
              </a:lnSpc>
              <a:spcBef>
                <a:spcPts val="1535"/>
              </a:spcBef>
              <a:buFont typeface="Arial MT"/>
              <a:buChar char="•"/>
              <a:tabLst>
                <a:tab pos="736600" algn="l"/>
              </a:tabLst>
            </a:pPr>
            <a:r>
              <a:rPr sz="1500" spc="-10" dirty="0">
                <a:latin typeface="Courier New"/>
                <a:cs typeface="Courier New"/>
              </a:rPr>
              <a:t>Information</a:t>
            </a:r>
            <a:r>
              <a:rPr sz="1500" spc="-434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to</a:t>
            </a:r>
            <a:r>
              <a:rPr sz="1500" spc="-45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be</a:t>
            </a:r>
            <a:r>
              <a:rPr sz="1500" spc="-47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communicated</a:t>
            </a:r>
            <a:r>
              <a:rPr sz="1500" spc="-48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with</a:t>
            </a:r>
            <a:r>
              <a:rPr sz="1500" spc="-47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format,</a:t>
            </a:r>
            <a:r>
              <a:rPr sz="1500" spc="-47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content,</a:t>
            </a:r>
            <a:r>
              <a:rPr sz="1500" spc="-45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and</a:t>
            </a:r>
            <a:r>
              <a:rPr sz="1500" spc="-47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level</a:t>
            </a:r>
            <a:r>
              <a:rPr sz="1500" spc="-46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of</a:t>
            </a:r>
            <a:r>
              <a:rPr sz="1500" spc="-45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detail</a:t>
            </a:r>
            <a:endParaRPr sz="1500">
              <a:latin typeface="Courier New"/>
              <a:cs typeface="Courier New"/>
            </a:endParaRPr>
          </a:p>
          <a:p>
            <a:pPr marL="736600" lvl="1" indent="-266700">
              <a:lnSpc>
                <a:spcPct val="100000"/>
              </a:lnSpc>
              <a:spcBef>
                <a:spcPts val="1550"/>
              </a:spcBef>
              <a:buFont typeface="Arial MT"/>
              <a:buChar char="•"/>
              <a:tabLst>
                <a:tab pos="736600" algn="l"/>
              </a:tabLst>
            </a:pPr>
            <a:r>
              <a:rPr sz="1500" spc="-10" dirty="0">
                <a:latin typeface="Courier New"/>
                <a:cs typeface="Courier New"/>
              </a:rPr>
              <a:t>Who</a:t>
            </a:r>
            <a:r>
              <a:rPr sz="1500" spc="-42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will</a:t>
            </a:r>
            <a:r>
              <a:rPr sz="1500" spc="-440" dirty="0">
                <a:latin typeface="Courier New"/>
                <a:cs typeface="Courier New"/>
              </a:rPr>
              <a:t> </a:t>
            </a:r>
            <a:r>
              <a:rPr sz="1500" spc="-45" dirty="0">
                <a:latin typeface="Courier New"/>
                <a:cs typeface="Courier New"/>
              </a:rPr>
              <a:t>receive/produce</a:t>
            </a:r>
            <a:r>
              <a:rPr sz="1500" spc="-434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the</a:t>
            </a:r>
            <a:r>
              <a:rPr sz="1500" spc="-45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information</a:t>
            </a:r>
            <a:endParaRPr sz="1500">
              <a:latin typeface="Courier New"/>
              <a:cs typeface="Courier New"/>
            </a:endParaRPr>
          </a:p>
          <a:p>
            <a:pPr marL="736600" lvl="1" indent="-266700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736600" algn="l"/>
              </a:tabLst>
            </a:pPr>
            <a:r>
              <a:rPr sz="1500" spc="-10" dirty="0">
                <a:latin typeface="Courier New"/>
                <a:cs typeface="Courier New"/>
              </a:rPr>
              <a:t>Suggested</a:t>
            </a:r>
            <a:r>
              <a:rPr sz="1500" spc="-42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methods</a:t>
            </a:r>
            <a:r>
              <a:rPr sz="1500" spc="-434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or</a:t>
            </a:r>
            <a:r>
              <a:rPr sz="1500" spc="-45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technology</a:t>
            </a:r>
            <a:r>
              <a:rPr sz="1500" spc="-44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for</a:t>
            </a:r>
            <a:r>
              <a:rPr sz="1500" spc="-45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communicating</a:t>
            </a:r>
            <a:r>
              <a:rPr sz="1500" spc="-45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information</a:t>
            </a:r>
            <a:endParaRPr sz="1500">
              <a:latin typeface="Courier New"/>
              <a:cs typeface="Courier New"/>
            </a:endParaRPr>
          </a:p>
          <a:p>
            <a:pPr marL="736600" lvl="1" indent="-266700">
              <a:lnSpc>
                <a:spcPct val="100000"/>
              </a:lnSpc>
              <a:spcBef>
                <a:spcPts val="1535"/>
              </a:spcBef>
              <a:buFont typeface="Arial MT"/>
              <a:buChar char="•"/>
              <a:tabLst>
                <a:tab pos="736600" algn="l"/>
              </a:tabLst>
            </a:pPr>
            <a:r>
              <a:rPr sz="1500" spc="-10" dirty="0">
                <a:latin typeface="Courier New"/>
                <a:cs typeface="Courier New"/>
              </a:rPr>
              <a:t>Frequency</a:t>
            </a:r>
            <a:r>
              <a:rPr sz="1500" spc="-43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of</a:t>
            </a:r>
            <a:r>
              <a:rPr sz="1500" spc="-45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information</a:t>
            </a:r>
            <a:endParaRPr sz="1500">
              <a:latin typeface="Courier New"/>
              <a:cs typeface="Courier New"/>
            </a:endParaRPr>
          </a:p>
          <a:p>
            <a:pPr marL="736600" lvl="1" indent="-266700">
              <a:lnSpc>
                <a:spcPct val="100000"/>
              </a:lnSpc>
              <a:spcBef>
                <a:spcPts val="1545"/>
              </a:spcBef>
              <a:buFont typeface="Arial MT"/>
              <a:buChar char="•"/>
              <a:tabLst>
                <a:tab pos="736600" algn="l"/>
              </a:tabLst>
            </a:pPr>
            <a:r>
              <a:rPr sz="1500" spc="-10" dirty="0">
                <a:latin typeface="Courier New"/>
                <a:cs typeface="Courier New"/>
              </a:rPr>
              <a:t>Escalation</a:t>
            </a:r>
            <a:r>
              <a:rPr sz="1500" spc="-42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procedures</a:t>
            </a:r>
            <a:r>
              <a:rPr sz="1500" spc="-434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for</a:t>
            </a:r>
            <a:r>
              <a:rPr sz="1500" spc="-45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resolving</a:t>
            </a:r>
            <a:r>
              <a:rPr sz="1500" spc="-44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issues</a:t>
            </a:r>
            <a:endParaRPr sz="1500">
              <a:latin typeface="Courier New"/>
              <a:cs typeface="Courier New"/>
            </a:endParaRPr>
          </a:p>
          <a:p>
            <a:pPr marL="736600" lvl="1" indent="-266700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736600" algn="l"/>
              </a:tabLst>
            </a:pPr>
            <a:r>
              <a:rPr sz="1500" spc="-10" dirty="0">
                <a:latin typeface="Courier New"/>
                <a:cs typeface="Courier New"/>
              </a:rPr>
              <a:t>Revision</a:t>
            </a:r>
            <a:r>
              <a:rPr sz="1500" spc="-41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procedures</a:t>
            </a:r>
            <a:r>
              <a:rPr sz="1500" spc="-434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for</a:t>
            </a:r>
            <a:r>
              <a:rPr sz="1500" spc="-45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updating</a:t>
            </a:r>
            <a:r>
              <a:rPr sz="1500" spc="-44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the</a:t>
            </a:r>
            <a:r>
              <a:rPr sz="1500" spc="-45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communications</a:t>
            </a:r>
            <a:r>
              <a:rPr sz="1500" spc="-45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management</a:t>
            </a:r>
            <a:r>
              <a:rPr sz="1500" spc="-430" dirty="0">
                <a:latin typeface="Courier New"/>
                <a:cs typeface="Courier New"/>
              </a:rPr>
              <a:t> </a:t>
            </a:r>
            <a:r>
              <a:rPr sz="1500" spc="-20" dirty="0">
                <a:latin typeface="Courier New"/>
                <a:cs typeface="Courier New"/>
              </a:rPr>
              <a:t>plan</a:t>
            </a:r>
            <a:endParaRPr sz="1500">
              <a:latin typeface="Courier New"/>
              <a:cs typeface="Courier New"/>
            </a:endParaRPr>
          </a:p>
          <a:p>
            <a:pPr marL="736600" lvl="1" indent="-266700">
              <a:lnSpc>
                <a:spcPct val="100000"/>
              </a:lnSpc>
              <a:spcBef>
                <a:spcPts val="1535"/>
              </a:spcBef>
              <a:buFont typeface="Arial MT"/>
              <a:buChar char="•"/>
              <a:tabLst>
                <a:tab pos="736600" algn="l"/>
              </a:tabLst>
            </a:pPr>
            <a:r>
              <a:rPr sz="1500" dirty="0">
                <a:latin typeface="Courier New"/>
                <a:cs typeface="Courier New"/>
              </a:rPr>
              <a:t>A</a:t>
            </a:r>
            <a:r>
              <a:rPr sz="1500" spc="-44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glossary</a:t>
            </a:r>
            <a:r>
              <a:rPr sz="1500" spc="-459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of</a:t>
            </a:r>
            <a:r>
              <a:rPr sz="1500" spc="-47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common</a:t>
            </a:r>
            <a:r>
              <a:rPr sz="1500" spc="-45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terminology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85" dirty="0"/>
              <a:t> </a:t>
            </a:r>
            <a:r>
              <a:rPr spc="-30" dirty="0"/>
              <a:t>Communications</a:t>
            </a:r>
            <a:r>
              <a:rPr spc="-123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17972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chemeClr val="bg1"/>
                </a:solidFill>
              </a:rPr>
              <a:t>It</a:t>
            </a:r>
            <a:r>
              <a:rPr sz="2400" spc="-254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is</a:t>
            </a:r>
            <a:r>
              <a:rPr sz="2400" spc="-250" dirty="0">
                <a:solidFill>
                  <a:schemeClr val="bg1"/>
                </a:solidFill>
              </a:rPr>
              <a:t> </a:t>
            </a:r>
            <a:r>
              <a:rPr sz="2400" spc="-35" dirty="0">
                <a:solidFill>
                  <a:schemeClr val="bg1"/>
                </a:solidFill>
              </a:rPr>
              <a:t>essential</a:t>
            </a:r>
            <a:r>
              <a:rPr sz="2400" spc="-335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to</a:t>
            </a:r>
            <a:r>
              <a:rPr sz="2400" spc="-175" dirty="0">
                <a:solidFill>
                  <a:schemeClr val="bg1"/>
                </a:solidFill>
              </a:rPr>
              <a:t> </a:t>
            </a:r>
            <a:r>
              <a:rPr sz="2400" spc="-55" dirty="0">
                <a:solidFill>
                  <a:schemeClr val="bg1"/>
                </a:solidFill>
              </a:rPr>
              <a:t>know</a:t>
            </a:r>
            <a:r>
              <a:rPr sz="2400" spc="-350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that</a:t>
            </a:r>
            <a:r>
              <a:rPr sz="2400" spc="-140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a</a:t>
            </a:r>
            <a:r>
              <a:rPr sz="2400" spc="-300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particular</a:t>
            </a:r>
            <a:r>
              <a:rPr sz="2400" spc="-130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stakeholder</a:t>
            </a:r>
            <a:r>
              <a:rPr sz="2400" spc="-14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should 	</a:t>
            </a:r>
            <a:r>
              <a:rPr sz="2400" dirty="0">
                <a:solidFill>
                  <a:schemeClr val="bg1"/>
                </a:solidFill>
              </a:rPr>
              <a:t>receive</a:t>
            </a:r>
            <a:r>
              <a:rPr sz="2400" spc="-77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what</a:t>
            </a:r>
            <a:r>
              <a:rPr sz="2400" spc="-77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kind</a:t>
            </a:r>
            <a:r>
              <a:rPr sz="2400" spc="-770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of</a:t>
            </a:r>
            <a:r>
              <a:rPr sz="2400" spc="-770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information.</a:t>
            </a:r>
            <a:endParaRPr sz="2400" dirty="0">
              <a:solidFill>
                <a:schemeClr val="bg1"/>
              </a:solidFill>
            </a:endParaRP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chemeClr val="bg1"/>
                </a:solidFill>
              </a:rPr>
              <a:t>Unnecessary</a:t>
            </a:r>
            <a:r>
              <a:rPr sz="2400" spc="-77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information</a:t>
            </a:r>
            <a:r>
              <a:rPr sz="2400" spc="-75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dissemination</a:t>
            </a:r>
            <a:r>
              <a:rPr sz="2400" spc="-760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wastes</a:t>
            </a:r>
            <a:r>
              <a:rPr sz="2400" spc="-755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time</a:t>
            </a:r>
            <a:r>
              <a:rPr sz="2400" spc="-760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and</a:t>
            </a:r>
            <a:r>
              <a:rPr sz="2400" spc="-760" dirty="0">
                <a:solidFill>
                  <a:schemeClr val="bg1"/>
                </a:solidFill>
              </a:rPr>
              <a:t> </a:t>
            </a:r>
            <a:r>
              <a:rPr sz="2400" spc="-10" dirty="0">
                <a:solidFill>
                  <a:schemeClr val="bg1"/>
                </a:solidFill>
              </a:rPr>
              <a:t>money</a:t>
            </a:r>
            <a:endParaRPr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85" dirty="0"/>
              <a:t> </a:t>
            </a:r>
            <a:r>
              <a:rPr spc="-30" dirty="0"/>
              <a:t>Communications</a:t>
            </a:r>
            <a:r>
              <a:rPr spc="-123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72997" y="3311073"/>
            <a:ext cx="3453129" cy="941069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5"/>
              </a:spcBef>
            </a:pPr>
            <a:r>
              <a:rPr sz="2000" spc="-10" dirty="0">
                <a:latin typeface="Courier New"/>
                <a:cs typeface="Courier New"/>
              </a:rPr>
              <a:t>Sample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stakeholder</a:t>
            </a:r>
            <a:endParaRPr sz="20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Courier New"/>
                <a:cs typeface="Courier New"/>
              </a:rPr>
              <a:t>communications</a:t>
            </a:r>
            <a:r>
              <a:rPr sz="2000" spc="-55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analysis</a:t>
            </a:r>
            <a:endParaRPr sz="20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9452" y="1519427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Managing</a:t>
            </a:r>
            <a:r>
              <a:rPr spc="-1205" dirty="0"/>
              <a:t> </a:t>
            </a:r>
            <a:r>
              <a:rPr spc="-10" dirty="0"/>
              <a:t>Communications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3313"/>
            <a:ext cx="10902315" cy="42475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029" marR="7620" indent="-227329" algn="just">
              <a:lnSpc>
                <a:spcPct val="1501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Courier New"/>
                <a:cs typeface="Courier New"/>
              </a:rPr>
              <a:t>Dis</a:t>
            </a:r>
            <a:r>
              <a:rPr sz="2400" spc="5" dirty="0">
                <a:latin typeface="Courier New"/>
                <a:cs typeface="Courier New"/>
              </a:rPr>
              <a:t>s</a:t>
            </a:r>
            <a:r>
              <a:rPr sz="2400" spc="-5" dirty="0">
                <a:latin typeface="Courier New"/>
                <a:cs typeface="Courier New"/>
              </a:rPr>
              <a:t>emi</a:t>
            </a:r>
            <a:r>
              <a:rPr sz="2400" spc="-15" dirty="0">
                <a:latin typeface="Courier New"/>
                <a:cs typeface="Courier New"/>
              </a:rPr>
              <a:t>n</a:t>
            </a:r>
            <a:r>
              <a:rPr sz="2400" spc="-5" dirty="0">
                <a:latin typeface="Courier New"/>
                <a:cs typeface="Courier New"/>
              </a:rPr>
              <a:t>ati</a:t>
            </a:r>
            <a:r>
              <a:rPr sz="2400" spc="5" dirty="0">
                <a:latin typeface="Courier New"/>
                <a:cs typeface="Courier New"/>
              </a:rPr>
              <a:t>n</a:t>
            </a:r>
            <a:r>
              <a:rPr sz="2400" dirty="0">
                <a:latin typeface="Courier New"/>
                <a:cs typeface="Courier New"/>
              </a:rPr>
              <a:t>g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110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p</a:t>
            </a:r>
            <a:r>
              <a:rPr sz="2400" spc="-65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o</a:t>
            </a:r>
            <a:r>
              <a:rPr sz="2400" spc="-15" dirty="0">
                <a:latin typeface="Courier New"/>
                <a:cs typeface="Courier New"/>
              </a:rPr>
              <a:t>jec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i</a:t>
            </a:r>
            <a:r>
              <a:rPr sz="2400" spc="-50" dirty="0">
                <a:latin typeface="Courier New"/>
                <a:cs typeface="Courier New"/>
              </a:rPr>
              <a:t>n</a:t>
            </a:r>
            <a:r>
              <a:rPr sz="2400" spc="-25" dirty="0">
                <a:latin typeface="Courier New"/>
                <a:cs typeface="Courier New"/>
              </a:rPr>
              <a:t>f</a:t>
            </a:r>
            <a:r>
              <a:rPr sz="2400" spc="-5" dirty="0">
                <a:latin typeface="Courier New"/>
                <a:cs typeface="Courier New"/>
              </a:rPr>
              <a:t>orm</a:t>
            </a:r>
            <a:r>
              <a:rPr sz="2400" spc="15" dirty="0">
                <a:latin typeface="Courier New"/>
                <a:cs typeface="Courier New"/>
              </a:rPr>
              <a:t>a</a:t>
            </a:r>
            <a:r>
              <a:rPr sz="2400" spc="10" dirty="0">
                <a:latin typeface="Courier New"/>
                <a:cs typeface="Courier New"/>
              </a:rPr>
              <a:t>tio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445" dirty="0">
                <a:latin typeface="Courier New"/>
                <a:cs typeface="Courier New"/>
              </a:rPr>
              <a:t> </a:t>
            </a:r>
            <a:r>
              <a:rPr sz="2400" spc="10" dirty="0">
                <a:latin typeface="Courier New"/>
                <a:cs typeface="Courier New"/>
              </a:rPr>
              <a:t>th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r</a:t>
            </a:r>
            <a:r>
              <a:rPr sz="2400" spc="-40" dirty="0">
                <a:latin typeface="Courier New"/>
                <a:cs typeface="Courier New"/>
              </a:rPr>
              <a:t>i</a:t>
            </a:r>
            <a:r>
              <a:rPr sz="2400" spc="-15" dirty="0">
                <a:latin typeface="Courier New"/>
                <a:cs typeface="Courier New"/>
              </a:rPr>
              <a:t>g</a:t>
            </a:r>
            <a:r>
              <a:rPr sz="2400" spc="-25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135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p</a:t>
            </a:r>
            <a:r>
              <a:rPr sz="2400" spc="-40" dirty="0">
                <a:latin typeface="Courier New"/>
                <a:cs typeface="Courier New"/>
              </a:rPr>
              <a:t>e</a:t>
            </a:r>
            <a:r>
              <a:rPr sz="2400" spc="-25" dirty="0">
                <a:latin typeface="Courier New"/>
                <a:cs typeface="Courier New"/>
              </a:rPr>
              <a:t>o</a:t>
            </a:r>
            <a:r>
              <a:rPr sz="2400" spc="-5" dirty="0">
                <a:latin typeface="Courier New"/>
                <a:cs typeface="Courier New"/>
              </a:rPr>
              <a:t>pl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spc="10" dirty="0">
                <a:latin typeface="Courier New"/>
                <a:cs typeface="Courier New"/>
              </a:rPr>
              <a:t>at 	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r</a:t>
            </a:r>
            <a:r>
              <a:rPr sz="2400" spc="-65" dirty="0">
                <a:latin typeface="Courier New"/>
                <a:cs typeface="Courier New"/>
              </a:rPr>
              <a:t>i</a:t>
            </a:r>
            <a:r>
              <a:rPr sz="2400" spc="-30" dirty="0">
                <a:latin typeface="Courier New"/>
                <a:cs typeface="Courier New"/>
              </a:rPr>
              <a:t>g</a:t>
            </a:r>
            <a:r>
              <a:rPr sz="2400" spc="-40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spc="-55" dirty="0">
                <a:latin typeface="Courier New"/>
                <a:cs typeface="Courier New"/>
              </a:rPr>
              <a:t>i</a:t>
            </a:r>
            <a:r>
              <a:rPr sz="2400" spc="-30" dirty="0">
                <a:latin typeface="Courier New"/>
                <a:cs typeface="Courier New"/>
              </a:rPr>
              <a:t>m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n</a:t>
            </a:r>
            <a:r>
              <a:rPr sz="2400" spc="-2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15" dirty="0">
                <a:latin typeface="Courier New"/>
                <a:cs typeface="Courier New"/>
              </a:rPr>
              <a:t> </a:t>
            </a:r>
            <a:r>
              <a:rPr sz="2400" spc="-150" dirty="0">
                <a:latin typeface="Courier New"/>
                <a:cs typeface="Courier New"/>
              </a:rPr>
              <a:t>u</a:t>
            </a:r>
            <a:r>
              <a:rPr sz="2400" spc="-90" dirty="0">
                <a:latin typeface="Courier New"/>
                <a:cs typeface="Courier New"/>
              </a:rPr>
              <a:t>s</a:t>
            </a:r>
            <a:r>
              <a:rPr sz="2400" spc="-40" dirty="0">
                <a:latin typeface="Courier New"/>
                <a:cs typeface="Courier New"/>
              </a:rPr>
              <a:t>e</a:t>
            </a:r>
            <a:r>
              <a:rPr sz="2400" spc="-30" dirty="0">
                <a:latin typeface="Courier New"/>
                <a:cs typeface="Courier New"/>
              </a:rPr>
              <a:t>f</a:t>
            </a:r>
            <a:r>
              <a:rPr sz="2400" spc="-15" dirty="0">
                <a:latin typeface="Courier New"/>
                <a:cs typeface="Courier New"/>
              </a:rPr>
              <a:t>u</a:t>
            </a:r>
            <a:r>
              <a:rPr sz="2400" dirty="0">
                <a:latin typeface="Courier New"/>
                <a:cs typeface="Courier New"/>
              </a:rPr>
              <a:t>l</a:t>
            </a:r>
            <a:r>
              <a:rPr sz="2400" spc="-145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f</a:t>
            </a:r>
            <a:r>
              <a:rPr sz="2400" spc="-100" dirty="0">
                <a:latin typeface="Courier New"/>
                <a:cs typeface="Courier New"/>
              </a:rPr>
              <a:t>o</a:t>
            </a:r>
            <a:r>
              <a:rPr sz="2400" spc="-55" dirty="0">
                <a:latin typeface="Courier New"/>
                <a:cs typeface="Courier New"/>
              </a:rPr>
              <a:t>r</a:t>
            </a:r>
            <a:r>
              <a:rPr sz="2400" spc="-30" dirty="0">
                <a:latin typeface="Courier New"/>
                <a:cs typeface="Courier New"/>
              </a:rPr>
              <a:t>m</a:t>
            </a:r>
            <a:r>
              <a:rPr sz="2400" spc="-15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310" dirty="0">
                <a:latin typeface="Courier New"/>
                <a:cs typeface="Courier New"/>
              </a:rPr>
              <a:t> </a:t>
            </a:r>
            <a:r>
              <a:rPr sz="2400" spc="-195" dirty="0">
                <a:latin typeface="Courier New"/>
                <a:cs typeface="Courier New"/>
              </a:rPr>
              <a:t>i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90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39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i</a:t>
            </a:r>
            <a:r>
              <a:rPr sz="2400" spc="-55" dirty="0">
                <a:latin typeface="Courier New"/>
                <a:cs typeface="Courier New"/>
              </a:rPr>
              <a:t>m</a:t>
            </a:r>
            <a:r>
              <a:rPr sz="2400" spc="-15" dirty="0">
                <a:latin typeface="Courier New"/>
                <a:cs typeface="Courier New"/>
              </a:rPr>
              <a:t>p</a:t>
            </a:r>
            <a:r>
              <a:rPr sz="2400" spc="-30" dirty="0">
                <a:latin typeface="Courier New"/>
                <a:cs typeface="Courier New"/>
              </a:rPr>
              <a:t>o</a:t>
            </a:r>
            <a:r>
              <a:rPr sz="2400" spc="5" dirty="0">
                <a:latin typeface="Courier New"/>
                <a:cs typeface="Courier New"/>
              </a:rPr>
              <a:t>rtan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90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605" dirty="0">
                <a:latin typeface="Courier New"/>
                <a:cs typeface="Courier New"/>
              </a:rPr>
              <a:t> </a:t>
            </a:r>
            <a:r>
              <a:rPr sz="2400" spc="5" dirty="0">
                <a:latin typeface="Courier New"/>
                <a:cs typeface="Courier New"/>
              </a:rPr>
              <a:t>produc</a:t>
            </a:r>
            <a:r>
              <a:rPr sz="2400" spc="-5" dirty="0">
                <a:latin typeface="Courier New"/>
                <a:cs typeface="Courier New"/>
              </a:rPr>
              <a:t>ing 	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5" dirty="0">
                <a:latin typeface="Courier New"/>
                <a:cs typeface="Courier New"/>
              </a:rPr>
              <a:t>i</a:t>
            </a:r>
            <a:r>
              <a:rPr sz="2400" spc="-5" dirty="0">
                <a:latin typeface="Courier New"/>
                <a:cs typeface="Courier New"/>
              </a:rPr>
              <a:t>nfor</a:t>
            </a:r>
            <a:r>
              <a:rPr sz="2400" spc="-15" dirty="0">
                <a:latin typeface="Courier New"/>
                <a:cs typeface="Courier New"/>
              </a:rPr>
              <a:t>m</a:t>
            </a:r>
            <a:r>
              <a:rPr sz="2400" spc="-5" dirty="0">
                <a:latin typeface="Courier New"/>
                <a:cs typeface="Courier New"/>
              </a:rPr>
              <a:t>ation</a:t>
            </a:r>
            <a:endParaRPr sz="240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Considerations</a:t>
            </a:r>
            <a:r>
              <a:rPr sz="2400" spc="-80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managing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information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Latest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technology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should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used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enhanced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communication</a:t>
            </a:r>
            <a:endParaRPr sz="2400">
              <a:latin typeface="Courier New"/>
              <a:cs typeface="Courier New"/>
            </a:endParaRPr>
          </a:p>
          <a:p>
            <a:pPr marL="735330" marR="5080" lvl="1" indent="-265430">
              <a:lnSpc>
                <a:spcPct val="150000"/>
              </a:lnSpc>
              <a:spcBef>
                <a:spcPts val="994"/>
              </a:spcBef>
              <a:buFont typeface="Arial MT"/>
              <a:buChar char="•"/>
              <a:tabLst>
                <a:tab pos="736600" algn="l"/>
              </a:tabLst>
            </a:pPr>
            <a:r>
              <a:rPr sz="2400" dirty="0">
                <a:latin typeface="Courier New"/>
                <a:cs typeface="Courier New"/>
              </a:rPr>
              <a:t>Appropriate</a:t>
            </a:r>
            <a:r>
              <a:rPr sz="2400" spc="3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methods</a:t>
            </a:r>
            <a:r>
              <a:rPr sz="2400" spc="4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either</a:t>
            </a:r>
            <a:r>
              <a:rPr sz="2400" spc="5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formal</a:t>
            </a:r>
            <a:r>
              <a:rPr sz="2400" spc="5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10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informal</a:t>
            </a:r>
            <a:r>
              <a:rPr sz="2400" spc="55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for 	</a:t>
            </a:r>
            <a:r>
              <a:rPr sz="2400" spc="-10" dirty="0">
                <a:latin typeface="Courier New"/>
                <a:cs typeface="Courier New"/>
              </a:rPr>
              <a:t>information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dissemination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should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used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Managing</a:t>
            </a:r>
            <a:r>
              <a:rPr spc="-1205" dirty="0"/>
              <a:t> </a:t>
            </a:r>
            <a:r>
              <a:rPr spc="-10" dirty="0"/>
              <a:t>Communications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3313"/>
            <a:ext cx="2891155" cy="16713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Email,</a:t>
            </a:r>
            <a:r>
              <a:rPr sz="2400" spc="-33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instant 	</a:t>
            </a:r>
            <a:r>
              <a:rPr sz="2400" dirty="0">
                <a:latin typeface="Courier New"/>
                <a:cs typeface="Courier New"/>
              </a:rPr>
              <a:t>examples</a:t>
            </a:r>
            <a:r>
              <a:rPr sz="2400" spc="160" dirty="0">
                <a:latin typeface="Courier New"/>
                <a:cs typeface="Courier New"/>
              </a:rPr>
              <a:t>  </a:t>
            </a:r>
            <a:r>
              <a:rPr sz="2400" spc="-20" dirty="0">
                <a:latin typeface="Courier New"/>
                <a:cs typeface="Courier New"/>
              </a:rPr>
              <a:t>that 	</a:t>
            </a:r>
            <a:r>
              <a:rPr sz="2400" spc="-10" dirty="0">
                <a:latin typeface="Courier New"/>
                <a:cs typeface="Courier New"/>
              </a:rPr>
              <a:t>effectively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1963" y="1965705"/>
            <a:ext cx="1825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ourier New"/>
                <a:cs typeface="Courier New"/>
              </a:rPr>
              <a:t>messaging,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08572" y="1965705"/>
            <a:ext cx="735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Courier New"/>
                <a:cs typeface="Courier New"/>
              </a:rPr>
              <a:t>cell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4789" y="1965705"/>
            <a:ext cx="1305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phones,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14409" y="1965705"/>
            <a:ext cx="3110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texting</a:t>
            </a:r>
            <a:r>
              <a:rPr sz="2400" spc="5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325" dirty="0">
                <a:latin typeface="Courier New"/>
                <a:cs typeface="Courier New"/>
              </a:rPr>
              <a:t>  </a:t>
            </a:r>
            <a:r>
              <a:rPr sz="2400" spc="-20" dirty="0">
                <a:latin typeface="Courier New"/>
                <a:cs typeface="Courier New"/>
              </a:rPr>
              <a:t>some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3486" y="2514041"/>
            <a:ext cx="2416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6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125" dirty="0">
                <a:latin typeface="Courier New"/>
                <a:cs typeface="Courier New"/>
              </a:rPr>
              <a:t>  </a:t>
            </a:r>
            <a:r>
              <a:rPr sz="2400" spc="-55" dirty="0">
                <a:latin typeface="Courier New"/>
                <a:cs typeface="Courier New"/>
              </a:rPr>
              <a:t>used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74560" y="2514041"/>
            <a:ext cx="49911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7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distribute</a:t>
            </a:r>
            <a:r>
              <a:rPr sz="2400" spc="-20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information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1219" y="3555364"/>
            <a:ext cx="108978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Project</a:t>
            </a:r>
            <a:r>
              <a:rPr sz="2400" spc="-3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information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systems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can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used</a:t>
            </a:r>
            <a:r>
              <a:rPr sz="2400" spc="-25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3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create 	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organize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related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documents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Managing</a:t>
            </a:r>
            <a:r>
              <a:rPr spc="-1205" dirty="0"/>
              <a:t> </a:t>
            </a:r>
            <a:r>
              <a:rPr spc="-10" dirty="0"/>
              <a:t>Communications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10902315" cy="461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Communication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methods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classified:</a:t>
            </a:r>
            <a:endParaRPr sz="2400" dirty="0">
              <a:latin typeface="Courier New"/>
              <a:cs typeface="Courier New"/>
            </a:endParaRPr>
          </a:p>
          <a:p>
            <a:pPr marL="735330" marR="5080" lvl="1" indent="-265430" algn="just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736600" algn="l"/>
              </a:tabLst>
            </a:pPr>
            <a:r>
              <a:rPr sz="2400" b="1" dirty="0">
                <a:latin typeface="Courier New"/>
                <a:cs typeface="Courier New"/>
              </a:rPr>
              <a:t>Interactive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20" dirty="0">
                <a:latin typeface="Courier New"/>
                <a:cs typeface="Courier New"/>
              </a:rPr>
              <a:t>communication:</a:t>
            </a:r>
            <a:r>
              <a:rPr sz="2400" b="1" spc="-315" dirty="0">
                <a:latin typeface="Courier New"/>
                <a:cs typeface="Courier New"/>
              </a:rPr>
              <a:t> </a:t>
            </a:r>
            <a:r>
              <a:rPr sz="2400" spc="-130" dirty="0">
                <a:latin typeface="Courier New"/>
                <a:cs typeface="Courier New"/>
              </a:rPr>
              <a:t>two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90" dirty="0">
                <a:latin typeface="Courier New"/>
                <a:cs typeface="Courier New"/>
              </a:rPr>
              <a:t>or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145" dirty="0">
                <a:latin typeface="Courier New"/>
                <a:cs typeface="Courier New"/>
              </a:rPr>
              <a:t>more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people</a:t>
            </a:r>
            <a:r>
              <a:rPr sz="2400" spc="-29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interact</a:t>
            </a:r>
            <a:r>
              <a:rPr sz="2400" spc="-29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via 	</a:t>
            </a:r>
            <a:r>
              <a:rPr sz="2400" dirty="0">
                <a:latin typeface="Courier New"/>
                <a:cs typeface="Courier New"/>
              </a:rPr>
              <a:t>phone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calls,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video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conferencing,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70" dirty="0">
                <a:latin typeface="Courier New"/>
                <a:cs typeface="Courier New"/>
              </a:rPr>
              <a:t>or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face-</a:t>
            </a:r>
            <a:r>
              <a:rPr sz="2400" dirty="0">
                <a:latin typeface="Courier New"/>
                <a:cs typeface="Courier New"/>
              </a:rPr>
              <a:t>to-</a:t>
            </a:r>
            <a:r>
              <a:rPr sz="2400" spc="-10" dirty="0">
                <a:latin typeface="Courier New"/>
                <a:cs typeface="Courier New"/>
              </a:rPr>
              <a:t>face</a:t>
            </a:r>
            <a:r>
              <a:rPr sz="2400" spc="-3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meetings 	to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exchange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information</a:t>
            </a:r>
            <a:endParaRPr sz="2400" dirty="0">
              <a:latin typeface="Courier New"/>
              <a:cs typeface="Courier New"/>
            </a:endParaRPr>
          </a:p>
          <a:p>
            <a:pPr marL="735330" marR="5080" lvl="1" indent="-265430" algn="just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736600" algn="l"/>
              </a:tabLst>
            </a:pPr>
            <a:r>
              <a:rPr sz="2400" b="1" dirty="0">
                <a:latin typeface="Courier New"/>
                <a:cs typeface="Courier New"/>
              </a:rPr>
              <a:t>Push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communication: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information</a:t>
            </a:r>
            <a:r>
              <a:rPr sz="2400" spc="-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pushed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sent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12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dirty="0">
                <a:latin typeface="Courier New"/>
                <a:cs typeface="Courier New"/>
              </a:rPr>
              <a:t>recipients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in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spc="-95" dirty="0">
                <a:latin typeface="Courier New"/>
                <a:cs typeface="Courier New"/>
              </a:rPr>
              <a:t>form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300" dirty="0">
                <a:latin typeface="Courier New"/>
                <a:cs typeface="Courier New"/>
              </a:rPr>
              <a:t>of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reports</a:t>
            </a:r>
            <a:r>
              <a:rPr sz="2400" spc="-3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-19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e-</a:t>
            </a:r>
            <a:r>
              <a:rPr sz="2400" dirty="0">
                <a:latin typeface="Courier New"/>
                <a:cs typeface="Courier New"/>
              </a:rPr>
              <a:t>mails</a:t>
            </a:r>
            <a:r>
              <a:rPr sz="2400" spc="-1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without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being 	requested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by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recipients</a:t>
            </a:r>
            <a:endParaRPr sz="2400" dirty="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35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b="1" dirty="0">
                <a:latin typeface="Courier New"/>
                <a:cs typeface="Courier New"/>
              </a:rPr>
              <a:t>Pull</a:t>
            </a:r>
            <a:r>
              <a:rPr sz="2400" b="1" spc="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communication:</a:t>
            </a:r>
            <a:r>
              <a:rPr sz="2400" b="1" spc="-43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information</a:t>
            </a:r>
            <a:r>
              <a:rPr sz="2400" spc="-6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39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sent</a:t>
            </a:r>
            <a:r>
              <a:rPr sz="2400" spc="-425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upon</a:t>
            </a:r>
            <a:r>
              <a:rPr sz="2400" spc="-400" dirty="0">
                <a:latin typeface="Courier New"/>
                <a:cs typeface="Courier New"/>
              </a:rPr>
              <a:t> </a:t>
            </a:r>
            <a:r>
              <a:rPr sz="2400" spc="-30" dirty="0">
                <a:latin typeface="Courier New"/>
                <a:cs typeface="Courier New"/>
              </a:rPr>
              <a:t>request</a:t>
            </a:r>
            <a:r>
              <a:rPr sz="2400" spc="-3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using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Managing</a:t>
            </a:r>
            <a:r>
              <a:rPr spc="-1205" dirty="0"/>
              <a:t> </a:t>
            </a:r>
            <a:r>
              <a:rPr spc="-10" dirty="0"/>
              <a:t>Communications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3313"/>
            <a:ext cx="7355840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Selection</a:t>
            </a:r>
            <a:r>
              <a:rPr sz="2400" spc="-39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5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communication</a:t>
            </a:r>
            <a:r>
              <a:rPr sz="2400" spc="-3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method</a:t>
            </a:r>
            <a:r>
              <a:rPr sz="2400" spc="-375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and 	</a:t>
            </a:r>
            <a:r>
              <a:rPr sz="2400" spc="-10" dirty="0">
                <a:latin typeface="Courier New"/>
                <a:cs typeface="Courier New"/>
              </a:rPr>
              <a:t>important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57438" y="1965705"/>
            <a:ext cx="3312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media</a:t>
            </a:r>
            <a:r>
              <a:rPr sz="2400" spc="-34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340" dirty="0">
                <a:latin typeface="Courier New"/>
                <a:cs typeface="Courier New"/>
              </a:rPr>
              <a:t>  </a:t>
            </a:r>
            <a:r>
              <a:rPr sz="2400" spc="-10" dirty="0">
                <a:latin typeface="Courier New"/>
                <a:cs typeface="Courier New"/>
              </a:rPr>
              <a:t>equally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219" y="3006979"/>
            <a:ext cx="108953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Table</a:t>
            </a:r>
            <a:r>
              <a:rPr sz="2400" spc="35" dirty="0">
                <a:latin typeface="Courier New"/>
                <a:cs typeface="Courier New"/>
              </a:rPr>
              <a:t> </a:t>
            </a:r>
            <a:r>
              <a:rPr sz="2400" spc="-135" dirty="0">
                <a:latin typeface="Courier New"/>
                <a:cs typeface="Courier New"/>
              </a:rPr>
              <a:t>10-</a:t>
            </a:r>
            <a:r>
              <a:rPr sz="2400" dirty="0">
                <a:latin typeface="Courier New"/>
                <a:cs typeface="Courier New"/>
              </a:rPr>
              <a:t>2</a:t>
            </a:r>
            <a:r>
              <a:rPr sz="2400" spc="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provides</a:t>
            </a:r>
            <a:r>
              <a:rPr sz="2400" spc="114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guidelines</a:t>
            </a:r>
            <a:r>
              <a:rPr sz="2400" spc="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1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selecting</a:t>
            </a:r>
            <a:r>
              <a:rPr sz="2400" spc="1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communication 	</a:t>
            </a:r>
            <a:r>
              <a:rPr sz="2400" dirty="0">
                <a:latin typeface="Courier New"/>
                <a:cs typeface="Courier New"/>
              </a:rPr>
              <a:t>methods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media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562707" y="972226"/>
            <a:ext cx="4390293" cy="22281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Managing</a:t>
            </a:r>
            <a:r>
              <a:rPr spc="-1205" dirty="0"/>
              <a:t> </a:t>
            </a:r>
            <a:r>
              <a:rPr spc="-10" dirty="0"/>
              <a:t>Communications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39113" y="3569589"/>
            <a:ext cx="3119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Media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choice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table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1421891"/>
            <a:ext cx="6536435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Managing</a:t>
            </a:r>
            <a:r>
              <a:rPr spc="-1205" dirty="0"/>
              <a:t> </a:t>
            </a:r>
            <a:r>
              <a:rPr spc="-10" dirty="0"/>
              <a:t>Communications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5513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715" indent="-228600" algn="just">
              <a:lnSpc>
                <a:spcPct val="13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Performance</a:t>
            </a:r>
            <a:r>
              <a:rPr b="1" spc="-5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Reporting</a:t>
            </a:r>
            <a:r>
              <a:rPr b="1" spc="-6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dirty="0">
                <a:solidFill>
                  <a:schemeClr val="bg1"/>
                </a:solidFill>
              </a:rPr>
              <a:t>can</a:t>
            </a:r>
            <a:r>
              <a:rPr spc="-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be</a:t>
            </a:r>
            <a:r>
              <a:rPr spc="-12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used</a:t>
            </a:r>
            <a:r>
              <a:rPr spc="-5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as</a:t>
            </a:r>
            <a:r>
              <a:rPr spc="-8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7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tool</a:t>
            </a:r>
            <a:r>
              <a:rPr spc="-8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for</a:t>
            </a:r>
            <a:r>
              <a:rPr spc="-50" dirty="0">
                <a:solidFill>
                  <a:schemeClr val="bg1"/>
                </a:solidFill>
              </a:rPr>
              <a:t>  </a:t>
            </a:r>
            <a:r>
              <a:rPr spc="-10" dirty="0">
                <a:solidFill>
                  <a:schemeClr val="bg1"/>
                </a:solidFill>
              </a:rPr>
              <a:t>project </a:t>
            </a:r>
            <a:r>
              <a:rPr spc="-20" dirty="0">
                <a:solidFill>
                  <a:schemeClr val="bg1"/>
                </a:solidFill>
              </a:rPr>
              <a:t>communications</a:t>
            </a:r>
            <a:r>
              <a:rPr spc="-5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management</a:t>
            </a:r>
          </a:p>
          <a:p>
            <a:pPr marL="240665" indent="-227965" algn="just">
              <a:lnSpc>
                <a:spcPct val="100000"/>
              </a:lnSpc>
              <a:spcBef>
                <a:spcPts val="1789"/>
              </a:spcBef>
              <a:buFont typeface="Arial MT"/>
              <a:buChar char="•"/>
              <a:tabLst>
                <a:tab pos="240665" algn="l"/>
              </a:tabLst>
            </a:pPr>
            <a:r>
              <a:rPr spc="-20" dirty="0">
                <a:solidFill>
                  <a:schemeClr val="bg1"/>
                </a:solidFill>
              </a:rPr>
              <a:t>Stakeholders</a:t>
            </a:r>
            <a:r>
              <a:rPr spc="-63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have</a:t>
            </a:r>
            <a:r>
              <a:rPr spc="-60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up</a:t>
            </a:r>
            <a:r>
              <a:rPr spc="-65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to</a:t>
            </a:r>
            <a:r>
              <a:rPr spc="-65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date</a:t>
            </a:r>
            <a:r>
              <a:rPr spc="-65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information</a:t>
            </a:r>
            <a:r>
              <a:rPr spc="-60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about</a:t>
            </a:r>
            <a:r>
              <a:rPr spc="-64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resource</a:t>
            </a:r>
            <a:r>
              <a:rPr spc="-63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usage</a:t>
            </a:r>
          </a:p>
          <a:p>
            <a:pPr marL="241300" marR="5080" indent="-228600" algn="just">
              <a:lnSpc>
                <a:spcPct val="13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b="1" spc="-60" dirty="0">
                <a:solidFill>
                  <a:schemeClr val="bg1"/>
                </a:solidFill>
                <a:latin typeface="Courier New"/>
                <a:cs typeface="Courier New"/>
              </a:rPr>
              <a:t>Progress</a:t>
            </a:r>
            <a:r>
              <a:rPr b="1" spc="-27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spc="-40" dirty="0">
                <a:solidFill>
                  <a:schemeClr val="bg1"/>
                </a:solidFill>
                <a:latin typeface="Courier New"/>
                <a:cs typeface="Courier New"/>
              </a:rPr>
              <a:t>reports</a:t>
            </a:r>
            <a:r>
              <a:rPr b="1" spc="-29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pc="-75" dirty="0">
                <a:solidFill>
                  <a:schemeClr val="bg1"/>
                </a:solidFill>
              </a:rPr>
              <a:t>signify</a:t>
            </a:r>
            <a:r>
              <a:rPr spc="-254" dirty="0">
                <a:solidFill>
                  <a:schemeClr val="bg1"/>
                </a:solidFill>
              </a:rPr>
              <a:t> </a:t>
            </a:r>
            <a:r>
              <a:rPr spc="-180" dirty="0">
                <a:solidFill>
                  <a:schemeClr val="bg1"/>
                </a:solidFill>
              </a:rPr>
              <a:t>the</a:t>
            </a:r>
            <a:r>
              <a:rPr spc="-150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accomplishments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140" dirty="0">
                <a:solidFill>
                  <a:schemeClr val="bg1"/>
                </a:solidFill>
              </a:rPr>
              <a:t>of</a:t>
            </a:r>
            <a:r>
              <a:rPr spc="-185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project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spc="-105" dirty="0">
                <a:solidFill>
                  <a:schemeClr val="bg1"/>
                </a:solidFill>
              </a:rPr>
              <a:t>team</a:t>
            </a:r>
            <a:r>
              <a:rPr spc="-18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during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33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specific</a:t>
            </a:r>
            <a:r>
              <a:rPr spc="-33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time</a:t>
            </a:r>
            <a:r>
              <a:rPr spc="4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period</a:t>
            </a:r>
            <a:r>
              <a:rPr spc="-32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whereas</a:t>
            </a:r>
            <a:r>
              <a:rPr spc="-310" dirty="0">
                <a:solidFill>
                  <a:schemeClr val="bg1"/>
                </a:solidFill>
              </a:rPr>
              <a:t> 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status</a:t>
            </a:r>
            <a:r>
              <a:rPr b="1" spc="-29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reports</a:t>
            </a:r>
            <a:r>
              <a:rPr b="1" spc="-29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dirty="0">
                <a:solidFill>
                  <a:schemeClr val="bg1"/>
                </a:solidFill>
              </a:rPr>
              <a:t>highlight</a:t>
            </a:r>
            <a:r>
              <a:rPr spc="53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the </a:t>
            </a:r>
            <a:r>
              <a:rPr spc="-20" dirty="0">
                <a:solidFill>
                  <a:schemeClr val="bg1"/>
                </a:solidFill>
              </a:rPr>
              <a:t>current</a:t>
            </a:r>
            <a:r>
              <a:rPr spc="-63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situation</a:t>
            </a:r>
            <a:r>
              <a:rPr spc="-61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of</a:t>
            </a:r>
            <a:r>
              <a:rPr spc="-66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the</a:t>
            </a:r>
            <a:r>
              <a:rPr spc="-66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project</a:t>
            </a:r>
            <a:r>
              <a:rPr spc="-64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at</a:t>
            </a:r>
            <a:r>
              <a:rPr spc="-66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a</a:t>
            </a:r>
            <a:r>
              <a:rPr spc="-68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specific</a:t>
            </a:r>
            <a:r>
              <a:rPr spc="-62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point</a:t>
            </a:r>
            <a:r>
              <a:rPr spc="-65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in</a:t>
            </a:r>
            <a:r>
              <a:rPr spc="-6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time.</a:t>
            </a:r>
          </a:p>
          <a:p>
            <a:pPr marL="241300" marR="46355" indent="-228600" algn="just">
              <a:lnSpc>
                <a:spcPct val="13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Forecasts</a:t>
            </a:r>
            <a:r>
              <a:rPr b="1" spc="1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chemeClr val="bg1"/>
                </a:solidFill>
              </a:rPr>
              <a:t>are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used</a:t>
            </a:r>
            <a:r>
              <a:rPr spc="1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predict</a:t>
            </a:r>
            <a:r>
              <a:rPr spc="-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project</a:t>
            </a:r>
            <a:r>
              <a:rPr spc="-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status</a:t>
            </a:r>
            <a:r>
              <a:rPr spc="-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future</a:t>
            </a:r>
            <a:r>
              <a:rPr spc="-1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from preceding</a:t>
            </a:r>
            <a:r>
              <a:rPr spc="-6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information</a:t>
            </a:r>
          </a:p>
          <a:p>
            <a:pPr marL="240665" indent="-227965" algn="just">
              <a:lnSpc>
                <a:spcPct val="100000"/>
              </a:lnSpc>
              <a:spcBef>
                <a:spcPts val="1789"/>
              </a:spcBef>
              <a:buFont typeface="Arial MT"/>
              <a:buChar char="•"/>
              <a:tabLst>
                <a:tab pos="240665" algn="l"/>
              </a:tabLst>
            </a:pPr>
            <a:r>
              <a:rPr spc="-20" dirty="0">
                <a:solidFill>
                  <a:schemeClr val="bg1"/>
                </a:solidFill>
              </a:rPr>
              <a:t>Status</a:t>
            </a:r>
            <a:r>
              <a:rPr spc="-63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review</a:t>
            </a:r>
            <a:r>
              <a:rPr spc="-63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meeting</a:t>
            </a:r>
            <a:r>
              <a:rPr spc="-63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may</a:t>
            </a:r>
            <a:r>
              <a:rPr spc="-66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also</a:t>
            </a:r>
            <a:r>
              <a:rPr spc="-65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be</a:t>
            </a:r>
            <a:r>
              <a:rPr spc="-66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conducted</a:t>
            </a:r>
            <a:r>
              <a:rPr spc="-62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to</a:t>
            </a:r>
            <a:r>
              <a:rPr spc="-66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report</a:t>
            </a:r>
            <a:r>
              <a:rPr spc="-6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performance.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Monitoring</a:t>
            </a:r>
            <a:r>
              <a:rPr spc="-1190" dirty="0"/>
              <a:t> </a:t>
            </a:r>
            <a:r>
              <a:rPr spc="-10" dirty="0"/>
              <a:t>Communications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3313"/>
            <a:ext cx="2269490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Monitoring 	information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87014" y="1965705"/>
            <a:ext cx="2555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ourier New"/>
                <a:cs typeface="Courier New"/>
              </a:rPr>
              <a:t>communications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8677" y="1965705"/>
            <a:ext cx="3799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ensures</a:t>
            </a:r>
            <a:r>
              <a:rPr sz="2400" spc="-10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0" dirty="0">
                <a:latin typeface="Courier New"/>
                <a:cs typeface="Courier New"/>
              </a:rPr>
              <a:t>  </a:t>
            </a:r>
            <a:r>
              <a:rPr sz="2400" spc="-35" dirty="0">
                <a:latin typeface="Courier New"/>
                <a:cs typeface="Courier New"/>
              </a:rPr>
              <a:t>optimal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16718" y="1965705"/>
            <a:ext cx="1453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flow</a:t>
            </a:r>
            <a:r>
              <a:rPr sz="2400" spc="-5" dirty="0">
                <a:latin typeface="Courier New"/>
                <a:cs typeface="Courier New"/>
              </a:rPr>
              <a:t>  </a:t>
            </a:r>
            <a:r>
              <a:rPr sz="2400" spc="-105" dirty="0">
                <a:latin typeface="Courier New"/>
                <a:cs typeface="Courier New"/>
              </a:rPr>
              <a:t>of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219" y="3006979"/>
            <a:ext cx="10897870" cy="2348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Processes</a:t>
            </a:r>
            <a:r>
              <a:rPr sz="2400" spc="-415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of</a:t>
            </a:r>
            <a:r>
              <a:rPr sz="2400" spc="-47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planning</a:t>
            </a:r>
            <a:r>
              <a:rPr sz="2400" spc="-40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and</a:t>
            </a:r>
            <a:r>
              <a:rPr sz="2400" spc="-6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managing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project</a:t>
            </a:r>
            <a:r>
              <a:rPr sz="2400" spc="-5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communications</a:t>
            </a:r>
            <a:r>
              <a:rPr sz="2400" spc="-34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may 	</a:t>
            </a:r>
            <a:r>
              <a:rPr sz="2400" dirty="0">
                <a:latin typeface="Courier New"/>
                <a:cs typeface="Courier New"/>
              </a:rPr>
              <a:t>be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modified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case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any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communication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problems</a:t>
            </a:r>
            <a:endParaRPr sz="2400">
              <a:latin typeface="Courier New"/>
              <a:cs typeface="Courier New"/>
            </a:endParaRPr>
          </a:p>
          <a:p>
            <a:pPr marL="240029" marR="6350" indent="-227329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External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facilitator</a:t>
            </a:r>
            <a:r>
              <a:rPr sz="2400" spc="-49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may</a:t>
            </a:r>
            <a:r>
              <a:rPr sz="2400" spc="-545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Courier New"/>
                <a:cs typeface="Courier New"/>
              </a:rPr>
              <a:t>be</a:t>
            </a:r>
            <a:r>
              <a:rPr sz="2400" spc="-49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hired</a:t>
            </a:r>
            <a:r>
              <a:rPr sz="2400" spc="-495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to</a:t>
            </a:r>
            <a:r>
              <a:rPr sz="2400" spc="-47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analyze</a:t>
            </a:r>
            <a:r>
              <a:rPr sz="2400" spc="-285" dirty="0">
                <a:latin typeface="Courier New"/>
                <a:cs typeface="Courier New"/>
              </a:rPr>
              <a:t> </a:t>
            </a:r>
            <a:r>
              <a:rPr sz="2400" spc="-90" dirty="0">
                <a:latin typeface="Courier New"/>
                <a:cs typeface="Courier New"/>
              </a:rPr>
              <a:t>the</a:t>
            </a:r>
            <a:r>
              <a:rPr sz="2400" spc="-5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effectiveness 	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communications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35" dirty="0"/>
              <a:t>The</a:t>
            </a:r>
            <a:r>
              <a:rPr spc="-1210" dirty="0"/>
              <a:t> </a:t>
            </a:r>
            <a:r>
              <a:rPr spc="-30" dirty="0"/>
              <a:t>Importance</a:t>
            </a:r>
            <a:r>
              <a:rPr spc="-1260" dirty="0"/>
              <a:t> </a:t>
            </a:r>
            <a:r>
              <a:rPr spc="-35" dirty="0"/>
              <a:t>of</a:t>
            </a:r>
            <a:r>
              <a:rPr spc="-1240" dirty="0"/>
              <a:t> </a:t>
            </a:r>
            <a:r>
              <a:rPr spc="-10" dirty="0"/>
              <a:t>Project </a:t>
            </a:r>
            <a:r>
              <a:rPr spc="-30" dirty="0"/>
              <a:t>Procurement</a:t>
            </a:r>
            <a:r>
              <a:rPr spc="-118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803247"/>
            <a:ext cx="814514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395" marR="5080" indent="-226695">
              <a:lnSpc>
                <a:spcPct val="14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Courier New"/>
                <a:cs typeface="Courier New"/>
              </a:rPr>
              <a:t>Procurement</a:t>
            </a:r>
            <a:r>
              <a:rPr sz="2000" b="1" spc="3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refers</a:t>
            </a:r>
            <a:r>
              <a:rPr sz="2000" spc="18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3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acquiring</a:t>
            </a:r>
            <a:r>
              <a:rPr sz="2000" spc="3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goods</a:t>
            </a:r>
            <a:r>
              <a:rPr sz="2000" spc="48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and</a:t>
            </a:r>
            <a:r>
              <a:rPr sz="2000" spc="3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services 	supplier</a:t>
            </a:r>
            <a:r>
              <a:rPr sz="2000" spc="-6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or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service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provider.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10293" y="1924557"/>
            <a:ext cx="25527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ourier New"/>
                <a:cs typeface="Courier New"/>
              </a:rPr>
              <a:t>from</a:t>
            </a:r>
            <a:r>
              <a:rPr sz="2000" spc="-35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an</a:t>
            </a:r>
            <a:r>
              <a:rPr sz="2000" spc="27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external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219" y="2904870"/>
            <a:ext cx="7255509" cy="1312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Courier New"/>
                <a:cs typeface="Courier New"/>
              </a:rPr>
              <a:t>Key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processes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in</a:t>
            </a:r>
            <a:r>
              <a:rPr sz="2000" spc="-6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project</a:t>
            </a:r>
            <a:r>
              <a:rPr sz="2000" spc="-64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procurement</a:t>
            </a:r>
            <a:r>
              <a:rPr sz="2000" spc="-61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</a:t>
            </a:r>
            <a:endParaRPr sz="2000">
              <a:latin typeface="Courier New"/>
              <a:cs typeface="Courier New"/>
            </a:endParaRPr>
          </a:p>
          <a:p>
            <a:pPr marL="736600" marR="5080" lvl="1" indent="-266700">
              <a:lnSpc>
                <a:spcPct val="140000"/>
              </a:lnSpc>
              <a:spcBef>
                <a:spcPts val="1005"/>
              </a:spcBef>
              <a:buFont typeface="Arial MT"/>
              <a:buChar char="•"/>
              <a:tabLst>
                <a:tab pos="736600" algn="l"/>
              </a:tabLst>
            </a:pPr>
            <a:r>
              <a:rPr sz="2000" b="1" dirty="0">
                <a:latin typeface="Courier New"/>
                <a:cs typeface="Courier New"/>
              </a:rPr>
              <a:t>Planning</a:t>
            </a:r>
            <a:r>
              <a:rPr sz="2000" b="1" spc="27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procurement</a:t>
            </a:r>
            <a:r>
              <a:rPr sz="2000" b="1" spc="29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management</a:t>
            </a:r>
            <a:r>
              <a:rPr sz="2000" b="1" spc="27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determines procure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95893" y="3459607"/>
            <a:ext cx="34607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ourier New"/>
                <a:cs typeface="Courier New"/>
              </a:rPr>
              <a:t>what,</a:t>
            </a:r>
            <a:r>
              <a:rPr sz="2000" spc="27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when,</a:t>
            </a:r>
            <a:r>
              <a:rPr sz="2000" spc="1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and</a:t>
            </a:r>
            <a:r>
              <a:rPr sz="2000" spc="2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how</a:t>
            </a:r>
            <a:r>
              <a:rPr sz="2000" spc="9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to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8674" y="4318482"/>
            <a:ext cx="10436225" cy="228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860" marR="9525" indent="-264160" algn="just">
              <a:lnSpc>
                <a:spcPct val="140000"/>
              </a:lnSpc>
              <a:spcBef>
                <a:spcPts val="100"/>
              </a:spcBef>
              <a:buFont typeface="Arial MT"/>
              <a:buChar char="•"/>
              <a:tabLst>
                <a:tab pos="279400" algn="l"/>
              </a:tabLst>
            </a:pPr>
            <a:r>
              <a:rPr sz="2000" b="1" dirty="0">
                <a:latin typeface="Courier New"/>
                <a:cs typeface="Courier New"/>
              </a:rPr>
              <a:t>Conducting</a:t>
            </a:r>
            <a:r>
              <a:rPr sz="2000" b="1" spc="-50" dirty="0">
                <a:latin typeface="Courier New"/>
                <a:cs typeface="Courier New"/>
              </a:rPr>
              <a:t>  </a:t>
            </a:r>
            <a:r>
              <a:rPr sz="2000" b="1" dirty="0">
                <a:latin typeface="Courier New"/>
                <a:cs typeface="Courier New"/>
              </a:rPr>
              <a:t>procurements</a:t>
            </a:r>
            <a:r>
              <a:rPr sz="2000" b="1" spc="-6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refers</a:t>
            </a:r>
            <a:r>
              <a:rPr sz="2000" spc="-7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9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obtaining</a:t>
            </a:r>
            <a:r>
              <a:rPr sz="2000" spc="-5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seller</a:t>
            </a:r>
            <a:r>
              <a:rPr sz="2000" spc="-50" dirty="0">
                <a:latin typeface="Courier New"/>
                <a:cs typeface="Courier New"/>
              </a:rPr>
              <a:t>  </a:t>
            </a:r>
            <a:r>
              <a:rPr sz="2000" spc="-10" dirty="0">
                <a:latin typeface="Courier New"/>
                <a:cs typeface="Courier New"/>
              </a:rPr>
              <a:t>responses, 	selecting</a:t>
            </a:r>
            <a:r>
              <a:rPr sz="2000" spc="-57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sellers,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awarding</a:t>
            </a:r>
            <a:r>
              <a:rPr sz="2000" spc="-60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contracts</a:t>
            </a:r>
            <a:endParaRPr sz="2000" dirty="0">
              <a:latin typeface="Courier New"/>
              <a:cs typeface="Courier New"/>
            </a:endParaRPr>
          </a:p>
          <a:p>
            <a:pPr marL="276860" marR="5080" indent="-264160" algn="just">
              <a:lnSpc>
                <a:spcPct val="140100"/>
              </a:lnSpc>
              <a:spcBef>
                <a:spcPts val="990"/>
              </a:spcBef>
              <a:buFont typeface="Arial MT"/>
              <a:buChar char="•"/>
              <a:tabLst>
                <a:tab pos="279400" algn="l"/>
              </a:tabLst>
            </a:pPr>
            <a:r>
              <a:rPr sz="2000" b="1" dirty="0">
                <a:latin typeface="Courier New"/>
                <a:cs typeface="Courier New"/>
              </a:rPr>
              <a:t>Controlling</a:t>
            </a:r>
            <a:r>
              <a:rPr sz="2000" b="1" spc="80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procurements</a:t>
            </a:r>
            <a:r>
              <a:rPr sz="2000" b="1" spc="6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involves</a:t>
            </a:r>
            <a:r>
              <a:rPr sz="2000" spc="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relationship</a:t>
            </a:r>
            <a:r>
              <a:rPr sz="2000" spc="8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management</a:t>
            </a:r>
            <a:r>
              <a:rPr sz="2000" spc="8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with</a:t>
            </a:r>
            <a:r>
              <a:rPr sz="2000" spc="75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the 	</a:t>
            </a:r>
            <a:r>
              <a:rPr sz="2000" dirty="0">
                <a:latin typeface="Courier New"/>
                <a:cs typeface="Courier New"/>
              </a:rPr>
              <a:t>sellers,</a:t>
            </a:r>
            <a:r>
              <a:rPr sz="2000" spc="30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contract</a:t>
            </a:r>
            <a:r>
              <a:rPr sz="2000" spc="3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performance</a:t>
            </a:r>
            <a:r>
              <a:rPr sz="2000" spc="15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monitoring,</a:t>
            </a:r>
            <a:r>
              <a:rPr sz="2000" spc="3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making</a:t>
            </a:r>
            <a:r>
              <a:rPr sz="2000" spc="16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alterations,</a:t>
            </a:r>
            <a:r>
              <a:rPr sz="2000" spc="34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and 	</a:t>
            </a:r>
            <a:r>
              <a:rPr sz="2000" spc="-10" dirty="0">
                <a:latin typeface="Courier New"/>
                <a:cs typeface="Courier New"/>
              </a:rPr>
              <a:t>terminating</a:t>
            </a:r>
            <a:r>
              <a:rPr sz="2000" spc="-55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contracts.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95" dirty="0"/>
              <a:t> </a:t>
            </a:r>
            <a:r>
              <a:rPr spc="-30" dirty="0"/>
              <a:t>Procurement</a:t>
            </a:r>
            <a:r>
              <a:rPr spc="-12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3313"/>
            <a:ext cx="10911840" cy="3023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10" dirty="0">
                <a:latin typeface="Courier New"/>
                <a:cs typeface="Courier New"/>
              </a:rPr>
              <a:t>Make-</a:t>
            </a:r>
            <a:r>
              <a:rPr sz="2400" b="1" spc="-20" dirty="0">
                <a:latin typeface="Courier New"/>
                <a:cs typeface="Courier New"/>
              </a:rPr>
              <a:t>or-</a:t>
            </a:r>
            <a:r>
              <a:rPr sz="2400" b="1" dirty="0">
                <a:latin typeface="Courier New"/>
                <a:cs typeface="Courier New"/>
              </a:rPr>
              <a:t>buy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decision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involves</a:t>
            </a:r>
            <a:r>
              <a:rPr sz="2400" spc="-1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determining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whether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2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make</a:t>
            </a:r>
            <a:r>
              <a:rPr sz="2400" spc="-16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 	</a:t>
            </a:r>
            <a:r>
              <a:rPr sz="2400" dirty="0">
                <a:latin typeface="Courier New"/>
                <a:cs typeface="Courier New"/>
              </a:rPr>
              <a:t>product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perform</a:t>
            </a:r>
            <a:r>
              <a:rPr sz="2400" spc="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service</a:t>
            </a:r>
            <a:r>
              <a:rPr sz="2400" spc="100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in-</a:t>
            </a:r>
            <a:r>
              <a:rPr sz="2400" dirty="0">
                <a:latin typeface="Courier New"/>
                <a:cs typeface="Courier New"/>
              </a:rPr>
              <a:t>house</a:t>
            </a:r>
            <a:r>
              <a:rPr sz="2400" spc="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or</a:t>
            </a:r>
            <a:r>
              <a:rPr sz="2400" spc="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obtain</a:t>
            </a:r>
            <a:r>
              <a:rPr sz="2400" spc="-1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it</a:t>
            </a:r>
            <a:r>
              <a:rPr sz="2400" spc="1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from</a:t>
            </a:r>
            <a:r>
              <a:rPr sz="2400" spc="-114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 	</a:t>
            </a:r>
            <a:r>
              <a:rPr sz="2400" dirty="0">
                <a:latin typeface="Courier New"/>
                <a:cs typeface="Courier New"/>
              </a:rPr>
              <a:t>external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source.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40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Whether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procure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How,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what,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how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much,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when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procure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219" y="4908122"/>
            <a:ext cx="8397875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16510" indent="-227329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Procurement</a:t>
            </a:r>
            <a:r>
              <a:rPr sz="2400" spc="-22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13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processes</a:t>
            </a:r>
            <a:r>
              <a:rPr sz="2400" spc="-20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are</a:t>
            </a:r>
            <a:r>
              <a:rPr sz="2400" spc="-130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not 	</a:t>
            </a:r>
            <a:r>
              <a:rPr sz="2400" dirty="0">
                <a:latin typeface="Courier New"/>
                <a:cs typeface="Courier New"/>
              </a:rPr>
              <a:t>organization</a:t>
            </a:r>
            <a:r>
              <a:rPr sz="2400" spc="3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not</a:t>
            </a:r>
            <a:r>
              <a:rPr sz="2400" spc="4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purchasing</a:t>
            </a:r>
            <a:r>
              <a:rPr sz="2400" spc="4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4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product</a:t>
            </a:r>
            <a:r>
              <a:rPr sz="2400" spc="59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8018" y="5090541"/>
            <a:ext cx="1100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ourier New"/>
                <a:cs typeface="Courier New"/>
              </a:rPr>
              <a:t>needed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05592" y="5090541"/>
            <a:ext cx="1062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if</a:t>
            </a:r>
            <a:r>
              <a:rPr sz="2400" spc="-95" dirty="0">
                <a:latin typeface="Courier New"/>
                <a:cs typeface="Courier New"/>
              </a:rPr>
              <a:t>  </a:t>
            </a:r>
            <a:r>
              <a:rPr sz="2400" spc="-114" dirty="0">
                <a:latin typeface="Courier New"/>
                <a:cs typeface="Courier New"/>
              </a:rPr>
              <a:t>an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90709" y="5638901"/>
            <a:ext cx="12725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Courier New"/>
                <a:cs typeface="Courier New"/>
              </a:rPr>
              <a:t>service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90580" y="5638901"/>
            <a:ext cx="7359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Courier New"/>
                <a:cs typeface="Courier New"/>
              </a:rPr>
              <a:t>from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9819" y="6188151"/>
            <a:ext cx="6575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external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supplier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service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provider.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95" dirty="0"/>
              <a:t> </a:t>
            </a:r>
            <a:r>
              <a:rPr spc="-30" dirty="0"/>
              <a:t>Procurement</a:t>
            </a:r>
            <a:r>
              <a:rPr spc="-12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9489440" cy="3770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Inputs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planning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procurements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are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40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charter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45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Business</a:t>
            </a:r>
            <a:r>
              <a:rPr sz="2400" spc="-7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documents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35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plan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40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Project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documents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enterprise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environmental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factors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Organizational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</a:t>
            </a:r>
            <a:r>
              <a:rPr sz="2400" spc="-7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assets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95" dirty="0"/>
              <a:t> </a:t>
            </a:r>
            <a:r>
              <a:rPr spc="-30" dirty="0"/>
              <a:t>Procurement</a:t>
            </a:r>
            <a:r>
              <a:rPr spc="-12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00173"/>
            <a:ext cx="10890250" cy="2578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dirty="0">
                <a:latin typeface="Courier New"/>
                <a:cs typeface="Courier New"/>
              </a:rPr>
              <a:t>Three</a:t>
            </a:r>
            <a:r>
              <a:rPr sz="1900" spc="-57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broad</a:t>
            </a:r>
            <a:r>
              <a:rPr sz="1900" spc="-59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categories</a:t>
            </a:r>
            <a:r>
              <a:rPr sz="1900" spc="-58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of</a:t>
            </a:r>
            <a:r>
              <a:rPr sz="1900" spc="-59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contracts</a:t>
            </a:r>
            <a:r>
              <a:rPr sz="1900" spc="-58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exist.</a:t>
            </a:r>
            <a:endParaRPr sz="1900">
              <a:latin typeface="Courier New"/>
              <a:cs typeface="Courier New"/>
            </a:endParaRPr>
          </a:p>
          <a:p>
            <a:pPr marL="736600" marR="40005" lvl="1" indent="-266700">
              <a:lnSpc>
                <a:spcPct val="130100"/>
              </a:lnSpc>
              <a:spcBef>
                <a:spcPts val="1005"/>
              </a:spcBef>
              <a:buFont typeface="Arial MT"/>
              <a:buChar char="•"/>
              <a:tabLst>
                <a:tab pos="736600" algn="l"/>
              </a:tabLst>
            </a:pPr>
            <a:r>
              <a:rPr sz="1900" b="1" dirty="0">
                <a:latin typeface="Courier New"/>
                <a:cs typeface="Courier New"/>
              </a:rPr>
              <a:t>Fixed</a:t>
            </a:r>
            <a:r>
              <a:rPr sz="1900" b="1" spc="-5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price</a:t>
            </a:r>
            <a:r>
              <a:rPr sz="1900" b="1" spc="-1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or</a:t>
            </a:r>
            <a:r>
              <a:rPr sz="1900" b="1" spc="-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lump</a:t>
            </a:r>
            <a:r>
              <a:rPr sz="1900" b="1" spc="-2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sum</a:t>
            </a:r>
            <a:r>
              <a:rPr sz="1900" b="1" spc="-10" dirty="0">
                <a:latin typeface="Courier New"/>
                <a:cs typeface="Courier New"/>
              </a:rPr>
              <a:t> contracts</a:t>
            </a:r>
            <a:r>
              <a:rPr sz="1900" b="1" spc="-28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specify</a:t>
            </a:r>
            <a:r>
              <a:rPr sz="1900" spc="-15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</a:t>
            </a:r>
            <a:r>
              <a:rPr sz="1900" spc="-515" dirty="0">
                <a:latin typeface="Courier New"/>
                <a:cs typeface="Courier New"/>
              </a:rPr>
              <a:t> </a:t>
            </a:r>
            <a:r>
              <a:rPr sz="1900" spc="-45" dirty="0">
                <a:latin typeface="Courier New"/>
                <a:cs typeface="Courier New"/>
              </a:rPr>
              <a:t>fixed</a:t>
            </a:r>
            <a:r>
              <a:rPr sz="1900" spc="-300" dirty="0">
                <a:latin typeface="Courier New"/>
                <a:cs typeface="Courier New"/>
              </a:rPr>
              <a:t> </a:t>
            </a:r>
            <a:r>
              <a:rPr sz="1900" spc="-45" dirty="0">
                <a:latin typeface="Courier New"/>
                <a:cs typeface="Courier New"/>
              </a:rPr>
              <a:t>total</a:t>
            </a:r>
            <a:r>
              <a:rPr sz="1900" spc="-285" dirty="0">
                <a:latin typeface="Courier New"/>
                <a:cs typeface="Courier New"/>
              </a:rPr>
              <a:t> </a:t>
            </a:r>
            <a:r>
              <a:rPr sz="1900" spc="-40" dirty="0">
                <a:latin typeface="Courier New"/>
                <a:cs typeface="Courier New"/>
              </a:rPr>
              <a:t>price</a:t>
            </a:r>
            <a:r>
              <a:rPr sz="1900" spc="-300" dirty="0">
                <a:latin typeface="Courier New"/>
                <a:cs typeface="Courier New"/>
              </a:rPr>
              <a:t> </a:t>
            </a:r>
            <a:r>
              <a:rPr sz="1900" spc="-60" dirty="0">
                <a:latin typeface="Courier New"/>
                <a:cs typeface="Courier New"/>
              </a:rPr>
              <a:t>for</a:t>
            </a:r>
            <a:r>
              <a:rPr sz="1900" spc="-28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</a:t>
            </a:r>
            <a:r>
              <a:rPr sz="1900" spc="-409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well-</a:t>
            </a:r>
            <a:r>
              <a:rPr sz="1900" dirty="0">
                <a:latin typeface="Courier New"/>
                <a:cs typeface="Courier New"/>
              </a:rPr>
              <a:t>defined</a:t>
            </a:r>
            <a:r>
              <a:rPr sz="1900" spc="-59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product</a:t>
            </a:r>
            <a:r>
              <a:rPr sz="1900" spc="-58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or</a:t>
            </a:r>
            <a:r>
              <a:rPr sz="1900" spc="-59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service.</a:t>
            </a:r>
            <a:endParaRPr sz="1900">
              <a:latin typeface="Courier New"/>
              <a:cs typeface="Courier New"/>
            </a:endParaRPr>
          </a:p>
          <a:p>
            <a:pPr marL="736600" marR="5080" lvl="1" indent="-266700">
              <a:lnSpc>
                <a:spcPct val="130000"/>
              </a:lnSpc>
              <a:spcBef>
                <a:spcPts val="994"/>
              </a:spcBef>
              <a:buFont typeface="Arial MT"/>
              <a:buChar char="•"/>
              <a:tabLst>
                <a:tab pos="736600" algn="l"/>
              </a:tabLst>
            </a:pPr>
            <a:r>
              <a:rPr sz="1900" b="1" dirty="0">
                <a:latin typeface="Courier New"/>
                <a:cs typeface="Courier New"/>
              </a:rPr>
              <a:t>Cost</a:t>
            </a:r>
            <a:r>
              <a:rPr sz="1900" b="1" spc="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reimbursable</a:t>
            </a:r>
            <a:r>
              <a:rPr sz="1900" b="1" spc="1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contracts</a:t>
            </a:r>
            <a:r>
              <a:rPr sz="1900" b="1" spc="1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include</a:t>
            </a:r>
            <a:r>
              <a:rPr sz="1900" spc="-340" dirty="0">
                <a:latin typeface="Courier New"/>
                <a:cs typeface="Courier New"/>
              </a:rPr>
              <a:t> </a:t>
            </a:r>
            <a:r>
              <a:rPr sz="1900" spc="-30" dirty="0">
                <a:latin typeface="Courier New"/>
                <a:cs typeface="Courier New"/>
              </a:rPr>
              <a:t>payments</a:t>
            </a:r>
            <a:r>
              <a:rPr sz="1900" spc="-345" dirty="0">
                <a:latin typeface="Courier New"/>
                <a:cs typeface="Courier New"/>
              </a:rPr>
              <a:t> </a:t>
            </a:r>
            <a:r>
              <a:rPr sz="1900" spc="-35" dirty="0">
                <a:latin typeface="Courier New"/>
                <a:cs typeface="Courier New"/>
              </a:rPr>
              <a:t>to</a:t>
            </a:r>
            <a:r>
              <a:rPr sz="1900" spc="-390" dirty="0">
                <a:latin typeface="Courier New"/>
                <a:cs typeface="Courier New"/>
              </a:rPr>
              <a:t> </a:t>
            </a:r>
            <a:r>
              <a:rPr sz="1900" spc="-55" dirty="0">
                <a:latin typeface="Courier New"/>
                <a:cs typeface="Courier New"/>
              </a:rPr>
              <a:t>the</a:t>
            </a:r>
            <a:r>
              <a:rPr sz="1900" spc="-350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seller</a:t>
            </a:r>
            <a:r>
              <a:rPr sz="1900" spc="-315" dirty="0">
                <a:latin typeface="Courier New"/>
                <a:cs typeface="Courier New"/>
              </a:rPr>
              <a:t> </a:t>
            </a:r>
            <a:r>
              <a:rPr sz="1900" spc="-40" dirty="0">
                <a:latin typeface="Courier New"/>
                <a:cs typeface="Courier New"/>
              </a:rPr>
              <a:t>for</a:t>
            </a:r>
            <a:r>
              <a:rPr sz="1900" spc="-345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direct</a:t>
            </a:r>
            <a:r>
              <a:rPr sz="1900" spc="-315" dirty="0">
                <a:latin typeface="Courier New"/>
                <a:cs typeface="Courier New"/>
              </a:rPr>
              <a:t> </a:t>
            </a:r>
            <a:r>
              <a:rPr sz="1900" spc="-25" dirty="0">
                <a:latin typeface="Courier New"/>
                <a:cs typeface="Courier New"/>
              </a:rPr>
              <a:t>and </a:t>
            </a:r>
            <a:r>
              <a:rPr sz="1900" dirty="0">
                <a:latin typeface="Courier New"/>
                <a:cs typeface="Courier New"/>
              </a:rPr>
              <a:t>indirect</a:t>
            </a:r>
            <a:r>
              <a:rPr sz="1900" spc="-58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actual</a:t>
            </a:r>
            <a:r>
              <a:rPr sz="1900" spc="-59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costs.</a:t>
            </a:r>
            <a:endParaRPr sz="1900">
              <a:latin typeface="Courier New"/>
              <a:cs typeface="Courier New"/>
            </a:endParaRPr>
          </a:p>
          <a:p>
            <a:pPr marL="1247140" lvl="2" indent="-32004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1247140" algn="l"/>
              </a:tabLst>
            </a:pPr>
            <a:r>
              <a:rPr sz="1900" dirty="0">
                <a:latin typeface="Courier New"/>
                <a:cs typeface="Courier New"/>
              </a:rPr>
              <a:t>Cost</a:t>
            </a:r>
            <a:r>
              <a:rPr sz="1900" spc="-57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plus</a:t>
            </a:r>
            <a:r>
              <a:rPr sz="1900" spc="-59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incentive</a:t>
            </a:r>
            <a:r>
              <a:rPr sz="1900" spc="-60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fee</a:t>
            </a:r>
            <a:r>
              <a:rPr sz="1900" spc="-59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(CPIF)</a:t>
            </a:r>
            <a:r>
              <a:rPr sz="1900" spc="-59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contract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-28854" y="4668392"/>
            <a:ext cx="10348595" cy="18357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46935" indent="-32004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146935" algn="l"/>
              </a:tabLst>
            </a:pPr>
            <a:r>
              <a:rPr sz="1900" dirty="0">
                <a:latin typeface="Courier New"/>
                <a:cs typeface="Courier New"/>
              </a:rPr>
              <a:t>Cost</a:t>
            </a:r>
            <a:r>
              <a:rPr sz="1900" spc="-58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plus</a:t>
            </a:r>
            <a:r>
              <a:rPr sz="1900" spc="-58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fixed</a:t>
            </a:r>
            <a:r>
              <a:rPr sz="1900" spc="-60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fee</a:t>
            </a:r>
            <a:r>
              <a:rPr sz="1900" spc="-58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(CPFF)</a:t>
            </a:r>
            <a:r>
              <a:rPr sz="1900" spc="-59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contract</a:t>
            </a:r>
            <a:endParaRPr sz="1900" dirty="0">
              <a:latin typeface="Courier New"/>
              <a:cs typeface="Courier New"/>
            </a:endParaRPr>
          </a:p>
          <a:p>
            <a:pPr marL="2146935" indent="-32004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146935" algn="l"/>
              </a:tabLst>
            </a:pPr>
            <a:r>
              <a:rPr sz="1900" dirty="0">
                <a:latin typeface="Courier New"/>
                <a:cs typeface="Courier New"/>
              </a:rPr>
              <a:t>Cost</a:t>
            </a:r>
            <a:r>
              <a:rPr sz="1900" spc="-58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plus</a:t>
            </a:r>
            <a:r>
              <a:rPr sz="1900" spc="-58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award</a:t>
            </a:r>
            <a:r>
              <a:rPr sz="1900" spc="-60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fee</a:t>
            </a:r>
            <a:r>
              <a:rPr sz="1900" spc="-58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(CPAF)</a:t>
            </a:r>
            <a:r>
              <a:rPr sz="1900" spc="-59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contract</a:t>
            </a:r>
            <a:endParaRPr sz="1900" dirty="0">
              <a:latin typeface="Courier New"/>
              <a:cs typeface="Courier New"/>
            </a:endParaRPr>
          </a:p>
          <a:p>
            <a:pPr marL="2146935" indent="-32004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146935" algn="l"/>
              </a:tabLst>
            </a:pPr>
            <a:r>
              <a:rPr sz="1900" dirty="0">
                <a:latin typeface="Courier New"/>
                <a:cs typeface="Courier New"/>
              </a:rPr>
              <a:t>Cost</a:t>
            </a:r>
            <a:r>
              <a:rPr sz="1900" spc="-56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plus</a:t>
            </a:r>
            <a:r>
              <a:rPr sz="1900" spc="-59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percentage</a:t>
            </a:r>
            <a:r>
              <a:rPr sz="1900" spc="-60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of</a:t>
            </a:r>
            <a:r>
              <a:rPr sz="1900" spc="-59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costs</a:t>
            </a:r>
            <a:r>
              <a:rPr sz="1900" spc="-58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(CPPC)</a:t>
            </a:r>
            <a:r>
              <a:rPr sz="1900" spc="-595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contract</a:t>
            </a:r>
            <a:endParaRPr sz="1900" dirty="0">
              <a:latin typeface="Courier New"/>
              <a:cs typeface="Courier New"/>
            </a:endParaRPr>
          </a:p>
          <a:p>
            <a:pPr marL="1636395" indent="-266700">
              <a:lnSpc>
                <a:spcPct val="100000"/>
              </a:lnSpc>
              <a:spcBef>
                <a:spcPts val="1695"/>
              </a:spcBef>
              <a:buFont typeface="Arial MT"/>
              <a:buChar char="•"/>
              <a:tabLst>
                <a:tab pos="1636395" algn="l"/>
              </a:tabLst>
            </a:pPr>
            <a:r>
              <a:rPr sz="1900" b="1" dirty="0">
                <a:latin typeface="Courier New"/>
                <a:cs typeface="Courier New"/>
              </a:rPr>
              <a:t>Time</a:t>
            </a:r>
            <a:r>
              <a:rPr sz="1900" b="1" spc="4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and</a:t>
            </a:r>
            <a:r>
              <a:rPr sz="1900" b="1" spc="60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material</a:t>
            </a:r>
            <a:r>
              <a:rPr sz="1900" b="1" spc="55" dirty="0">
                <a:latin typeface="Courier New"/>
                <a:cs typeface="Courier New"/>
              </a:rPr>
              <a:t> </a:t>
            </a:r>
            <a:r>
              <a:rPr sz="1900" b="1" dirty="0">
                <a:latin typeface="Courier New"/>
                <a:cs typeface="Courier New"/>
              </a:rPr>
              <a:t>contracts</a:t>
            </a:r>
            <a:r>
              <a:rPr sz="1900" b="1" spc="3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are</a:t>
            </a:r>
            <a:r>
              <a:rPr sz="1900" spc="25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a</a:t>
            </a:r>
            <a:r>
              <a:rPr sz="1900" spc="-9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combination</a:t>
            </a:r>
            <a:r>
              <a:rPr sz="1900" spc="20" dirty="0">
                <a:latin typeface="Courier New"/>
                <a:cs typeface="Courier New"/>
              </a:rPr>
              <a:t> </a:t>
            </a:r>
            <a:r>
              <a:rPr sz="1900" dirty="0">
                <a:latin typeface="Courier New"/>
                <a:cs typeface="Courier New"/>
              </a:rPr>
              <a:t>of</a:t>
            </a:r>
            <a:r>
              <a:rPr sz="1900" spc="-30" dirty="0">
                <a:latin typeface="Courier New"/>
                <a:cs typeface="Courier New"/>
              </a:rPr>
              <a:t> </a:t>
            </a:r>
            <a:r>
              <a:rPr sz="1900" spc="-40" dirty="0" smtClean="0">
                <a:latin typeface="Courier New"/>
                <a:cs typeface="Courier New"/>
              </a:rPr>
              <a:t>fixed-</a:t>
            </a:r>
            <a:r>
              <a:rPr sz="1900" spc="-10" dirty="0" smtClean="0">
                <a:latin typeface="Courier New"/>
                <a:cs typeface="Courier New"/>
              </a:rPr>
              <a:t>price</a:t>
            </a:r>
            <a:endParaRPr sz="19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43209" y="6179007"/>
            <a:ext cx="12801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ourier New"/>
                <a:cs typeface="Courier New"/>
              </a:rPr>
              <a:t>and</a:t>
            </a:r>
            <a:r>
              <a:rPr sz="1900" spc="-204" dirty="0">
                <a:latin typeface="Courier New"/>
                <a:cs typeface="Courier New"/>
              </a:rPr>
              <a:t> </a:t>
            </a:r>
            <a:r>
              <a:rPr sz="1900" spc="-30" dirty="0">
                <a:latin typeface="Courier New"/>
                <a:cs typeface="Courier New"/>
              </a:rPr>
              <a:t>cost-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562707" y="972226"/>
            <a:ext cx="4847493" cy="22281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95" dirty="0"/>
              <a:t> </a:t>
            </a:r>
            <a:r>
              <a:rPr spc="-30" dirty="0"/>
              <a:t>Procurement</a:t>
            </a:r>
            <a:r>
              <a:rPr spc="-12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ubTitle" idx="1"/>
          </p:nvPr>
        </p:nvSpPr>
        <p:spPr>
          <a:xfrm>
            <a:off x="609600" y="3331698"/>
            <a:ext cx="46482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6850" marR="5080" indent="-1454785">
              <a:lnSpc>
                <a:spcPct val="150000"/>
              </a:lnSpc>
              <a:spcBef>
                <a:spcPts val="95"/>
              </a:spcBef>
            </a:pPr>
            <a:r>
              <a:rPr sz="2400" spc="-10" dirty="0"/>
              <a:t>Contract</a:t>
            </a:r>
            <a:r>
              <a:rPr sz="2400" spc="-730" dirty="0"/>
              <a:t> </a:t>
            </a:r>
            <a:r>
              <a:rPr sz="2400" spc="-10" dirty="0"/>
              <a:t>types</a:t>
            </a:r>
            <a:r>
              <a:rPr sz="2400" spc="-750" dirty="0"/>
              <a:t> </a:t>
            </a:r>
            <a:r>
              <a:rPr sz="2400" spc="-10" dirty="0"/>
              <a:t>versus </a:t>
            </a:r>
            <a:r>
              <a:rPr sz="2400" spc="-20" dirty="0"/>
              <a:t>risk</a:t>
            </a:r>
            <a:endParaRPr sz="2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800" y="1421891"/>
            <a:ext cx="6496811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95" dirty="0"/>
              <a:t> </a:t>
            </a:r>
            <a:r>
              <a:rPr spc="-30" dirty="0"/>
              <a:t>Procurement</a:t>
            </a:r>
            <a:r>
              <a:rPr spc="-12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3313"/>
            <a:ext cx="10902315" cy="4121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 algn="just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Unit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p</a:t>
            </a:r>
            <a:r>
              <a:rPr sz="2400" b="1" spc="-15" dirty="0">
                <a:latin typeface="Courier New"/>
                <a:cs typeface="Courier New"/>
              </a:rPr>
              <a:t>ri</a:t>
            </a:r>
            <a:r>
              <a:rPr sz="2400" b="1" spc="-5" dirty="0">
                <a:latin typeface="Courier New"/>
                <a:cs typeface="Courier New"/>
              </a:rPr>
              <a:t>cin</a:t>
            </a:r>
            <a:r>
              <a:rPr sz="2400" b="1" dirty="0">
                <a:latin typeface="Courier New"/>
                <a:cs typeface="Courier New"/>
              </a:rPr>
              <a:t>g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t</a:t>
            </a:r>
            <a:r>
              <a:rPr sz="2400" spc="-10" dirty="0">
                <a:latin typeface="Courier New"/>
                <a:cs typeface="Courier New"/>
              </a:rPr>
              <a:t>h</a:t>
            </a:r>
            <a:r>
              <a:rPr sz="2400" dirty="0">
                <a:latin typeface="Courier New"/>
                <a:cs typeface="Courier New"/>
              </a:rPr>
              <a:t>e</a:t>
            </a:r>
            <a:r>
              <a:rPr sz="2400" spc="-72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buye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530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n</a:t>
            </a:r>
            <a:r>
              <a:rPr sz="2400" spc="-50" dirty="0">
                <a:latin typeface="Courier New"/>
                <a:cs typeface="Courier New"/>
              </a:rPr>
              <a:t>e</a:t>
            </a:r>
            <a:r>
              <a:rPr sz="2400" spc="-65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d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51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Courier New"/>
                <a:cs typeface="Courier New"/>
              </a:rPr>
              <a:t>t</a:t>
            </a:r>
            <a:r>
              <a:rPr sz="2400" dirty="0">
                <a:latin typeface="Courier New"/>
                <a:cs typeface="Courier New"/>
              </a:rPr>
              <a:t>o</a:t>
            </a:r>
            <a:r>
              <a:rPr sz="2400" spc="-605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Courier New"/>
                <a:cs typeface="Courier New"/>
              </a:rPr>
              <a:t>p</a:t>
            </a:r>
            <a:r>
              <a:rPr sz="2400" spc="-50" dirty="0">
                <a:latin typeface="Courier New"/>
                <a:cs typeface="Courier New"/>
              </a:rPr>
              <a:t>a</a:t>
            </a:r>
            <a:r>
              <a:rPr sz="2400" dirty="0">
                <a:latin typeface="Courier New"/>
                <a:cs typeface="Courier New"/>
              </a:rPr>
              <a:t>y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495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p</a:t>
            </a:r>
            <a:r>
              <a:rPr sz="2400" spc="-40" dirty="0">
                <a:latin typeface="Courier New"/>
                <a:cs typeface="Courier New"/>
              </a:rPr>
              <a:t>r</a:t>
            </a:r>
            <a:r>
              <a:rPr sz="2400" spc="-25" dirty="0">
                <a:latin typeface="Courier New"/>
                <a:cs typeface="Courier New"/>
              </a:rPr>
              <a:t>e</a:t>
            </a:r>
            <a:r>
              <a:rPr sz="2400" spc="-5" dirty="0">
                <a:latin typeface="Courier New"/>
                <a:cs typeface="Courier New"/>
              </a:rPr>
              <a:t>de</a:t>
            </a:r>
            <a:r>
              <a:rPr sz="2400" spc="5" dirty="0">
                <a:latin typeface="Courier New"/>
                <a:cs typeface="Courier New"/>
              </a:rPr>
              <a:t>t</a:t>
            </a:r>
            <a:r>
              <a:rPr sz="2400" spc="-5" dirty="0">
                <a:latin typeface="Courier New"/>
                <a:cs typeface="Courier New"/>
              </a:rPr>
              <a:t>e</a:t>
            </a:r>
            <a:r>
              <a:rPr sz="2400" spc="5" dirty="0">
                <a:latin typeface="Courier New"/>
                <a:cs typeface="Courier New"/>
              </a:rPr>
              <a:t>rmine</a:t>
            </a:r>
            <a:r>
              <a:rPr sz="2400" dirty="0">
                <a:latin typeface="Courier New"/>
                <a:cs typeface="Courier New"/>
              </a:rPr>
              <a:t>d</a:t>
            </a:r>
            <a:r>
              <a:rPr sz="2400" spc="-490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a</a:t>
            </a:r>
            <a:r>
              <a:rPr sz="2400" spc="-100" dirty="0">
                <a:latin typeface="Courier New"/>
                <a:cs typeface="Courier New"/>
              </a:rPr>
              <a:t>m</a:t>
            </a:r>
            <a:r>
              <a:rPr sz="2400" spc="5" dirty="0">
                <a:latin typeface="Courier New"/>
                <a:cs typeface="Courier New"/>
              </a:rPr>
              <a:t>oun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500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f</a:t>
            </a:r>
            <a:r>
              <a:rPr sz="2400" spc="-40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r 	each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uni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f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5" dirty="0">
                <a:latin typeface="Courier New"/>
                <a:cs typeface="Courier New"/>
              </a:rPr>
              <a:t>p</a:t>
            </a:r>
            <a:r>
              <a:rPr sz="2400" spc="-5" dirty="0">
                <a:latin typeface="Courier New"/>
                <a:cs typeface="Courier New"/>
              </a:rPr>
              <a:t>rodu</a:t>
            </a:r>
            <a:r>
              <a:rPr sz="2400" spc="-20" dirty="0">
                <a:latin typeface="Courier New"/>
                <a:cs typeface="Courier New"/>
              </a:rPr>
              <a:t>c</a:t>
            </a:r>
            <a:r>
              <a:rPr sz="2400" dirty="0">
                <a:latin typeface="Courier New"/>
                <a:cs typeface="Courier New"/>
              </a:rPr>
              <a:t>t</a:t>
            </a:r>
            <a:r>
              <a:rPr sz="2400" spc="-78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o</a:t>
            </a:r>
            <a:r>
              <a:rPr sz="2400" dirty="0">
                <a:latin typeface="Courier New"/>
                <a:cs typeface="Courier New"/>
              </a:rPr>
              <a:t>r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se</a:t>
            </a:r>
            <a:r>
              <a:rPr sz="2400" spc="-20" dirty="0">
                <a:latin typeface="Courier New"/>
                <a:cs typeface="Courier New"/>
              </a:rPr>
              <a:t>r</a:t>
            </a:r>
            <a:r>
              <a:rPr sz="2400" spc="-5" dirty="0">
                <a:latin typeface="Courier New"/>
                <a:cs typeface="Courier New"/>
              </a:rPr>
              <a:t>vice</a:t>
            </a:r>
            <a:r>
              <a:rPr sz="2400" dirty="0">
                <a:latin typeface="Courier New"/>
                <a:cs typeface="Courier New"/>
              </a:rPr>
              <a:t>.</a:t>
            </a:r>
            <a:endParaRPr sz="2400">
              <a:latin typeface="Courier New"/>
              <a:cs typeface="Courier New"/>
            </a:endParaRPr>
          </a:p>
          <a:p>
            <a:pPr marL="240029" marR="10160" indent="-227329" algn="just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Point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of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Total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Assumption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(PTA)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refers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1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cost</a:t>
            </a:r>
            <a:r>
              <a:rPr sz="2400" spc="-1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at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which 	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contractor</a:t>
            </a:r>
            <a:r>
              <a:rPr sz="2400" spc="7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accepts</a:t>
            </a:r>
            <a:r>
              <a:rPr sz="2400" spc="-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total</a:t>
            </a:r>
            <a:r>
              <a:rPr sz="2400" spc="7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responsibility</a:t>
            </a:r>
            <a:r>
              <a:rPr sz="2400" spc="8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40" dirty="0">
                <a:latin typeface="Courier New"/>
                <a:cs typeface="Courier New"/>
              </a:rPr>
              <a:t>  </a:t>
            </a:r>
            <a:r>
              <a:rPr sz="2400" spc="-20" dirty="0">
                <a:latin typeface="Courier New"/>
                <a:cs typeface="Courier New"/>
              </a:rPr>
              <a:t>each 	</a:t>
            </a:r>
            <a:r>
              <a:rPr sz="2400" dirty="0">
                <a:latin typeface="Courier New"/>
                <a:cs typeface="Courier New"/>
              </a:rPr>
              <a:t>additional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dollar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contract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cost.</a:t>
            </a:r>
            <a:endParaRPr sz="2400">
              <a:latin typeface="Courier New"/>
              <a:cs typeface="Courier New"/>
            </a:endParaRPr>
          </a:p>
          <a:p>
            <a:pPr marL="240029" marR="9525" indent="-227329" algn="just">
              <a:lnSpc>
                <a:spcPct val="15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Termination</a:t>
            </a:r>
            <a:r>
              <a:rPr sz="2400" b="1" spc="-360" dirty="0">
                <a:latin typeface="Courier New"/>
                <a:cs typeface="Courier New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clause</a:t>
            </a:r>
            <a:r>
              <a:rPr sz="2400" b="1" spc="-31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allows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270" dirty="0">
                <a:latin typeface="Courier New"/>
                <a:cs typeface="Courier New"/>
              </a:rPr>
              <a:t>the</a:t>
            </a:r>
            <a:r>
              <a:rPr sz="2400" spc="-90" dirty="0">
                <a:latin typeface="Courier New"/>
                <a:cs typeface="Courier New"/>
              </a:rPr>
              <a:t> buyer</a:t>
            </a:r>
            <a:r>
              <a:rPr sz="2400" spc="-220" dirty="0">
                <a:latin typeface="Courier New"/>
                <a:cs typeface="Courier New"/>
              </a:rPr>
              <a:t> </a:t>
            </a:r>
            <a:r>
              <a:rPr sz="2400" spc="-315" dirty="0">
                <a:latin typeface="Courier New"/>
                <a:cs typeface="Courier New"/>
              </a:rPr>
              <a:t>or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spc="-70" dirty="0">
                <a:latin typeface="Courier New"/>
                <a:cs typeface="Courier New"/>
              </a:rPr>
              <a:t>seller</a:t>
            </a:r>
            <a:r>
              <a:rPr sz="2400" spc="-210" dirty="0">
                <a:latin typeface="Courier New"/>
                <a:cs typeface="Courier New"/>
              </a:rPr>
              <a:t> </a:t>
            </a:r>
            <a:r>
              <a:rPr sz="2400" spc="-315" dirty="0">
                <a:latin typeface="Courier New"/>
                <a:cs typeface="Courier New"/>
              </a:rPr>
              <a:t>to</a:t>
            </a:r>
            <a:r>
              <a:rPr sz="2400" spc="-45" dirty="0">
                <a:latin typeface="Courier New"/>
                <a:cs typeface="Courier New"/>
              </a:rPr>
              <a:t> terminate</a:t>
            </a:r>
            <a:r>
              <a:rPr sz="2400" spc="-21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spc="-10" dirty="0">
                <a:latin typeface="Courier New"/>
                <a:cs typeface="Courier New"/>
              </a:rPr>
              <a:t>contract.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95" dirty="0"/>
              <a:t> </a:t>
            </a:r>
            <a:r>
              <a:rPr spc="-30" dirty="0"/>
              <a:t>Procurement</a:t>
            </a:r>
            <a:r>
              <a:rPr spc="-12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3313"/>
            <a:ext cx="7216775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number</a:t>
            </a:r>
            <a:r>
              <a:rPr sz="2400" spc="18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1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tools</a:t>
            </a:r>
            <a:r>
              <a:rPr sz="2400" spc="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and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techniques</a:t>
            </a:r>
            <a:r>
              <a:rPr sz="2400" spc="22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exist 	</a:t>
            </a:r>
            <a:r>
              <a:rPr sz="2400" dirty="0">
                <a:latin typeface="Courier New"/>
                <a:cs typeface="Courier New"/>
              </a:rPr>
              <a:t>procurement</a:t>
            </a:r>
            <a:r>
              <a:rPr sz="2400" spc="-7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management.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9985" y="1965705"/>
            <a:ext cx="1292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help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43693" y="1965705"/>
            <a:ext cx="20250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in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planning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674" y="3189859"/>
            <a:ext cx="3653154" cy="1743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8130" algn="l"/>
              </a:tabLst>
            </a:pPr>
            <a:r>
              <a:rPr sz="2400" spc="-10" dirty="0">
                <a:latin typeface="Courier New"/>
                <a:cs typeface="Courier New"/>
              </a:rPr>
              <a:t>Make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Buy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Analysis</a:t>
            </a:r>
            <a:endParaRPr sz="2400">
              <a:latin typeface="Courier New"/>
              <a:cs typeface="Courier New"/>
            </a:endParaRPr>
          </a:p>
          <a:p>
            <a:pPr marL="278130" indent="-265430">
              <a:lnSpc>
                <a:spcPct val="100000"/>
              </a:lnSpc>
              <a:spcBef>
                <a:spcPts val="2445"/>
              </a:spcBef>
              <a:buFont typeface="Arial MT"/>
              <a:buChar char="•"/>
              <a:tabLst>
                <a:tab pos="278130" algn="l"/>
              </a:tabLst>
            </a:pPr>
            <a:r>
              <a:rPr sz="2400" spc="-10" dirty="0">
                <a:latin typeface="Courier New"/>
                <a:cs typeface="Courier New"/>
              </a:rPr>
              <a:t>Expert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judgement</a:t>
            </a:r>
            <a:endParaRPr sz="2400">
              <a:latin typeface="Courier New"/>
              <a:cs typeface="Courier New"/>
            </a:endParaRPr>
          </a:p>
          <a:p>
            <a:pPr marL="278130" indent="-265430">
              <a:lnSpc>
                <a:spcPct val="100000"/>
              </a:lnSpc>
              <a:spcBef>
                <a:spcPts val="2440"/>
              </a:spcBef>
              <a:buFont typeface="Arial MT"/>
              <a:buChar char="•"/>
              <a:tabLst>
                <a:tab pos="278130" algn="l"/>
              </a:tabLst>
            </a:pPr>
            <a:r>
              <a:rPr sz="2400" spc="-10" dirty="0">
                <a:latin typeface="Courier New"/>
                <a:cs typeface="Courier New"/>
              </a:rPr>
              <a:t>Market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Research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95" dirty="0"/>
              <a:t> </a:t>
            </a:r>
            <a:r>
              <a:rPr spc="-30" dirty="0"/>
              <a:t>Procurement</a:t>
            </a:r>
            <a:r>
              <a:rPr spc="-12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/>
          <p:nvPr/>
        </p:nvSpPr>
        <p:spPr>
          <a:xfrm>
            <a:off x="1112519" y="3409060"/>
            <a:ext cx="10594975" cy="20320"/>
          </a:xfrm>
          <a:custGeom>
            <a:avLst/>
            <a:gdLst/>
            <a:ahLst/>
            <a:cxnLst/>
            <a:rect l="l" t="t" r="r" b="b"/>
            <a:pathLst>
              <a:path w="10594975" h="20320">
                <a:moveTo>
                  <a:pt x="10594848" y="0"/>
                </a:moveTo>
                <a:lnTo>
                  <a:pt x="0" y="0"/>
                </a:lnTo>
                <a:lnTo>
                  <a:pt x="0" y="19812"/>
                </a:lnTo>
                <a:lnTo>
                  <a:pt x="10594848" y="19812"/>
                </a:lnTo>
                <a:lnTo>
                  <a:pt x="105948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1219" y="1783313"/>
            <a:ext cx="10899140" cy="3444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6985" indent="-227329" algn="just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Procurement</a:t>
            </a:r>
            <a:r>
              <a:rPr sz="2400" b="1" spc="-180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management</a:t>
            </a:r>
            <a:r>
              <a:rPr sz="2400" b="1" spc="-175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plan</a:t>
            </a:r>
            <a:r>
              <a:rPr sz="2400" b="1" spc="-18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refers</a:t>
            </a:r>
            <a:r>
              <a:rPr sz="2400" spc="-1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17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2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document</a:t>
            </a:r>
            <a:r>
              <a:rPr sz="2400" spc="-175" dirty="0">
                <a:latin typeface="Courier New"/>
                <a:cs typeface="Courier New"/>
              </a:rPr>
              <a:t>  </a:t>
            </a:r>
            <a:r>
              <a:rPr sz="2400" spc="-20" dirty="0">
                <a:latin typeface="Courier New"/>
                <a:cs typeface="Courier New"/>
              </a:rPr>
              <a:t>that 	</a:t>
            </a:r>
            <a:r>
              <a:rPr sz="2400" spc="-30" dirty="0">
                <a:latin typeface="Courier New"/>
                <a:cs typeface="Courier New"/>
              </a:rPr>
              <a:t>elaborates</a:t>
            </a:r>
            <a:r>
              <a:rPr sz="2400" spc="-340" dirty="0">
                <a:latin typeface="Courier New"/>
                <a:cs typeface="Courier New"/>
              </a:rPr>
              <a:t> </a:t>
            </a:r>
            <a:r>
              <a:rPr sz="2400" spc="-180" dirty="0">
                <a:latin typeface="Courier New"/>
                <a:cs typeface="Courier New"/>
              </a:rPr>
              <a:t>how </a:t>
            </a:r>
            <a:r>
              <a:rPr sz="2400" spc="-210" dirty="0">
                <a:latin typeface="Courier New"/>
                <a:cs typeface="Courier New"/>
              </a:rPr>
              <a:t>the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procurement</a:t>
            </a:r>
            <a:r>
              <a:rPr sz="2400" spc="-315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processes</a:t>
            </a:r>
            <a:r>
              <a:rPr sz="2400" spc="-305" dirty="0">
                <a:latin typeface="Courier New"/>
                <a:cs typeface="Courier New"/>
              </a:rPr>
              <a:t> </a:t>
            </a:r>
            <a:r>
              <a:rPr sz="2400" spc="-135" dirty="0">
                <a:latin typeface="Courier New"/>
                <a:cs typeface="Courier New"/>
              </a:rPr>
              <a:t>will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350" dirty="0">
                <a:latin typeface="Courier New"/>
                <a:cs typeface="Courier New"/>
              </a:rPr>
              <a:t>be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managed,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from 	</a:t>
            </a:r>
            <a:r>
              <a:rPr sz="2400" i="1" dirty="0">
                <a:latin typeface="Courier New"/>
                <a:cs typeface="Courier New"/>
              </a:rPr>
              <a:t>production</a:t>
            </a:r>
            <a:r>
              <a:rPr sz="2400" i="1" spc="80" dirty="0">
                <a:latin typeface="Courier New"/>
                <a:cs typeface="Courier New"/>
              </a:rPr>
              <a:t>   </a:t>
            </a:r>
            <a:r>
              <a:rPr sz="2400" i="1" dirty="0">
                <a:latin typeface="Courier New"/>
                <a:cs typeface="Courier New"/>
              </a:rPr>
              <a:t>of</a:t>
            </a:r>
            <a:r>
              <a:rPr sz="2400" i="1" spc="80" dirty="0">
                <a:latin typeface="Courier New"/>
                <a:cs typeface="Courier New"/>
              </a:rPr>
              <a:t>   </a:t>
            </a:r>
            <a:r>
              <a:rPr sz="2400" i="1" dirty="0">
                <a:latin typeface="Courier New"/>
                <a:cs typeface="Courier New"/>
              </a:rPr>
              <a:t>documentation</a:t>
            </a:r>
            <a:r>
              <a:rPr sz="2400" i="1" spc="80" dirty="0">
                <a:latin typeface="Courier New"/>
                <a:cs typeface="Courier New"/>
              </a:rPr>
              <a:t>   </a:t>
            </a:r>
            <a:r>
              <a:rPr sz="2400" i="1" dirty="0">
                <a:latin typeface="Courier New"/>
                <a:cs typeface="Courier New"/>
              </a:rPr>
              <a:t>for</a:t>
            </a:r>
            <a:r>
              <a:rPr sz="2400" i="1" spc="85" dirty="0">
                <a:latin typeface="Courier New"/>
                <a:cs typeface="Courier New"/>
              </a:rPr>
              <a:t>   </a:t>
            </a:r>
            <a:r>
              <a:rPr sz="2400" i="1" dirty="0">
                <a:latin typeface="Courier New"/>
                <a:cs typeface="Courier New"/>
              </a:rPr>
              <a:t>making</a:t>
            </a:r>
            <a:r>
              <a:rPr sz="2400" i="1" spc="80" dirty="0">
                <a:latin typeface="Courier New"/>
                <a:cs typeface="Courier New"/>
              </a:rPr>
              <a:t>   </a:t>
            </a:r>
            <a:r>
              <a:rPr sz="2400" i="1" spc="-10" dirty="0">
                <a:latin typeface="Courier New"/>
                <a:cs typeface="Courier New"/>
              </a:rPr>
              <a:t>external 	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acquisitions</a:t>
            </a:r>
            <a:r>
              <a:rPr sz="2400" i="1" u="heavy" spc="-8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or </a:t>
            </a:r>
            <a:r>
              <a:rPr sz="24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purchases</a:t>
            </a:r>
            <a:r>
              <a:rPr sz="2400" i="1" spc="-7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contract</a:t>
            </a:r>
            <a:r>
              <a:rPr sz="2400" i="1" u="heavy" spc="-4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i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closure</a:t>
            </a:r>
            <a:r>
              <a:rPr sz="2400" spc="-10" dirty="0">
                <a:latin typeface="Courier New"/>
                <a:cs typeface="Courier New"/>
              </a:rPr>
              <a:t>.</a:t>
            </a:r>
            <a:endParaRPr sz="2400">
              <a:latin typeface="Courier New"/>
              <a:cs typeface="Courier New"/>
            </a:endParaRPr>
          </a:p>
          <a:p>
            <a:pPr marL="240029" marR="5080" indent="-227329" algn="just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15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detailed</a:t>
            </a:r>
            <a:r>
              <a:rPr sz="2400" spc="-1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contents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6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procurement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management</a:t>
            </a:r>
            <a:r>
              <a:rPr sz="2400" spc="-1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plan,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see 	</a:t>
            </a:r>
            <a:r>
              <a:rPr sz="2400" dirty="0">
                <a:latin typeface="Courier New"/>
                <a:cs typeface="Courier New"/>
              </a:rPr>
              <a:t>page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518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book.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95" dirty="0"/>
              <a:t> </a:t>
            </a:r>
            <a:r>
              <a:rPr spc="-30" dirty="0"/>
              <a:t>Procurement</a:t>
            </a:r>
            <a:r>
              <a:rPr spc="-12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3313"/>
            <a:ext cx="5875655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Statement</a:t>
            </a:r>
            <a:r>
              <a:rPr sz="2400" b="1" spc="26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of</a:t>
            </a:r>
            <a:r>
              <a:rPr sz="2400" b="1" spc="29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Work</a:t>
            </a:r>
            <a:r>
              <a:rPr sz="2400" b="1" spc="29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(SOW)</a:t>
            </a:r>
            <a:r>
              <a:rPr sz="2400" b="1" spc="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refers 	</a:t>
            </a:r>
            <a:r>
              <a:rPr sz="2400" dirty="0">
                <a:latin typeface="Courier New"/>
                <a:cs typeface="Courier New"/>
              </a:rPr>
              <a:t>needed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for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procurement.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39153" y="1965705"/>
            <a:ext cx="1121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10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the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1697" y="1965705"/>
            <a:ext cx="3517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description</a:t>
            </a:r>
            <a:r>
              <a:rPr sz="2400" spc="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9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work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219" y="3006979"/>
            <a:ext cx="54743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6510" indent="-227329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If</a:t>
            </a:r>
            <a:r>
              <a:rPr sz="2400" spc="47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SOW</a:t>
            </a:r>
            <a:r>
              <a:rPr sz="2400" spc="2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4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used</a:t>
            </a:r>
            <a:r>
              <a:rPr sz="2400" spc="-40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3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describe 	</a:t>
            </a:r>
            <a:r>
              <a:rPr sz="2400" dirty="0">
                <a:latin typeface="Courier New"/>
                <a:cs typeface="Courier New"/>
              </a:rPr>
              <a:t>particular</a:t>
            </a:r>
            <a:r>
              <a:rPr sz="2400" spc="-345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contract</a:t>
            </a:r>
            <a:r>
              <a:rPr sz="2400" spc="-34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then</a:t>
            </a:r>
            <a:r>
              <a:rPr sz="2400" spc="-260" dirty="0">
                <a:latin typeface="Courier New"/>
                <a:cs typeface="Courier New"/>
              </a:rPr>
              <a:t>  </a:t>
            </a:r>
            <a:r>
              <a:rPr sz="2400" spc="-140" dirty="0">
                <a:latin typeface="Courier New"/>
                <a:cs typeface="Courier New"/>
              </a:rPr>
              <a:t>it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60033" y="3006979"/>
            <a:ext cx="32213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080" indent="-253365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only</a:t>
            </a:r>
            <a:r>
              <a:rPr sz="2400" spc="3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19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required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5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referred</a:t>
            </a:r>
            <a:r>
              <a:rPr sz="2400" spc="-215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to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27869" y="3006979"/>
            <a:ext cx="21551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3360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work</a:t>
            </a:r>
            <a:r>
              <a:rPr sz="2400" spc="30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350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a </a:t>
            </a:r>
            <a:r>
              <a:rPr sz="2400" dirty="0">
                <a:latin typeface="Courier New"/>
                <a:cs typeface="Courier New"/>
              </a:rPr>
              <a:t>as</a:t>
            </a:r>
            <a:r>
              <a:rPr sz="2400" spc="459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contract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1219" y="4282820"/>
            <a:ext cx="10894695" cy="2296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statement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of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work.</a:t>
            </a:r>
            <a:endParaRPr sz="2400" dirty="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Contract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SOW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type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scope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statement.</a:t>
            </a:r>
            <a:endParaRPr sz="2400" dirty="0">
              <a:latin typeface="Courier New"/>
              <a:cs typeface="Courier New"/>
            </a:endParaRP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good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spc="-35" dirty="0">
                <a:latin typeface="Courier New"/>
                <a:cs typeface="Courier New"/>
              </a:rPr>
              <a:t>contract</a:t>
            </a:r>
            <a:r>
              <a:rPr sz="2400" spc="-3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SOW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offers</a:t>
            </a:r>
            <a:r>
              <a:rPr sz="2400" spc="-229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bidders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3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better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understanding</a:t>
            </a:r>
            <a:r>
              <a:rPr sz="2400" spc="-18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of</a:t>
            </a:r>
            <a:endParaRPr sz="2400" dirty="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buyer’s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expectations.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95" dirty="0"/>
              <a:t> </a:t>
            </a:r>
            <a:r>
              <a:rPr spc="-30" dirty="0"/>
              <a:t>Procurement</a:t>
            </a:r>
            <a:r>
              <a:rPr spc="-12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1219" y="1783313"/>
            <a:ext cx="1909445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Statement 	template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2338" y="1965705"/>
            <a:ext cx="1536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160" dirty="0">
                <a:latin typeface="Courier New"/>
                <a:cs typeface="Courier New"/>
              </a:rPr>
              <a:t>  </a:t>
            </a:r>
            <a:r>
              <a:rPr sz="2400" spc="-20" dirty="0">
                <a:latin typeface="Courier New"/>
                <a:cs typeface="Courier New"/>
              </a:rPr>
              <a:t>work</a:t>
            </a:r>
            <a:endParaRPr sz="2400">
              <a:latin typeface="Courier New"/>
              <a:cs typeface="Courier New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0" y="1764791"/>
            <a:ext cx="5538215" cy="44256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183251" y="1965705"/>
            <a:ext cx="925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(SOW)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95" dirty="0"/>
              <a:t> </a:t>
            </a:r>
            <a:r>
              <a:rPr spc="-30" dirty="0"/>
              <a:t>Procurement</a:t>
            </a:r>
            <a:r>
              <a:rPr spc="-12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01698"/>
            <a:ext cx="4039235" cy="1250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Courier New"/>
                <a:cs typeface="Courier New"/>
              </a:rPr>
              <a:t>Procurement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documents</a:t>
            </a:r>
            <a:endParaRPr sz="2000">
              <a:latin typeface="Courier New"/>
              <a:cs typeface="Courier New"/>
            </a:endParaRPr>
          </a:p>
          <a:p>
            <a:pPr marL="723900" lvl="1" indent="-266700" algn="ctr">
              <a:lnSpc>
                <a:spcPct val="100000"/>
              </a:lnSpc>
              <a:spcBef>
                <a:spcPts val="1714"/>
              </a:spcBef>
              <a:buFont typeface="Arial MT"/>
              <a:buChar char="•"/>
              <a:tabLst>
                <a:tab pos="723900" algn="l"/>
              </a:tabLst>
            </a:pPr>
            <a:r>
              <a:rPr sz="2000" b="1" dirty="0">
                <a:latin typeface="Courier New"/>
                <a:cs typeface="Courier New"/>
              </a:rPr>
              <a:t>Request</a:t>
            </a:r>
            <a:r>
              <a:rPr sz="2000" b="1" spc="-140" dirty="0">
                <a:latin typeface="Courier New"/>
                <a:cs typeface="Courier New"/>
              </a:rPr>
              <a:t>  </a:t>
            </a:r>
            <a:r>
              <a:rPr sz="2000" b="1" dirty="0">
                <a:latin typeface="Courier New"/>
                <a:cs typeface="Courier New"/>
              </a:rPr>
              <a:t>for</a:t>
            </a:r>
            <a:r>
              <a:rPr sz="2000" b="1" spc="-140" dirty="0">
                <a:latin typeface="Courier New"/>
                <a:cs typeface="Courier New"/>
              </a:rPr>
              <a:t>  </a:t>
            </a:r>
            <a:r>
              <a:rPr sz="2000" b="1" spc="-10" dirty="0">
                <a:latin typeface="Courier New"/>
                <a:cs typeface="Courier New"/>
              </a:rPr>
              <a:t>Proposal</a:t>
            </a:r>
            <a:endParaRPr sz="2000">
              <a:latin typeface="Courier New"/>
              <a:cs typeface="Courier New"/>
            </a:endParaRPr>
          </a:p>
          <a:p>
            <a:pPr marL="100965" algn="ctr">
              <a:lnSpc>
                <a:spcPct val="100000"/>
              </a:lnSpc>
              <a:spcBef>
                <a:spcPts val="720"/>
              </a:spcBef>
            </a:pPr>
            <a:r>
              <a:rPr sz="2000" spc="-10" dirty="0">
                <a:latin typeface="Courier New"/>
                <a:cs typeface="Courier New"/>
              </a:rPr>
              <a:t>potential</a:t>
            </a:r>
            <a:r>
              <a:rPr sz="2000" spc="-56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sellers.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57342" y="2424125"/>
            <a:ext cx="66059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ourier New"/>
                <a:cs typeface="Courier New"/>
              </a:rPr>
              <a:t>(RFP)</a:t>
            </a:r>
            <a:r>
              <a:rPr sz="2000" b="1" spc="-18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is</a:t>
            </a:r>
            <a:r>
              <a:rPr sz="2000" spc="-20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used</a:t>
            </a:r>
            <a:r>
              <a:rPr sz="2000" spc="-125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to</a:t>
            </a:r>
            <a:r>
              <a:rPr sz="2000" spc="-25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solicit</a:t>
            </a:r>
            <a:r>
              <a:rPr sz="2000" spc="-190" dirty="0">
                <a:latin typeface="Courier New"/>
                <a:cs typeface="Courier New"/>
              </a:rPr>
              <a:t>  </a:t>
            </a:r>
            <a:r>
              <a:rPr sz="2000" dirty="0">
                <a:latin typeface="Courier New"/>
                <a:cs typeface="Courier New"/>
              </a:rPr>
              <a:t>proposals</a:t>
            </a:r>
            <a:r>
              <a:rPr sz="2000" spc="-185" dirty="0">
                <a:latin typeface="Courier New"/>
                <a:cs typeface="Courier New"/>
              </a:rPr>
              <a:t>  </a:t>
            </a:r>
            <a:r>
              <a:rPr sz="2000" spc="-20" dirty="0">
                <a:latin typeface="Courier New"/>
                <a:cs typeface="Courier New"/>
              </a:rPr>
              <a:t>from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45" y="3254476"/>
            <a:ext cx="11755755" cy="30469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6295" marR="12700" indent="-317500" algn="just">
              <a:lnSpc>
                <a:spcPct val="130000"/>
              </a:lnSpc>
              <a:spcBef>
                <a:spcPts val="100"/>
              </a:spcBef>
              <a:buFont typeface="Arial MT"/>
              <a:buChar char="•"/>
              <a:tabLst>
                <a:tab pos="2108835" algn="l"/>
              </a:tabLst>
            </a:pPr>
            <a:r>
              <a:rPr sz="2000" dirty="0">
                <a:latin typeface="Courier New"/>
                <a:cs typeface="Courier New"/>
              </a:rPr>
              <a:t>A</a:t>
            </a:r>
            <a:r>
              <a:rPr sz="2000" spc="-400" dirty="0">
                <a:latin typeface="Courier New"/>
                <a:cs typeface="Courier New"/>
              </a:rPr>
              <a:t> </a:t>
            </a:r>
            <a:r>
              <a:rPr sz="2000" b="1" spc="-90" dirty="0">
                <a:latin typeface="Courier New"/>
                <a:cs typeface="Courier New"/>
              </a:rPr>
              <a:t>p</a:t>
            </a:r>
            <a:r>
              <a:rPr sz="2000" b="1" spc="-40" dirty="0">
                <a:latin typeface="Courier New"/>
                <a:cs typeface="Courier New"/>
              </a:rPr>
              <a:t>r</a:t>
            </a:r>
            <a:r>
              <a:rPr sz="2000" b="1" spc="-30" dirty="0">
                <a:latin typeface="Courier New"/>
                <a:cs typeface="Courier New"/>
              </a:rPr>
              <a:t>o</a:t>
            </a:r>
            <a:r>
              <a:rPr sz="2000" b="1" spc="-15" dirty="0">
                <a:latin typeface="Courier New"/>
                <a:cs typeface="Courier New"/>
              </a:rPr>
              <a:t>p</a:t>
            </a:r>
            <a:r>
              <a:rPr sz="2000" b="1" spc="-5" dirty="0">
                <a:latin typeface="Courier New"/>
                <a:cs typeface="Courier New"/>
              </a:rPr>
              <a:t>os</a:t>
            </a:r>
            <a:r>
              <a:rPr sz="2000" b="1" spc="-10" dirty="0">
                <a:latin typeface="Courier New"/>
                <a:cs typeface="Courier New"/>
              </a:rPr>
              <a:t>a</a:t>
            </a:r>
            <a:r>
              <a:rPr sz="2000" b="1" dirty="0">
                <a:latin typeface="Courier New"/>
                <a:cs typeface="Courier New"/>
              </a:rPr>
              <a:t>l</a:t>
            </a:r>
            <a:r>
              <a:rPr sz="2000" b="1" spc="-58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</a:t>
            </a:r>
            <a:r>
              <a:rPr sz="2000" dirty="0">
                <a:latin typeface="Courier New"/>
                <a:cs typeface="Courier New"/>
              </a:rPr>
              <a:t>s</a:t>
            </a:r>
            <a:r>
              <a:rPr sz="2000" spc="-40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100" dirty="0">
                <a:latin typeface="Courier New"/>
                <a:cs typeface="Courier New"/>
              </a:rPr>
              <a:t>d</a:t>
            </a:r>
            <a:r>
              <a:rPr sz="2000" spc="-55" dirty="0">
                <a:latin typeface="Courier New"/>
                <a:cs typeface="Courier New"/>
              </a:rPr>
              <a:t>o</a:t>
            </a:r>
            <a:r>
              <a:rPr sz="2000" spc="-30" dirty="0">
                <a:latin typeface="Courier New"/>
                <a:cs typeface="Courier New"/>
              </a:rPr>
              <a:t>c</a:t>
            </a:r>
            <a:r>
              <a:rPr sz="2000" spc="-15" dirty="0">
                <a:latin typeface="Courier New"/>
                <a:cs typeface="Courier New"/>
              </a:rPr>
              <a:t>ume</a:t>
            </a:r>
            <a:r>
              <a:rPr sz="2000" spc="-5" dirty="0">
                <a:latin typeface="Courier New"/>
                <a:cs typeface="Courier New"/>
              </a:rPr>
              <a:t>n</a:t>
            </a:r>
            <a:r>
              <a:rPr sz="2000" dirty="0">
                <a:latin typeface="Courier New"/>
                <a:cs typeface="Courier New"/>
              </a:rPr>
              <a:t>t</a:t>
            </a:r>
            <a:r>
              <a:rPr sz="2000" spc="-405" dirty="0">
                <a:latin typeface="Courier New"/>
                <a:cs typeface="Courier New"/>
              </a:rPr>
              <a:t> </a:t>
            </a:r>
            <a:r>
              <a:rPr sz="2000" spc="-90" dirty="0">
                <a:latin typeface="Courier New"/>
                <a:cs typeface="Courier New"/>
              </a:rPr>
              <a:t>p</a:t>
            </a:r>
            <a:r>
              <a:rPr sz="2000" spc="-40" dirty="0">
                <a:latin typeface="Courier New"/>
                <a:cs typeface="Courier New"/>
              </a:rPr>
              <a:t>r</a:t>
            </a:r>
            <a:r>
              <a:rPr sz="2000" spc="-30" dirty="0">
                <a:latin typeface="Courier New"/>
                <a:cs typeface="Courier New"/>
              </a:rPr>
              <a:t>e</a:t>
            </a:r>
            <a:r>
              <a:rPr sz="2000" spc="-15" dirty="0">
                <a:latin typeface="Courier New"/>
                <a:cs typeface="Courier New"/>
              </a:rPr>
              <a:t>p</a:t>
            </a:r>
            <a:r>
              <a:rPr sz="2000" spc="-5" dirty="0">
                <a:latin typeface="Courier New"/>
                <a:cs typeface="Courier New"/>
              </a:rPr>
              <a:t>ar</a:t>
            </a:r>
            <a:r>
              <a:rPr sz="2000" spc="-25" dirty="0">
                <a:latin typeface="Courier New"/>
                <a:cs typeface="Courier New"/>
              </a:rPr>
              <a:t>e</a:t>
            </a:r>
            <a:r>
              <a:rPr sz="2000" dirty="0">
                <a:latin typeface="Courier New"/>
                <a:cs typeface="Courier New"/>
              </a:rPr>
              <a:t>d</a:t>
            </a:r>
            <a:r>
              <a:rPr sz="2000" spc="-400" dirty="0">
                <a:latin typeface="Courier New"/>
                <a:cs typeface="Courier New"/>
              </a:rPr>
              <a:t> </a:t>
            </a:r>
            <a:r>
              <a:rPr sz="2000" spc="-90" dirty="0">
                <a:latin typeface="Courier New"/>
                <a:cs typeface="Courier New"/>
              </a:rPr>
              <a:t>b</a:t>
            </a:r>
            <a:r>
              <a:rPr sz="2000" dirty="0">
                <a:latin typeface="Courier New"/>
                <a:cs typeface="Courier New"/>
              </a:rPr>
              <a:t>y</a:t>
            </a:r>
            <a:r>
              <a:rPr sz="2000" spc="-459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</a:t>
            </a:r>
            <a:r>
              <a:rPr sz="2000" spc="-535" dirty="0">
                <a:latin typeface="Courier New"/>
                <a:cs typeface="Courier New"/>
              </a:rPr>
              <a:t> </a:t>
            </a:r>
            <a:r>
              <a:rPr sz="2000" spc="-114" dirty="0">
                <a:latin typeface="Courier New"/>
                <a:cs typeface="Courier New"/>
              </a:rPr>
              <a:t>v</a:t>
            </a:r>
            <a:r>
              <a:rPr sz="2000" spc="-55" dirty="0">
                <a:latin typeface="Courier New"/>
                <a:cs typeface="Courier New"/>
              </a:rPr>
              <a:t>e</a:t>
            </a:r>
            <a:r>
              <a:rPr sz="2000" spc="-30" dirty="0">
                <a:latin typeface="Courier New"/>
                <a:cs typeface="Courier New"/>
              </a:rPr>
              <a:t>n</a:t>
            </a:r>
            <a:r>
              <a:rPr sz="2000" spc="-40" dirty="0">
                <a:latin typeface="Courier New"/>
                <a:cs typeface="Courier New"/>
              </a:rPr>
              <a:t>d</a:t>
            </a:r>
            <a:r>
              <a:rPr sz="2000" spc="-5" dirty="0">
                <a:latin typeface="Courier New"/>
                <a:cs typeface="Courier New"/>
              </a:rPr>
              <a:t>e</a:t>
            </a:r>
            <a:r>
              <a:rPr sz="2000" dirty="0">
                <a:latin typeface="Courier New"/>
                <a:cs typeface="Courier New"/>
              </a:rPr>
              <a:t>r</a:t>
            </a:r>
            <a:r>
              <a:rPr sz="2000" spc="-380" dirty="0">
                <a:latin typeface="Courier New"/>
                <a:cs typeface="Courier New"/>
              </a:rPr>
              <a:t> </a:t>
            </a:r>
            <a:r>
              <a:rPr sz="2000" spc="-75" dirty="0">
                <a:latin typeface="Courier New"/>
                <a:cs typeface="Courier New"/>
              </a:rPr>
              <a:t>w</a:t>
            </a:r>
            <a:r>
              <a:rPr sz="2000" spc="-30" dirty="0">
                <a:latin typeface="Courier New"/>
                <a:cs typeface="Courier New"/>
              </a:rPr>
              <a:t>h</a:t>
            </a:r>
            <a:r>
              <a:rPr sz="2000" spc="-15" dirty="0">
                <a:latin typeface="Courier New"/>
                <a:cs typeface="Courier New"/>
              </a:rPr>
              <a:t>e</a:t>
            </a:r>
            <a:r>
              <a:rPr sz="2000" dirty="0">
                <a:latin typeface="Courier New"/>
                <a:cs typeface="Courier New"/>
              </a:rPr>
              <a:t>n</a:t>
            </a:r>
            <a:r>
              <a:rPr sz="2000" spc="-400" dirty="0">
                <a:latin typeface="Courier New"/>
                <a:cs typeface="Courier New"/>
              </a:rPr>
              <a:t> </a:t>
            </a:r>
            <a:r>
              <a:rPr sz="2000" spc="-75" dirty="0">
                <a:latin typeface="Courier New"/>
                <a:cs typeface="Courier New"/>
              </a:rPr>
              <a:t>b</a:t>
            </a:r>
            <a:r>
              <a:rPr sz="2000" spc="-30" dirty="0">
                <a:latin typeface="Courier New"/>
                <a:cs typeface="Courier New"/>
              </a:rPr>
              <a:t>u</a:t>
            </a:r>
            <a:r>
              <a:rPr sz="2000" spc="-40" dirty="0">
                <a:latin typeface="Courier New"/>
                <a:cs typeface="Courier New"/>
              </a:rPr>
              <a:t>y</a:t>
            </a:r>
            <a:r>
              <a:rPr sz="2000" spc="5" dirty="0">
                <a:latin typeface="Courier New"/>
                <a:cs typeface="Courier New"/>
              </a:rPr>
              <a:t>e</a:t>
            </a:r>
            <a:r>
              <a:rPr sz="2000" dirty="0">
                <a:latin typeface="Courier New"/>
                <a:cs typeface="Courier New"/>
              </a:rPr>
              <a:t>r</a:t>
            </a:r>
            <a:r>
              <a:rPr sz="2000" spc="-375" dirty="0">
                <a:latin typeface="Courier New"/>
                <a:cs typeface="Courier New"/>
              </a:rPr>
              <a:t> </a:t>
            </a:r>
            <a:r>
              <a:rPr sz="2000" spc="-75" dirty="0">
                <a:latin typeface="Courier New"/>
                <a:cs typeface="Courier New"/>
              </a:rPr>
              <a:t>n</a:t>
            </a:r>
            <a:r>
              <a:rPr sz="2000" spc="-30" dirty="0">
                <a:latin typeface="Courier New"/>
                <a:cs typeface="Courier New"/>
              </a:rPr>
              <a:t>e</a:t>
            </a:r>
            <a:r>
              <a:rPr sz="2000" spc="-15" dirty="0">
                <a:latin typeface="Courier New"/>
                <a:cs typeface="Courier New"/>
              </a:rPr>
              <a:t>e</a:t>
            </a:r>
            <a:r>
              <a:rPr sz="2000" spc="-5" dirty="0">
                <a:latin typeface="Courier New"/>
                <a:cs typeface="Courier New"/>
              </a:rPr>
              <a:t>d</a:t>
            </a:r>
            <a:r>
              <a:rPr sz="2000" dirty="0">
                <a:latin typeface="Courier New"/>
                <a:cs typeface="Courier New"/>
              </a:rPr>
              <a:t>s</a:t>
            </a:r>
            <a:r>
              <a:rPr sz="2000" spc="-390" dirty="0">
                <a:latin typeface="Courier New"/>
                <a:cs typeface="Courier New"/>
              </a:rPr>
              <a:t> </a:t>
            </a:r>
            <a:r>
              <a:rPr sz="2000" spc="-75" dirty="0">
                <a:latin typeface="Courier New"/>
                <a:cs typeface="Courier New"/>
              </a:rPr>
              <a:t>ca</a:t>
            </a:r>
            <a:r>
              <a:rPr sz="2000" dirty="0">
                <a:latin typeface="Courier New"/>
                <a:cs typeface="Courier New"/>
              </a:rPr>
              <a:t>n</a:t>
            </a:r>
            <a:r>
              <a:rPr sz="2000" spc="-375" dirty="0">
                <a:latin typeface="Courier New"/>
                <a:cs typeface="Courier New"/>
              </a:rPr>
              <a:t> </a:t>
            </a:r>
            <a:r>
              <a:rPr sz="2000" spc="-75" dirty="0">
                <a:latin typeface="Courier New"/>
                <a:cs typeface="Courier New"/>
              </a:rPr>
              <a:t>be 	</a:t>
            </a:r>
            <a:r>
              <a:rPr sz="2000" spc="-5" dirty="0">
                <a:latin typeface="Courier New"/>
                <a:cs typeface="Courier New"/>
              </a:rPr>
              <a:t>me</a:t>
            </a:r>
            <a:r>
              <a:rPr sz="2000" dirty="0">
                <a:latin typeface="Courier New"/>
                <a:cs typeface="Courier New"/>
              </a:rPr>
              <a:t>t</a:t>
            </a:r>
            <a:r>
              <a:rPr sz="2000" spc="-6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</a:t>
            </a:r>
            <a:r>
              <a:rPr sz="2000" dirty="0">
                <a:latin typeface="Courier New"/>
                <a:cs typeface="Courier New"/>
              </a:rPr>
              <a:t>n</a:t>
            </a:r>
            <a:r>
              <a:rPr sz="2000" spc="-65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differen</a:t>
            </a:r>
            <a:r>
              <a:rPr sz="2000" dirty="0">
                <a:latin typeface="Courier New"/>
                <a:cs typeface="Courier New"/>
              </a:rPr>
              <a:t>t</a:t>
            </a:r>
            <a:r>
              <a:rPr sz="2000" spc="-65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ways</a:t>
            </a:r>
            <a:r>
              <a:rPr sz="2000" dirty="0">
                <a:latin typeface="Courier New"/>
                <a:cs typeface="Courier New"/>
              </a:rPr>
              <a:t>.</a:t>
            </a:r>
          </a:p>
          <a:p>
            <a:pPr marL="1595755" marR="9525" indent="-264160" algn="just">
              <a:lnSpc>
                <a:spcPct val="130000"/>
              </a:lnSpc>
              <a:spcBef>
                <a:spcPts val="994"/>
              </a:spcBef>
              <a:buFont typeface="Arial MT"/>
              <a:buChar char="•"/>
              <a:tabLst>
                <a:tab pos="1598295" algn="l"/>
              </a:tabLst>
            </a:pPr>
            <a:r>
              <a:rPr sz="2000" spc="-30" dirty="0">
                <a:latin typeface="Courier New"/>
                <a:cs typeface="Courier New"/>
              </a:rPr>
              <a:t>Request</a:t>
            </a:r>
            <a:r>
              <a:rPr sz="2000" spc="-270" dirty="0">
                <a:latin typeface="Courier New"/>
                <a:cs typeface="Courier New"/>
              </a:rPr>
              <a:t> </a:t>
            </a:r>
            <a:r>
              <a:rPr sz="2000" spc="-150" dirty="0">
                <a:latin typeface="Courier New"/>
                <a:cs typeface="Courier New"/>
              </a:rPr>
              <a:t>for </a:t>
            </a:r>
            <a:r>
              <a:rPr sz="2000" spc="-80" dirty="0">
                <a:latin typeface="Courier New"/>
                <a:cs typeface="Courier New"/>
              </a:rPr>
              <a:t>Quote</a:t>
            </a:r>
            <a:r>
              <a:rPr sz="2000" spc="-220" dirty="0">
                <a:latin typeface="Courier New"/>
                <a:cs typeface="Courier New"/>
              </a:rPr>
              <a:t> </a:t>
            </a:r>
            <a:r>
              <a:rPr sz="2000" spc="-80" dirty="0">
                <a:latin typeface="Courier New"/>
                <a:cs typeface="Courier New"/>
              </a:rPr>
              <a:t>(RFQ)</a:t>
            </a:r>
            <a:r>
              <a:rPr sz="2000" spc="-220" dirty="0">
                <a:latin typeface="Courier New"/>
                <a:cs typeface="Courier New"/>
              </a:rPr>
              <a:t> </a:t>
            </a:r>
            <a:r>
              <a:rPr sz="2000" spc="-265" dirty="0">
                <a:latin typeface="Courier New"/>
                <a:cs typeface="Courier New"/>
              </a:rPr>
              <a:t>is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165" dirty="0">
                <a:latin typeface="Courier New"/>
                <a:cs typeface="Courier New"/>
              </a:rPr>
              <a:t>used</a:t>
            </a:r>
            <a:r>
              <a:rPr sz="2000" spc="-135" dirty="0">
                <a:latin typeface="Courier New"/>
                <a:cs typeface="Courier New"/>
              </a:rPr>
              <a:t> </a:t>
            </a:r>
            <a:r>
              <a:rPr sz="2000" spc="-125" dirty="0">
                <a:latin typeface="Courier New"/>
                <a:cs typeface="Courier New"/>
              </a:rPr>
              <a:t>to</a:t>
            </a:r>
            <a:r>
              <a:rPr sz="2000" spc="-175" dirty="0">
                <a:latin typeface="Courier New"/>
                <a:cs typeface="Courier New"/>
              </a:rPr>
              <a:t> </a:t>
            </a:r>
            <a:r>
              <a:rPr sz="2000" spc="-85" dirty="0">
                <a:latin typeface="Courier New"/>
                <a:cs typeface="Courier New"/>
              </a:rPr>
              <a:t>solicit</a:t>
            </a:r>
            <a:r>
              <a:rPr sz="2000" spc="-21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quotes</a:t>
            </a:r>
            <a:r>
              <a:rPr sz="2000" spc="-280" dirty="0">
                <a:latin typeface="Courier New"/>
                <a:cs typeface="Courier New"/>
              </a:rPr>
              <a:t> </a:t>
            </a:r>
            <a:r>
              <a:rPr sz="2000" spc="-229" dirty="0">
                <a:latin typeface="Courier New"/>
                <a:cs typeface="Courier New"/>
              </a:rPr>
              <a:t>or</a:t>
            </a:r>
            <a:r>
              <a:rPr sz="2000" spc="-70" dirty="0">
                <a:latin typeface="Courier New"/>
                <a:cs typeface="Courier New"/>
              </a:rPr>
              <a:t> </a:t>
            </a:r>
            <a:r>
              <a:rPr sz="2000" spc="-90" dirty="0">
                <a:latin typeface="Courier New"/>
                <a:cs typeface="Courier New"/>
              </a:rPr>
              <a:t>bids</a:t>
            </a:r>
            <a:r>
              <a:rPr sz="2000" spc="-155" dirty="0">
                <a:latin typeface="Courier New"/>
                <a:cs typeface="Courier New"/>
              </a:rPr>
              <a:t> </a:t>
            </a:r>
            <a:r>
              <a:rPr sz="2000" spc="-75" dirty="0">
                <a:latin typeface="Courier New"/>
                <a:cs typeface="Courier New"/>
              </a:rPr>
              <a:t>from</a:t>
            </a:r>
            <a:r>
              <a:rPr sz="2000" spc="-10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potential 	suppliers.</a:t>
            </a:r>
            <a:endParaRPr sz="2000" dirty="0">
              <a:latin typeface="Courier New"/>
              <a:cs typeface="Courier New"/>
            </a:endParaRPr>
          </a:p>
          <a:p>
            <a:pPr marL="2106295" marR="6985" lvl="1" indent="-317500" algn="just">
              <a:lnSpc>
                <a:spcPct val="130100"/>
              </a:lnSpc>
              <a:spcBef>
                <a:spcPts val="994"/>
              </a:spcBef>
              <a:buFont typeface="Arial MT"/>
              <a:buChar char="•"/>
              <a:tabLst>
                <a:tab pos="2108835" algn="l"/>
              </a:tabLst>
            </a:pPr>
            <a:r>
              <a:rPr sz="2000" dirty="0">
                <a:latin typeface="Courier New"/>
                <a:cs typeface="Courier New"/>
              </a:rPr>
              <a:t>A</a:t>
            </a:r>
            <a:r>
              <a:rPr sz="2000" spc="-300" dirty="0">
                <a:latin typeface="Courier New"/>
                <a:cs typeface="Courier New"/>
              </a:rPr>
              <a:t> </a:t>
            </a:r>
            <a:r>
              <a:rPr sz="2000" b="1" spc="-75" dirty="0">
                <a:latin typeface="Courier New"/>
                <a:cs typeface="Courier New"/>
              </a:rPr>
              <a:t>bid</a:t>
            </a:r>
            <a:r>
              <a:rPr sz="2000" b="1" spc="-22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Courier New"/>
                <a:cs typeface="Courier New"/>
              </a:rPr>
              <a:t>(tender</a:t>
            </a:r>
            <a:r>
              <a:rPr sz="2000" spc="-265" dirty="0">
                <a:latin typeface="Courier New"/>
                <a:cs typeface="Courier New"/>
              </a:rPr>
              <a:t> </a:t>
            </a:r>
            <a:r>
              <a:rPr sz="2000" spc="-130" dirty="0">
                <a:latin typeface="Courier New"/>
                <a:cs typeface="Courier New"/>
              </a:rPr>
              <a:t>or</a:t>
            </a:r>
            <a:r>
              <a:rPr sz="2000" spc="-170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quote;</a:t>
            </a:r>
            <a:r>
              <a:rPr sz="2000" spc="-250" dirty="0">
                <a:latin typeface="Courier New"/>
                <a:cs typeface="Courier New"/>
              </a:rPr>
              <a:t> </a:t>
            </a:r>
            <a:r>
              <a:rPr sz="2000" spc="-90" dirty="0">
                <a:latin typeface="Courier New"/>
                <a:cs typeface="Courier New"/>
              </a:rPr>
              <a:t>short</a:t>
            </a:r>
            <a:r>
              <a:rPr sz="2000" spc="-2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30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quotation)</a:t>
            </a:r>
            <a:r>
              <a:rPr sz="2000" spc="-220" dirty="0">
                <a:latin typeface="Courier New"/>
                <a:cs typeface="Courier New"/>
              </a:rPr>
              <a:t> </a:t>
            </a:r>
            <a:r>
              <a:rPr sz="2000" spc="-95" dirty="0">
                <a:latin typeface="Courier New"/>
                <a:cs typeface="Courier New"/>
              </a:rPr>
              <a:t>is</a:t>
            </a:r>
            <a:r>
              <a:rPr sz="2000" spc="-195" dirty="0">
                <a:latin typeface="Courier New"/>
                <a:cs typeface="Courier New"/>
              </a:rPr>
              <a:t> </a:t>
            </a:r>
            <a:r>
              <a:rPr sz="2000" spc="-20" dirty="0">
                <a:latin typeface="Courier New"/>
                <a:cs typeface="Courier New"/>
              </a:rPr>
              <a:t>prepared</a:t>
            </a:r>
            <a:r>
              <a:rPr sz="2000" spc="-120" dirty="0">
                <a:latin typeface="Courier New"/>
                <a:cs typeface="Courier New"/>
              </a:rPr>
              <a:t> </a:t>
            </a:r>
            <a:r>
              <a:rPr sz="2000" spc="-280" dirty="0">
                <a:latin typeface="Courier New"/>
                <a:cs typeface="Courier New"/>
              </a:rPr>
              <a:t>by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sellers 	</a:t>
            </a:r>
            <a:r>
              <a:rPr sz="2000" dirty="0">
                <a:latin typeface="Courier New"/>
                <a:cs typeface="Courier New"/>
              </a:rPr>
              <a:t>that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provides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pricing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standard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items</a:t>
            </a:r>
            <a:r>
              <a:rPr sz="2000" spc="1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clearly defined</a:t>
            </a:r>
            <a:r>
              <a:rPr sz="2000" spc="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by</a:t>
            </a:r>
            <a:r>
              <a:rPr sz="2000" spc="-21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the 	</a:t>
            </a:r>
            <a:r>
              <a:rPr sz="2000" spc="-10" dirty="0">
                <a:latin typeface="Courier New"/>
                <a:cs typeface="Courier New"/>
              </a:rPr>
              <a:t>buyer</a:t>
            </a:r>
            <a:r>
              <a:rPr sz="2000" spc="-10" dirty="0" smtClean="0">
                <a:latin typeface="Courier New"/>
                <a:cs typeface="Courier New"/>
              </a:rPr>
              <a:t>.</a:t>
            </a:r>
            <a:endParaRPr sz="2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95" dirty="0"/>
              <a:t> </a:t>
            </a:r>
            <a:r>
              <a:rPr spc="-30" dirty="0"/>
              <a:t>Procurement</a:t>
            </a:r>
            <a:r>
              <a:rPr spc="-12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3313"/>
            <a:ext cx="10855325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ourier New"/>
                <a:cs typeface="Courier New"/>
              </a:rPr>
              <a:t>Examples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from</a:t>
            </a:r>
            <a:r>
              <a:rPr sz="2400" spc="-5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5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Real</a:t>
            </a:r>
            <a:r>
              <a:rPr sz="2400" spc="-509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Courier New"/>
                <a:cs typeface="Courier New"/>
              </a:rPr>
              <a:t>RFP</a:t>
            </a:r>
            <a:r>
              <a:rPr sz="2400" spc="-545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can</a:t>
            </a:r>
            <a:r>
              <a:rPr sz="2400" spc="-509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be</a:t>
            </a:r>
            <a:r>
              <a:rPr sz="2400" spc="-59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Courier New"/>
                <a:cs typeface="Courier New"/>
              </a:rPr>
              <a:t>seen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Tables</a:t>
            </a:r>
            <a:r>
              <a:rPr sz="2400" spc="-370" dirty="0">
                <a:latin typeface="Courier New"/>
                <a:cs typeface="Courier New"/>
              </a:rPr>
              <a:t> </a:t>
            </a:r>
            <a:r>
              <a:rPr sz="2400" spc="-180" dirty="0">
                <a:latin typeface="Courier New"/>
                <a:cs typeface="Courier New"/>
              </a:rPr>
              <a:t>12-</a:t>
            </a:r>
            <a:r>
              <a:rPr sz="2400" dirty="0">
                <a:latin typeface="Courier New"/>
                <a:cs typeface="Courier New"/>
              </a:rPr>
              <a:t>1</a:t>
            </a:r>
            <a:r>
              <a:rPr sz="2400" spc="-610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Courier New"/>
                <a:cs typeface="Courier New"/>
              </a:rPr>
              <a:t>and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12-</a:t>
            </a:r>
            <a:r>
              <a:rPr sz="2400" dirty="0">
                <a:latin typeface="Courier New"/>
                <a:cs typeface="Courier New"/>
              </a:rPr>
              <a:t>2</a:t>
            </a:r>
            <a:r>
              <a:rPr sz="2400" spc="-57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from 	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book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Planning</a:t>
            </a:r>
            <a:r>
              <a:rPr spc="-1195" dirty="0"/>
              <a:t> </a:t>
            </a:r>
            <a:r>
              <a:rPr spc="-30" dirty="0"/>
              <a:t>Procurement</a:t>
            </a:r>
            <a:r>
              <a:rPr spc="-124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90325"/>
            <a:ext cx="10848975" cy="103124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ourier New"/>
                <a:cs typeface="Courier New"/>
              </a:rPr>
              <a:t>Some</a:t>
            </a:r>
            <a:r>
              <a:rPr sz="2200" spc="-3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form</a:t>
            </a:r>
            <a:r>
              <a:rPr sz="2200" spc="9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of</a:t>
            </a:r>
            <a:r>
              <a:rPr sz="2200" spc="-15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evaluation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criteria</a:t>
            </a:r>
            <a:r>
              <a:rPr sz="2200" spc="-2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for</a:t>
            </a:r>
            <a:r>
              <a:rPr sz="2200" spc="7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source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selection</a:t>
            </a:r>
            <a:r>
              <a:rPr sz="2200" spc="-18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should</a:t>
            </a:r>
            <a:r>
              <a:rPr sz="2200" spc="-20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be</a:t>
            </a:r>
            <a:endParaRPr sz="22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sz="2200" spc="-20" dirty="0">
                <a:latin typeface="Courier New"/>
                <a:cs typeface="Courier New"/>
              </a:rPr>
              <a:t>developed</a:t>
            </a:r>
            <a:r>
              <a:rPr sz="2200" spc="-63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by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organizations.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73136" y="3090798"/>
            <a:ext cx="41910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ourier New"/>
                <a:cs typeface="Courier New"/>
              </a:rPr>
              <a:t>schemes</a:t>
            </a:r>
            <a:r>
              <a:rPr sz="2200" spc="-26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290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identify</a:t>
            </a:r>
            <a:r>
              <a:rPr sz="2200" spc="-260" dirty="0">
                <a:latin typeface="Courier New"/>
                <a:cs typeface="Courier New"/>
              </a:rPr>
              <a:t>  </a:t>
            </a:r>
            <a:r>
              <a:rPr sz="2200" spc="-25" dirty="0">
                <a:latin typeface="Courier New"/>
                <a:cs typeface="Courier New"/>
              </a:rPr>
              <a:t>the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219" y="2922549"/>
            <a:ext cx="6713220" cy="166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280035" indent="-2286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Organizations</a:t>
            </a:r>
            <a:r>
              <a:rPr sz="2200" spc="-27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usually</a:t>
            </a:r>
            <a:r>
              <a:rPr sz="2200" spc="-275" dirty="0">
                <a:latin typeface="Courier New"/>
                <a:cs typeface="Courier New"/>
              </a:rPr>
              <a:t>  </a:t>
            </a:r>
            <a:r>
              <a:rPr sz="2200" dirty="0">
                <a:latin typeface="Courier New"/>
                <a:cs typeface="Courier New"/>
              </a:rPr>
              <a:t>use</a:t>
            </a:r>
            <a:r>
              <a:rPr sz="2200" spc="-215" dirty="0">
                <a:latin typeface="Courier New"/>
                <a:cs typeface="Courier New"/>
              </a:rPr>
              <a:t>  </a:t>
            </a:r>
            <a:r>
              <a:rPr sz="2200" spc="-25" dirty="0">
                <a:latin typeface="Courier New"/>
                <a:cs typeface="Courier New"/>
              </a:rPr>
              <a:t>weighting </a:t>
            </a:r>
            <a:r>
              <a:rPr sz="2200" spc="-20" dirty="0">
                <a:latin typeface="Courier New"/>
                <a:cs typeface="Courier New"/>
              </a:rPr>
              <a:t>importance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of</a:t>
            </a:r>
            <a:r>
              <a:rPr sz="2200" spc="-63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each</a:t>
            </a:r>
            <a:r>
              <a:rPr sz="2200" spc="-6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criterion.</a:t>
            </a:r>
            <a:endParaRPr sz="22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231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ourier New"/>
                <a:cs typeface="Courier New"/>
              </a:rPr>
              <a:t>Factors</a:t>
            </a:r>
            <a:r>
              <a:rPr sz="2200" spc="2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like</a:t>
            </a:r>
            <a:r>
              <a:rPr sz="2200" spc="459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technical</a:t>
            </a:r>
            <a:r>
              <a:rPr sz="2200" spc="46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approach,</a:t>
            </a:r>
            <a:r>
              <a:rPr sz="2200" spc="-335" dirty="0">
                <a:latin typeface="Courier New"/>
                <a:cs typeface="Courier New"/>
              </a:rPr>
              <a:t>  </a:t>
            </a:r>
            <a:r>
              <a:rPr sz="2200" spc="-20" dirty="0">
                <a:latin typeface="Courier New"/>
                <a:cs typeface="Courier New"/>
              </a:rPr>
              <a:t>past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04784" y="4223384"/>
            <a:ext cx="3958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ourier New"/>
                <a:cs typeface="Courier New"/>
              </a:rPr>
              <a:t>performance,</a:t>
            </a:r>
            <a:r>
              <a:rPr sz="2200" spc="48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management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219" y="4726304"/>
            <a:ext cx="10905490" cy="1494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latin typeface="Courier New"/>
                <a:cs typeface="Courier New"/>
              </a:rPr>
              <a:t>approach,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and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price</a:t>
            </a:r>
            <a:r>
              <a:rPr sz="2200" spc="-65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are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some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of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the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factors</a:t>
            </a:r>
            <a:r>
              <a:rPr sz="2200" spc="-64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to</a:t>
            </a:r>
            <a:r>
              <a:rPr sz="2200" spc="-670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be</a:t>
            </a:r>
            <a:r>
              <a:rPr sz="2200" spc="-66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considered.</a:t>
            </a:r>
            <a:endParaRPr sz="2200">
              <a:latin typeface="Courier New"/>
              <a:cs typeface="Courier New"/>
            </a:endParaRPr>
          </a:p>
          <a:p>
            <a:pPr marL="241300" marR="5080" indent="-228600">
              <a:lnSpc>
                <a:spcPct val="15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ourier New"/>
                <a:cs typeface="Courier New"/>
              </a:rPr>
              <a:t>In</a:t>
            </a:r>
            <a:r>
              <a:rPr sz="2200" spc="-335" dirty="0">
                <a:latin typeface="Courier New"/>
                <a:cs typeface="Courier New"/>
              </a:rPr>
              <a:t> </a:t>
            </a:r>
            <a:r>
              <a:rPr sz="2200" spc="-25" dirty="0">
                <a:latin typeface="Courier New"/>
                <a:cs typeface="Courier New"/>
              </a:rPr>
              <a:t>some</a:t>
            </a:r>
            <a:r>
              <a:rPr sz="2200" spc="-26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situations,</a:t>
            </a:r>
            <a:r>
              <a:rPr sz="2200" spc="-225" dirty="0">
                <a:latin typeface="Courier New"/>
                <a:cs typeface="Courier New"/>
              </a:rPr>
              <a:t> </a:t>
            </a:r>
            <a:r>
              <a:rPr sz="2200" spc="-30" dirty="0">
                <a:latin typeface="Courier New"/>
                <a:cs typeface="Courier New"/>
              </a:rPr>
              <a:t>the</a:t>
            </a:r>
            <a:r>
              <a:rPr sz="2200" spc="-27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potential</a:t>
            </a:r>
            <a:r>
              <a:rPr sz="2200" spc="-225" dirty="0">
                <a:latin typeface="Courier New"/>
                <a:cs typeface="Courier New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seller</a:t>
            </a:r>
            <a:r>
              <a:rPr sz="2200" spc="-235" dirty="0">
                <a:latin typeface="Courier New"/>
                <a:cs typeface="Courier New"/>
              </a:rPr>
              <a:t> </a:t>
            </a:r>
            <a:r>
              <a:rPr sz="2200" spc="-60" dirty="0">
                <a:latin typeface="Courier New"/>
                <a:cs typeface="Courier New"/>
              </a:rPr>
              <a:t>may</a:t>
            </a:r>
            <a:r>
              <a:rPr sz="2200" spc="-40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be</a:t>
            </a:r>
            <a:r>
              <a:rPr sz="2200" spc="-210" dirty="0">
                <a:latin typeface="Courier New"/>
                <a:cs typeface="Courier New"/>
              </a:rPr>
              <a:t> </a:t>
            </a:r>
            <a:r>
              <a:rPr sz="2200" spc="-40" dirty="0">
                <a:latin typeface="Courier New"/>
                <a:cs typeface="Courier New"/>
              </a:rPr>
              <a:t>asked</a:t>
            </a:r>
            <a:r>
              <a:rPr sz="2200" spc="-345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to</a:t>
            </a:r>
            <a:r>
              <a:rPr sz="2200" spc="-21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deliver</a:t>
            </a:r>
            <a:r>
              <a:rPr sz="2200" spc="-204" dirty="0">
                <a:latin typeface="Courier New"/>
                <a:cs typeface="Courier New"/>
              </a:rPr>
              <a:t> </a:t>
            </a:r>
            <a:r>
              <a:rPr sz="2200" spc="-50" dirty="0">
                <a:latin typeface="Courier New"/>
                <a:cs typeface="Courier New"/>
              </a:rPr>
              <a:t>a </a:t>
            </a:r>
            <a:r>
              <a:rPr sz="2200" spc="-20" dirty="0">
                <a:latin typeface="Courier New"/>
                <a:cs typeface="Courier New"/>
              </a:rPr>
              <a:t>technical</a:t>
            </a:r>
            <a:r>
              <a:rPr sz="2200" spc="-60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presentation</a:t>
            </a:r>
            <a:endParaRPr sz="2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Conducting</a:t>
            </a:r>
            <a:r>
              <a:rPr spc="-1190" dirty="0"/>
              <a:t> </a:t>
            </a:r>
            <a:r>
              <a:rPr spc="-10" dirty="0"/>
              <a:t>Procurements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10121900" cy="3770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This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process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involves: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40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Deciding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whom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ask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do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work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45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Sending</a:t>
            </a:r>
            <a:r>
              <a:rPr sz="2400" spc="-7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appropriate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documentation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to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potential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sellers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35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Obtaining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proposals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bids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40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Selecting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seller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50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Awarding</a:t>
            </a:r>
            <a:r>
              <a:rPr sz="2400" spc="-7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contract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Conducting</a:t>
            </a:r>
            <a:r>
              <a:rPr spc="-1190" dirty="0"/>
              <a:t> </a:t>
            </a:r>
            <a:r>
              <a:rPr spc="-10" dirty="0"/>
              <a:t>Procurements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8151495" cy="2418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Procurement</a:t>
            </a:r>
            <a:r>
              <a:rPr sz="2400" spc="-7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can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done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many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different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ways: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40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From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specific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supplier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choice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45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From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several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potential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sellers</a:t>
            </a:r>
            <a:endParaRPr sz="2400">
              <a:latin typeface="Courier New"/>
              <a:cs typeface="Courier New"/>
            </a:endParaRPr>
          </a:p>
          <a:p>
            <a:pPr marL="735330" lvl="1" indent="-265430">
              <a:lnSpc>
                <a:spcPct val="100000"/>
              </a:lnSpc>
              <a:spcBef>
                <a:spcPts val="2435"/>
              </a:spcBef>
              <a:buFont typeface="Arial MT"/>
              <a:buChar char="•"/>
              <a:tabLst>
                <a:tab pos="735330" algn="l"/>
              </a:tabLst>
            </a:pPr>
            <a:r>
              <a:rPr sz="2400" spc="-10" dirty="0">
                <a:latin typeface="Courier New"/>
                <a:cs typeface="Courier New"/>
              </a:rPr>
              <a:t>From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anyone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interested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219" y="4485513"/>
            <a:ext cx="9260840" cy="11226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135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bidder’s</a:t>
            </a:r>
            <a:r>
              <a:rPr sz="2400" b="1" spc="-120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conference</a:t>
            </a:r>
            <a:r>
              <a:rPr sz="2400" b="1" spc="-13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(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supplier</a:t>
            </a:r>
            <a:r>
              <a:rPr sz="2400" i="1" u="heavy" spc="-1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conference</a:t>
            </a:r>
            <a:r>
              <a:rPr sz="2400" i="1" u="heavy" spc="-1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or</a:t>
            </a:r>
            <a:endParaRPr sz="24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440"/>
              </a:spcBef>
            </a:pPr>
            <a:r>
              <a:rPr sz="2400" i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conference</a:t>
            </a:r>
            <a:r>
              <a:rPr sz="2400" dirty="0">
                <a:latin typeface="Courier New"/>
                <a:cs typeface="Courier New"/>
              </a:rPr>
              <a:t>)</a:t>
            </a:r>
            <a:r>
              <a:rPr sz="2400" spc="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refers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4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meeting</a:t>
            </a:r>
            <a:r>
              <a:rPr sz="2400" spc="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with</a:t>
            </a:r>
            <a:r>
              <a:rPr sz="2400" spc="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potential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36885" y="4485513"/>
            <a:ext cx="1631950" cy="11226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R="51435" algn="r">
              <a:lnSpc>
                <a:spcPct val="100000"/>
              </a:lnSpc>
              <a:spcBef>
                <a:spcPts val="1540"/>
              </a:spcBef>
            </a:pPr>
            <a:r>
              <a:rPr sz="2400" i="1" u="heavy" spc="-6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pre-</a:t>
            </a:r>
            <a:r>
              <a:rPr sz="2400" i="1" u="heavy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bid</a:t>
            </a:r>
            <a:endParaRPr sz="24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440"/>
              </a:spcBef>
            </a:pPr>
            <a:r>
              <a:rPr sz="2400" spc="-35" dirty="0">
                <a:latin typeface="Courier New"/>
                <a:cs typeface="Courier New"/>
              </a:rPr>
              <a:t>suppliers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9819" y="5766003"/>
            <a:ext cx="7025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before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preparing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their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proposals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bids.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Conducting</a:t>
            </a:r>
            <a:r>
              <a:rPr spc="-1190" dirty="0"/>
              <a:t> </a:t>
            </a:r>
            <a:r>
              <a:rPr spc="-10" dirty="0"/>
              <a:t>Procurements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3313"/>
            <a:ext cx="6340475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ourier New"/>
                <a:cs typeface="Courier New"/>
              </a:rPr>
              <a:t>Source</a:t>
            </a:r>
            <a:r>
              <a:rPr sz="2400" b="1" spc="-260" dirty="0">
                <a:latin typeface="Courier New"/>
                <a:cs typeface="Courier New"/>
              </a:rPr>
              <a:t>  </a:t>
            </a:r>
            <a:r>
              <a:rPr sz="2400" b="1" dirty="0">
                <a:latin typeface="Courier New"/>
                <a:cs typeface="Courier New"/>
              </a:rPr>
              <a:t>Selection</a:t>
            </a:r>
            <a:r>
              <a:rPr sz="2400" b="1" spc="-2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refers</a:t>
            </a:r>
            <a:r>
              <a:rPr sz="2400" spc="-250" dirty="0">
                <a:latin typeface="Courier New"/>
                <a:cs typeface="Courier New"/>
              </a:rPr>
              <a:t> 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295" dirty="0">
                <a:latin typeface="Courier New"/>
                <a:cs typeface="Courier New"/>
              </a:rPr>
              <a:t>  </a:t>
            </a:r>
            <a:r>
              <a:rPr sz="2400" spc="-25" dirty="0">
                <a:latin typeface="Courier New"/>
                <a:cs typeface="Courier New"/>
              </a:rPr>
              <a:t>the 	</a:t>
            </a:r>
            <a:r>
              <a:rPr sz="2400" dirty="0">
                <a:latin typeface="Courier New"/>
                <a:cs typeface="Courier New"/>
              </a:rPr>
              <a:t>proposals</a:t>
            </a:r>
            <a:r>
              <a:rPr sz="2400" spc="-7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or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bids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from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suppliers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and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43013" y="1965705"/>
            <a:ext cx="1656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procedure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0397" y="1965705"/>
            <a:ext cx="2486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of</a:t>
            </a:r>
            <a:r>
              <a:rPr sz="2400" spc="58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evaluating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674" y="3189859"/>
            <a:ext cx="4299585" cy="1743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78130" algn="l"/>
              </a:tabLst>
            </a:pPr>
            <a:r>
              <a:rPr sz="2400" spc="-10" dirty="0">
                <a:latin typeface="Courier New"/>
                <a:cs typeface="Courier New"/>
              </a:rPr>
              <a:t>Chooses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best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one</a:t>
            </a:r>
            <a:endParaRPr sz="2400">
              <a:latin typeface="Courier New"/>
              <a:cs typeface="Courier New"/>
            </a:endParaRPr>
          </a:p>
          <a:p>
            <a:pPr marL="278130" indent="-265430">
              <a:lnSpc>
                <a:spcPct val="100000"/>
              </a:lnSpc>
              <a:spcBef>
                <a:spcPts val="2445"/>
              </a:spcBef>
              <a:buFont typeface="Arial MT"/>
              <a:buChar char="•"/>
              <a:tabLst>
                <a:tab pos="278130" algn="l"/>
              </a:tabLst>
            </a:pPr>
            <a:r>
              <a:rPr sz="2400" spc="-10" dirty="0">
                <a:latin typeface="Courier New"/>
                <a:cs typeface="Courier New"/>
              </a:rPr>
              <a:t>Negotiates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contract</a:t>
            </a:r>
            <a:endParaRPr sz="2400">
              <a:latin typeface="Courier New"/>
              <a:cs typeface="Courier New"/>
            </a:endParaRPr>
          </a:p>
          <a:p>
            <a:pPr marL="278130" indent="-265430">
              <a:lnSpc>
                <a:spcPct val="100000"/>
              </a:lnSpc>
              <a:spcBef>
                <a:spcPts val="2440"/>
              </a:spcBef>
              <a:buFont typeface="Arial MT"/>
              <a:buChar char="•"/>
              <a:tabLst>
                <a:tab pos="278130" algn="l"/>
              </a:tabLst>
            </a:pPr>
            <a:r>
              <a:rPr sz="2400" spc="-10" dirty="0">
                <a:latin typeface="Courier New"/>
                <a:cs typeface="Courier New"/>
              </a:rPr>
              <a:t>Awards</a:t>
            </a:r>
            <a:r>
              <a:rPr sz="2400" spc="-73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</a:t>
            </a:r>
            <a:r>
              <a:rPr sz="2400" spc="-7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contract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Conducting</a:t>
            </a:r>
            <a:r>
              <a:rPr spc="-1190" dirty="0"/>
              <a:t> </a:t>
            </a:r>
            <a:r>
              <a:rPr spc="-10" dirty="0"/>
              <a:t>Procurements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82141" y="3405585"/>
            <a:ext cx="3435985" cy="8496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5"/>
              </a:spcBef>
            </a:pPr>
            <a:r>
              <a:rPr sz="1800" spc="-10" dirty="0">
                <a:latin typeface="Courier New"/>
                <a:cs typeface="Courier New"/>
              </a:rPr>
              <a:t>Sample</a:t>
            </a:r>
            <a:r>
              <a:rPr sz="1800" spc="-5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Proposal</a:t>
            </a:r>
            <a:r>
              <a:rPr sz="1800" spc="-56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Evaluation</a:t>
            </a:r>
            <a:endParaRPr sz="1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ourier New"/>
                <a:cs typeface="Courier New"/>
              </a:rPr>
              <a:t>Sheet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9452" y="1421891"/>
            <a:ext cx="6995159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Conducting</a:t>
            </a:r>
            <a:r>
              <a:rPr spc="-1190" dirty="0"/>
              <a:t> </a:t>
            </a:r>
            <a:r>
              <a:rPr spc="-10" dirty="0"/>
              <a:t>Procurements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10895330" cy="161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ourier New"/>
                <a:cs typeface="Courier New"/>
              </a:rPr>
              <a:t>Seller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Selection</a:t>
            </a:r>
            <a:endParaRPr sz="2400">
              <a:latin typeface="Courier New"/>
              <a:cs typeface="Courier New"/>
            </a:endParaRP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After</a:t>
            </a:r>
            <a:r>
              <a:rPr sz="2400" spc="-26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initial</a:t>
            </a:r>
            <a:r>
              <a:rPr sz="2400" spc="-20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evaluation,</a:t>
            </a:r>
            <a:r>
              <a:rPr sz="2400" spc="-19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Potential</a:t>
            </a:r>
            <a:r>
              <a:rPr sz="2400" spc="-18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sellers</a:t>
            </a:r>
            <a:r>
              <a:rPr sz="2400" spc="-16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are</a:t>
            </a:r>
            <a:r>
              <a:rPr sz="2400" spc="-3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shortlisted 	</a:t>
            </a: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75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further</a:t>
            </a:r>
            <a:r>
              <a:rPr sz="2400" spc="-77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evaluation</a:t>
            </a:r>
            <a:endParaRPr sz="24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962440"/>
              </p:ext>
            </p:extLst>
          </p:nvPr>
        </p:nvGraphicFramePr>
        <p:xfrm>
          <a:off x="852169" y="3908087"/>
          <a:ext cx="10891517" cy="915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190"/>
                <a:gridCol w="1376680"/>
                <a:gridCol w="1361439"/>
                <a:gridCol w="741045"/>
                <a:gridCol w="1076325"/>
                <a:gridCol w="527685"/>
                <a:gridCol w="1468754"/>
                <a:gridCol w="375920"/>
                <a:gridCol w="895350"/>
                <a:gridCol w="753745"/>
                <a:gridCol w="1048384"/>
              </a:tblGrid>
              <a:tr h="468630">
                <a:tc>
                  <a:txBody>
                    <a:bodyPr/>
                    <a:lstStyle/>
                    <a:p>
                      <a:pPr marL="227329" marR="81915" indent="-227329" algn="r">
                        <a:lnSpc>
                          <a:spcPts val="2655"/>
                        </a:lnSpc>
                        <a:buFont typeface="Arial MT"/>
                        <a:buChar char="•"/>
                        <a:tabLst>
                          <a:tab pos="227329" algn="l"/>
                        </a:tabLst>
                      </a:pPr>
                      <a:r>
                        <a:rPr sz="2400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Short</a:t>
                      </a:r>
                      <a:endParaRPr sz="24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655"/>
                        </a:lnSpc>
                      </a:pPr>
                      <a:r>
                        <a:rPr sz="2400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listed</a:t>
                      </a:r>
                      <a:endParaRPr sz="24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2655"/>
                        </a:lnSpc>
                      </a:pPr>
                      <a:r>
                        <a:rPr sz="2400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sellers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ts val="2655"/>
                        </a:lnSpc>
                      </a:pPr>
                      <a:r>
                        <a:rPr sz="2400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are</a:t>
                      </a:r>
                      <a:endParaRPr sz="24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655"/>
                        </a:lnSpc>
                      </a:pPr>
                      <a:r>
                        <a:rPr sz="2400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asked</a:t>
                      </a:r>
                      <a:endParaRPr sz="24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2655"/>
                        </a:lnSpc>
                      </a:pPr>
                      <a:r>
                        <a:rPr sz="2400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endParaRPr sz="24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655"/>
                        </a:lnSpc>
                      </a:pPr>
                      <a:r>
                        <a:rPr sz="2400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prepare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2655"/>
                        </a:lnSpc>
                      </a:pPr>
                      <a:r>
                        <a:rPr sz="2400" spc="-5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655"/>
                        </a:lnSpc>
                      </a:pPr>
                      <a:r>
                        <a:rPr sz="2400" b="1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Best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2655"/>
                        </a:lnSpc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655"/>
                        </a:lnSpc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Final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47040">
                <a:tc>
                  <a:txBody>
                    <a:bodyPr/>
                    <a:lstStyle/>
                    <a:p>
                      <a:pPr marR="8191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Offer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(BAFO)</a:t>
                      </a:r>
                      <a:r>
                        <a:rPr sz="2400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endParaRPr sz="24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71219" y="4908122"/>
            <a:ext cx="10852150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525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final</a:t>
            </a:r>
            <a:r>
              <a:rPr sz="2400" spc="-320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output</a:t>
            </a:r>
            <a:r>
              <a:rPr sz="2400" spc="-515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Courier New"/>
                <a:cs typeface="Courier New"/>
              </a:rPr>
              <a:t>is</a:t>
            </a:r>
            <a:r>
              <a:rPr sz="2400" spc="-49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a</a:t>
            </a:r>
            <a:r>
              <a:rPr sz="2400" spc="-650" dirty="0">
                <a:latin typeface="Courier New"/>
                <a:cs typeface="Courier New"/>
              </a:rPr>
              <a:t> </a:t>
            </a:r>
            <a:r>
              <a:rPr sz="2400" spc="-45" dirty="0">
                <a:latin typeface="Courier New"/>
                <a:cs typeface="Courier New"/>
              </a:rPr>
              <a:t>contract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50" dirty="0">
                <a:latin typeface="Courier New"/>
                <a:cs typeface="Courier New"/>
              </a:rPr>
              <a:t>that</a:t>
            </a:r>
            <a:r>
              <a:rPr sz="2400" spc="-7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is</a:t>
            </a:r>
            <a:r>
              <a:rPr sz="2400" spc="-495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Courier New"/>
                <a:cs typeface="Courier New"/>
              </a:rPr>
              <a:t>signed</a:t>
            </a:r>
            <a:r>
              <a:rPr sz="2400" spc="-300" dirty="0">
                <a:latin typeface="Courier New"/>
                <a:cs typeface="Courier New"/>
              </a:rPr>
              <a:t> </a:t>
            </a:r>
            <a:r>
              <a:rPr sz="2400" spc="-105" dirty="0">
                <a:latin typeface="Courier New"/>
                <a:cs typeface="Courier New"/>
              </a:rPr>
              <a:t>by</a:t>
            </a:r>
            <a:r>
              <a:rPr sz="2400" spc="-655" dirty="0">
                <a:latin typeface="Courier New"/>
                <a:cs typeface="Courier New"/>
              </a:rPr>
              <a:t> </a:t>
            </a:r>
            <a:r>
              <a:rPr sz="2400" spc="-75" dirty="0">
                <a:latin typeface="Courier New"/>
                <a:cs typeface="Courier New"/>
              </a:rPr>
              <a:t>the</a:t>
            </a:r>
            <a:r>
              <a:rPr sz="2400" spc="-560" dirty="0">
                <a:latin typeface="Courier New"/>
                <a:cs typeface="Courier New"/>
              </a:rPr>
              <a:t> </a:t>
            </a:r>
            <a:r>
              <a:rPr sz="2400" spc="-80" dirty="0">
                <a:latin typeface="Courier New"/>
                <a:cs typeface="Courier New"/>
              </a:rPr>
              <a:t>two</a:t>
            </a:r>
            <a:r>
              <a:rPr sz="2400" spc="-49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parties 	</a:t>
            </a:r>
            <a:r>
              <a:rPr sz="2400" dirty="0">
                <a:latin typeface="Courier New"/>
                <a:cs typeface="Courier New"/>
              </a:rPr>
              <a:t>(the</a:t>
            </a:r>
            <a:r>
              <a:rPr sz="2400" spc="-76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buyer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and</a:t>
            </a:r>
            <a:r>
              <a:rPr sz="2400" spc="-76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selected</a:t>
            </a:r>
            <a:r>
              <a:rPr sz="2400" spc="-77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seller).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Controlling</a:t>
            </a:r>
            <a:r>
              <a:rPr spc="-1185" dirty="0"/>
              <a:t> </a:t>
            </a:r>
            <a:r>
              <a:rPr spc="-10" dirty="0"/>
              <a:t>Procurements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5177699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240665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Controlling</a:t>
            </a:r>
            <a:r>
              <a:rPr b="1" spc="-1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Procurement</a:t>
            </a:r>
            <a:r>
              <a:rPr b="1" spc="-1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chemeClr val="bg1"/>
                </a:solidFill>
              </a:rPr>
              <a:t>ensures</a:t>
            </a:r>
            <a:r>
              <a:rPr spc="-2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that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the</a:t>
            </a:r>
            <a:r>
              <a:rPr spc="-2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seller’s</a:t>
            </a:r>
            <a:r>
              <a:rPr spc="-1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performance</a:t>
            </a:r>
            <a:r>
              <a:rPr spc="-190" dirty="0">
                <a:solidFill>
                  <a:schemeClr val="bg1"/>
                </a:solidFill>
              </a:rPr>
              <a:t> </a:t>
            </a:r>
            <a:r>
              <a:rPr spc="-25" dirty="0" smtClean="0">
                <a:solidFill>
                  <a:schemeClr val="bg1"/>
                </a:solidFill>
              </a:rPr>
              <a:t>is</a:t>
            </a:r>
            <a:r>
              <a:rPr lang="en-US" spc="-25" dirty="0" smtClean="0">
                <a:solidFill>
                  <a:schemeClr val="bg1"/>
                </a:solidFill>
              </a:rPr>
              <a:t> </a:t>
            </a:r>
            <a:r>
              <a:rPr spc="-20" dirty="0" smtClean="0">
                <a:solidFill>
                  <a:schemeClr val="bg1"/>
                </a:solidFill>
              </a:rPr>
              <a:t>complies</a:t>
            </a:r>
            <a:r>
              <a:rPr spc="-625" dirty="0" smtClean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with</a:t>
            </a:r>
            <a:r>
              <a:rPr spc="-63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the</a:t>
            </a:r>
            <a:r>
              <a:rPr spc="-65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contractual</a:t>
            </a:r>
            <a:r>
              <a:rPr spc="-6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requirements.</a:t>
            </a:r>
          </a:p>
          <a:p>
            <a:pPr marL="241300" marR="6350" indent="-228600" algn="just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These</a:t>
            </a:r>
            <a:r>
              <a:rPr spc="-33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contracts</a:t>
            </a:r>
            <a:r>
              <a:rPr spc="-2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are</a:t>
            </a:r>
            <a:r>
              <a:rPr spc="-2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legal</a:t>
            </a:r>
            <a:r>
              <a:rPr spc="-2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relationships</a:t>
            </a:r>
            <a:r>
              <a:rPr spc="-190" dirty="0">
                <a:solidFill>
                  <a:schemeClr val="bg1"/>
                </a:solidFill>
              </a:rPr>
              <a:t> </a:t>
            </a:r>
            <a:r>
              <a:rPr spc="-45" dirty="0">
                <a:solidFill>
                  <a:schemeClr val="bg1"/>
                </a:solidFill>
              </a:rPr>
              <a:t>that</a:t>
            </a:r>
            <a:r>
              <a:rPr spc="-2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are</a:t>
            </a:r>
            <a:r>
              <a:rPr spc="-1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subject</a:t>
            </a:r>
            <a:r>
              <a:rPr spc="-20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27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state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28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federal</a:t>
            </a:r>
            <a:r>
              <a:rPr spc="-28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contract</a:t>
            </a:r>
            <a:r>
              <a:rPr spc="-28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laws.</a:t>
            </a:r>
            <a:r>
              <a:rPr spc="-28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Therefore,</a:t>
            </a:r>
            <a:r>
              <a:rPr spc="-265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legal</a:t>
            </a:r>
            <a:r>
              <a:rPr spc="-27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380" dirty="0">
                <a:solidFill>
                  <a:schemeClr val="bg1"/>
                </a:solidFill>
              </a:rPr>
              <a:t>  </a:t>
            </a:r>
            <a:r>
              <a:rPr spc="-10" dirty="0">
                <a:solidFill>
                  <a:schemeClr val="bg1"/>
                </a:solidFill>
              </a:rPr>
              <a:t>contracting </a:t>
            </a:r>
            <a:r>
              <a:rPr spc="-20" dirty="0">
                <a:solidFill>
                  <a:schemeClr val="bg1"/>
                </a:solidFill>
              </a:rPr>
              <a:t>professionals</a:t>
            </a:r>
            <a:r>
              <a:rPr spc="-63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should</a:t>
            </a:r>
            <a:r>
              <a:rPr spc="-61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be</a:t>
            </a:r>
            <a:r>
              <a:rPr spc="-64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involved</a:t>
            </a:r>
            <a:r>
              <a:rPr spc="-62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in</a:t>
            </a:r>
            <a:r>
              <a:rPr spc="-65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developing</a:t>
            </a:r>
            <a:r>
              <a:rPr spc="-61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these</a:t>
            </a:r>
            <a:r>
              <a:rPr spc="-6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contracts.</a:t>
            </a:r>
          </a:p>
          <a:p>
            <a:pPr marL="241300" marR="5080" indent="-228600" algn="just">
              <a:lnSpc>
                <a:spcPct val="15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Constructive</a:t>
            </a:r>
            <a:r>
              <a:rPr b="1" spc="-340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change</a:t>
            </a:r>
            <a:r>
              <a:rPr b="1" spc="-33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b="1" dirty="0">
                <a:solidFill>
                  <a:schemeClr val="bg1"/>
                </a:solidFill>
                <a:latin typeface="Courier New"/>
                <a:cs typeface="Courier New"/>
              </a:rPr>
              <a:t>orders</a:t>
            </a:r>
            <a:r>
              <a:rPr b="1" spc="-335" dirty="0">
                <a:solidFill>
                  <a:schemeClr val="bg1"/>
                </a:solidFill>
                <a:latin typeface="Courier New"/>
                <a:cs typeface="Courier New"/>
              </a:rPr>
              <a:t>  </a:t>
            </a:r>
            <a:r>
              <a:rPr dirty="0">
                <a:solidFill>
                  <a:schemeClr val="bg1"/>
                </a:solidFill>
              </a:rPr>
              <a:t>refer</a:t>
            </a:r>
            <a:r>
              <a:rPr spc="4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34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oral</a:t>
            </a:r>
            <a:r>
              <a:rPr spc="4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or</a:t>
            </a:r>
            <a:r>
              <a:rPr spc="-34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written</a:t>
            </a:r>
            <a:r>
              <a:rPr spc="-340" dirty="0">
                <a:solidFill>
                  <a:schemeClr val="bg1"/>
                </a:solidFill>
              </a:rPr>
              <a:t>  </a:t>
            </a:r>
            <a:r>
              <a:rPr dirty="0">
                <a:solidFill>
                  <a:schemeClr val="bg1"/>
                </a:solidFill>
              </a:rPr>
              <a:t>acts</a:t>
            </a:r>
            <a:r>
              <a:rPr spc="434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or </a:t>
            </a:r>
            <a:r>
              <a:rPr dirty="0">
                <a:solidFill>
                  <a:schemeClr val="bg1"/>
                </a:solidFill>
              </a:rPr>
              <a:t>omissions</a:t>
            </a:r>
            <a:r>
              <a:rPr spc="-335" dirty="0">
                <a:solidFill>
                  <a:schemeClr val="bg1"/>
                </a:solidFill>
              </a:rPr>
              <a:t> </a:t>
            </a:r>
            <a:r>
              <a:rPr spc="-220" dirty="0">
                <a:solidFill>
                  <a:schemeClr val="bg1"/>
                </a:solidFill>
              </a:rPr>
              <a:t>by</a:t>
            </a:r>
            <a:r>
              <a:rPr spc="-110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someone</a:t>
            </a:r>
            <a:r>
              <a:rPr spc="-300" dirty="0">
                <a:solidFill>
                  <a:schemeClr val="bg1"/>
                </a:solidFill>
              </a:rPr>
              <a:t> </a:t>
            </a:r>
            <a:r>
              <a:rPr spc="-40" dirty="0">
                <a:solidFill>
                  <a:schemeClr val="bg1"/>
                </a:solidFill>
              </a:rPr>
              <a:t>with</a:t>
            </a:r>
            <a:r>
              <a:rPr spc="-290"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actual</a:t>
            </a:r>
            <a:r>
              <a:rPr spc="-200" dirty="0">
                <a:solidFill>
                  <a:schemeClr val="bg1"/>
                </a:solidFill>
              </a:rPr>
              <a:t> </a:t>
            </a:r>
            <a:r>
              <a:rPr spc="-270" dirty="0">
                <a:solidFill>
                  <a:schemeClr val="bg1"/>
                </a:solidFill>
              </a:rPr>
              <a:t>or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apparent</a:t>
            </a:r>
            <a:r>
              <a:rPr spc="-2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authority</a:t>
            </a:r>
            <a:r>
              <a:rPr spc="85" dirty="0">
                <a:solidFill>
                  <a:schemeClr val="bg1"/>
                </a:solidFill>
              </a:rPr>
              <a:t> </a:t>
            </a:r>
            <a:r>
              <a:rPr spc="-70" dirty="0">
                <a:solidFill>
                  <a:schemeClr val="bg1"/>
                </a:solidFill>
              </a:rPr>
              <a:t>that</a:t>
            </a:r>
            <a:r>
              <a:rPr spc="-165" dirty="0">
                <a:solidFill>
                  <a:schemeClr val="bg1"/>
                </a:solidFill>
              </a:rPr>
              <a:t> </a:t>
            </a:r>
            <a:r>
              <a:rPr spc="-120" dirty="0">
                <a:solidFill>
                  <a:schemeClr val="bg1"/>
                </a:solidFill>
              </a:rPr>
              <a:t>can</a:t>
            </a:r>
            <a:r>
              <a:rPr spc="-21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be </a:t>
            </a:r>
            <a:r>
              <a:rPr spc="-20" dirty="0">
                <a:solidFill>
                  <a:schemeClr val="bg1"/>
                </a:solidFill>
              </a:rPr>
              <a:t>interpreted</a:t>
            </a:r>
            <a:r>
              <a:rPr spc="-64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to</a:t>
            </a:r>
            <a:r>
              <a:rPr spc="-63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have</a:t>
            </a:r>
            <a:r>
              <a:rPr spc="-67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the</a:t>
            </a:r>
            <a:r>
              <a:rPr spc="-65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same</a:t>
            </a:r>
            <a:r>
              <a:rPr spc="-67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effect</a:t>
            </a:r>
            <a:r>
              <a:rPr spc="-64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as</a:t>
            </a:r>
            <a:r>
              <a:rPr spc="-67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a</a:t>
            </a:r>
            <a:r>
              <a:rPr spc="-68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written</a:t>
            </a:r>
            <a:r>
              <a:rPr spc="-64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change</a:t>
            </a:r>
            <a:r>
              <a:rPr spc="-6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order.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Chapter</a:t>
            </a:r>
            <a:r>
              <a:rPr spc="-1210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01698"/>
            <a:ext cx="4024629" cy="3994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Courier New"/>
                <a:cs typeface="Courier New"/>
              </a:rPr>
              <a:t>Communications</a:t>
            </a:r>
            <a:r>
              <a:rPr sz="2000" spc="-58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</a:t>
            </a:r>
            <a:endParaRPr sz="2000">
              <a:latin typeface="Courier New"/>
              <a:cs typeface="Courier New"/>
            </a:endParaRPr>
          </a:p>
          <a:p>
            <a:pPr marL="736600" lvl="1" indent="-266700">
              <a:lnSpc>
                <a:spcPct val="100000"/>
              </a:lnSpc>
              <a:spcBef>
                <a:spcPts val="1714"/>
              </a:spcBef>
              <a:buFont typeface="Arial MT"/>
              <a:buChar char="•"/>
              <a:tabLst>
                <a:tab pos="736600" algn="l"/>
              </a:tabLst>
            </a:pPr>
            <a:r>
              <a:rPr sz="2000" spc="-10" dirty="0">
                <a:latin typeface="Courier New"/>
                <a:cs typeface="Courier New"/>
              </a:rPr>
              <a:t>Plan</a:t>
            </a:r>
            <a:r>
              <a:rPr sz="2000" spc="-59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Communications</a:t>
            </a:r>
            <a:endParaRPr sz="2000">
              <a:latin typeface="Courier New"/>
              <a:cs typeface="Courier New"/>
            </a:endParaRPr>
          </a:p>
          <a:p>
            <a:pPr marL="736600" lvl="1" indent="-266700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6600" algn="l"/>
              </a:tabLst>
            </a:pPr>
            <a:r>
              <a:rPr sz="2000" spc="-10" dirty="0">
                <a:latin typeface="Courier New"/>
                <a:cs typeface="Courier New"/>
              </a:rPr>
              <a:t>Manage</a:t>
            </a:r>
            <a:r>
              <a:rPr sz="2000" spc="-58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Communications</a:t>
            </a:r>
            <a:endParaRPr sz="2000">
              <a:latin typeface="Courier New"/>
              <a:cs typeface="Courier New"/>
            </a:endParaRPr>
          </a:p>
          <a:p>
            <a:pPr marL="736600" lvl="1" indent="-266700">
              <a:lnSpc>
                <a:spcPct val="100000"/>
              </a:lnSpc>
              <a:spcBef>
                <a:spcPts val="1714"/>
              </a:spcBef>
              <a:buFont typeface="Arial MT"/>
              <a:buChar char="•"/>
              <a:tabLst>
                <a:tab pos="736600" algn="l"/>
              </a:tabLst>
            </a:pPr>
            <a:r>
              <a:rPr sz="2000" spc="-10" dirty="0">
                <a:latin typeface="Courier New"/>
                <a:cs typeface="Courier New"/>
              </a:rPr>
              <a:t>Monitor</a:t>
            </a:r>
            <a:r>
              <a:rPr sz="2000" spc="-58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Communications</a:t>
            </a:r>
            <a:endParaRPr sz="2000">
              <a:latin typeface="Courier New"/>
              <a:cs typeface="Courier New"/>
            </a:endParaRPr>
          </a:p>
          <a:p>
            <a:pPr marL="239395" indent="-226695">
              <a:lnSpc>
                <a:spcPct val="100000"/>
              </a:lnSpc>
              <a:spcBef>
                <a:spcPts val="1714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Courier New"/>
                <a:cs typeface="Courier New"/>
              </a:rPr>
              <a:t>Procurement</a:t>
            </a:r>
            <a:r>
              <a:rPr sz="2000" spc="-58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Management</a:t>
            </a:r>
            <a:endParaRPr sz="2000">
              <a:latin typeface="Courier New"/>
              <a:cs typeface="Courier New"/>
            </a:endParaRPr>
          </a:p>
          <a:p>
            <a:pPr marL="736600" lvl="1" indent="-266700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736600" algn="l"/>
              </a:tabLst>
            </a:pPr>
            <a:r>
              <a:rPr sz="2000" spc="-10" dirty="0">
                <a:latin typeface="Courier New"/>
                <a:cs typeface="Courier New"/>
              </a:rPr>
              <a:t>Plan</a:t>
            </a:r>
            <a:r>
              <a:rPr sz="2000" spc="-59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Procurement</a:t>
            </a:r>
            <a:endParaRPr sz="2000">
              <a:latin typeface="Courier New"/>
              <a:cs typeface="Courier New"/>
            </a:endParaRPr>
          </a:p>
          <a:p>
            <a:pPr marL="736600" lvl="1" indent="-266700">
              <a:lnSpc>
                <a:spcPct val="100000"/>
              </a:lnSpc>
              <a:spcBef>
                <a:spcPts val="1714"/>
              </a:spcBef>
              <a:buFont typeface="Arial MT"/>
              <a:buChar char="•"/>
              <a:tabLst>
                <a:tab pos="736600" algn="l"/>
              </a:tabLst>
            </a:pPr>
            <a:r>
              <a:rPr sz="2000" spc="-10" dirty="0">
                <a:latin typeface="Courier New"/>
                <a:cs typeface="Courier New"/>
              </a:rPr>
              <a:t>Conduct</a:t>
            </a:r>
            <a:r>
              <a:rPr sz="2000" spc="-57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Procurement</a:t>
            </a:r>
            <a:endParaRPr sz="2000">
              <a:latin typeface="Courier New"/>
              <a:cs typeface="Courier New"/>
            </a:endParaRPr>
          </a:p>
          <a:p>
            <a:pPr marL="736600" lvl="1" indent="-266700">
              <a:lnSpc>
                <a:spcPct val="100000"/>
              </a:lnSpc>
              <a:spcBef>
                <a:spcPts val="1720"/>
              </a:spcBef>
              <a:buFont typeface="Arial MT"/>
              <a:buChar char="•"/>
              <a:tabLst>
                <a:tab pos="736600" algn="l"/>
              </a:tabLst>
            </a:pPr>
            <a:r>
              <a:rPr sz="2000" spc="-10" dirty="0">
                <a:latin typeface="Courier New"/>
                <a:cs typeface="Courier New"/>
              </a:rPr>
              <a:t>Control</a:t>
            </a:r>
            <a:r>
              <a:rPr sz="2000" spc="-58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Procurement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6</TotalTime>
  <Words>1278</Words>
  <Application>Microsoft Office PowerPoint</Application>
  <PresentationFormat>Custom</PresentationFormat>
  <Paragraphs>264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Apex</vt:lpstr>
      <vt:lpstr>Chapter 10: Project Communications Management Project Procurement Management</vt:lpstr>
      <vt:lpstr>Contents:</vt:lpstr>
      <vt:lpstr>Week 12 Learning Outcome:</vt:lpstr>
      <vt:lpstr>Project Communications Management</vt:lpstr>
      <vt:lpstr>Keys to Good Communications</vt:lpstr>
      <vt:lpstr>Keys to Good Communications</vt:lpstr>
      <vt:lpstr>Keys to Good Communications</vt:lpstr>
      <vt:lpstr>Keys to Good Communications</vt:lpstr>
      <vt:lpstr>Keys to Good Communications</vt:lpstr>
      <vt:lpstr>Keys to Good Communications</vt:lpstr>
      <vt:lpstr>Planning Communications Management</vt:lpstr>
      <vt:lpstr>Planning Communications Management</vt:lpstr>
      <vt:lpstr>Planning Communications Management</vt:lpstr>
      <vt:lpstr>Managing Communications</vt:lpstr>
      <vt:lpstr>Managing Communications</vt:lpstr>
      <vt:lpstr>Managing Communications</vt:lpstr>
      <vt:lpstr>Managing Communications</vt:lpstr>
      <vt:lpstr>Managing Communications</vt:lpstr>
      <vt:lpstr>Managing Communications</vt:lpstr>
      <vt:lpstr>Monitoring Communications</vt:lpstr>
      <vt:lpstr>The Importance of Project Procurement Management</vt:lpstr>
      <vt:lpstr>Planning Procurement Management</vt:lpstr>
      <vt:lpstr>Planning Procurement Management</vt:lpstr>
      <vt:lpstr>Planning Procurement Management</vt:lpstr>
      <vt:lpstr>Planning Procurement Management</vt:lpstr>
      <vt:lpstr>Planning Procurement Management</vt:lpstr>
      <vt:lpstr>Planning Procurement Management</vt:lpstr>
      <vt:lpstr>Planning Procurement Management</vt:lpstr>
      <vt:lpstr>Planning Procurement Management</vt:lpstr>
      <vt:lpstr>Planning Procurement Management</vt:lpstr>
      <vt:lpstr>Planning Procurement Management</vt:lpstr>
      <vt:lpstr>Planning Procurement Management</vt:lpstr>
      <vt:lpstr>Planning Procurement Management</vt:lpstr>
      <vt:lpstr>Conducting Procurements</vt:lpstr>
      <vt:lpstr>Conducting Procurements</vt:lpstr>
      <vt:lpstr>Conducting Procurements</vt:lpstr>
      <vt:lpstr>Conducting Procurements</vt:lpstr>
      <vt:lpstr>Conducting Procurements</vt:lpstr>
      <vt:lpstr>Controlling Procurements</vt:lpstr>
      <vt:lpstr>Chapter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10: Project Communications Management Project Procurement Management</dc:title>
  <cp:lastModifiedBy>Rashid</cp:lastModifiedBy>
  <cp:revision>8</cp:revision>
  <dcterms:created xsi:type="dcterms:W3CDTF">2026-09-28T15:55:54Z</dcterms:created>
  <dcterms:modified xsi:type="dcterms:W3CDTF">2026-09-29T11:54:31Z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LastSaved">
    <vt:filetime>2026-09-28T00:00:00Z</vt:filetime>
  </property>
  <property fmtid="{D5CDD505-2E9C-101B-9397-08002B2CF9AE}" pid="5" name="Producer">
    <vt:lpwstr>Pdftools SDK</vt:lpwstr>
  </property>
</Properties>
</file>