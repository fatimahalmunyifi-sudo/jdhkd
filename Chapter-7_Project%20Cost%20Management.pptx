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rtboard 3@2x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0"/>
            <a:ext cx="12185904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95802" y="2407482"/>
            <a:ext cx="5114798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7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Cost</a:t>
            </a:r>
            <a:r>
              <a:rPr sz="3200" spc="-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7255509" cy="309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Importance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Basic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Principles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Planning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Determining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Budget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Controlling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dirty="0"/>
              <a:t>9</a:t>
            </a:r>
            <a:r>
              <a:rPr spc="-1275" dirty="0"/>
              <a:t> </a:t>
            </a:r>
            <a:r>
              <a:rPr spc="-10" dirty="0"/>
              <a:t>Learning</a:t>
            </a:r>
            <a:r>
              <a:rPr spc="-1295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528935" cy="419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Explain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importance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controlling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Discuss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basic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principles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Define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for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cost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Explain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budgets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determined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organizations.</a:t>
            </a:r>
            <a:endParaRPr sz="2400">
              <a:latin typeface="Courier New"/>
              <a:cs typeface="Courier New"/>
            </a:endParaRPr>
          </a:p>
          <a:p>
            <a:pPr marL="240029" marR="102235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Present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various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tools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techniques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estimating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controlling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Cost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1680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71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Accordin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5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5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s</a:t>
            </a:r>
            <a:r>
              <a:rPr sz="2400" spc="-75" dirty="0">
                <a:latin typeface="Courier New"/>
                <a:cs typeface="Courier New"/>
              </a:rPr>
              <a:t>tu</a:t>
            </a:r>
            <a:r>
              <a:rPr sz="2400" spc="-5" dirty="0">
                <a:latin typeface="Courier New"/>
                <a:cs typeface="Courier New"/>
              </a:rPr>
              <a:t>d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nd</a:t>
            </a:r>
            <a:r>
              <a:rPr sz="2400" spc="-5" dirty="0">
                <a:latin typeface="Courier New"/>
                <a:cs typeface="Courier New"/>
              </a:rPr>
              <a:t>ucte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60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20</a:t>
            </a:r>
            <a:r>
              <a:rPr sz="2400" spc="-100" dirty="0">
                <a:latin typeface="Courier New"/>
                <a:cs typeface="Courier New"/>
              </a:rPr>
              <a:t>1</a:t>
            </a:r>
            <a:r>
              <a:rPr sz="2400" dirty="0">
                <a:latin typeface="Courier New"/>
                <a:cs typeface="Courier New"/>
              </a:rPr>
              <a:t>1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ub</a:t>
            </a:r>
            <a:r>
              <a:rPr sz="2400" spc="-25" dirty="0">
                <a:latin typeface="Courier New"/>
                <a:cs typeface="Courier New"/>
              </a:rPr>
              <a:t>l</a:t>
            </a:r>
            <a:r>
              <a:rPr sz="2400" spc="-5" dirty="0">
                <a:latin typeface="Courier New"/>
                <a:cs typeface="Courier New"/>
              </a:rPr>
              <a:t>is</a:t>
            </a:r>
            <a:r>
              <a:rPr sz="2400" spc="20" dirty="0">
                <a:latin typeface="Courier New"/>
                <a:cs typeface="Courier New"/>
              </a:rPr>
              <a:t>he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3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rv</a:t>
            </a:r>
            <a:r>
              <a:rPr sz="2400" spc="20" dirty="0">
                <a:latin typeface="Courier New"/>
                <a:cs typeface="Courier New"/>
              </a:rPr>
              <a:t>ar</a:t>
            </a:r>
            <a:r>
              <a:rPr sz="2400" dirty="0">
                <a:latin typeface="Courier New"/>
                <a:cs typeface="Courier New"/>
              </a:rPr>
              <a:t>d 	</a:t>
            </a:r>
            <a:r>
              <a:rPr sz="2400" spc="-5" dirty="0">
                <a:latin typeface="Courier New"/>
                <a:cs typeface="Courier New"/>
              </a:rPr>
              <a:t>Busines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83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R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vi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w</a:t>
            </a:r>
            <a:r>
              <a:rPr sz="2400" spc="6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8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d</a:t>
            </a:r>
            <a:r>
              <a:rPr sz="2400" spc="-25" dirty="0">
                <a:latin typeface="Courier New"/>
                <a:cs typeface="Courier New"/>
              </a:rPr>
              <a:t>ent</a:t>
            </a:r>
            <a:r>
              <a:rPr sz="2400" spc="-5" dirty="0">
                <a:latin typeface="Courier New"/>
                <a:cs typeface="Courier New"/>
              </a:rPr>
              <a:t>ifie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6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2</a:t>
            </a:r>
            <a:r>
              <a:rPr sz="2400" dirty="0">
                <a:latin typeface="Courier New"/>
                <a:cs typeface="Courier New"/>
              </a:rPr>
              <a:t>7</a:t>
            </a:r>
            <a:r>
              <a:rPr sz="2400" spc="78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rc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spc="2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87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ve</a:t>
            </a:r>
            <a:r>
              <a:rPr sz="2400" spc="-5" dirty="0">
                <a:latin typeface="Courier New"/>
                <a:cs typeface="Courier New"/>
              </a:rPr>
              <a:t>ra</a:t>
            </a:r>
            <a:r>
              <a:rPr sz="2400" spc="2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88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st 	overru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oject</a:t>
            </a:r>
            <a:r>
              <a:rPr sz="2400" dirty="0">
                <a:latin typeface="Courier New"/>
                <a:cs typeface="Courier New"/>
              </a:rPr>
              <a:t>s.</a:t>
            </a:r>
            <a:endParaRPr sz="2400">
              <a:latin typeface="Courier New"/>
              <a:cs typeface="Courier New"/>
            </a:endParaRPr>
          </a:p>
          <a:p>
            <a:pPr marL="240029" marR="1206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b="1" spc="-45" dirty="0">
                <a:latin typeface="Courier New"/>
                <a:cs typeface="Courier New"/>
              </a:rPr>
              <a:t>overrun</a:t>
            </a:r>
            <a:r>
              <a:rPr sz="2400" b="1" spc="-315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is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the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additional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percentage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or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dollar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amount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by 	</a:t>
            </a:r>
            <a:r>
              <a:rPr sz="2400" spc="-10" dirty="0">
                <a:latin typeface="Courier New"/>
                <a:cs typeface="Courier New"/>
              </a:rPr>
              <a:t>which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actual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exceed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estimates.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Among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studied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projects,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One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2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every</a:t>
            </a:r>
            <a:r>
              <a:rPr sz="2400" spc="-2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six</a:t>
            </a:r>
            <a:r>
              <a:rPr sz="2400" spc="-17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projects 	contained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“black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swan”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event.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urier New"/>
                <a:cs typeface="Courier New"/>
              </a:rPr>
              <a:t>Black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Swan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rare,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unpredictable,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but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high-</a:t>
            </a:r>
            <a:r>
              <a:rPr sz="2400" spc="-10" dirty="0">
                <a:latin typeface="Courier New"/>
                <a:cs typeface="Courier New"/>
              </a:rPr>
              <a:t>impact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Cost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0190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Cos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</a:t>
            </a:r>
            <a:r>
              <a:rPr b="1" spc="-2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125" dirty="0">
                <a:solidFill>
                  <a:schemeClr val="bg1"/>
                </a:solidFill>
              </a:rPr>
              <a:t>r</a:t>
            </a:r>
            <a:r>
              <a:rPr spc="-50" dirty="0">
                <a:solidFill>
                  <a:schemeClr val="bg1"/>
                </a:solidFill>
              </a:rPr>
              <a:t>e</a:t>
            </a:r>
            <a:r>
              <a:rPr spc="-25" dirty="0">
                <a:solidFill>
                  <a:schemeClr val="bg1"/>
                </a:solidFill>
              </a:rPr>
              <a:t>fe</a:t>
            </a:r>
            <a:r>
              <a:rPr spc="-5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459" dirty="0">
                <a:solidFill>
                  <a:schemeClr val="bg1"/>
                </a:solidFill>
              </a:rPr>
              <a:t> </a:t>
            </a:r>
            <a:r>
              <a:rPr spc="-265" dirty="0">
                <a:solidFill>
                  <a:schemeClr val="bg1"/>
                </a:solidFill>
              </a:rPr>
              <a:t>r</a:t>
            </a:r>
            <a:r>
              <a:rPr spc="-5" dirty="0">
                <a:solidFill>
                  <a:schemeClr val="bg1"/>
                </a:solidFill>
              </a:rPr>
              <a:t>esourc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spc="-50" dirty="0">
                <a:solidFill>
                  <a:schemeClr val="bg1"/>
                </a:solidFill>
              </a:rPr>
              <a:t>h</a:t>
            </a:r>
            <a:r>
              <a:rPr spc="-25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sa</a:t>
            </a:r>
            <a:r>
              <a:rPr spc="-5" dirty="0">
                <a:solidFill>
                  <a:schemeClr val="bg1"/>
                </a:solidFill>
              </a:rPr>
              <a:t>crifice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o</a:t>
            </a:r>
            <a:r>
              <a:rPr dirty="0">
                <a:solidFill>
                  <a:schemeClr val="bg1"/>
                </a:solidFill>
              </a:rPr>
              <a:t>r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g</a:t>
            </a:r>
            <a:r>
              <a:rPr spc="-25" dirty="0">
                <a:solidFill>
                  <a:schemeClr val="bg1"/>
                </a:solidFill>
              </a:rPr>
              <a:t>i</a:t>
            </a:r>
            <a:r>
              <a:rPr spc="-5" dirty="0">
                <a:solidFill>
                  <a:schemeClr val="bg1"/>
                </a:solidFill>
              </a:rPr>
              <a:t>ve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459" dirty="0">
                <a:solidFill>
                  <a:schemeClr val="bg1"/>
                </a:solidFill>
              </a:rPr>
              <a:t> </a:t>
            </a:r>
            <a:r>
              <a:rPr spc="25" dirty="0">
                <a:solidFill>
                  <a:schemeClr val="bg1"/>
                </a:solidFill>
              </a:rPr>
              <a:t>u</a:t>
            </a:r>
            <a:r>
              <a:rPr dirty="0">
                <a:solidFill>
                  <a:schemeClr val="bg1"/>
                </a:solidFill>
              </a:rPr>
              <a:t>p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an 	</a:t>
            </a:r>
            <a:r>
              <a:rPr spc="-5" dirty="0">
                <a:solidFill>
                  <a:schemeClr val="bg1"/>
                </a:solidFill>
              </a:rPr>
              <a:t>exchang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38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28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a</a:t>
            </a:r>
            <a:r>
              <a:rPr spc="-50" dirty="0">
                <a:solidFill>
                  <a:schemeClr val="bg1"/>
                </a:solidFill>
              </a:rPr>
              <a:t>c</a:t>
            </a:r>
            <a:r>
              <a:rPr spc="-25" dirty="0">
                <a:solidFill>
                  <a:schemeClr val="bg1"/>
                </a:solidFill>
              </a:rPr>
              <a:t>h</a:t>
            </a:r>
            <a:r>
              <a:rPr spc="-50" dirty="0">
                <a:solidFill>
                  <a:schemeClr val="bg1"/>
                </a:solidFill>
              </a:rPr>
              <a:t>i</a:t>
            </a:r>
            <a:r>
              <a:rPr spc="-5" dirty="0">
                <a:solidFill>
                  <a:schemeClr val="bg1"/>
                </a:solidFill>
              </a:rPr>
              <a:t>ev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3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23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s</a:t>
            </a:r>
            <a:r>
              <a:rPr spc="-75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e</a:t>
            </a:r>
            <a:r>
              <a:rPr spc="-25" dirty="0">
                <a:solidFill>
                  <a:schemeClr val="bg1"/>
                </a:solidFill>
              </a:rPr>
              <a:t>c</a:t>
            </a:r>
            <a:r>
              <a:rPr spc="-5" dirty="0">
                <a:solidFill>
                  <a:schemeClr val="bg1"/>
                </a:solidFill>
              </a:rPr>
              <a:t>ifi</a:t>
            </a:r>
            <a:r>
              <a:rPr dirty="0">
                <a:solidFill>
                  <a:schemeClr val="bg1"/>
                </a:solidFill>
              </a:rPr>
              <a:t>c</a:t>
            </a:r>
            <a:r>
              <a:rPr spc="385" dirty="0">
                <a:solidFill>
                  <a:schemeClr val="bg1"/>
                </a:solidFill>
              </a:rPr>
              <a:t> </a:t>
            </a:r>
            <a:r>
              <a:rPr spc="-220" dirty="0">
                <a:solidFill>
                  <a:schemeClr val="bg1"/>
                </a:solidFill>
              </a:rPr>
              <a:t>o</a:t>
            </a:r>
            <a:r>
              <a:rPr spc="-5" dirty="0">
                <a:solidFill>
                  <a:schemeClr val="bg1"/>
                </a:solidFill>
              </a:rPr>
              <a:t>bjectiv</a:t>
            </a:r>
            <a:r>
              <a:rPr dirty="0">
                <a:solidFill>
                  <a:schemeClr val="bg1"/>
                </a:solidFill>
              </a:rPr>
              <a:t>e.</a:t>
            </a:r>
            <a:r>
              <a:rPr spc="38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C</a:t>
            </a:r>
            <a:r>
              <a:rPr spc="-50" dirty="0">
                <a:solidFill>
                  <a:schemeClr val="bg1"/>
                </a:solidFill>
              </a:rPr>
              <a:t>o</a:t>
            </a:r>
            <a:r>
              <a:rPr spc="-5" dirty="0">
                <a:solidFill>
                  <a:schemeClr val="bg1"/>
                </a:solidFill>
              </a:rPr>
              <a:t>s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405" dirty="0">
                <a:solidFill>
                  <a:schemeClr val="bg1"/>
                </a:solidFill>
              </a:rPr>
              <a:t> </a:t>
            </a:r>
            <a:r>
              <a:rPr spc="-19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43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u</a:t>
            </a:r>
            <a:r>
              <a:rPr spc="-25" dirty="0">
                <a:solidFill>
                  <a:schemeClr val="bg1"/>
                </a:solidFill>
              </a:rPr>
              <a:t>s</a:t>
            </a:r>
            <a:r>
              <a:rPr spc="-5" dirty="0">
                <a:solidFill>
                  <a:schemeClr val="bg1"/>
                </a:solidFill>
              </a:rPr>
              <a:t>ua</a:t>
            </a:r>
            <a:r>
              <a:rPr spc="20" dirty="0">
                <a:solidFill>
                  <a:schemeClr val="bg1"/>
                </a:solidFill>
              </a:rPr>
              <a:t>ll</a:t>
            </a:r>
            <a:r>
              <a:rPr dirty="0">
                <a:solidFill>
                  <a:schemeClr val="bg1"/>
                </a:solidFill>
              </a:rPr>
              <a:t>y 	</a:t>
            </a:r>
            <a:r>
              <a:rPr spc="-5" dirty="0">
                <a:solidFill>
                  <a:schemeClr val="bg1"/>
                </a:solidFill>
              </a:rPr>
              <a:t>measure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moneta</a:t>
            </a:r>
            <a:r>
              <a:rPr spc="-25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term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suc</a:t>
            </a:r>
            <a:r>
              <a:rPr dirty="0">
                <a:solidFill>
                  <a:schemeClr val="bg1"/>
                </a:solidFill>
              </a:rPr>
              <a:t>h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D</a:t>
            </a:r>
            <a:r>
              <a:rPr spc="-25" dirty="0">
                <a:solidFill>
                  <a:schemeClr val="bg1"/>
                </a:solidFill>
              </a:rPr>
              <a:t>o</a:t>
            </a:r>
            <a:r>
              <a:rPr spc="-5" dirty="0">
                <a:solidFill>
                  <a:schemeClr val="bg1"/>
                </a:solidFill>
              </a:rPr>
              <a:t>llar</a:t>
            </a:r>
            <a:r>
              <a:rPr dirty="0">
                <a:solidFill>
                  <a:schemeClr val="bg1"/>
                </a:solidFill>
              </a:rPr>
              <a:t>s.</a:t>
            </a: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Project</a:t>
            </a:r>
            <a:r>
              <a:rPr b="1" spc="26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Cost</a:t>
            </a:r>
            <a:r>
              <a:rPr b="1" spc="27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Management</a:t>
            </a:r>
            <a:r>
              <a:rPr b="1" spc="26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consists</a:t>
            </a:r>
            <a:r>
              <a:rPr spc="26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204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processes</a:t>
            </a:r>
            <a:r>
              <a:rPr spc="285" dirty="0">
                <a:solidFill>
                  <a:schemeClr val="bg1"/>
                </a:solidFill>
              </a:rPr>
              <a:t>  </a:t>
            </a:r>
            <a:r>
              <a:rPr spc="-20" dirty="0">
                <a:solidFill>
                  <a:schemeClr val="bg1"/>
                </a:solidFill>
              </a:rPr>
              <a:t>that 	</a:t>
            </a:r>
            <a:r>
              <a:rPr dirty="0">
                <a:solidFill>
                  <a:schemeClr val="bg1"/>
                </a:solidFill>
              </a:rPr>
              <a:t>guarantees</a:t>
            </a:r>
            <a:r>
              <a:rPr spc="-3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3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completion</a:t>
            </a:r>
            <a:r>
              <a:rPr spc="-2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3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project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within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sanctioned 	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Cost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1100"/>
            <a:ext cx="10894060" cy="4396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Processes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of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Project Cost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Management:</a:t>
            </a:r>
            <a:endParaRPr sz="2200" dirty="0">
              <a:latin typeface="Courier New"/>
              <a:cs typeface="Courier New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2335"/>
              </a:spcBef>
              <a:buAutoNum type="arabicPeriod"/>
              <a:tabLst>
                <a:tab pos="926465" algn="l"/>
              </a:tabLst>
            </a:pPr>
            <a:r>
              <a:rPr sz="2200" b="1" dirty="0">
                <a:latin typeface="Courier New"/>
                <a:cs typeface="Courier New"/>
              </a:rPr>
              <a:t>Planning cost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management</a:t>
            </a:r>
            <a:endParaRPr sz="2200" dirty="0">
              <a:latin typeface="Courier New"/>
              <a:cs typeface="Courier New"/>
            </a:endParaRPr>
          </a:p>
          <a:p>
            <a:pPr marL="1247140" marR="5080" lvl="2" indent="-320675" algn="just">
              <a:lnSpc>
                <a:spcPct val="150000"/>
              </a:lnSpc>
              <a:spcBef>
                <a:spcPts val="1030"/>
              </a:spcBef>
              <a:buFont typeface="Arial MT"/>
              <a:buChar char="•"/>
              <a:tabLst>
                <a:tab pos="1247140" algn="l"/>
              </a:tabLst>
            </a:pPr>
            <a:r>
              <a:rPr sz="2200" dirty="0">
                <a:latin typeface="Courier New"/>
                <a:cs typeface="Courier New"/>
              </a:rPr>
              <a:t>Policies,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procedures,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documentations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-1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determined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in </a:t>
            </a:r>
            <a:r>
              <a:rPr sz="2200" dirty="0">
                <a:latin typeface="Courier New"/>
                <a:cs typeface="Courier New"/>
              </a:rPr>
              <a:t>this</a:t>
            </a:r>
            <a:r>
              <a:rPr sz="2200" spc="3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process</a:t>
            </a:r>
            <a:r>
              <a:rPr sz="2200" spc="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5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used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3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planning,</a:t>
            </a:r>
            <a:r>
              <a:rPr sz="2200" spc="4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executing,</a:t>
            </a:r>
            <a:r>
              <a:rPr sz="2200" spc="254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10" dirty="0">
                <a:latin typeface="Courier New"/>
                <a:cs typeface="Courier New"/>
              </a:rPr>
              <a:t>controlling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cost.</a:t>
            </a:r>
            <a:endParaRPr sz="2200" dirty="0">
              <a:latin typeface="Courier New"/>
              <a:cs typeface="Courier New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2285"/>
              </a:spcBef>
              <a:buAutoNum type="arabicPeriod"/>
              <a:tabLst>
                <a:tab pos="925830" algn="l"/>
              </a:tabLst>
            </a:pPr>
            <a:r>
              <a:rPr sz="2200" b="1" dirty="0">
                <a:latin typeface="Courier New"/>
                <a:cs typeface="Courier New"/>
              </a:rPr>
              <a:t>Estimating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costs</a:t>
            </a:r>
            <a:endParaRPr sz="2200" dirty="0">
              <a:latin typeface="Courier New"/>
              <a:cs typeface="Courier New"/>
            </a:endParaRPr>
          </a:p>
          <a:p>
            <a:pPr marL="1247140" lvl="2" indent="-32067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1247140" algn="l"/>
              </a:tabLst>
            </a:pPr>
            <a:r>
              <a:rPr sz="2200" spc="-10" dirty="0">
                <a:latin typeface="Courier New"/>
                <a:cs typeface="Courier New"/>
              </a:rPr>
              <a:t>An</a:t>
            </a:r>
            <a:r>
              <a:rPr sz="2200" spc="-45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estimate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54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51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costs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54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49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resources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required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complete</a:t>
            </a:r>
            <a:endParaRPr sz="2200" dirty="0">
              <a:latin typeface="Courier New"/>
              <a:cs typeface="Courier New"/>
            </a:endParaRPr>
          </a:p>
          <a:p>
            <a:pPr marL="124714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developed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this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process.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The</a:t>
            </a:r>
            <a:r>
              <a:rPr spc="-1230" dirty="0"/>
              <a:t> </a:t>
            </a:r>
            <a:r>
              <a:rPr spc="-10" dirty="0"/>
              <a:t>Importance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300" dirty="0"/>
              <a:t> </a:t>
            </a:r>
            <a:r>
              <a:rPr spc="-10" dirty="0"/>
              <a:t>Project</a:t>
            </a:r>
            <a:r>
              <a:rPr spc="-1290" dirty="0"/>
              <a:t> </a:t>
            </a:r>
            <a:r>
              <a:rPr spc="-20" dirty="0"/>
              <a:t>Cost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960245"/>
            <a:ext cx="10440035" cy="21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indent="-455295" algn="just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7995" algn="l"/>
              </a:tabLst>
            </a:pPr>
            <a:r>
              <a:rPr sz="2400" b="1" dirty="0">
                <a:latin typeface="Courier New"/>
                <a:cs typeface="Courier New"/>
              </a:rPr>
              <a:t>Determining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the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budget</a:t>
            </a:r>
            <a:endParaRPr sz="2400">
              <a:latin typeface="Courier New"/>
              <a:cs typeface="Courier New"/>
            </a:endParaRPr>
          </a:p>
          <a:p>
            <a:pPr marL="787400" marR="5080" lvl="1" indent="-318135" algn="just">
              <a:lnSpc>
                <a:spcPct val="150100"/>
              </a:lnSpc>
              <a:spcBef>
                <a:spcPts val="1055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spc="-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3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spc="-55" dirty="0">
                <a:latin typeface="Courier New"/>
                <a:cs typeface="Courier New"/>
              </a:rPr>
              <a:t>v</a:t>
            </a:r>
            <a:r>
              <a:rPr sz="2400" spc="-30" dirty="0">
                <a:latin typeface="Courier New"/>
                <a:cs typeface="Courier New"/>
              </a:rPr>
              <a:t>era</a:t>
            </a:r>
            <a:r>
              <a:rPr sz="2400" spc="-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3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spc="-3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45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e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5" dirty="0">
                <a:latin typeface="Courier New"/>
                <a:cs typeface="Courier New"/>
              </a:rPr>
              <a:t>t</a:t>
            </a:r>
            <a:r>
              <a:rPr sz="2400" spc="-30" dirty="0">
                <a:latin typeface="Courier New"/>
                <a:cs typeface="Courier New"/>
              </a:rPr>
              <a:t>im</a:t>
            </a:r>
            <a:r>
              <a:rPr sz="2400" spc="-5" dirty="0">
                <a:latin typeface="Courier New"/>
                <a:cs typeface="Courier New"/>
              </a:rPr>
              <a:t>at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2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</a:t>
            </a:r>
            <a:r>
              <a:rPr sz="2400" spc="-55" dirty="0">
                <a:latin typeface="Courier New"/>
                <a:cs typeface="Courier New"/>
              </a:rPr>
              <a:t>l</a:t>
            </a:r>
            <a:r>
              <a:rPr sz="2400" spc="-75" dirty="0">
                <a:latin typeface="Courier New"/>
                <a:cs typeface="Courier New"/>
              </a:rPr>
              <a:t>l</a:t>
            </a:r>
            <a:r>
              <a:rPr sz="2400" spc="-5" dirty="0">
                <a:latin typeface="Courier New"/>
                <a:cs typeface="Courier New"/>
              </a:rPr>
              <a:t>ocat</a:t>
            </a:r>
            <a:r>
              <a:rPr sz="2400" spc="10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36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30" dirty="0">
                <a:latin typeface="Courier New"/>
                <a:cs typeface="Courier New"/>
              </a:rPr>
              <a:t>n</a:t>
            </a:r>
            <a:r>
              <a:rPr sz="2400" spc="-5" dirty="0">
                <a:latin typeface="Courier New"/>
                <a:cs typeface="Courier New"/>
              </a:rPr>
              <a:t>divi</a:t>
            </a:r>
            <a:r>
              <a:rPr sz="2400" spc="10" dirty="0">
                <a:latin typeface="Courier New"/>
                <a:cs typeface="Courier New"/>
              </a:rPr>
              <a:t>d</a:t>
            </a:r>
            <a:r>
              <a:rPr sz="2400" spc="15" dirty="0">
                <a:latin typeface="Courier New"/>
                <a:cs typeface="Courier New"/>
              </a:rPr>
              <a:t>ua</a:t>
            </a:r>
            <a:r>
              <a:rPr sz="2400" dirty="0">
                <a:latin typeface="Courier New"/>
                <a:cs typeface="Courier New"/>
              </a:rPr>
              <a:t>l 	</a:t>
            </a:r>
            <a:r>
              <a:rPr sz="2400" spc="-5" dirty="0">
                <a:latin typeface="Courier New"/>
                <a:cs typeface="Courier New"/>
              </a:rPr>
              <a:t>wor</a:t>
            </a:r>
            <a:r>
              <a:rPr sz="2400" dirty="0">
                <a:latin typeface="Courier New"/>
                <a:cs typeface="Courier New"/>
              </a:rPr>
              <a:t>k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em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1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p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e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ta</a:t>
            </a:r>
            <a:r>
              <a:rPr sz="2400" spc="-5" dirty="0">
                <a:latin typeface="Courier New"/>
                <a:cs typeface="Courier New"/>
              </a:rPr>
              <a:t>bl</a:t>
            </a:r>
            <a:r>
              <a:rPr sz="2400" spc="-2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shin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5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b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sel</a:t>
            </a:r>
            <a:r>
              <a:rPr sz="2400" spc="20" dirty="0">
                <a:latin typeface="Courier New"/>
                <a:cs typeface="Courier New"/>
              </a:rPr>
              <a:t>in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f</a:t>
            </a:r>
            <a:r>
              <a:rPr sz="2400" spc="2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 	</a:t>
            </a:r>
            <a:r>
              <a:rPr sz="2400" spc="-5" dirty="0">
                <a:latin typeface="Courier New"/>
                <a:cs typeface="Courier New"/>
              </a:rPr>
              <a:t>measurin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rformanc</a:t>
            </a:r>
            <a:r>
              <a:rPr sz="2400" dirty="0">
                <a:latin typeface="Courier New"/>
                <a:cs typeface="Courier New"/>
              </a:rPr>
              <a:t>e.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8041" y="5092065"/>
            <a:ext cx="6863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budget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controlled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this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4412107"/>
            <a:ext cx="3589654" cy="162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indent="-45529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7995" algn="l"/>
              </a:tabLst>
            </a:pPr>
            <a:r>
              <a:rPr sz="2400" b="1" dirty="0">
                <a:latin typeface="Courier New"/>
                <a:cs typeface="Courier New"/>
              </a:rPr>
              <a:t>Controlling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costs</a:t>
            </a:r>
            <a:endParaRPr sz="2400">
              <a:latin typeface="Courier New"/>
              <a:cs typeface="Courier New"/>
            </a:endParaRPr>
          </a:p>
          <a:p>
            <a:pPr marL="789940" marR="203200" lvl="1" indent="-320675">
              <a:lnSpc>
                <a:spcPct val="150100"/>
              </a:lnSpc>
              <a:spcBef>
                <a:spcPts val="1030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dirty="0">
                <a:latin typeface="Courier New"/>
                <a:cs typeface="Courier New"/>
              </a:rPr>
              <a:t>Changes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15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the </a:t>
            </a:r>
            <a:r>
              <a:rPr sz="2400" spc="-10" dirty="0">
                <a:latin typeface="Courier New"/>
                <a:cs typeface="Courier New"/>
              </a:rPr>
              <a:t>process.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Basic</a:t>
            </a:r>
            <a:r>
              <a:rPr spc="-1230" dirty="0"/>
              <a:t> </a:t>
            </a:r>
            <a:r>
              <a:rPr spc="-10" dirty="0"/>
              <a:t>Principles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295" dirty="0"/>
              <a:t> </a:t>
            </a:r>
            <a:r>
              <a:rPr spc="-10" dirty="0"/>
              <a:t>Cost</a:t>
            </a:r>
            <a:r>
              <a:rPr spc="-129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13138"/>
            <a:ext cx="10890885" cy="449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7620" indent="-226695" algn="just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ourier New"/>
                <a:cs typeface="Courier New"/>
              </a:rPr>
              <a:t>Executive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Board</a:t>
            </a:r>
            <a:r>
              <a:rPr sz="2000" spc="-27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Members</a:t>
            </a:r>
            <a:r>
              <a:rPr sz="2000" spc="-28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better</a:t>
            </a:r>
            <a:r>
              <a:rPr sz="2000" spc="-27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understand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financial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terms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rather</a:t>
            </a:r>
            <a:r>
              <a:rPr sz="2000" spc="-1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than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IT 	</a:t>
            </a:r>
            <a:r>
              <a:rPr sz="2000" dirty="0">
                <a:latin typeface="Courier New"/>
                <a:cs typeface="Courier New"/>
              </a:rPr>
              <a:t>terms.</a:t>
            </a:r>
            <a:r>
              <a:rPr sz="2000" spc="-1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It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therefore</a:t>
            </a:r>
            <a:r>
              <a:rPr sz="2000" spc="-1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mandatory</a:t>
            </a:r>
            <a:r>
              <a:rPr sz="2000" spc="-1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IT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Project</a:t>
            </a:r>
            <a:r>
              <a:rPr sz="2000" spc="-1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Managers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communicate 	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information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financial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well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technical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terms.</a:t>
            </a:r>
            <a:endParaRPr sz="2000">
              <a:latin typeface="Courier New"/>
              <a:cs typeface="Courier New"/>
            </a:endParaRPr>
          </a:p>
          <a:p>
            <a:pPr marL="239395" indent="-226695" algn="just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spc="-20" dirty="0">
                <a:latin typeface="Courier New"/>
                <a:cs typeface="Courier New"/>
              </a:rPr>
              <a:t>Profits</a:t>
            </a:r>
            <a:r>
              <a:rPr sz="2000" b="1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are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measured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“revenues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minus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expenditures”</a:t>
            </a:r>
            <a:endParaRPr sz="2000">
              <a:latin typeface="Courier New"/>
              <a:cs typeface="Courier New"/>
            </a:endParaRPr>
          </a:p>
          <a:p>
            <a:pPr marL="239395" indent="-226695" algn="just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Courier New"/>
                <a:cs typeface="Courier New"/>
              </a:rPr>
              <a:t>Profit</a:t>
            </a:r>
            <a:r>
              <a:rPr sz="2000" b="1" spc="40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margin</a:t>
            </a:r>
            <a:r>
              <a:rPr sz="2000" b="1" spc="-55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refers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to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ratio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profits</a:t>
            </a:r>
            <a:r>
              <a:rPr sz="2000" spc="-65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revenues.</a:t>
            </a:r>
            <a:endParaRPr sz="2000">
              <a:latin typeface="Courier New"/>
              <a:cs typeface="Courier New"/>
            </a:endParaRPr>
          </a:p>
          <a:p>
            <a:pPr marL="239395" marR="7620" indent="-226695" algn="just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Courier New"/>
                <a:cs typeface="Courier New"/>
              </a:rPr>
              <a:t>Life</a:t>
            </a:r>
            <a:r>
              <a:rPr sz="2000" b="1" spc="1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cycle</a:t>
            </a:r>
            <a:r>
              <a:rPr sz="2000" b="1" spc="17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costing</a:t>
            </a:r>
            <a:r>
              <a:rPr sz="2000" b="1" spc="1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takes</a:t>
            </a:r>
            <a:r>
              <a:rPr sz="2000" spc="1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into</a:t>
            </a:r>
            <a:r>
              <a:rPr sz="2000" spc="1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account</a:t>
            </a:r>
            <a:r>
              <a:rPr sz="2000" spc="1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1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total</a:t>
            </a:r>
            <a:r>
              <a:rPr sz="2000" spc="1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cost</a:t>
            </a:r>
            <a:r>
              <a:rPr sz="2000" spc="1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ownership</a:t>
            </a:r>
            <a:r>
              <a:rPr sz="2000" spc="20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or 	</a:t>
            </a:r>
            <a:r>
              <a:rPr sz="2000" spc="-20" dirty="0">
                <a:latin typeface="Courier New"/>
                <a:cs typeface="Courier New"/>
              </a:rPr>
              <a:t>development</a:t>
            </a:r>
            <a:r>
              <a:rPr sz="2000" spc="-28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plus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support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costs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providing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155" dirty="0">
                <a:latin typeface="Courier New"/>
                <a:cs typeface="Courier New"/>
              </a:rPr>
              <a:t>the</a:t>
            </a:r>
            <a:r>
              <a:rPr sz="2000" spc="-14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overall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view</a:t>
            </a:r>
            <a:r>
              <a:rPr sz="2000" spc="-235" dirty="0">
                <a:latin typeface="Courier New"/>
                <a:cs typeface="Courier New"/>
              </a:rPr>
              <a:t> </a:t>
            </a:r>
            <a:r>
              <a:rPr sz="2000" spc="-135" dirty="0">
                <a:latin typeface="Courier New"/>
                <a:cs typeface="Courier New"/>
              </a:rPr>
              <a:t>of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the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cost</a:t>
            </a:r>
            <a:r>
              <a:rPr sz="2000" spc="-16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of 	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throughout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its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life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cycle.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Courier New"/>
                <a:cs typeface="Courier New"/>
              </a:rPr>
              <a:t>Cash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flow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analysis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used</a:t>
            </a:r>
            <a:r>
              <a:rPr sz="2000" spc="-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1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determine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estimated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annual</a:t>
            </a:r>
            <a:r>
              <a:rPr sz="2000" spc="11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costs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and</a:t>
            </a:r>
            <a:endParaRPr sz="2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25"/>
              </a:spcBef>
            </a:pPr>
            <a:r>
              <a:rPr sz="2000" spc="-20" dirty="0">
                <a:latin typeface="Courier New"/>
                <a:cs typeface="Courier New"/>
              </a:rPr>
              <a:t>benefits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for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resulting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annual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cash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flow.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Basic</a:t>
            </a:r>
            <a:r>
              <a:rPr spc="-1230" dirty="0"/>
              <a:t> </a:t>
            </a:r>
            <a:r>
              <a:rPr spc="-10" dirty="0"/>
              <a:t>Principles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295" dirty="0"/>
              <a:t> </a:t>
            </a:r>
            <a:r>
              <a:rPr spc="-10" dirty="0"/>
              <a:t>Cost</a:t>
            </a:r>
            <a:r>
              <a:rPr spc="-129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895965" cy="4163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Tangible</a:t>
            </a:r>
            <a:r>
              <a:rPr sz="2200" b="1" spc="-8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costs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or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benefits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those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costs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benefits</a:t>
            </a:r>
            <a:r>
              <a:rPr sz="2200" spc="-20" dirty="0">
                <a:latin typeface="Courier New"/>
                <a:cs typeface="Courier New"/>
              </a:rPr>
              <a:t> that </a:t>
            </a:r>
            <a:r>
              <a:rPr sz="2200" spc="-10" dirty="0">
                <a:latin typeface="Courier New"/>
                <a:cs typeface="Courier New"/>
              </a:rPr>
              <a:t>can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measured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easily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terms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dollars.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Intangible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costs</a:t>
            </a:r>
            <a:r>
              <a:rPr sz="2200" b="1" spc="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or</a:t>
            </a:r>
            <a:r>
              <a:rPr sz="2200" b="1" spc="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benefits</a:t>
            </a:r>
            <a:r>
              <a:rPr sz="2200" b="1" spc="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refer</a:t>
            </a:r>
            <a:r>
              <a:rPr sz="2200" spc="-45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409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those</a:t>
            </a:r>
            <a:r>
              <a:rPr sz="2200" spc="-48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costs</a:t>
            </a:r>
            <a:r>
              <a:rPr sz="2200" spc="-484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or</a:t>
            </a:r>
            <a:r>
              <a:rPr sz="2200" spc="-5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benefits</a:t>
            </a:r>
            <a:r>
              <a:rPr sz="2200" spc="-4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that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cannot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measured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easily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terms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dollars.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Direct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costs</a:t>
            </a:r>
            <a:r>
              <a:rPr sz="2200" b="1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costs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0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can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directly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associated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with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060"/>
              </a:spcBef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creation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products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services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project.</a:t>
            </a:r>
            <a:endParaRPr sz="2200">
              <a:latin typeface="Courier New"/>
              <a:cs typeface="Courier New"/>
            </a:endParaRPr>
          </a:p>
          <a:p>
            <a:pPr marL="227965" marR="5080" indent="-227965" algn="r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27965" algn="l"/>
              </a:tabLst>
            </a:pPr>
            <a:r>
              <a:rPr sz="2200" b="1" dirty="0">
                <a:latin typeface="Courier New"/>
                <a:cs typeface="Courier New"/>
              </a:rPr>
              <a:t>Indirect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costs</a:t>
            </a:r>
            <a:r>
              <a:rPr sz="2200" b="1" spc="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-45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to</a:t>
            </a:r>
            <a:r>
              <a:rPr sz="2200" spc="-51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costs</a:t>
            </a:r>
            <a:r>
              <a:rPr sz="2200" spc="-50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that</a:t>
            </a:r>
            <a:r>
              <a:rPr sz="2200" spc="-49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are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not</a:t>
            </a:r>
            <a:r>
              <a:rPr sz="2200" spc="-44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directly</a:t>
            </a:r>
            <a:r>
              <a:rPr sz="2200" spc="-4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associated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with</a:t>
            </a:r>
            <a:endParaRPr sz="2200">
              <a:latin typeface="Courier New"/>
              <a:cs typeface="Courier New"/>
            </a:endParaRPr>
          </a:p>
          <a:p>
            <a:pPr marR="8890" algn="r">
              <a:lnSpc>
                <a:spcPct val="100000"/>
              </a:lnSpc>
              <a:spcBef>
                <a:spcPts val="1055"/>
              </a:spcBef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products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or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services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project,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but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indirectly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related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Basic</a:t>
            </a:r>
            <a:r>
              <a:rPr spc="-1230" dirty="0"/>
              <a:t> </a:t>
            </a:r>
            <a:r>
              <a:rPr spc="-10" dirty="0"/>
              <a:t>Principles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295" dirty="0"/>
              <a:t> </a:t>
            </a:r>
            <a:r>
              <a:rPr spc="-10" dirty="0"/>
              <a:t>Cost</a:t>
            </a:r>
            <a:r>
              <a:rPr spc="-129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897870" cy="48786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Sunk</a:t>
            </a:r>
            <a:r>
              <a:rPr sz="2200" b="1" spc="-114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cost</a:t>
            </a:r>
            <a:r>
              <a:rPr sz="2200" b="1" spc="-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refers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money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has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been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spent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the </a:t>
            </a:r>
            <a:r>
              <a:rPr sz="2200" spc="-40" dirty="0">
                <a:latin typeface="Courier New"/>
                <a:cs typeface="Courier New"/>
              </a:rPr>
              <a:t>past.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114" dirty="0">
                <a:latin typeface="Courier New"/>
                <a:cs typeface="Courier New"/>
              </a:rPr>
              <a:t>When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projects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need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315" dirty="0">
                <a:latin typeface="Courier New"/>
                <a:cs typeface="Courier New"/>
              </a:rPr>
              <a:t>to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spc="-330" dirty="0">
                <a:latin typeface="Courier New"/>
                <a:cs typeface="Courier New"/>
              </a:rPr>
              <a:t>be</a:t>
            </a:r>
            <a:r>
              <a:rPr sz="220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identified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70" dirty="0">
                <a:latin typeface="Courier New"/>
                <a:cs typeface="Courier New"/>
              </a:rPr>
              <a:t>for</a:t>
            </a:r>
            <a:r>
              <a:rPr sz="2200" spc="-16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investment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spc="-455" dirty="0">
                <a:latin typeface="Courier New"/>
                <a:cs typeface="Courier New"/>
              </a:rPr>
              <a:t>or</a:t>
            </a:r>
            <a:r>
              <a:rPr sz="2200" spc="1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deciding </a:t>
            </a:r>
            <a:r>
              <a:rPr sz="2200" spc="-20" dirty="0">
                <a:latin typeface="Courier New"/>
                <a:cs typeface="Courier New"/>
              </a:rPr>
              <a:t>which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project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should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190" dirty="0">
                <a:latin typeface="Courier New"/>
                <a:cs typeface="Courier New"/>
              </a:rPr>
              <a:t>be</a:t>
            </a:r>
            <a:r>
              <a:rPr sz="2200" spc="-14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kept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running,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114" dirty="0">
                <a:latin typeface="Courier New"/>
                <a:cs typeface="Courier New"/>
              </a:rPr>
              <a:t>you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should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never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sunk </a:t>
            </a:r>
            <a:r>
              <a:rPr sz="2200" dirty="0">
                <a:latin typeface="Courier New"/>
                <a:cs typeface="Courier New"/>
              </a:rPr>
              <a:t>costs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rather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consider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it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gone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like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sunken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ship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never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be </a:t>
            </a:r>
            <a:r>
              <a:rPr sz="2200" spc="-10" dirty="0">
                <a:latin typeface="Courier New"/>
                <a:cs typeface="Courier New"/>
              </a:rPr>
              <a:t>raised.</a:t>
            </a:r>
            <a:endParaRPr sz="2200" dirty="0">
              <a:latin typeface="Courier New"/>
              <a:cs typeface="Courier New"/>
            </a:endParaRPr>
          </a:p>
          <a:p>
            <a:pPr marL="241300" marR="6350" indent="-228600" algn="just">
              <a:lnSpc>
                <a:spcPct val="14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Learning</a:t>
            </a:r>
            <a:r>
              <a:rPr sz="2200" b="1" spc="3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curve</a:t>
            </a:r>
            <a:r>
              <a:rPr sz="2200" b="1" spc="3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theory</a:t>
            </a:r>
            <a:r>
              <a:rPr sz="2200" b="1" spc="3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state</a:t>
            </a:r>
            <a:r>
              <a:rPr sz="2200" spc="3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when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many</a:t>
            </a:r>
            <a:r>
              <a:rPr sz="2200" spc="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items</a:t>
            </a:r>
            <a:r>
              <a:rPr sz="2200" spc="3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46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produced </a:t>
            </a:r>
            <a:r>
              <a:rPr sz="2200" dirty="0">
                <a:latin typeface="Courier New"/>
                <a:cs typeface="Courier New"/>
              </a:rPr>
              <a:t>repetitively,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the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unit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cost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9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those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items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decreases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in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regular pattern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more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units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produces.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Courier New"/>
                <a:cs typeface="Courier New"/>
              </a:rPr>
              <a:t>Reserves</a:t>
            </a:r>
            <a:r>
              <a:rPr sz="2200" b="1" spc="-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those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dollar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amounts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include</a:t>
            </a:r>
            <a:r>
              <a:rPr sz="2200" spc="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20" dirty="0" smtClean="0">
                <a:latin typeface="Courier New"/>
                <a:cs typeface="Courier New"/>
              </a:rPr>
              <a:t>cost</a:t>
            </a:r>
            <a:r>
              <a:rPr lang="en-US" sz="2200" spc="-20" dirty="0" smtClean="0">
                <a:latin typeface="Courier New"/>
                <a:cs typeface="Courier New"/>
              </a:rPr>
              <a:t>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Basic</a:t>
            </a:r>
            <a:r>
              <a:rPr spc="-1230" dirty="0"/>
              <a:t> </a:t>
            </a:r>
            <a:r>
              <a:rPr spc="-10" dirty="0"/>
              <a:t>Principles</a:t>
            </a:r>
            <a:r>
              <a:rPr spc="-1275" dirty="0"/>
              <a:t> </a:t>
            </a:r>
            <a:r>
              <a:rPr spc="-10" dirty="0"/>
              <a:t>of</a:t>
            </a:r>
            <a:r>
              <a:rPr spc="-1295" dirty="0"/>
              <a:t> </a:t>
            </a:r>
            <a:r>
              <a:rPr spc="-10" dirty="0"/>
              <a:t>Cost</a:t>
            </a:r>
            <a:r>
              <a:rPr spc="-129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12475" cy="467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Reserves</a:t>
            </a:r>
            <a:r>
              <a:rPr sz="2400" b="1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those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dollar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amounts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mitigate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risks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allowing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future 	situations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difficult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predict.</a:t>
            </a:r>
            <a:endParaRPr sz="2400">
              <a:latin typeface="Courier New"/>
              <a:cs typeface="Courier New"/>
            </a:endParaRPr>
          </a:p>
          <a:p>
            <a:pPr marL="735965" marR="17145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b="1" dirty="0">
                <a:latin typeface="Courier New"/>
                <a:cs typeface="Courier New"/>
              </a:rPr>
              <a:t>Contingency</a:t>
            </a:r>
            <a:r>
              <a:rPr sz="2400" b="1" spc="-1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reserves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allow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for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future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situations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may 	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partially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planned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for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(sometimes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called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known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unknowns) 	and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baseline.</a:t>
            </a:r>
            <a:endParaRPr sz="2400">
              <a:latin typeface="Courier New"/>
              <a:cs typeface="Courier New"/>
            </a:endParaRPr>
          </a:p>
          <a:p>
            <a:pPr marL="735965" marR="13970" lvl="1" indent="-2667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b="1" dirty="0">
                <a:latin typeface="Courier New"/>
                <a:cs typeface="Courier New"/>
              </a:rPr>
              <a:t>Management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reserves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allow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future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situations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are 	</a:t>
            </a:r>
            <a:r>
              <a:rPr sz="2400" spc="-10" dirty="0">
                <a:latin typeface="Courier New"/>
                <a:cs typeface="Courier New"/>
              </a:rPr>
              <a:t>unpredictable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(sometimes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called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unknown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unknowns)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Planning</a:t>
            </a:r>
            <a:r>
              <a:rPr spc="-1225" dirty="0"/>
              <a:t> </a:t>
            </a:r>
            <a:r>
              <a:rPr spc="-10" dirty="0"/>
              <a:t>Cost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0410" cy="1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project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cost</a:t>
            </a:r>
            <a:r>
              <a:rPr sz="2400" spc="-44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management</a:t>
            </a:r>
            <a:r>
              <a:rPr sz="2400" spc="-42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begins</a:t>
            </a:r>
            <a:r>
              <a:rPr sz="2400" spc="-6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planning</a:t>
            </a:r>
            <a:r>
              <a:rPr sz="2400" b="1" spc="-35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how</a:t>
            </a:r>
            <a:r>
              <a:rPr sz="2400" spc="-6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 	will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throughout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life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0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Manager</a:t>
            </a:r>
            <a:r>
              <a:rPr sz="2400" spc="-20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other</a:t>
            </a:r>
            <a:r>
              <a:rPr sz="2400" spc="-1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stakeholders</a:t>
            </a:r>
            <a:r>
              <a:rPr sz="2400" spc="-1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use</a:t>
            </a:r>
            <a:r>
              <a:rPr sz="2400" spc="-18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expert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124" y="3557904"/>
            <a:ext cx="970534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Courier New"/>
                <a:cs typeface="Courier New"/>
              </a:rPr>
              <a:t>judgement,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data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analysis,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meetings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produce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latin typeface="Courier New"/>
                <a:cs typeface="Courier New"/>
              </a:rPr>
              <a:t>management</a:t>
            </a:r>
            <a:r>
              <a:rPr sz="2400" b="1" spc="4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plan</a:t>
            </a:r>
            <a:r>
              <a:rPr sz="2400" b="1" spc="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4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describes</a:t>
            </a:r>
            <a:r>
              <a:rPr sz="2400" spc="4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how</a:t>
            </a:r>
            <a:r>
              <a:rPr sz="2400" spc="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0326" y="3557904"/>
            <a:ext cx="781685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spc="-20" dirty="0">
                <a:latin typeface="Courier New"/>
                <a:cs typeface="Courier New"/>
              </a:rPr>
              <a:t>cost</a:t>
            </a:r>
            <a:endParaRPr sz="2400">
              <a:latin typeface="Courier New"/>
              <a:cs typeface="Courier New"/>
            </a:endParaRPr>
          </a:p>
          <a:p>
            <a:pPr marL="48895">
              <a:lnSpc>
                <a:spcPct val="100000"/>
              </a:lnSpc>
              <a:spcBef>
                <a:spcPts val="1445"/>
              </a:spcBef>
            </a:pPr>
            <a:r>
              <a:rPr sz="2400" spc="-20" dirty="0">
                <a:latin typeface="Courier New"/>
                <a:cs typeface="Courier New"/>
              </a:rPr>
              <a:t>will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4838522"/>
            <a:ext cx="10854690" cy="161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manage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variances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cost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management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plan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can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be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informal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and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broad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formal 	</a:t>
            </a:r>
            <a:r>
              <a:rPr sz="2400" b="1" dirty="0">
                <a:latin typeface="Courier New"/>
                <a:cs typeface="Courier New"/>
              </a:rPr>
              <a:t>and detailed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based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needs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78130" y="1783079"/>
            <a:ext cx="11896725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marR="51435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If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Managers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willing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complete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within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budget</a:t>
            </a:r>
            <a:r>
              <a:rPr sz="2400" spc="-1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constraints,</a:t>
            </a:r>
            <a:r>
              <a:rPr sz="2400" spc="-1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they</a:t>
            </a:r>
            <a:r>
              <a:rPr sz="2400" spc="-20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must</a:t>
            </a:r>
            <a:r>
              <a:rPr sz="2400" spc="-1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take</a:t>
            </a:r>
            <a:r>
              <a:rPr sz="2400" spc="-20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-28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estimates 	seriously.</a:t>
            </a:r>
            <a:endParaRPr sz="2400" dirty="0">
              <a:latin typeface="Courier New"/>
              <a:cs typeface="Courier New"/>
            </a:endParaRPr>
          </a:p>
          <a:p>
            <a:pPr marL="1189355" marR="5397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After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resource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requirement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list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developed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care, 	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Managers</a:t>
            </a:r>
            <a:r>
              <a:rPr sz="2400" spc="-1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their</a:t>
            </a:r>
            <a:r>
              <a:rPr sz="2400" spc="-2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teams</a:t>
            </a:r>
            <a:r>
              <a:rPr sz="2400" spc="-1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must</a:t>
            </a:r>
            <a:r>
              <a:rPr sz="2400" spc="-2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develop</a:t>
            </a:r>
            <a:r>
              <a:rPr sz="2400" spc="-9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several 	estimates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those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resources.</a:t>
            </a:r>
            <a:endParaRPr sz="2400" dirty="0">
              <a:latin typeface="Courier New"/>
              <a:cs typeface="Courier New"/>
            </a:endParaRPr>
          </a:p>
          <a:p>
            <a:pPr marL="1189355" marR="50800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1190625" algn="l"/>
              </a:tabLst>
            </a:pP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mandatory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know</a:t>
            </a:r>
            <a:r>
              <a:rPr sz="2400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types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estimates,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have 	</a:t>
            </a:r>
            <a:r>
              <a:rPr sz="2400" dirty="0">
                <a:latin typeface="Courier New"/>
                <a:cs typeface="Courier New"/>
              </a:rPr>
              <a:t>expertise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5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prepare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those</a:t>
            </a:r>
            <a:r>
              <a:rPr sz="2400" spc="-40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-3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estimates,</a:t>
            </a:r>
            <a:r>
              <a:rPr sz="2400" spc="-3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35" dirty="0">
                <a:latin typeface="Courier New"/>
                <a:cs typeface="Courier New"/>
              </a:rPr>
              <a:t>  </a:t>
            </a:r>
            <a:r>
              <a:rPr sz="2400" spc="-10" dirty="0" smtClean="0">
                <a:latin typeface="Courier New"/>
                <a:cs typeface="Courier New"/>
              </a:rPr>
              <a:t>problems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68423"/>
            <a:ext cx="10430256" cy="3179064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16091"/>
              </p:ext>
            </p:extLst>
          </p:nvPr>
        </p:nvGraphicFramePr>
        <p:xfrm>
          <a:off x="833437" y="1858898"/>
          <a:ext cx="10431145" cy="3181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7945"/>
                <a:gridCol w="2607945"/>
                <a:gridCol w="2887980"/>
                <a:gridCol w="2327275"/>
              </a:tblGrid>
              <a:tr h="458470">
                <a:tc>
                  <a:txBody>
                    <a:bodyPr/>
                    <a:lstStyle/>
                    <a:p>
                      <a:pPr marL="5797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1600" b="1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3E6DC3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7956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sz="1600" b="1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Why</a:t>
                      </a:r>
                      <a:r>
                        <a:rPr sz="16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822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Typical</a:t>
                      </a:r>
                      <a:r>
                        <a:rPr sz="1600" b="1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Range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9525">
                      <a:solidFill>
                        <a:srgbClr val="3E6DC3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1007744">
                <a:tc>
                  <a:txBody>
                    <a:bodyPr/>
                    <a:lstStyle/>
                    <a:p>
                      <a:pPr marL="91440" marR="2578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Rough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Order Of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Magnitude (ROM)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39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life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cycle, often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years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completion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216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selection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decisions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50%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100%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Budgetary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994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Early,</a:t>
                      </a:r>
                      <a:r>
                        <a:rPr sz="16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6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years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Puts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dollars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16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25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10071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Definitive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Later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project,</a:t>
                      </a:r>
                      <a:r>
                        <a:rPr sz="1600" spc="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less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than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6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year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698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purchases,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estimates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costs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744339" y="5146675"/>
            <a:ext cx="23037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Courier New"/>
                <a:cs typeface="Courier New"/>
              </a:rPr>
              <a:t>Types</a:t>
            </a:r>
            <a:r>
              <a:rPr sz="1400" spc="-40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of</a:t>
            </a:r>
            <a:r>
              <a:rPr sz="1400" spc="-415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Cost</a:t>
            </a:r>
            <a:r>
              <a:rPr sz="1400" spc="-44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Estimates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895985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number</a:t>
            </a:r>
            <a:r>
              <a:rPr sz="2400" spc="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tools</a:t>
            </a:r>
            <a:r>
              <a:rPr sz="2400" spc="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techniques</a:t>
            </a:r>
            <a:r>
              <a:rPr sz="2400" spc="5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2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available 	Project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Managers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creating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estimate.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60305" y="1966340"/>
            <a:ext cx="171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3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assist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3009137"/>
            <a:ext cx="10903585" cy="344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/>
                <a:cs typeface="Courier New"/>
              </a:rPr>
              <a:t>Analogou</a:t>
            </a:r>
            <a:r>
              <a:rPr sz="2400" b="1" dirty="0">
                <a:latin typeface="Courier New"/>
                <a:cs typeface="Courier New"/>
              </a:rPr>
              <a:t>s </a:t>
            </a:r>
            <a:r>
              <a:rPr sz="2400" b="1" spc="-5" dirty="0">
                <a:latin typeface="Courier New"/>
                <a:cs typeface="Courier New"/>
              </a:rPr>
              <a:t>est</a:t>
            </a:r>
            <a:r>
              <a:rPr sz="2400" b="1" spc="-15" dirty="0">
                <a:latin typeface="Courier New"/>
                <a:cs typeface="Courier New"/>
              </a:rPr>
              <a:t>i</a:t>
            </a:r>
            <a:r>
              <a:rPr sz="2400" b="1" spc="-5" dirty="0">
                <a:latin typeface="Courier New"/>
                <a:cs typeface="Courier New"/>
              </a:rPr>
              <a:t>ma</a:t>
            </a:r>
            <a:r>
              <a:rPr sz="2400" b="1" spc="-20" dirty="0">
                <a:latin typeface="Courier New"/>
                <a:cs typeface="Courier New"/>
              </a:rPr>
              <a:t>t</a:t>
            </a:r>
            <a:r>
              <a:rPr sz="2400" b="1" spc="-5" dirty="0">
                <a:latin typeface="Courier New"/>
                <a:cs typeface="Courier New"/>
              </a:rPr>
              <a:t>e</a:t>
            </a:r>
            <a:r>
              <a:rPr sz="2400" b="1" dirty="0">
                <a:latin typeface="Courier New"/>
                <a:cs typeface="Courier New"/>
              </a:rPr>
              <a:t>s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(</a:t>
            </a:r>
            <a:r>
              <a:rPr sz="2400" b="1" spc="-5" dirty="0">
                <a:latin typeface="Courier New"/>
                <a:cs typeface="Courier New"/>
              </a:rPr>
              <a:t>top</a:t>
            </a:r>
            <a:r>
              <a:rPr sz="2400" b="1" dirty="0">
                <a:latin typeface="Courier New"/>
                <a:cs typeface="Courier New"/>
              </a:rPr>
              <a:t>-</a:t>
            </a:r>
            <a:r>
              <a:rPr sz="2400" b="1" spc="-5" dirty="0">
                <a:latin typeface="Courier New"/>
                <a:cs typeface="Courier New"/>
              </a:rPr>
              <a:t>dow</a:t>
            </a:r>
            <a:r>
              <a:rPr sz="2400" b="1" dirty="0">
                <a:latin typeface="Courier New"/>
                <a:cs typeface="Courier New"/>
              </a:rPr>
              <a:t>n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e</a:t>
            </a:r>
            <a:r>
              <a:rPr sz="2400" b="1" spc="-5" dirty="0">
                <a:latin typeface="Courier New"/>
                <a:cs typeface="Courier New"/>
              </a:rPr>
              <a:t>st</a:t>
            </a:r>
            <a:r>
              <a:rPr sz="2400" b="1" spc="-25" dirty="0">
                <a:latin typeface="Courier New"/>
                <a:cs typeface="Courier New"/>
              </a:rPr>
              <a:t>i</a:t>
            </a:r>
            <a:r>
              <a:rPr sz="2400" b="1" spc="-5" dirty="0">
                <a:latin typeface="Courier New"/>
                <a:cs typeface="Courier New"/>
              </a:rPr>
              <a:t>mate</a:t>
            </a:r>
            <a:r>
              <a:rPr sz="2400" b="1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)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u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53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t</a:t>
            </a:r>
            <a:r>
              <a:rPr sz="2400" spc="20" dirty="0">
                <a:latin typeface="Courier New"/>
                <a:cs typeface="Courier New"/>
              </a:rPr>
              <a:t>ua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45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st 	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evi</a:t>
            </a:r>
            <a:r>
              <a:rPr sz="2400" spc="-5" dirty="0">
                <a:latin typeface="Courier New"/>
                <a:cs typeface="Courier New"/>
              </a:rPr>
              <a:t>ous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50" dirty="0">
                <a:latin typeface="Courier New"/>
                <a:cs typeface="Courier New"/>
              </a:rPr>
              <a:t>i</a:t>
            </a:r>
            <a:r>
              <a:rPr sz="2400" spc="-75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ila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oj</a:t>
            </a:r>
            <a:r>
              <a:rPr sz="2400" spc="-5" dirty="0">
                <a:latin typeface="Courier New"/>
                <a:cs typeface="Courier New"/>
              </a:rPr>
              <a:t>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b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si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f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ti</a:t>
            </a:r>
            <a:r>
              <a:rPr sz="2400" spc="20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spc="20" dirty="0">
                <a:latin typeface="Courier New"/>
                <a:cs typeface="Courier New"/>
              </a:rPr>
              <a:t>tin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 	</a:t>
            </a:r>
            <a:r>
              <a:rPr sz="2400" spc="-5" dirty="0">
                <a:latin typeface="Courier New"/>
                <a:cs typeface="Courier New"/>
              </a:rPr>
              <a:t>cos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cur</a:t>
            </a:r>
            <a:r>
              <a:rPr sz="2400" spc="-1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en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pr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jec</a:t>
            </a:r>
            <a:r>
              <a:rPr sz="2400" dirty="0">
                <a:latin typeface="Courier New"/>
                <a:cs typeface="Courier New"/>
              </a:rPr>
              <a:t>t.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ourier New"/>
                <a:cs typeface="Courier New"/>
              </a:rPr>
              <a:t>Bottom-</a:t>
            </a:r>
            <a:r>
              <a:rPr sz="2400" b="1" dirty="0">
                <a:latin typeface="Courier New"/>
                <a:cs typeface="Courier New"/>
              </a:rPr>
              <a:t>up</a:t>
            </a:r>
            <a:r>
              <a:rPr sz="2400" b="1" spc="-10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estimates</a:t>
            </a:r>
            <a:r>
              <a:rPr sz="2400" b="1" spc="-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consider</a:t>
            </a:r>
            <a:r>
              <a:rPr sz="2400" spc="-1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approximate</a:t>
            </a:r>
            <a:r>
              <a:rPr sz="2400" spc="-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costs</a:t>
            </a:r>
            <a:r>
              <a:rPr sz="2400" spc="-8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30" dirty="0">
                <a:latin typeface="Courier New"/>
                <a:cs typeface="Courier New"/>
              </a:rPr>
              <a:t>individual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work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items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350" dirty="0">
                <a:latin typeface="Courier New"/>
                <a:cs typeface="Courier New"/>
              </a:rPr>
              <a:t>or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activities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165" dirty="0">
                <a:latin typeface="Courier New"/>
                <a:cs typeface="Courier New"/>
              </a:rPr>
              <a:t>to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estimate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Courier New"/>
                <a:cs typeface="Courier New"/>
              </a:rPr>
              <a:t>the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cost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of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entire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843407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Courier New"/>
                <a:cs typeface="Courier New"/>
              </a:rPr>
              <a:t>Three-</a:t>
            </a:r>
            <a:r>
              <a:rPr sz="2400" b="1" dirty="0">
                <a:latin typeface="Courier New"/>
                <a:cs typeface="Courier New"/>
              </a:rPr>
              <a:t>point</a:t>
            </a:r>
            <a:r>
              <a:rPr sz="2400" b="1" spc="19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estimates</a:t>
            </a:r>
            <a:r>
              <a:rPr sz="2400" b="1" spc="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takes</a:t>
            </a:r>
            <a:r>
              <a:rPr sz="2400" spc="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into</a:t>
            </a:r>
            <a:r>
              <a:rPr sz="2400" spc="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account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b="1" spc="-10" dirty="0">
                <a:latin typeface="Courier New"/>
                <a:cs typeface="Courier New"/>
              </a:rPr>
              <a:t>optimistic</a:t>
            </a:r>
            <a:r>
              <a:rPr sz="2400" spc="-10" dirty="0">
                <a:latin typeface="Courier New"/>
                <a:cs typeface="Courier New"/>
              </a:rPr>
              <a:t>,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pessimistic</a:t>
            </a:r>
            <a:r>
              <a:rPr sz="2400" b="1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items.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9472" y="1966340"/>
            <a:ext cx="739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ourier New"/>
                <a:cs typeface="Courier New"/>
              </a:rPr>
              <a:t>most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47401" y="1966340"/>
            <a:ext cx="1324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likely</a:t>
            </a:r>
            <a:r>
              <a:rPr sz="2400" spc="-10" dirty="0">
                <a:latin typeface="Courier New"/>
                <a:cs typeface="Courier New"/>
              </a:rPr>
              <a:t>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524" y="3009137"/>
            <a:ext cx="1090041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Parametric</a:t>
            </a:r>
            <a:r>
              <a:rPr sz="2400" b="1" spc="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estimating</a:t>
            </a:r>
            <a:r>
              <a:rPr sz="2400" b="1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uses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mathematical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model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takes 	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characteristics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parameters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gives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output.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0"/>
            <a:ext cx="10894060" cy="136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Typical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Problems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Cost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Estimates</a:t>
            </a:r>
            <a:endParaRPr sz="2200">
              <a:latin typeface="Courier New"/>
              <a:cs typeface="Courier New"/>
            </a:endParaRPr>
          </a:p>
          <a:p>
            <a:pPr marL="267970" marR="5080" lvl="1" indent="-267970" algn="r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67970" algn="l"/>
              </a:tabLst>
            </a:pPr>
            <a:r>
              <a:rPr sz="2200" dirty="0">
                <a:latin typeface="Courier New"/>
                <a:cs typeface="Courier New"/>
              </a:rPr>
              <a:t>Despite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3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existence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many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tools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and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techniques,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number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of</a:t>
            </a:r>
            <a:endParaRPr sz="2200">
              <a:latin typeface="Courier New"/>
              <a:cs typeface="Courier New"/>
            </a:endParaRPr>
          </a:p>
          <a:p>
            <a:pPr marR="9525" algn="r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project</a:t>
            </a:r>
            <a:r>
              <a:rPr sz="2200" spc="-45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cost</a:t>
            </a:r>
            <a:r>
              <a:rPr sz="2200" spc="-45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estimates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are</a:t>
            </a:r>
            <a:r>
              <a:rPr sz="2200" spc="-48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still</a:t>
            </a:r>
            <a:r>
              <a:rPr sz="2200" spc="-455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very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inaccurate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particularly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674" y="3241653"/>
            <a:ext cx="8291830" cy="31515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894"/>
              </a:spcBef>
            </a:pP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new</a:t>
            </a:r>
            <a:r>
              <a:rPr sz="2200" spc="-3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technologies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3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software</a:t>
            </a:r>
            <a:r>
              <a:rPr sz="2200" spc="-30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development.</a:t>
            </a:r>
            <a:endParaRPr sz="2200" dirty="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points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out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four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reasons:</a:t>
            </a:r>
            <a:endParaRPr sz="2200" dirty="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spc="-10" dirty="0">
                <a:latin typeface="Courier New"/>
                <a:cs typeface="Courier New"/>
              </a:rPr>
              <a:t>Estimates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done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too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quickly</a:t>
            </a:r>
            <a:endParaRPr sz="2200" dirty="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spc="-10" dirty="0">
                <a:latin typeface="Courier New"/>
                <a:cs typeface="Courier New"/>
              </a:rPr>
              <a:t>People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lack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estimating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experience</a:t>
            </a:r>
            <a:endParaRPr sz="2200" dirty="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spc="-10" dirty="0">
                <a:latin typeface="Courier New"/>
                <a:cs typeface="Courier New"/>
              </a:rPr>
              <a:t>Human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beings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biased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toward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underestimating</a:t>
            </a:r>
            <a:endParaRPr sz="2200" dirty="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desires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accuracy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7425" y="3341319"/>
            <a:ext cx="1888489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15" dirty="0">
                <a:latin typeface="Courier New"/>
                <a:cs typeface="Courier New"/>
              </a:rPr>
              <a:t>Tom-</a:t>
            </a:r>
            <a:r>
              <a:rPr sz="2200" spc="-10" dirty="0">
                <a:latin typeface="Courier New"/>
                <a:cs typeface="Courier New"/>
              </a:rPr>
              <a:t>DeMarco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905" y="1617979"/>
            <a:ext cx="4206875" cy="1381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spc="-10" dirty="0">
                <a:latin typeface="Courier New"/>
                <a:cs typeface="Courier New"/>
              </a:rPr>
              <a:t>Sample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Cost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Estimate</a:t>
            </a:r>
            <a:endParaRPr sz="1300">
              <a:latin typeface="Courier New"/>
              <a:cs typeface="Courier New"/>
            </a:endParaRPr>
          </a:p>
          <a:p>
            <a:pPr marL="737870" marR="5080" lvl="1" indent="-268605" algn="just">
              <a:lnSpc>
                <a:spcPct val="129800"/>
              </a:lnSpc>
              <a:spcBef>
                <a:spcPts val="102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dirty="0">
                <a:latin typeface="Courier New"/>
                <a:cs typeface="Courier New"/>
              </a:rPr>
              <a:t>Refer</a:t>
            </a:r>
            <a:r>
              <a:rPr sz="1300" spc="32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to</a:t>
            </a:r>
            <a:r>
              <a:rPr sz="1300" spc="25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pages</a:t>
            </a:r>
            <a:r>
              <a:rPr sz="1300" spc="254" dirty="0">
                <a:latin typeface="Courier New"/>
                <a:cs typeface="Courier New"/>
              </a:rPr>
              <a:t> </a:t>
            </a:r>
            <a:r>
              <a:rPr sz="1300" spc="-35" dirty="0">
                <a:latin typeface="Courier New"/>
                <a:cs typeface="Courier New"/>
              </a:rPr>
              <a:t>299–</a:t>
            </a:r>
            <a:r>
              <a:rPr sz="1300" dirty="0">
                <a:latin typeface="Courier New"/>
                <a:cs typeface="Courier New"/>
              </a:rPr>
              <a:t>304</a:t>
            </a:r>
            <a:r>
              <a:rPr sz="1300" spc="2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to</a:t>
            </a:r>
            <a:r>
              <a:rPr sz="1300" spc="254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see</a:t>
            </a:r>
            <a:r>
              <a:rPr sz="1300" spc="38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the detailed</a:t>
            </a:r>
            <a:r>
              <a:rPr sz="1300" spc="-170" dirty="0">
                <a:latin typeface="Courier New"/>
                <a:cs typeface="Courier New"/>
              </a:rPr>
              <a:t> </a:t>
            </a:r>
            <a:r>
              <a:rPr sz="1300" spc="-45" dirty="0">
                <a:latin typeface="Courier New"/>
                <a:cs typeface="Courier New"/>
              </a:rPr>
              <a:t>example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204" dirty="0">
                <a:latin typeface="Courier New"/>
                <a:cs typeface="Courier New"/>
              </a:rPr>
              <a:t>on</a:t>
            </a:r>
            <a:r>
              <a:rPr sz="1300" spc="10" dirty="0">
                <a:latin typeface="Courier New"/>
                <a:cs typeface="Courier New"/>
              </a:rPr>
              <a:t> </a:t>
            </a:r>
            <a:r>
              <a:rPr sz="1300" spc="-120" dirty="0">
                <a:latin typeface="Courier New"/>
                <a:cs typeface="Courier New"/>
              </a:rPr>
              <a:t>how</a:t>
            </a:r>
            <a:r>
              <a:rPr sz="1300" spc="-55" dirty="0">
                <a:latin typeface="Courier New"/>
                <a:cs typeface="Courier New"/>
              </a:rPr>
              <a:t> </a:t>
            </a:r>
            <a:r>
              <a:rPr sz="1300" spc="-229" dirty="0">
                <a:latin typeface="Courier New"/>
                <a:cs typeface="Courier New"/>
              </a:rPr>
              <a:t>to</a:t>
            </a:r>
            <a:r>
              <a:rPr sz="1300" spc="35" dirty="0">
                <a:latin typeface="Courier New"/>
                <a:cs typeface="Courier New"/>
              </a:rPr>
              <a:t> </a:t>
            </a:r>
            <a:r>
              <a:rPr sz="1300" spc="-60" dirty="0">
                <a:latin typeface="Courier New"/>
                <a:cs typeface="Courier New"/>
              </a:rPr>
              <a:t>create</a:t>
            </a:r>
            <a:r>
              <a:rPr sz="1300" spc="-12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cost estimate</a:t>
            </a:r>
            <a:r>
              <a:rPr sz="1300" spc="-165" dirty="0">
                <a:latin typeface="Courier New"/>
                <a:cs typeface="Courier New"/>
              </a:rPr>
              <a:t> </a:t>
            </a:r>
            <a:r>
              <a:rPr sz="1300" spc="-70" dirty="0">
                <a:latin typeface="Courier New"/>
                <a:cs typeface="Courier New"/>
              </a:rPr>
              <a:t>for</a:t>
            </a:r>
            <a:r>
              <a:rPr sz="1300" spc="-125" dirty="0">
                <a:latin typeface="Courier New"/>
                <a:cs typeface="Courier New"/>
              </a:rPr>
              <a:t> </a:t>
            </a:r>
            <a:r>
              <a:rPr sz="1300" spc="-90" dirty="0">
                <a:latin typeface="Courier New"/>
                <a:cs typeface="Courier New"/>
              </a:rPr>
              <a:t>the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Surveyor</a:t>
            </a:r>
            <a:r>
              <a:rPr sz="1300" spc="-120" dirty="0"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Pro</a:t>
            </a:r>
            <a:r>
              <a:rPr sz="1300" spc="-8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 </a:t>
            </a:r>
            <a:r>
              <a:rPr sz="1300" spc="-20" dirty="0">
                <a:latin typeface="Courier New"/>
                <a:cs typeface="Courier New"/>
              </a:rPr>
              <a:t>described</a:t>
            </a:r>
            <a:r>
              <a:rPr sz="1300" spc="-33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in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opening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case.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4105" y="3099751"/>
            <a:ext cx="1397635" cy="5435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67970" indent="-267970" algn="ctr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67970" algn="l"/>
              </a:tabLst>
            </a:pPr>
            <a:r>
              <a:rPr sz="1300" dirty="0">
                <a:latin typeface="Courier New"/>
                <a:cs typeface="Courier New"/>
              </a:rPr>
              <a:t>Collect</a:t>
            </a:r>
            <a:r>
              <a:rPr sz="1300" spc="114" dirty="0">
                <a:latin typeface="Courier New"/>
                <a:cs typeface="Courier New"/>
              </a:rPr>
              <a:t>  </a:t>
            </a:r>
            <a:r>
              <a:rPr sz="1300" spc="-25" dirty="0">
                <a:latin typeface="Courier New"/>
                <a:cs typeface="Courier New"/>
              </a:rPr>
              <a:t>as</a:t>
            </a:r>
            <a:endParaRPr sz="1300">
              <a:latin typeface="Courier New"/>
              <a:cs typeface="Courier New"/>
            </a:endParaRPr>
          </a:p>
          <a:p>
            <a:pPr marR="42545" algn="ctr">
              <a:lnSpc>
                <a:spcPct val="100000"/>
              </a:lnSpc>
              <a:spcBef>
                <a:spcPts val="480"/>
              </a:spcBef>
            </a:pPr>
            <a:r>
              <a:rPr sz="1300" spc="-10" dirty="0">
                <a:latin typeface="Courier New"/>
                <a:cs typeface="Courier New"/>
              </a:rPr>
              <a:t>possible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7701" y="3099751"/>
            <a:ext cx="621665" cy="5435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1300" spc="-20" dirty="0">
                <a:latin typeface="Courier New"/>
                <a:cs typeface="Courier New"/>
              </a:rPr>
              <a:t>much</a:t>
            </a:r>
            <a:endParaRPr sz="1300">
              <a:latin typeface="Courier New"/>
              <a:cs typeface="Courier New"/>
            </a:endParaRPr>
          </a:p>
          <a:p>
            <a:pPr marR="22860" algn="r">
              <a:lnSpc>
                <a:spcPct val="100000"/>
              </a:lnSpc>
              <a:spcBef>
                <a:spcPts val="480"/>
              </a:spcBef>
            </a:pPr>
            <a:r>
              <a:rPr sz="1300" spc="-10" dirty="0">
                <a:latin typeface="Courier New"/>
                <a:cs typeface="Courier New"/>
              </a:rPr>
              <a:t>before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0661" y="3099751"/>
            <a:ext cx="1532890" cy="5435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1335405" algn="l"/>
              </a:tabLst>
            </a:pPr>
            <a:r>
              <a:rPr sz="1300" spc="-10" dirty="0">
                <a:latin typeface="Courier New"/>
                <a:cs typeface="Courier New"/>
              </a:rPr>
              <a:t>information</a:t>
            </a:r>
            <a:r>
              <a:rPr sz="1300" dirty="0">
                <a:latin typeface="Courier New"/>
                <a:cs typeface="Courier New"/>
              </a:rPr>
              <a:t>	</a:t>
            </a:r>
            <a:r>
              <a:rPr sz="1300" spc="-25" dirty="0">
                <a:latin typeface="Courier New"/>
                <a:cs typeface="Courier New"/>
              </a:rPr>
              <a:t>as</a:t>
            </a:r>
            <a:endParaRPr sz="1300">
              <a:latin typeface="Courier New"/>
              <a:cs typeface="Courier New"/>
            </a:endParaRPr>
          </a:p>
          <a:p>
            <a:pPr marL="103505">
              <a:lnSpc>
                <a:spcPct val="100000"/>
              </a:lnSpc>
              <a:spcBef>
                <a:spcPts val="480"/>
              </a:spcBef>
              <a:tabLst>
                <a:tab pos="1237615" algn="l"/>
              </a:tabLst>
            </a:pPr>
            <a:r>
              <a:rPr sz="1300" spc="-10" dirty="0">
                <a:latin typeface="Courier New"/>
                <a:cs typeface="Courier New"/>
              </a:rPr>
              <a:t>creating</a:t>
            </a:r>
            <a:r>
              <a:rPr sz="1300" dirty="0">
                <a:latin typeface="Courier New"/>
                <a:cs typeface="Courier New"/>
              </a:rPr>
              <a:t>	</a:t>
            </a:r>
            <a:r>
              <a:rPr sz="1300" spc="-25" dirty="0">
                <a:latin typeface="Courier New"/>
                <a:cs typeface="Courier New"/>
              </a:rPr>
              <a:t>the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4105" y="3614699"/>
            <a:ext cx="3749675" cy="2471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0670" marR="5080" algn="just">
              <a:lnSpc>
                <a:spcPct val="130000"/>
              </a:lnSpc>
              <a:spcBef>
                <a:spcPts val="110"/>
              </a:spcBef>
            </a:pPr>
            <a:r>
              <a:rPr sz="1300" dirty="0">
                <a:latin typeface="Courier New"/>
                <a:cs typeface="Courier New"/>
              </a:rPr>
              <a:t>estimate.</a:t>
            </a:r>
            <a:r>
              <a:rPr sz="1300" spc="-19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Make</a:t>
            </a:r>
            <a:r>
              <a:rPr sz="1300" spc="-17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clear</a:t>
            </a:r>
            <a:r>
              <a:rPr sz="1300" spc="-1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assumptions</a:t>
            </a:r>
            <a:r>
              <a:rPr sz="1300" spc="-1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and </a:t>
            </a:r>
            <a:r>
              <a:rPr sz="1300" dirty="0">
                <a:latin typeface="Courier New"/>
                <a:cs typeface="Courier New"/>
              </a:rPr>
              <a:t>establish</a:t>
            </a:r>
            <a:r>
              <a:rPr sz="1300" spc="-110" dirty="0">
                <a:latin typeface="Courier New"/>
                <a:cs typeface="Courier New"/>
              </a:rPr>
              <a:t>  </a:t>
            </a:r>
            <a:r>
              <a:rPr sz="1300" dirty="0">
                <a:latin typeface="Courier New"/>
                <a:cs typeface="Courier New"/>
              </a:rPr>
              <a:t>solid</a:t>
            </a:r>
            <a:r>
              <a:rPr sz="1300" spc="-105" dirty="0">
                <a:latin typeface="Courier New"/>
                <a:cs typeface="Courier New"/>
              </a:rPr>
              <a:t>  </a:t>
            </a:r>
            <a:r>
              <a:rPr sz="1300" dirty="0">
                <a:latin typeface="Courier New"/>
                <a:cs typeface="Courier New"/>
              </a:rPr>
              <a:t>ground</a:t>
            </a:r>
            <a:r>
              <a:rPr sz="1300" spc="-120" dirty="0">
                <a:latin typeface="Courier New"/>
                <a:cs typeface="Courier New"/>
              </a:rPr>
              <a:t>  </a:t>
            </a:r>
            <a:r>
              <a:rPr sz="1300" dirty="0">
                <a:latin typeface="Courier New"/>
                <a:cs typeface="Courier New"/>
              </a:rPr>
              <a:t>rules</a:t>
            </a:r>
            <a:r>
              <a:rPr sz="1300" spc="-35" dirty="0">
                <a:latin typeface="Courier New"/>
                <a:cs typeface="Courier New"/>
              </a:rPr>
              <a:t>  </a:t>
            </a:r>
            <a:r>
              <a:rPr sz="1300" spc="-25" dirty="0">
                <a:latin typeface="Courier New"/>
                <a:cs typeface="Courier New"/>
              </a:rPr>
              <a:t>for </a:t>
            </a:r>
            <a:r>
              <a:rPr sz="1300" spc="-10" dirty="0">
                <a:latin typeface="Courier New"/>
                <a:cs typeface="Courier New"/>
              </a:rPr>
              <a:t>estimate.</a:t>
            </a:r>
            <a:endParaRPr sz="13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280670" algn="l"/>
                <a:tab pos="1372235" algn="l"/>
                <a:tab pos="2159000" algn="l"/>
                <a:tab pos="2646680" algn="l"/>
                <a:tab pos="3454400" algn="l"/>
              </a:tabLst>
            </a:pPr>
            <a:r>
              <a:rPr sz="1300" spc="-10" dirty="0">
                <a:latin typeface="Courier New"/>
                <a:cs typeface="Courier New"/>
              </a:rPr>
              <a:t>Estimate</a:t>
            </a:r>
            <a:r>
              <a:rPr sz="1300" dirty="0">
                <a:latin typeface="Courier New"/>
                <a:cs typeface="Courier New"/>
              </a:rPr>
              <a:t>	</a:t>
            </a:r>
            <a:r>
              <a:rPr sz="1300" spc="-10" dirty="0">
                <a:latin typeface="Courier New"/>
                <a:cs typeface="Courier New"/>
              </a:rPr>
              <a:t>costs</a:t>
            </a:r>
            <a:r>
              <a:rPr sz="1300" dirty="0">
                <a:latin typeface="Courier New"/>
                <a:cs typeface="Courier New"/>
              </a:rPr>
              <a:t>	</a:t>
            </a:r>
            <a:r>
              <a:rPr sz="1300" spc="-25" dirty="0">
                <a:latin typeface="Courier New"/>
                <a:cs typeface="Courier New"/>
              </a:rPr>
              <a:t>by</a:t>
            </a:r>
            <a:r>
              <a:rPr sz="1300" dirty="0">
                <a:latin typeface="Courier New"/>
                <a:cs typeface="Courier New"/>
              </a:rPr>
              <a:t>	</a:t>
            </a:r>
            <a:r>
              <a:rPr sz="1300" spc="-20" dirty="0">
                <a:latin typeface="Courier New"/>
                <a:cs typeface="Courier New"/>
              </a:rPr>
              <a:t>major</a:t>
            </a:r>
            <a:r>
              <a:rPr sz="1300" dirty="0">
                <a:latin typeface="Courier New"/>
                <a:cs typeface="Courier New"/>
              </a:rPr>
              <a:t>	</a:t>
            </a:r>
            <a:r>
              <a:rPr sz="1300" spc="-25" dirty="0">
                <a:latin typeface="Courier New"/>
                <a:cs typeface="Courier New"/>
              </a:rPr>
              <a:t>WBS</a:t>
            </a:r>
            <a:endParaRPr sz="1300">
              <a:latin typeface="Courier New"/>
              <a:cs typeface="Courier New"/>
            </a:endParaRPr>
          </a:p>
          <a:p>
            <a:pPr marL="280670" algn="just">
              <a:lnSpc>
                <a:spcPct val="100000"/>
              </a:lnSpc>
              <a:spcBef>
                <a:spcPts val="480"/>
              </a:spcBef>
            </a:pPr>
            <a:r>
              <a:rPr sz="1300" spc="-20" dirty="0">
                <a:latin typeface="Courier New"/>
                <a:cs typeface="Courier New"/>
              </a:rPr>
              <a:t>categories,</a:t>
            </a:r>
            <a:r>
              <a:rPr sz="1300" spc="-32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if</a:t>
            </a:r>
            <a:r>
              <a:rPr sz="1300" spc="-3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possible</a:t>
            </a:r>
            <a:endParaRPr sz="13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80670" algn="l"/>
              </a:tabLst>
            </a:pPr>
            <a:r>
              <a:rPr sz="1300" spc="-10" dirty="0">
                <a:latin typeface="Courier New"/>
                <a:cs typeface="Courier New"/>
              </a:rPr>
              <a:t>Creating</a:t>
            </a:r>
            <a:r>
              <a:rPr sz="1300" spc="-19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285" dirty="0">
                <a:latin typeface="Courier New"/>
                <a:cs typeface="Courier New"/>
              </a:rPr>
              <a:t> </a:t>
            </a:r>
            <a:r>
              <a:rPr sz="1300" spc="-40" dirty="0">
                <a:latin typeface="Courier New"/>
                <a:cs typeface="Courier New"/>
              </a:rPr>
              <a:t>cost</a:t>
            </a:r>
            <a:r>
              <a:rPr sz="1300" spc="-220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model</a:t>
            </a:r>
            <a:r>
              <a:rPr sz="1300" spc="-215" dirty="0">
                <a:latin typeface="Courier New"/>
                <a:cs typeface="Courier New"/>
              </a:rPr>
              <a:t> </a:t>
            </a:r>
            <a:r>
              <a:rPr sz="1300" spc="-35" dirty="0">
                <a:latin typeface="Courier New"/>
                <a:cs typeface="Courier New"/>
              </a:rPr>
              <a:t>will</a:t>
            </a:r>
            <a:r>
              <a:rPr sz="1300" spc="-23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facilitate</a:t>
            </a:r>
            <a:endParaRPr sz="1300">
              <a:latin typeface="Courier New"/>
              <a:cs typeface="Courier New"/>
            </a:endParaRPr>
          </a:p>
          <a:p>
            <a:pPr marL="280670" algn="just">
              <a:lnSpc>
                <a:spcPct val="100000"/>
              </a:lnSpc>
              <a:spcBef>
                <a:spcPts val="480"/>
              </a:spcBef>
            </a:pPr>
            <a:r>
              <a:rPr sz="1300" spc="-15" dirty="0">
                <a:latin typeface="Courier New"/>
                <a:cs typeface="Courier New"/>
              </a:rPr>
              <a:t>after-</a:t>
            </a:r>
            <a:r>
              <a:rPr sz="1300" spc="-20" dirty="0">
                <a:latin typeface="Courier New"/>
                <a:cs typeface="Courier New"/>
              </a:rPr>
              <a:t>development</a:t>
            </a:r>
            <a:r>
              <a:rPr sz="1300" spc="-24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modifications.</a:t>
            </a:r>
            <a:endParaRPr sz="13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80670" algn="l"/>
              </a:tabLst>
            </a:pPr>
            <a:r>
              <a:rPr sz="1300" spc="-10" dirty="0">
                <a:latin typeface="Courier New"/>
                <a:cs typeface="Courier New"/>
              </a:rPr>
              <a:t>Always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document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estimate.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6944" y="149352"/>
            <a:ext cx="6321552" cy="57576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04801" y="1708966"/>
            <a:ext cx="4839722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2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8750" y="3138297"/>
            <a:ext cx="2994025" cy="83756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03555" marR="5080" indent="-491490">
              <a:lnSpc>
                <a:spcPts val="3020"/>
              </a:lnSpc>
              <a:spcBef>
                <a:spcPts val="490"/>
              </a:spcBef>
            </a:pPr>
            <a:r>
              <a:rPr sz="2800" dirty="0">
                <a:latin typeface="Calibri"/>
                <a:cs typeface="Calibri"/>
              </a:rPr>
              <a:t>Surveyor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Project </a:t>
            </a:r>
            <a:r>
              <a:rPr sz="2800" dirty="0">
                <a:latin typeface="Calibri"/>
                <a:cs typeface="Calibri"/>
              </a:rPr>
              <a:t>Cost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4523" y="609600"/>
            <a:ext cx="7028688" cy="53980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390601"/>
            <a:ext cx="3017520" cy="1185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Estimating 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271" y="2476957"/>
            <a:ext cx="286004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Surveyor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Development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20" y="512063"/>
            <a:ext cx="8385048" cy="53675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Determining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Budget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7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cost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estimates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allocated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individual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work 	</a:t>
            </a:r>
            <a:r>
              <a:rPr spc="-10" dirty="0">
                <a:solidFill>
                  <a:schemeClr val="bg1"/>
                </a:solidFill>
              </a:rPr>
              <a:t>items</a:t>
            </a:r>
            <a:r>
              <a:rPr spc="-6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over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time</a:t>
            </a:r>
          </a:p>
          <a:p>
            <a:pPr marL="240029" marR="1016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WBS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defines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work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items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why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it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mandatory 	input</a:t>
            </a:r>
            <a:r>
              <a:rPr spc="-7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cost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budgeting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process.</a:t>
            </a:r>
          </a:p>
          <a:p>
            <a:pPr marL="240029" marR="5080" indent="-227329" algn="just">
              <a:lnSpc>
                <a:spcPct val="15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pc="-5" dirty="0">
                <a:solidFill>
                  <a:schemeClr val="bg1"/>
                </a:solidFill>
              </a:rPr>
              <a:t>Th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m</a:t>
            </a:r>
            <a:r>
              <a:rPr spc="-50" dirty="0">
                <a:solidFill>
                  <a:schemeClr val="bg1"/>
                </a:solidFill>
              </a:rPr>
              <a:t>ai</a:t>
            </a:r>
            <a:r>
              <a:rPr dirty="0">
                <a:solidFill>
                  <a:schemeClr val="bg1"/>
                </a:solidFill>
              </a:rPr>
              <a:t>n</a:t>
            </a:r>
            <a:r>
              <a:rPr spc="-27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g</a:t>
            </a:r>
            <a:r>
              <a:rPr spc="-50" dirty="0">
                <a:solidFill>
                  <a:schemeClr val="bg1"/>
                </a:solidFill>
              </a:rPr>
              <a:t>o</a:t>
            </a:r>
            <a:r>
              <a:rPr spc="-25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l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245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</a:t>
            </a:r>
            <a:r>
              <a:rPr spc="-25" dirty="0">
                <a:solidFill>
                  <a:schemeClr val="bg1"/>
                </a:solidFill>
              </a:rPr>
              <a:t>odu</a:t>
            </a:r>
            <a:r>
              <a:rPr spc="-5" dirty="0">
                <a:solidFill>
                  <a:schemeClr val="bg1"/>
                </a:solidFill>
              </a:rPr>
              <a:t>c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b="1" spc="-125" dirty="0">
                <a:solidFill>
                  <a:schemeClr val="bg1"/>
                </a:solidFill>
                <a:latin typeface="Courier New"/>
                <a:cs typeface="Courier New"/>
              </a:rPr>
              <a:t>c</a:t>
            </a:r>
            <a:r>
              <a:rPr b="1" spc="-75" dirty="0">
                <a:solidFill>
                  <a:schemeClr val="bg1"/>
                </a:solidFill>
                <a:latin typeface="Courier New"/>
                <a:cs typeface="Courier New"/>
              </a:rPr>
              <a:t>o</a:t>
            </a:r>
            <a:r>
              <a:rPr b="1" spc="-25" dirty="0">
                <a:solidFill>
                  <a:schemeClr val="bg1"/>
                </a:solidFill>
                <a:latin typeface="Courier New"/>
                <a:cs typeface="Courier New"/>
              </a:rPr>
              <a:t>s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</a:t>
            </a:r>
            <a:r>
              <a:rPr b="1" spc="-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baselin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e </a:t>
            </a:r>
            <a:r>
              <a:rPr spc="-5" dirty="0">
                <a:solidFill>
                  <a:schemeClr val="bg1"/>
                </a:solidFill>
              </a:rPr>
              <a:t>refe</a:t>
            </a:r>
            <a:r>
              <a:rPr spc="-25" dirty="0">
                <a:solidFill>
                  <a:schemeClr val="bg1"/>
                </a:solidFill>
              </a:rPr>
              <a:t>r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220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t</a:t>
            </a:r>
            <a:r>
              <a:rPr spc="-75" dirty="0">
                <a:solidFill>
                  <a:schemeClr val="bg1"/>
                </a:solidFill>
              </a:rPr>
              <a:t>i</a:t>
            </a:r>
            <a:r>
              <a:rPr spc="-25" dirty="0">
                <a:solidFill>
                  <a:schemeClr val="bg1"/>
                </a:solidFill>
              </a:rPr>
              <a:t>me</a:t>
            </a:r>
            <a:r>
              <a:rPr dirty="0">
                <a:solidFill>
                  <a:schemeClr val="bg1"/>
                </a:solidFill>
              </a:rPr>
              <a:t>-	</a:t>
            </a:r>
            <a:r>
              <a:rPr spc="-5" dirty="0">
                <a:solidFill>
                  <a:schemeClr val="bg1"/>
                </a:solidFill>
              </a:rPr>
              <a:t>phase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b</a:t>
            </a:r>
            <a:r>
              <a:rPr spc="-50" dirty="0">
                <a:solidFill>
                  <a:schemeClr val="bg1"/>
                </a:solidFill>
              </a:rPr>
              <a:t>u</a:t>
            </a:r>
            <a:r>
              <a:rPr spc="-25" dirty="0">
                <a:solidFill>
                  <a:schemeClr val="bg1"/>
                </a:solidFill>
              </a:rPr>
              <a:t>dg</a:t>
            </a:r>
            <a:r>
              <a:rPr spc="-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t</a:t>
            </a:r>
            <a:r>
              <a:rPr spc="-50" dirty="0">
                <a:solidFill>
                  <a:schemeClr val="bg1"/>
                </a:solidFill>
              </a:rPr>
              <a:t>h</a:t>
            </a:r>
            <a:r>
              <a:rPr spc="-75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i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u</a:t>
            </a:r>
            <a:r>
              <a:rPr spc="-50" dirty="0">
                <a:solidFill>
                  <a:schemeClr val="bg1"/>
                </a:solidFill>
              </a:rPr>
              <a:t>s</a:t>
            </a:r>
            <a:r>
              <a:rPr spc="-25" dirty="0">
                <a:solidFill>
                  <a:schemeClr val="bg1"/>
                </a:solidFill>
              </a:rPr>
              <a:t>e</a:t>
            </a:r>
            <a:r>
              <a:rPr dirty="0">
                <a:solidFill>
                  <a:schemeClr val="bg1"/>
                </a:solidFill>
              </a:rPr>
              <a:t>d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b</a:t>
            </a:r>
            <a:r>
              <a:rPr dirty="0">
                <a:solidFill>
                  <a:schemeClr val="bg1"/>
                </a:solidFill>
              </a:rPr>
              <a:t>y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125" dirty="0">
                <a:solidFill>
                  <a:schemeClr val="bg1"/>
                </a:solidFill>
              </a:rPr>
              <a:t>P</a:t>
            </a:r>
            <a:r>
              <a:rPr spc="-50" dirty="0">
                <a:solidFill>
                  <a:schemeClr val="bg1"/>
                </a:solidFill>
              </a:rPr>
              <a:t>r</a:t>
            </a:r>
            <a:r>
              <a:rPr spc="-25" dirty="0">
                <a:solidFill>
                  <a:schemeClr val="bg1"/>
                </a:solidFill>
              </a:rPr>
              <a:t>oje</a:t>
            </a:r>
            <a:r>
              <a:rPr spc="-5" dirty="0">
                <a:solidFill>
                  <a:schemeClr val="bg1"/>
                </a:solidFill>
              </a:rPr>
              <a:t>c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M</a:t>
            </a:r>
            <a:r>
              <a:rPr spc="-5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nag</a:t>
            </a:r>
            <a:r>
              <a:rPr spc="-5" dirty="0">
                <a:solidFill>
                  <a:schemeClr val="bg1"/>
                </a:solidFill>
              </a:rPr>
              <a:t>er</a:t>
            </a:r>
            <a:r>
              <a:rPr dirty="0">
                <a:solidFill>
                  <a:schemeClr val="bg1"/>
                </a:solidFill>
              </a:rPr>
              <a:t>s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t</a:t>
            </a:r>
            <a:r>
              <a:rPr dirty="0">
                <a:solidFill>
                  <a:schemeClr val="bg1"/>
                </a:solidFill>
              </a:rPr>
              <a:t>o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me</a:t>
            </a:r>
            <a:r>
              <a:rPr spc="20" dirty="0">
                <a:solidFill>
                  <a:schemeClr val="bg1"/>
                </a:solidFill>
              </a:rPr>
              <a:t>asur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16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a</a:t>
            </a:r>
            <a:r>
              <a:rPr spc="-25" dirty="0">
                <a:solidFill>
                  <a:schemeClr val="bg1"/>
                </a:solidFill>
              </a:rPr>
              <a:t>n</a:t>
            </a:r>
            <a:r>
              <a:rPr dirty="0">
                <a:solidFill>
                  <a:schemeClr val="bg1"/>
                </a:solidFill>
              </a:rPr>
              <a:t>d 	</a:t>
            </a:r>
            <a:r>
              <a:rPr spc="-5" dirty="0">
                <a:solidFill>
                  <a:schemeClr val="bg1"/>
                </a:solidFill>
              </a:rPr>
              <a:t>monito</a:t>
            </a:r>
            <a:r>
              <a:rPr dirty="0">
                <a:solidFill>
                  <a:schemeClr val="bg1"/>
                </a:solidFill>
              </a:rPr>
              <a:t>r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th</a:t>
            </a:r>
            <a:r>
              <a:rPr dirty="0">
                <a:solidFill>
                  <a:schemeClr val="bg1"/>
                </a:solidFill>
              </a:rPr>
              <a:t>e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cos</a:t>
            </a:r>
            <a:r>
              <a:rPr dirty="0">
                <a:solidFill>
                  <a:schemeClr val="bg1"/>
                </a:solidFill>
              </a:rPr>
              <a:t>t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performa</a:t>
            </a:r>
            <a:r>
              <a:rPr spc="-30" dirty="0">
                <a:solidFill>
                  <a:schemeClr val="bg1"/>
                </a:solidFill>
              </a:rPr>
              <a:t>n</a:t>
            </a:r>
            <a:r>
              <a:rPr spc="-5" dirty="0">
                <a:solidFill>
                  <a:schemeClr val="bg1"/>
                </a:solidFill>
              </a:rPr>
              <a:t>c</a:t>
            </a:r>
            <a:r>
              <a:rPr dirty="0">
                <a:solidFill>
                  <a:schemeClr val="bg1"/>
                </a:solidFill>
              </a:rPr>
              <a:t>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Determining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Budget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" y="1481305"/>
            <a:ext cx="10261098" cy="41666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16095" y="5748934"/>
            <a:ext cx="3424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Courier New"/>
                <a:cs typeface="Courier New"/>
              </a:rPr>
              <a:t>Surveyor</a:t>
            </a:r>
            <a:r>
              <a:rPr sz="1400" spc="-39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Pro</a:t>
            </a:r>
            <a:r>
              <a:rPr sz="1400" spc="-44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Project</a:t>
            </a:r>
            <a:r>
              <a:rPr sz="1400" spc="-434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Cost</a:t>
            </a:r>
            <a:r>
              <a:rPr sz="1400" spc="-434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Baseline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35" dirty="0"/>
              <a:t> </a:t>
            </a:r>
            <a:r>
              <a:rPr spc="-10" dirty="0"/>
              <a:t>Budget</a:t>
            </a:r>
            <a:r>
              <a:rPr spc="-127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/>
          <p:nvPr/>
        </p:nvSpPr>
        <p:spPr>
          <a:xfrm>
            <a:off x="1609344" y="4090289"/>
            <a:ext cx="8955405" cy="21590"/>
          </a:xfrm>
          <a:custGeom>
            <a:avLst/>
            <a:gdLst/>
            <a:ahLst/>
            <a:cxnLst/>
            <a:rect l="l" t="t" r="r" b="b"/>
            <a:pathLst>
              <a:path w="8955405" h="21589">
                <a:moveTo>
                  <a:pt x="8955024" y="0"/>
                </a:moveTo>
                <a:lnTo>
                  <a:pt x="0" y="0"/>
                </a:lnTo>
                <a:lnTo>
                  <a:pt x="0" y="21336"/>
                </a:lnTo>
                <a:lnTo>
                  <a:pt x="8955024" y="21336"/>
                </a:lnTo>
                <a:lnTo>
                  <a:pt x="8955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1524" y="1966340"/>
            <a:ext cx="10895330" cy="448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Budget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Components</a:t>
            </a:r>
            <a:endParaRPr sz="2400" dirty="0">
              <a:latin typeface="Courier New"/>
              <a:cs typeface="Courier New"/>
            </a:endParaRPr>
          </a:p>
          <a:p>
            <a:pPr marL="735965" marR="45720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project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budget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composed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of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cost</a:t>
            </a:r>
            <a:r>
              <a:rPr sz="2400" i="1" u="heavy" spc="-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baseline</a:t>
            </a:r>
            <a:r>
              <a:rPr sz="2400" i="1" u="heavy" spc="-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plus</a:t>
            </a:r>
            <a:r>
              <a:rPr sz="2400" i="1" spc="-20" dirty="0">
                <a:latin typeface="Courier New"/>
                <a:cs typeface="Courier New"/>
              </a:rPr>
              <a:t>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management</a:t>
            </a:r>
            <a:r>
              <a:rPr sz="2400" i="1" u="heavy" spc="-3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reserve</a:t>
            </a:r>
            <a:r>
              <a:rPr sz="2400" i="1" u="heavy" spc="-3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whereas</a:t>
            </a:r>
            <a:r>
              <a:rPr sz="2400" spc="-340" dirty="0"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control</a:t>
            </a:r>
            <a:r>
              <a:rPr sz="2400" i="1" u="heavy" spc="-3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accounts</a:t>
            </a:r>
            <a:r>
              <a:rPr sz="2400" i="1" spc="-3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254" dirty="0">
                <a:latin typeface="Courier New"/>
                <a:cs typeface="Courier New"/>
              </a:rPr>
              <a:t>  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work</a:t>
            </a:r>
            <a:r>
              <a:rPr sz="2400" i="1" spc="-20" dirty="0">
                <a:latin typeface="Courier New"/>
                <a:cs typeface="Courier New"/>
              </a:rPr>
              <a:t> 	</a:t>
            </a:r>
            <a:r>
              <a:rPr sz="2400" i="1" dirty="0">
                <a:latin typeface="Courier New"/>
                <a:cs typeface="Courier New"/>
              </a:rPr>
              <a:t>package</a:t>
            </a:r>
            <a:r>
              <a:rPr sz="2400" i="1" spc="55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cost</a:t>
            </a:r>
            <a:r>
              <a:rPr sz="2400" i="1" spc="53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estimates</a:t>
            </a:r>
            <a:r>
              <a:rPr sz="2400" i="1" spc="55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plus</a:t>
            </a:r>
            <a:r>
              <a:rPr sz="2400" i="1" spc="53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contingency</a:t>
            </a:r>
            <a:r>
              <a:rPr sz="2400" i="1" spc="55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reserve</a:t>
            </a:r>
            <a:r>
              <a:rPr sz="2400" dirty="0">
                <a:latin typeface="Courier New"/>
                <a:cs typeface="Courier New"/>
              </a:rPr>
              <a:t>.</a:t>
            </a:r>
            <a:r>
              <a:rPr sz="2400" spc="-385" dirty="0">
                <a:latin typeface="Courier New"/>
                <a:cs typeface="Courier New"/>
              </a:rPr>
              <a:t>  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Work</a:t>
            </a:r>
            <a:r>
              <a:rPr sz="2400" i="1" spc="-20" dirty="0">
                <a:latin typeface="Courier New"/>
                <a:cs typeface="Courier New"/>
              </a:rPr>
              <a:t>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package</a:t>
            </a:r>
            <a:r>
              <a:rPr sz="2400" i="1" u="heavy" spc="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estimates</a:t>
            </a:r>
            <a:r>
              <a:rPr sz="2400" spc="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activity</a:t>
            </a:r>
            <a:r>
              <a:rPr sz="2400" i="1" u="heavy" spc="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cost</a:t>
            </a:r>
            <a:r>
              <a:rPr sz="2400" i="1" u="heavy" spc="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estimates</a:t>
            </a:r>
            <a:r>
              <a:rPr sz="2400" i="1" u="heavy" spc="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plus</a:t>
            </a:r>
            <a:r>
              <a:rPr sz="2400" i="1" spc="-20" dirty="0">
                <a:latin typeface="Courier New"/>
                <a:cs typeface="Courier New"/>
              </a:rPr>
              <a:t>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activity</a:t>
            </a:r>
            <a:r>
              <a:rPr sz="2400" i="1" u="heavy" spc="-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contingency</a:t>
            </a:r>
            <a:r>
              <a:rPr sz="2400" i="1" u="heavy" spc="-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reserve</a:t>
            </a:r>
            <a:r>
              <a:rPr sz="2400" spc="-10" dirty="0">
                <a:latin typeface="Courier New"/>
                <a:cs typeface="Courier New"/>
              </a:rPr>
              <a:t>.</a:t>
            </a:r>
            <a:endParaRPr sz="2400" dirty="0">
              <a:latin typeface="Courier New"/>
              <a:cs typeface="Courier New"/>
            </a:endParaRPr>
          </a:p>
          <a:p>
            <a:pPr marL="735965" marR="5080" lvl="1" indent="-2667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5" dirty="0">
                <a:latin typeface="Courier New"/>
                <a:cs typeface="Courier New"/>
              </a:rPr>
              <a:t>Figur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7</a:t>
            </a:r>
            <a:r>
              <a:rPr sz="2400" spc="-75" dirty="0">
                <a:latin typeface="Courier New"/>
                <a:cs typeface="Courier New"/>
              </a:rPr>
              <a:t>-</a:t>
            </a:r>
            <a:r>
              <a:rPr sz="2400" dirty="0">
                <a:latin typeface="Courier New"/>
                <a:cs typeface="Courier New"/>
              </a:rPr>
              <a:t>5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spc="-30" dirty="0">
                <a:latin typeface="Courier New"/>
                <a:cs typeface="Courier New"/>
              </a:rPr>
              <a:t>gh</a:t>
            </a:r>
            <a:r>
              <a:rPr sz="2400" spc="-5" dirty="0">
                <a:latin typeface="Courier New"/>
                <a:cs typeface="Courier New"/>
              </a:rPr>
              <a:t>li</a:t>
            </a:r>
            <a:r>
              <a:rPr sz="2400" spc="-30" dirty="0">
                <a:latin typeface="Courier New"/>
                <a:cs typeface="Courier New"/>
              </a:rPr>
              <a:t>g</a:t>
            </a:r>
            <a:r>
              <a:rPr sz="2400" spc="-5" dirty="0">
                <a:latin typeface="Courier New"/>
                <a:cs typeface="Courier New"/>
              </a:rPr>
              <a:t>ht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5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v</a:t>
            </a:r>
            <a:r>
              <a:rPr sz="2400" spc="-55" dirty="0">
                <a:latin typeface="Courier New"/>
                <a:cs typeface="Courier New"/>
              </a:rPr>
              <a:t>a</a:t>
            </a:r>
            <a:r>
              <a:rPr sz="2400" spc="-30" dirty="0">
                <a:latin typeface="Courier New"/>
                <a:cs typeface="Courier New"/>
              </a:rPr>
              <a:t>rio</a:t>
            </a:r>
            <a:r>
              <a:rPr sz="2400" spc="-5" dirty="0">
                <a:latin typeface="Courier New"/>
                <a:cs typeface="Courier New"/>
              </a:rPr>
              <a:t>u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1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mpone</a:t>
            </a:r>
            <a:r>
              <a:rPr sz="2400" spc="-10" dirty="0">
                <a:latin typeface="Courier New"/>
                <a:cs typeface="Courier New"/>
              </a:rPr>
              <a:t>n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484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p</a:t>
            </a:r>
            <a:r>
              <a:rPr sz="2400" spc="-100" dirty="0">
                <a:latin typeface="Courier New"/>
                <a:cs typeface="Courier New"/>
              </a:rPr>
              <a:t>r</a:t>
            </a:r>
            <a:r>
              <a:rPr sz="2400" spc="15" dirty="0">
                <a:latin typeface="Courier New"/>
                <a:cs typeface="Courier New"/>
              </a:rPr>
              <a:t>ojec</a:t>
            </a:r>
            <a:r>
              <a:rPr sz="2400" dirty="0">
                <a:latin typeface="Courier New"/>
                <a:cs typeface="Courier New"/>
              </a:rPr>
              <a:t>t 	</a:t>
            </a:r>
            <a:r>
              <a:rPr sz="2400" spc="-5" dirty="0">
                <a:latin typeface="Courier New"/>
                <a:cs typeface="Courier New"/>
              </a:rPr>
              <a:t>budge</a:t>
            </a:r>
            <a:r>
              <a:rPr sz="2400" dirty="0">
                <a:latin typeface="Courier New"/>
                <a:cs typeface="Courier New"/>
              </a:rPr>
              <a:t>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Determining</a:t>
            </a:r>
            <a:r>
              <a:rPr spc="-123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Budget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3253673"/>
            <a:ext cx="1854200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2400" spc="-10" dirty="0">
                <a:latin typeface="Courier New"/>
                <a:cs typeface="Courier New"/>
              </a:rPr>
              <a:t>Project Components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8401" y="3436442"/>
            <a:ext cx="1295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 smtClean="0">
                <a:latin typeface="Courier New"/>
                <a:cs typeface="Courier New"/>
              </a:rPr>
              <a:t>Budget</a:t>
            </a:r>
            <a:endParaRPr sz="240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6423" y="151790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226631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Controlling 	activities.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0716" y="1966340"/>
            <a:ext cx="909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Courier New"/>
                <a:cs typeface="Courier New"/>
              </a:rPr>
              <a:t>costs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3346" y="1966340"/>
            <a:ext cx="7098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1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includes</a:t>
            </a:r>
            <a:r>
              <a:rPr sz="2400" spc="-1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0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following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192271"/>
            <a:ext cx="10440035" cy="284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Monitoring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performance</a:t>
            </a:r>
            <a:endParaRPr sz="2400">
              <a:latin typeface="Courier New"/>
              <a:cs typeface="Courier New"/>
            </a:endParaRPr>
          </a:p>
          <a:p>
            <a:pPr marL="278765" marR="6350" indent="-266700">
              <a:lnSpc>
                <a:spcPct val="150100"/>
              </a:lnSpc>
              <a:spcBef>
                <a:spcPts val="98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spc="-10" dirty="0">
                <a:latin typeface="Courier New"/>
                <a:cs typeface="Courier New"/>
              </a:rPr>
              <a:t>Ensuring</a:t>
            </a:r>
            <a:r>
              <a:rPr sz="2400" spc="-56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that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only</a:t>
            </a:r>
            <a:r>
              <a:rPr sz="2400" spc="-38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appropriate</a:t>
            </a:r>
            <a:r>
              <a:rPr sz="2400" spc="-5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project</a:t>
            </a:r>
            <a:r>
              <a:rPr sz="2400" spc="-52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changes</a:t>
            </a:r>
            <a:r>
              <a:rPr sz="2400" spc="-48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are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included 	in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revised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baseline.</a:t>
            </a:r>
            <a:endParaRPr sz="2400">
              <a:latin typeface="Courier New"/>
              <a:cs typeface="Courier New"/>
            </a:endParaRPr>
          </a:p>
          <a:p>
            <a:pPr marL="278765" marR="5080" indent="-266700">
              <a:lnSpc>
                <a:spcPct val="150100"/>
              </a:lnSpc>
              <a:spcBef>
                <a:spcPts val="101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spc="-10" dirty="0">
                <a:latin typeface="Courier New"/>
                <a:cs typeface="Courier New"/>
              </a:rPr>
              <a:t>Informing</a:t>
            </a:r>
            <a:r>
              <a:rPr sz="2400" spc="-4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project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stakeholders</a:t>
            </a:r>
            <a:r>
              <a:rPr sz="2400" spc="-41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about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authorized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changes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will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affect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5330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Inputs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Outputs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Controlling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endParaRPr sz="2400">
              <a:latin typeface="Courier New"/>
              <a:cs typeface="Courier New"/>
            </a:endParaRPr>
          </a:p>
          <a:p>
            <a:pPr marL="735965" marR="5080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110" dirty="0">
                <a:latin typeface="Courier New"/>
                <a:cs typeface="Courier New"/>
              </a:rPr>
              <a:t>The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inputs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for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controlling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costs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include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project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 	</a:t>
            </a:r>
            <a:r>
              <a:rPr sz="2400" dirty="0">
                <a:latin typeface="Courier New"/>
                <a:cs typeface="Courier New"/>
              </a:rPr>
              <a:t>plan,</a:t>
            </a:r>
            <a:r>
              <a:rPr sz="2400" spc="3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3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documents,</a:t>
            </a:r>
            <a:r>
              <a:rPr sz="2400" spc="3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funding</a:t>
            </a:r>
            <a:r>
              <a:rPr sz="2400" spc="3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requirements, 	work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performance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data,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organizational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assets.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674" y="4232020"/>
            <a:ext cx="94684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outputs</a:t>
            </a:r>
            <a:r>
              <a:rPr sz="2400" spc="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</a:t>
            </a:r>
            <a:r>
              <a:rPr sz="2400" spc="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performance</a:t>
            </a:r>
            <a:r>
              <a:rPr sz="2400" spc="3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information, 	</a:t>
            </a:r>
            <a:r>
              <a:rPr sz="2400" dirty="0">
                <a:latin typeface="Courier New"/>
                <a:cs typeface="Courier New"/>
              </a:rPr>
              <a:t>forecasts,</a:t>
            </a:r>
            <a:r>
              <a:rPr sz="2400" spc="-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change</a:t>
            </a:r>
            <a:r>
              <a:rPr sz="2400" spc="-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requests,</a:t>
            </a:r>
            <a:r>
              <a:rPr sz="2400" spc="-1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9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management 	updates,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documents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updates.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6902" y="4232020"/>
            <a:ext cx="7448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50100"/>
              </a:lnSpc>
              <a:spcBef>
                <a:spcPts val="100"/>
              </a:spcBef>
            </a:pPr>
            <a:r>
              <a:rPr sz="2400" spc="-30" dirty="0">
                <a:latin typeface="Courier New"/>
                <a:cs typeface="Courier New"/>
              </a:rPr>
              <a:t>cost </a:t>
            </a:r>
            <a:r>
              <a:rPr sz="2400" spc="-80" dirty="0">
                <a:latin typeface="Courier New"/>
                <a:cs typeface="Courier New"/>
              </a:rPr>
              <a:t>plan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723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n</a:t>
            </a:r>
            <a:r>
              <a:rPr sz="2400" spc="-50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mbe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ol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ec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nique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e</a:t>
            </a:r>
            <a:r>
              <a:rPr sz="2400" spc="-120" dirty="0">
                <a:latin typeface="Courier New"/>
                <a:cs typeface="Courier New"/>
              </a:rPr>
              <a:t>x</a:t>
            </a:r>
            <a:r>
              <a:rPr sz="2400" spc="-5" dirty="0">
                <a:latin typeface="Courier New"/>
                <a:cs typeface="Courier New"/>
              </a:rPr>
              <a:t>is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4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p</a:t>
            </a:r>
            <a:r>
              <a:rPr sz="2400" spc="-75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oj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spc="20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s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ntr</a:t>
            </a:r>
            <a:r>
              <a:rPr sz="2400" spc="2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l 	</a:t>
            </a:r>
            <a:r>
              <a:rPr sz="2400" spc="-5" dirty="0">
                <a:latin typeface="Courier New"/>
                <a:cs typeface="Courier New"/>
              </a:rPr>
              <a:t>includin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e</a:t>
            </a:r>
            <a:r>
              <a:rPr sz="2400" spc="-50" dirty="0">
                <a:latin typeface="Courier New"/>
                <a:cs typeface="Courier New"/>
              </a:rPr>
              <a:t>x</a:t>
            </a:r>
            <a:r>
              <a:rPr sz="2400" spc="-25" dirty="0">
                <a:latin typeface="Courier New"/>
                <a:cs typeface="Courier New"/>
              </a:rPr>
              <a:t>pe</a:t>
            </a:r>
            <a:r>
              <a:rPr sz="2400" spc="-5" dirty="0">
                <a:latin typeface="Courier New"/>
                <a:cs typeface="Courier New"/>
              </a:rPr>
              <a:t>r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j</a:t>
            </a:r>
            <a:r>
              <a:rPr sz="2400" spc="-5" dirty="0">
                <a:latin typeface="Courier New"/>
                <a:cs typeface="Courier New"/>
              </a:rPr>
              <a:t>udgement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5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lysis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j</a:t>
            </a:r>
            <a:r>
              <a:rPr sz="2400" spc="20" dirty="0">
                <a:latin typeface="Courier New"/>
                <a:cs typeface="Courier New"/>
              </a:rPr>
              <a:t>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47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spc="20" dirty="0">
                <a:latin typeface="Courier New"/>
                <a:cs typeface="Courier New"/>
              </a:rPr>
              <a:t>agemen</a:t>
            </a:r>
            <a:r>
              <a:rPr sz="2400" dirty="0">
                <a:latin typeface="Courier New"/>
                <a:cs typeface="Courier New"/>
              </a:rPr>
              <a:t>t 	</a:t>
            </a:r>
            <a:r>
              <a:rPr sz="2400" spc="-5" dirty="0">
                <a:latin typeface="Courier New"/>
                <a:cs typeface="Courier New"/>
              </a:rPr>
              <a:t>informatio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systems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an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to-</a:t>
            </a:r>
            <a:r>
              <a:rPr sz="2400" spc="-25" dirty="0">
                <a:latin typeface="Courier New"/>
                <a:cs typeface="Courier New"/>
              </a:rPr>
              <a:t>c</a:t>
            </a:r>
            <a:r>
              <a:rPr sz="2400" spc="-5" dirty="0">
                <a:latin typeface="Courier New"/>
                <a:cs typeface="Courier New"/>
              </a:rPr>
              <a:t>omplet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perform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nc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in</a:t>
            </a:r>
            <a:r>
              <a:rPr sz="2400" spc="-25" dirty="0">
                <a:latin typeface="Courier New"/>
                <a:cs typeface="Courier New"/>
              </a:rPr>
              <a:t>d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x.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Earned</a:t>
            </a:r>
            <a:r>
              <a:rPr sz="2400" b="1" spc="-28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Value</a:t>
            </a:r>
            <a:r>
              <a:rPr sz="2400" b="1" spc="-29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Management</a:t>
            </a:r>
            <a:r>
              <a:rPr sz="2400" b="1" spc="-28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(EVM)</a:t>
            </a:r>
            <a:r>
              <a:rPr sz="2400" b="1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3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8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performance 	</a:t>
            </a:r>
            <a:r>
              <a:rPr sz="2400" dirty="0">
                <a:latin typeface="Courier New"/>
                <a:cs typeface="Courier New"/>
              </a:rPr>
              <a:t>measurement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integrates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scope,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time,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cost 	data.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Fro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g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spc="-25" dirty="0">
                <a:latin typeface="Courier New"/>
                <a:cs typeface="Courier New"/>
              </a:rPr>
              <a:t>ve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b="1" spc="-100" dirty="0">
                <a:latin typeface="Courier New"/>
                <a:cs typeface="Courier New"/>
              </a:rPr>
              <a:t>c</a:t>
            </a:r>
            <a:r>
              <a:rPr sz="2400" b="1" spc="-75" dirty="0">
                <a:latin typeface="Courier New"/>
                <a:cs typeface="Courier New"/>
              </a:rPr>
              <a:t>o</a:t>
            </a:r>
            <a:r>
              <a:rPr sz="2400" b="1" spc="-2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performance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b</a:t>
            </a:r>
            <a:r>
              <a:rPr sz="2400" b="1" spc="-25" dirty="0">
                <a:latin typeface="Courier New"/>
                <a:cs typeface="Courier New"/>
              </a:rPr>
              <a:t>a</a:t>
            </a:r>
            <a:r>
              <a:rPr sz="2400" b="1" spc="-5" dirty="0">
                <a:latin typeface="Courier New"/>
                <a:cs typeface="Courier New"/>
              </a:rPr>
              <a:t>se</a:t>
            </a:r>
            <a:r>
              <a:rPr sz="2400" b="1" spc="-25" dirty="0">
                <a:latin typeface="Courier New"/>
                <a:cs typeface="Courier New"/>
              </a:rPr>
              <a:t>l</a:t>
            </a:r>
            <a:r>
              <a:rPr sz="2400" b="1" spc="-5" dirty="0">
                <a:latin typeface="Courier New"/>
                <a:cs typeface="Courier New"/>
              </a:rPr>
              <a:t>in</a:t>
            </a:r>
            <a:r>
              <a:rPr sz="2400" b="1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ro</a:t>
            </a:r>
            <a:r>
              <a:rPr sz="2400" spc="-25" dirty="0">
                <a:latin typeface="Courier New"/>
                <a:cs typeface="Courier New"/>
              </a:rPr>
              <a:t>j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spc="20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M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20" dirty="0">
                <a:latin typeface="Courier New"/>
                <a:cs typeface="Courier New"/>
              </a:rPr>
              <a:t>ger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 	</a:t>
            </a:r>
            <a:r>
              <a:rPr sz="2400" spc="-5" dirty="0">
                <a:latin typeface="Courier New"/>
                <a:cs typeface="Courier New"/>
              </a:rPr>
              <a:t>thei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am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c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d</a:t>
            </a:r>
            <a:r>
              <a:rPr sz="2400" spc="-5" dirty="0">
                <a:latin typeface="Courier New"/>
                <a:cs typeface="Courier New"/>
              </a:rPr>
              <a:t>etermin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w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l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t</a:t>
            </a:r>
            <a:r>
              <a:rPr sz="2400" spc="-10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oje</a:t>
            </a:r>
            <a:r>
              <a:rPr sz="2400" spc="-5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me</a:t>
            </a:r>
            <a:r>
              <a:rPr sz="2400" spc="20" dirty="0">
                <a:latin typeface="Courier New"/>
                <a:cs typeface="Courier New"/>
              </a:rPr>
              <a:t>etin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 	</a:t>
            </a:r>
            <a:r>
              <a:rPr sz="2400" spc="-5" dirty="0">
                <a:latin typeface="Courier New"/>
                <a:cs typeface="Courier New"/>
              </a:rPr>
              <a:t>goal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scope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time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</a:t>
            </a:r>
            <a:r>
              <a:rPr sz="2400" spc="-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</a:t>
            </a:r>
            <a:r>
              <a:rPr sz="2400" spc="-3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Actual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must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provided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utilize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EVM.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10894695" cy="4163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8255" indent="-228600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EVM</a:t>
            </a:r>
            <a:r>
              <a:rPr sz="2200" spc="-3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considers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calculation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of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three</a:t>
            </a:r>
            <a:r>
              <a:rPr sz="2200" spc="-120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values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for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each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activity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 </a:t>
            </a:r>
            <a:r>
              <a:rPr sz="2200" spc="-10" dirty="0">
                <a:latin typeface="Courier New"/>
                <a:cs typeface="Courier New"/>
              </a:rPr>
              <a:t>summary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activity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from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project’s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WBS.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4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Planned</a:t>
            </a:r>
            <a:r>
              <a:rPr sz="2200" b="1" spc="-14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Value</a:t>
            </a:r>
            <a:r>
              <a:rPr sz="2200" b="1" spc="-14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(PV)</a:t>
            </a:r>
            <a:r>
              <a:rPr sz="2200" b="1" spc="-1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refers</a:t>
            </a:r>
            <a:r>
              <a:rPr sz="2200" spc="-1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1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authorized</a:t>
            </a:r>
            <a:r>
              <a:rPr sz="2200" spc="-21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budget</a:t>
            </a:r>
            <a:endParaRPr sz="22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sanctioned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b="1" dirty="0">
                <a:latin typeface="Courier New"/>
                <a:cs typeface="Courier New"/>
              </a:rPr>
              <a:t>Actual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Cost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(AC)</a:t>
            </a:r>
            <a:r>
              <a:rPr sz="2200" b="1" spc="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refers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to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the</a:t>
            </a:r>
            <a:r>
              <a:rPr sz="2200" spc="-37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realized</a:t>
            </a:r>
            <a:r>
              <a:rPr sz="2200" spc="-31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cost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spent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for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work</a:t>
            </a:r>
            <a:endParaRPr sz="22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060"/>
              </a:spcBef>
            </a:pPr>
            <a:r>
              <a:rPr sz="2200" spc="-10" dirty="0">
                <a:latin typeface="Courier New"/>
                <a:cs typeface="Courier New"/>
              </a:rPr>
              <a:t>performed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activity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during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specified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period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8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Earned</a:t>
            </a:r>
            <a:r>
              <a:rPr sz="2200" b="1" spc="204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Value</a:t>
            </a:r>
            <a:r>
              <a:rPr sz="2200" b="1" spc="2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(EV)</a:t>
            </a:r>
            <a:r>
              <a:rPr sz="2200" b="1" spc="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refers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measure</a:t>
            </a:r>
            <a:r>
              <a:rPr sz="2200" spc="1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1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value</a:t>
            </a:r>
            <a:r>
              <a:rPr sz="2200" spc="229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of</a:t>
            </a:r>
            <a:endParaRPr sz="22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055"/>
              </a:spcBef>
            </a:pPr>
            <a:r>
              <a:rPr sz="2200" spc="-10" dirty="0">
                <a:latin typeface="Courier New"/>
                <a:cs typeface="Courier New"/>
              </a:rPr>
              <a:t>actual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physical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done.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5148" y="1730120"/>
            <a:ext cx="6696456" cy="316992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500321"/>
              </p:ext>
            </p:extLst>
          </p:nvPr>
        </p:nvGraphicFramePr>
        <p:xfrm>
          <a:off x="2330386" y="1720595"/>
          <a:ext cx="6697345" cy="317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3160"/>
                <a:gridCol w="3004185"/>
              </a:tblGrid>
              <a:tr h="4006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3E6DC3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Week</a:t>
                      </a:r>
                      <a:r>
                        <a:rPr sz="2000" b="1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9525">
                      <a:solidFill>
                        <a:srgbClr val="3E6DC3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Earned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(EV)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5000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Planned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(PV)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10000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(AC)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15000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Variance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(CV)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10000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Variance</a:t>
                      </a:r>
                      <a:r>
                        <a:rPr sz="2000" spc="-7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(SV)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5000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r>
                        <a:rPr sz="2000" spc="-9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(CPI)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33%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r>
                        <a:rPr sz="2000" spc="-8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(SPI)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50%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599815" y="5111878"/>
            <a:ext cx="5021580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dirty="0">
                <a:latin typeface="Courier New"/>
                <a:cs typeface="Courier New"/>
              </a:rPr>
              <a:t>Earned</a:t>
            </a:r>
            <a:r>
              <a:rPr sz="1400" spc="-20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Value</a:t>
            </a:r>
            <a:r>
              <a:rPr sz="1400" spc="-14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Calculations</a:t>
            </a:r>
            <a:r>
              <a:rPr sz="1400" spc="-13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for</a:t>
            </a:r>
            <a:r>
              <a:rPr sz="1400" spc="-2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One</a:t>
            </a:r>
            <a:r>
              <a:rPr sz="1400" spc="-14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Activity</a:t>
            </a:r>
            <a:r>
              <a:rPr sz="1400" spc="-9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after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Courier New"/>
                <a:cs typeface="Courier New"/>
              </a:rPr>
              <a:t>Week</a:t>
            </a:r>
            <a:r>
              <a:rPr sz="1400" spc="-400" dirty="0"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1.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304" y="1690751"/>
            <a:ext cx="7936992" cy="316992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705486"/>
              </p:ext>
            </p:extLst>
          </p:nvPr>
        </p:nvGraphicFramePr>
        <p:xfrm>
          <a:off x="2046541" y="1681226"/>
          <a:ext cx="7936865" cy="317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6420"/>
                <a:gridCol w="3560445"/>
              </a:tblGrid>
              <a:tr h="400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3E6DC3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Formula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9525">
                      <a:solidFill>
                        <a:srgbClr val="3E6DC3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Earned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(EV)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EV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PV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completed</a:t>
                      </a:r>
                      <a:r>
                        <a:rPr sz="2000" spc="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work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variance</a:t>
                      </a:r>
                      <a:r>
                        <a:rPr sz="2000" spc="-6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(CV)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CV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EV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AC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variance</a:t>
                      </a:r>
                      <a:r>
                        <a:rPr sz="20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(SV)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SV</a:t>
                      </a:r>
                      <a:r>
                        <a:rPr sz="20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EV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PV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r>
                        <a:rPr sz="2000" spc="-8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(CPI)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CPI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EV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r>
                        <a:rPr sz="2000" spc="-7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(SPI)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SPI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 EV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PV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2000" spc="-7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completion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(EAC)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EAC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BAC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CPI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Estimated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Complete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(ETC)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ETC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EAC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3E6DC3"/>
                      </a:solidFill>
                      <a:prstDash val="solid"/>
                    </a:lnL>
                    <a:lnR w="9525">
                      <a:solidFill>
                        <a:srgbClr val="3E6DC3"/>
                      </a:solidFill>
                      <a:prstDash val="solid"/>
                    </a:lnR>
                    <a:lnT w="9525">
                      <a:solidFill>
                        <a:srgbClr val="3E6DC3"/>
                      </a:solidFill>
                      <a:prstDash val="solid"/>
                    </a:lnT>
                    <a:lnB w="9525">
                      <a:solidFill>
                        <a:srgbClr val="3E6DC3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608957" y="5227446"/>
            <a:ext cx="21551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Courier New"/>
                <a:cs typeface="Courier New"/>
              </a:rPr>
              <a:t>Earned</a:t>
            </a:r>
            <a:r>
              <a:rPr sz="1400" spc="-37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Value</a:t>
            </a:r>
            <a:r>
              <a:rPr sz="1400" spc="-4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Formulas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926717"/>
            <a:ext cx="11862435" cy="4916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49095" indent="-26797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649095" algn="l"/>
              </a:tabLst>
            </a:pPr>
            <a:r>
              <a:rPr sz="2000" b="1" dirty="0">
                <a:latin typeface="Courier New"/>
                <a:cs typeface="Courier New"/>
              </a:rPr>
              <a:t>Cost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Variance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(CV)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earned</a:t>
            </a:r>
            <a:r>
              <a:rPr sz="2000" spc="-65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value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minus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actual</a:t>
            </a:r>
            <a:r>
              <a:rPr sz="2000" spc="-6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cost.</a:t>
            </a:r>
            <a:endParaRPr sz="2000" dirty="0">
              <a:latin typeface="Courier New"/>
              <a:cs typeface="Courier New"/>
            </a:endParaRPr>
          </a:p>
          <a:p>
            <a:pPr marL="1649095" indent="-267970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1649095" algn="l"/>
              </a:tabLst>
            </a:pPr>
            <a:r>
              <a:rPr sz="2000" b="1" dirty="0">
                <a:latin typeface="Courier New"/>
                <a:cs typeface="Courier New"/>
              </a:rPr>
              <a:t>Schedule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Variance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(SV)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is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</a:t>
            </a:r>
            <a:r>
              <a:rPr sz="2000" spc="-65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earned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value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minus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planned</a:t>
            </a:r>
            <a:r>
              <a:rPr sz="2000" spc="-6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value.</a:t>
            </a:r>
            <a:endParaRPr sz="2000" dirty="0">
              <a:latin typeface="Courier New"/>
              <a:cs typeface="Courier New"/>
            </a:endParaRPr>
          </a:p>
          <a:p>
            <a:pPr marL="1649095" indent="-26797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1649095" algn="l"/>
              </a:tabLst>
            </a:pPr>
            <a:r>
              <a:rPr sz="2000" b="1" dirty="0">
                <a:latin typeface="Courier New"/>
                <a:cs typeface="Courier New"/>
              </a:rPr>
              <a:t>Cost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Performance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Index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(CPI)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refers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1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9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ratio</a:t>
            </a:r>
            <a:r>
              <a:rPr sz="2000" spc="-1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earned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value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to</a:t>
            </a:r>
            <a:endParaRPr sz="2000" dirty="0">
              <a:latin typeface="Courier New"/>
              <a:cs typeface="Courier New"/>
            </a:endParaRPr>
          </a:p>
          <a:p>
            <a:pPr marL="1649095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actual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cost.</a:t>
            </a:r>
            <a:endParaRPr sz="2000" dirty="0">
              <a:latin typeface="Courier New"/>
              <a:cs typeface="Courier New"/>
            </a:endParaRPr>
          </a:p>
          <a:p>
            <a:pPr marL="1649095" marR="65405" indent="-268605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1649095" algn="l"/>
              </a:tabLst>
            </a:pPr>
            <a:r>
              <a:rPr sz="2000" b="1" dirty="0">
                <a:latin typeface="Courier New"/>
                <a:cs typeface="Courier New"/>
              </a:rPr>
              <a:t>Schedule</a:t>
            </a:r>
            <a:r>
              <a:rPr sz="2000" b="1" spc="-1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Performance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Index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(SPI)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refers</a:t>
            </a:r>
            <a:r>
              <a:rPr sz="2000" spc="-3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the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ratio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of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earned</a:t>
            </a:r>
            <a:r>
              <a:rPr sz="2000" spc="-16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value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planned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value.</a:t>
            </a:r>
            <a:endParaRPr sz="2000" dirty="0">
              <a:latin typeface="Courier New"/>
              <a:cs typeface="Courier New"/>
            </a:endParaRPr>
          </a:p>
          <a:p>
            <a:pPr marL="1649095" indent="-267970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1649095" algn="l"/>
              </a:tabLst>
            </a:pPr>
            <a:r>
              <a:rPr sz="2000" b="1" dirty="0">
                <a:latin typeface="Courier New"/>
                <a:cs typeface="Courier New"/>
              </a:rPr>
              <a:t>Estimate</a:t>
            </a:r>
            <a:r>
              <a:rPr sz="2000" b="1" spc="-10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at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Completion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(EAC)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provides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estimated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cost</a:t>
            </a:r>
            <a:r>
              <a:rPr sz="2000" spc="-26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of</a:t>
            </a:r>
            <a:r>
              <a:rPr sz="2000" spc="-3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completing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a</a:t>
            </a:r>
            <a:endParaRPr sz="2000" dirty="0">
              <a:latin typeface="Courier New"/>
              <a:cs typeface="Courier New"/>
            </a:endParaRPr>
          </a:p>
          <a:p>
            <a:pPr marL="1649095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based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on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performance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date.</a:t>
            </a:r>
            <a:endParaRPr sz="2000" dirty="0">
              <a:latin typeface="Courier New"/>
              <a:cs typeface="Courier New"/>
            </a:endParaRPr>
          </a:p>
          <a:p>
            <a:pPr marL="1649095" indent="-26797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1649095" algn="l"/>
              </a:tabLst>
            </a:pPr>
            <a:r>
              <a:rPr sz="2000" b="1" spc="-20" dirty="0">
                <a:latin typeface="Courier New"/>
                <a:cs typeface="Courier New"/>
              </a:rPr>
              <a:t>To-</a:t>
            </a:r>
            <a:r>
              <a:rPr sz="2000" b="1" dirty="0">
                <a:latin typeface="Courier New"/>
                <a:cs typeface="Courier New"/>
              </a:rPr>
              <a:t>Complete</a:t>
            </a:r>
            <a:r>
              <a:rPr sz="2000" b="1" spc="-24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Performance</a:t>
            </a:r>
            <a:r>
              <a:rPr sz="2000" b="1" spc="-24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Index</a:t>
            </a:r>
            <a:r>
              <a:rPr sz="2000" b="1" spc="-24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(TCPI)</a:t>
            </a:r>
            <a:r>
              <a:rPr sz="2000" b="1" spc="-24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2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32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measure</a:t>
            </a:r>
            <a:r>
              <a:rPr sz="2000" spc="-2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27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229" dirty="0">
                <a:latin typeface="Courier New"/>
                <a:cs typeface="Courier New"/>
              </a:rPr>
              <a:t>  </a:t>
            </a:r>
            <a:r>
              <a:rPr sz="2000" spc="-20" dirty="0">
                <a:latin typeface="Courier New"/>
                <a:cs typeface="Courier New"/>
              </a:rPr>
              <a:t>cost</a:t>
            </a:r>
            <a:endParaRPr sz="2000" dirty="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  <a:spcBef>
                <a:spcPts val="1830"/>
              </a:spcBef>
            </a:pP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Presentation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spc="-245" dirty="0">
                <a:latin typeface="Arial MT"/>
                <a:cs typeface="Arial MT"/>
              </a:rPr>
              <a:t>i</a:t>
            </a:r>
            <a:r>
              <a:rPr sz="3000" spc="-1410" baseline="23611" dirty="0">
                <a:latin typeface="Courier New"/>
                <a:cs typeface="Courier New"/>
              </a:rPr>
              <a:t>p</a:t>
            </a:r>
            <a:r>
              <a:rPr sz="1200" spc="-5" dirty="0">
                <a:latin typeface="Arial MT"/>
                <a:cs typeface="Arial MT"/>
              </a:rPr>
              <a:t>nl</a:t>
            </a:r>
            <a:r>
              <a:rPr sz="3000" spc="-1777" baseline="23611" dirty="0">
                <a:latin typeface="Courier New"/>
                <a:cs typeface="Courier New"/>
              </a:rPr>
              <a:t>e</a:t>
            </a:r>
            <a:r>
              <a:rPr sz="1200" dirty="0">
                <a:latin typeface="Arial MT"/>
                <a:cs typeface="Arial MT"/>
              </a:rPr>
              <a:t>y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spc="-420" dirty="0">
                <a:latin typeface="Arial MT"/>
                <a:cs typeface="Arial MT"/>
              </a:rPr>
              <a:t>d</a:t>
            </a:r>
            <a:r>
              <a:rPr sz="3000" spc="-1214" baseline="23611" dirty="0">
                <a:latin typeface="Courier New"/>
                <a:cs typeface="Courier New"/>
              </a:rPr>
              <a:t>r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spc="-560" dirty="0">
                <a:latin typeface="Arial MT"/>
                <a:cs typeface="Arial MT"/>
              </a:rPr>
              <a:t>p</a:t>
            </a:r>
            <a:r>
              <a:rPr sz="3000" spc="-1005" baseline="23611" dirty="0">
                <a:latin typeface="Courier New"/>
                <a:cs typeface="Courier New"/>
              </a:rPr>
              <a:t>f</a:t>
            </a:r>
            <a:r>
              <a:rPr sz="1200" spc="-30" dirty="0">
                <a:latin typeface="Arial MT"/>
                <a:cs typeface="Arial MT"/>
              </a:rPr>
              <a:t>e</a:t>
            </a:r>
            <a:r>
              <a:rPr sz="3000" spc="-1800" baseline="23611" dirty="0">
                <a:latin typeface="Courier New"/>
                <a:cs typeface="Courier New"/>
              </a:rPr>
              <a:t>o</a:t>
            </a:r>
            <a:r>
              <a:rPr sz="1200" spc="-15" dirty="0">
                <a:latin typeface="Arial MT"/>
                <a:cs typeface="Arial MT"/>
              </a:rPr>
              <a:t>n</a:t>
            </a:r>
            <a:r>
              <a:rPr sz="1200" spc="-175" dirty="0">
                <a:latin typeface="Arial MT"/>
                <a:cs typeface="Arial MT"/>
              </a:rPr>
              <a:t>d</a:t>
            </a:r>
            <a:r>
              <a:rPr sz="3000" spc="-1582" baseline="23611" dirty="0">
                <a:latin typeface="Courier New"/>
                <a:cs typeface="Courier New"/>
              </a:rPr>
              <a:t>r</a:t>
            </a:r>
            <a:r>
              <a:rPr sz="1200" spc="-15" dirty="0">
                <a:latin typeface="Arial MT"/>
                <a:cs typeface="Arial MT"/>
              </a:rPr>
              <a:t>e</a:t>
            </a:r>
            <a:r>
              <a:rPr sz="1200" spc="-315" dirty="0">
                <a:latin typeface="Arial MT"/>
                <a:cs typeface="Arial MT"/>
              </a:rPr>
              <a:t>n</a:t>
            </a:r>
            <a:r>
              <a:rPr sz="3000" spc="-1364" baseline="23611" dirty="0">
                <a:latin typeface="Courier New"/>
                <a:cs typeface="Courier New"/>
              </a:rPr>
              <a:t>m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390" dirty="0">
                <a:latin typeface="Arial MT"/>
                <a:cs typeface="Arial MT"/>
              </a:rPr>
              <a:t>o</a:t>
            </a:r>
            <a:r>
              <a:rPr sz="3000" spc="-1260" baseline="23611" dirty="0">
                <a:latin typeface="Courier New"/>
                <a:cs typeface="Courier New"/>
              </a:rPr>
              <a:t>a</a:t>
            </a:r>
            <a:r>
              <a:rPr sz="1200" spc="-10" dirty="0">
                <a:latin typeface="Arial MT"/>
                <a:cs typeface="Arial MT"/>
              </a:rPr>
              <a:t>n</a:t>
            </a:r>
            <a:r>
              <a:rPr sz="1200" spc="-155" dirty="0">
                <a:latin typeface="Arial MT"/>
                <a:cs typeface="Arial MT"/>
              </a:rPr>
              <a:t> </a:t>
            </a:r>
            <a:r>
              <a:rPr sz="3000" spc="-1582" baseline="23611" dirty="0">
                <a:latin typeface="Courier New"/>
                <a:cs typeface="Courier New"/>
              </a:rPr>
              <a:t>n</a:t>
            </a:r>
            <a:r>
              <a:rPr sz="1200" spc="-15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h</a:t>
            </a:r>
            <a:r>
              <a:rPr sz="1200" spc="-645" dirty="0">
                <a:latin typeface="Arial MT"/>
                <a:cs typeface="Arial MT"/>
              </a:rPr>
              <a:t>e</a:t>
            </a:r>
            <a:r>
              <a:rPr sz="3000" spc="-382" baseline="23611" dirty="0">
                <a:latin typeface="Courier New"/>
                <a:cs typeface="Courier New"/>
              </a:rPr>
              <a:t>c</a:t>
            </a:r>
            <a:r>
              <a:rPr sz="1200" spc="-100" dirty="0">
                <a:latin typeface="Arial MT"/>
                <a:cs typeface="Arial MT"/>
              </a:rPr>
              <a:t>t</a:t>
            </a:r>
            <a:r>
              <a:rPr sz="3000" spc="-1695" baseline="23611" dirty="0">
                <a:latin typeface="Courier New"/>
                <a:cs typeface="Courier New"/>
              </a:rPr>
              <a:t>e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spc="-35" dirty="0">
                <a:latin typeface="Arial MT"/>
                <a:cs typeface="Arial MT"/>
              </a:rPr>
              <a:t>x</a:t>
            </a:r>
            <a:r>
              <a:rPr sz="1200" spc="-15" dirty="0">
                <a:latin typeface="Arial MT"/>
                <a:cs typeface="Arial MT"/>
              </a:rPr>
              <a:t>t</a:t>
            </a:r>
            <a:r>
              <a:rPr sz="1200" spc="-395" dirty="0">
                <a:latin typeface="Arial MT"/>
                <a:cs typeface="Arial MT"/>
              </a:rPr>
              <a:t>b</a:t>
            </a:r>
            <a:r>
              <a:rPr sz="3000" spc="-1230" baseline="23611" dirty="0">
                <a:latin typeface="Courier New"/>
                <a:cs typeface="Courier New"/>
              </a:rPr>
              <a:t>t</a:t>
            </a:r>
            <a:r>
              <a:rPr sz="1200" spc="-10" dirty="0">
                <a:latin typeface="Arial MT"/>
                <a:cs typeface="Arial MT"/>
              </a:rPr>
              <a:t>o</a:t>
            </a:r>
            <a:r>
              <a:rPr sz="1200" spc="-610" dirty="0">
                <a:latin typeface="Arial MT"/>
                <a:cs typeface="Arial MT"/>
              </a:rPr>
              <a:t>o</a:t>
            </a:r>
            <a:r>
              <a:rPr sz="3000" spc="-907" baseline="23611" dirty="0">
                <a:latin typeface="Courier New"/>
                <a:cs typeface="Courier New"/>
              </a:rPr>
              <a:t>h</a:t>
            </a:r>
            <a:r>
              <a:rPr sz="1200" spc="-65" dirty="0">
                <a:latin typeface="Arial MT"/>
                <a:cs typeface="Arial MT"/>
              </a:rPr>
              <a:t>k</a:t>
            </a:r>
            <a:r>
              <a:rPr sz="3000" spc="-1739" baseline="23611" dirty="0">
                <a:latin typeface="Courier New"/>
                <a:cs typeface="Courier New"/>
              </a:rPr>
              <a:t>a</a:t>
            </a:r>
            <a:r>
              <a:rPr sz="1200" spc="-5" dirty="0">
                <a:latin typeface="Arial MT"/>
                <a:cs typeface="Arial MT"/>
              </a:rPr>
              <a:t>: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</a:t>
            </a:r>
            <a:r>
              <a:rPr sz="1200" spc="-600" dirty="0">
                <a:latin typeface="Arial MT"/>
                <a:cs typeface="Arial MT"/>
              </a:rPr>
              <a:t>n</a:t>
            </a:r>
            <a:r>
              <a:rPr sz="3000" spc="-937" baseline="23611" dirty="0">
                <a:latin typeface="Courier New"/>
                <a:cs typeface="Courier New"/>
              </a:rPr>
              <a:t>t</a:t>
            </a:r>
            <a:r>
              <a:rPr sz="1200" spc="-20" dirty="0">
                <a:latin typeface="Arial MT"/>
                <a:cs typeface="Arial MT"/>
              </a:rPr>
              <a:t>f</a:t>
            </a:r>
            <a:r>
              <a:rPr sz="1200" spc="-10" dirty="0">
                <a:latin typeface="Arial MT"/>
                <a:cs typeface="Arial MT"/>
              </a:rPr>
              <a:t>o</a:t>
            </a:r>
            <a:r>
              <a:rPr sz="1200" spc="-90" dirty="0">
                <a:latin typeface="Arial MT"/>
                <a:cs typeface="Arial MT"/>
              </a:rPr>
              <a:t>r</a:t>
            </a:r>
            <a:r>
              <a:rPr sz="3000" spc="-1710" baseline="23611" dirty="0">
                <a:latin typeface="Courier New"/>
                <a:cs typeface="Courier New"/>
              </a:rPr>
              <a:t>m</a:t>
            </a:r>
            <a:r>
              <a:rPr sz="1200" spc="-55" dirty="0">
                <a:latin typeface="Arial MT"/>
                <a:cs typeface="Arial MT"/>
              </a:rPr>
              <a:t>m</a:t>
            </a:r>
            <a:r>
              <a:rPr sz="1200" spc="-595" dirty="0">
                <a:latin typeface="Arial MT"/>
                <a:cs typeface="Arial MT"/>
              </a:rPr>
              <a:t>a</a:t>
            </a:r>
            <a:r>
              <a:rPr sz="3000" spc="-952" baseline="23611" dirty="0">
                <a:latin typeface="Courier New"/>
                <a:cs typeface="Courier New"/>
              </a:rPr>
              <a:t>u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-50" dirty="0">
                <a:latin typeface="Arial MT"/>
                <a:cs typeface="Arial MT"/>
              </a:rPr>
              <a:t>i</a:t>
            </a:r>
            <a:r>
              <a:rPr sz="3000" spc="-1747" baseline="23611" dirty="0">
                <a:latin typeface="Courier New"/>
                <a:cs typeface="Courier New"/>
              </a:rPr>
              <a:t>s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235" dirty="0">
                <a:latin typeface="Arial MT"/>
                <a:cs typeface="Arial MT"/>
              </a:rPr>
              <a:t>n</a:t>
            </a:r>
            <a:r>
              <a:rPr sz="3000" spc="-1019" baseline="23611" dirty="0">
                <a:latin typeface="Courier New"/>
                <a:cs typeface="Courier New"/>
              </a:rPr>
              <a:t>t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spc="-10" dirty="0">
                <a:latin typeface="Arial MT"/>
                <a:cs typeface="Arial MT"/>
              </a:rPr>
              <a:t>e</a:t>
            </a:r>
            <a:r>
              <a:rPr sz="1200" spc="-400" dirty="0">
                <a:latin typeface="Arial MT"/>
                <a:cs typeface="Arial MT"/>
              </a:rPr>
              <a:t>c</a:t>
            </a:r>
            <a:r>
              <a:rPr sz="3000" spc="-1245" baseline="23611" dirty="0">
                <a:latin typeface="Courier New"/>
                <a:cs typeface="Courier New"/>
              </a:rPr>
              <a:t>b</a:t>
            </a:r>
            <a:r>
              <a:rPr sz="1200" spc="-15" dirty="0">
                <a:latin typeface="Arial MT"/>
                <a:cs typeface="Arial MT"/>
              </a:rPr>
              <a:t>h</a:t>
            </a:r>
            <a:r>
              <a:rPr sz="1200" spc="-540" dirty="0">
                <a:latin typeface="Arial MT"/>
                <a:cs typeface="Arial MT"/>
              </a:rPr>
              <a:t>n</a:t>
            </a:r>
            <a:r>
              <a:rPr sz="3000" spc="-1035" baseline="23611" dirty="0">
                <a:latin typeface="Courier New"/>
                <a:cs typeface="Courier New"/>
              </a:rPr>
              <a:t>e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10" dirty="0">
                <a:latin typeface="Arial MT"/>
                <a:cs typeface="Arial MT"/>
              </a:rPr>
              <a:t>l</a:t>
            </a:r>
            <a:r>
              <a:rPr sz="1200" spc="-225" dirty="0">
                <a:latin typeface="Arial MT"/>
                <a:cs typeface="Arial MT"/>
              </a:rPr>
              <a:t>o</a:t>
            </a:r>
            <a:r>
              <a:rPr sz="3000" spc="-1507" baseline="23611" dirty="0">
                <a:latin typeface="Courier New"/>
                <a:cs typeface="Courier New"/>
              </a:rPr>
              <a:t>a</a:t>
            </a:r>
            <a:r>
              <a:rPr sz="1200" spc="-30" dirty="0">
                <a:latin typeface="Arial MT"/>
                <a:cs typeface="Arial MT"/>
              </a:rPr>
              <a:t>g</a:t>
            </a:r>
            <a:r>
              <a:rPr sz="1200" spc="-350" dirty="0">
                <a:latin typeface="Arial MT"/>
                <a:cs typeface="Arial MT"/>
              </a:rPr>
              <a:t>y</a:t>
            </a:r>
            <a:r>
              <a:rPr sz="3000" spc="-1320" baseline="23611" dirty="0">
                <a:latin typeface="Courier New"/>
                <a:cs typeface="Courier New"/>
              </a:rPr>
              <a:t>c</a:t>
            </a:r>
            <a:r>
              <a:rPr sz="1200" spc="-10" dirty="0">
                <a:latin typeface="Arial MT"/>
                <a:cs typeface="Arial MT"/>
              </a:rPr>
              <a:t>: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615" dirty="0">
                <a:latin typeface="Arial MT"/>
                <a:cs typeface="Arial MT"/>
              </a:rPr>
              <a:t>P</a:t>
            </a:r>
            <a:r>
              <a:rPr sz="3000" spc="-937" baseline="23611" dirty="0">
                <a:latin typeface="Courier New"/>
                <a:cs typeface="Courier New"/>
              </a:rPr>
              <a:t>h</a:t>
            </a:r>
            <a:r>
              <a:rPr sz="1200" spc="-5" dirty="0">
                <a:latin typeface="Arial MT"/>
                <a:cs typeface="Arial MT"/>
              </a:rPr>
              <a:t>r</a:t>
            </a:r>
            <a:r>
              <a:rPr sz="1200" spc="-505" dirty="0">
                <a:latin typeface="Arial MT"/>
                <a:cs typeface="Arial MT"/>
              </a:rPr>
              <a:t>o</a:t>
            </a:r>
            <a:r>
              <a:rPr sz="3000" spc="-1087" baseline="23611" dirty="0">
                <a:latin typeface="Courier New"/>
                <a:cs typeface="Courier New"/>
              </a:rPr>
              <a:t>i</a:t>
            </a:r>
            <a:r>
              <a:rPr sz="1200" spc="-35" dirty="0">
                <a:latin typeface="Arial MT"/>
                <a:cs typeface="Arial MT"/>
              </a:rPr>
              <a:t>j</a:t>
            </a:r>
            <a:r>
              <a:rPr sz="1200" spc="-220" dirty="0">
                <a:latin typeface="Arial MT"/>
                <a:cs typeface="Arial MT"/>
              </a:rPr>
              <a:t>e</a:t>
            </a:r>
            <a:r>
              <a:rPr sz="3000" spc="-1514" baseline="23611" dirty="0">
                <a:latin typeface="Courier New"/>
                <a:cs typeface="Courier New"/>
              </a:rPr>
              <a:t>e</a:t>
            </a:r>
            <a:r>
              <a:rPr sz="1200" spc="-10" dirty="0">
                <a:latin typeface="Arial MT"/>
                <a:cs typeface="Arial MT"/>
              </a:rPr>
              <a:t>c</a:t>
            </a:r>
            <a:r>
              <a:rPr sz="1200" spc="45" dirty="0">
                <a:latin typeface="Arial MT"/>
                <a:cs typeface="Arial MT"/>
              </a:rPr>
              <a:t>t</a:t>
            </a:r>
            <a:r>
              <a:rPr sz="3000" spc="-1372" baseline="23611" dirty="0">
                <a:latin typeface="Courier New"/>
                <a:cs typeface="Courier New"/>
              </a:rPr>
              <a:t>v</a:t>
            </a:r>
            <a:r>
              <a:rPr sz="1200" spc="-120" dirty="0">
                <a:latin typeface="Arial MT"/>
                <a:cs typeface="Arial MT"/>
              </a:rPr>
              <a:t>m</a:t>
            </a:r>
            <a:r>
              <a:rPr sz="3000" spc="-1732" baseline="23611" dirty="0">
                <a:latin typeface="Courier New"/>
                <a:cs typeface="Courier New"/>
              </a:rPr>
              <a:t>e</a:t>
            </a:r>
            <a:r>
              <a:rPr sz="1200" spc="-15" dirty="0">
                <a:latin typeface="Arial MT"/>
                <a:cs typeface="Arial MT"/>
              </a:rPr>
              <a:t>a</a:t>
            </a:r>
            <a:r>
              <a:rPr sz="1200" spc="-215" dirty="0">
                <a:latin typeface="Arial MT"/>
                <a:cs typeface="Arial MT"/>
              </a:rPr>
              <a:t>n</a:t>
            </a:r>
            <a:r>
              <a:rPr sz="3000" spc="-1514" baseline="23611" dirty="0">
                <a:latin typeface="Courier New"/>
                <a:cs typeface="Courier New"/>
              </a:rPr>
              <a:t>d</a:t>
            </a:r>
            <a:r>
              <a:rPr sz="1200" spc="-15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g</a:t>
            </a:r>
            <a:r>
              <a:rPr sz="1200" spc="-305" dirty="0">
                <a:latin typeface="Arial MT"/>
                <a:cs typeface="Arial MT"/>
              </a:rPr>
              <a:t>e</a:t>
            </a:r>
            <a:r>
              <a:rPr sz="3000" spc="-1387" baseline="23611" dirty="0">
                <a:latin typeface="Courier New"/>
                <a:cs typeface="Courier New"/>
              </a:rPr>
              <a:t>w</a:t>
            </a:r>
            <a:r>
              <a:rPr sz="1200" spc="-180" dirty="0">
                <a:latin typeface="Arial MT"/>
                <a:cs typeface="Arial MT"/>
              </a:rPr>
              <a:t>m</a:t>
            </a:r>
            <a:r>
              <a:rPr sz="3000" spc="-1642" baseline="23611" dirty="0">
                <a:latin typeface="Courier New"/>
                <a:cs typeface="Courier New"/>
              </a:rPr>
              <a:t>i</a:t>
            </a:r>
            <a:r>
              <a:rPr sz="1200" spc="-15" dirty="0">
                <a:latin typeface="Arial MT"/>
                <a:cs typeface="Arial MT"/>
              </a:rPr>
              <a:t>e</a:t>
            </a:r>
            <a:r>
              <a:rPr sz="1200" spc="-325" dirty="0">
                <a:latin typeface="Arial MT"/>
                <a:cs typeface="Arial MT"/>
              </a:rPr>
              <a:t>n</a:t>
            </a:r>
            <a:r>
              <a:rPr sz="3000" spc="-1350" baseline="23611" dirty="0">
                <a:latin typeface="Courier New"/>
                <a:cs typeface="Courier New"/>
              </a:rPr>
              <a:t>t</a:t>
            </a:r>
            <a:r>
              <a:rPr sz="1200" spc="-10" dirty="0">
                <a:latin typeface="Arial MT"/>
                <a:cs typeface="Arial MT"/>
              </a:rPr>
              <a:t>t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-225" dirty="0">
                <a:latin typeface="Arial MT"/>
                <a:cs typeface="Arial MT"/>
              </a:rPr>
              <a:t>(</a:t>
            </a:r>
            <a:r>
              <a:rPr sz="3000" spc="-1477" baseline="23611" dirty="0">
                <a:latin typeface="Courier New"/>
                <a:cs typeface="Courier New"/>
              </a:rPr>
              <a:t>h</a:t>
            </a:r>
            <a:r>
              <a:rPr sz="1200" spc="-10" dirty="0">
                <a:latin typeface="Arial MT"/>
                <a:cs typeface="Arial MT"/>
              </a:rPr>
              <a:t>9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dirty="0">
                <a:latin typeface="Arial MT"/>
                <a:cs typeface="Arial MT"/>
              </a:rPr>
              <a:t>h</a:t>
            </a:r>
            <a:r>
              <a:rPr sz="3000" spc="-1372" baseline="23611" dirty="0">
                <a:latin typeface="Courier New"/>
                <a:cs typeface="Courier New"/>
              </a:rPr>
              <a:t>t</a:t>
            </a:r>
            <a:r>
              <a:rPr sz="1200" spc="-15" dirty="0">
                <a:latin typeface="Arial MT"/>
                <a:cs typeface="Arial MT"/>
              </a:rPr>
              <a:t>e</a:t>
            </a:r>
            <a:r>
              <a:rPr sz="1200" spc="-525" dirty="0">
                <a:latin typeface="Arial MT"/>
                <a:cs typeface="Arial MT"/>
              </a:rPr>
              <a:t>d</a:t>
            </a:r>
            <a:r>
              <a:rPr sz="3000" spc="-1050" baseline="23611" dirty="0">
                <a:latin typeface="Courier New"/>
                <a:cs typeface="Courier New"/>
              </a:rPr>
              <a:t>h</a:t>
            </a:r>
            <a:r>
              <a:rPr sz="1200" spc="10" dirty="0">
                <a:latin typeface="Arial MT"/>
                <a:cs typeface="Arial MT"/>
              </a:rPr>
              <a:t>i</a:t>
            </a:r>
            <a:r>
              <a:rPr sz="1200" spc="-20" dirty="0">
                <a:latin typeface="Arial MT"/>
                <a:cs typeface="Arial MT"/>
              </a:rPr>
              <a:t>t</a:t>
            </a:r>
            <a:r>
              <a:rPr sz="1200" spc="-265" dirty="0">
                <a:latin typeface="Arial MT"/>
                <a:cs typeface="Arial MT"/>
              </a:rPr>
              <a:t>i</a:t>
            </a:r>
            <a:r>
              <a:rPr sz="3000" spc="-1417" baseline="23611" dirty="0">
                <a:latin typeface="Courier New"/>
                <a:cs typeface="Courier New"/>
              </a:rPr>
              <a:t>e</a:t>
            </a:r>
            <a:r>
              <a:rPr sz="1200" spc="-15" dirty="0">
                <a:latin typeface="Arial MT"/>
                <a:cs typeface="Arial MT"/>
              </a:rPr>
              <a:t>o</a:t>
            </a:r>
            <a:r>
              <a:rPr sz="1200" spc="-5" dirty="0">
                <a:latin typeface="Arial MT"/>
                <a:cs typeface="Arial MT"/>
              </a:rPr>
              <a:t>n</a:t>
            </a:r>
            <a:r>
              <a:rPr sz="1200" spc="-110" dirty="0">
                <a:latin typeface="Arial MT"/>
                <a:cs typeface="Arial MT"/>
              </a:rPr>
              <a:t>)</a:t>
            </a:r>
            <a:r>
              <a:rPr sz="3000" spc="-1297" baseline="23611" dirty="0">
                <a:latin typeface="Courier New"/>
                <a:cs typeface="Courier New"/>
              </a:rPr>
              <a:t>r</a:t>
            </a:r>
            <a:r>
              <a:rPr sz="1200" spc="-25" dirty="0">
                <a:latin typeface="Arial MT"/>
                <a:cs typeface="Arial MT"/>
              </a:rPr>
              <a:t>b</a:t>
            </a:r>
            <a:r>
              <a:rPr sz="3000" spc="-1814" baseline="23611" dirty="0">
                <a:latin typeface="Courier New"/>
                <a:cs typeface="Courier New"/>
              </a:rPr>
              <a:t>e</a:t>
            </a:r>
            <a:r>
              <a:rPr sz="1200" spc="-10" dirty="0">
                <a:latin typeface="Arial MT"/>
                <a:cs typeface="Arial MT"/>
              </a:rPr>
              <a:t>y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spc="-570" dirty="0">
                <a:latin typeface="Arial MT"/>
                <a:cs typeface="Arial MT"/>
              </a:rPr>
              <a:t>S</a:t>
            </a:r>
            <a:r>
              <a:rPr sz="3000" spc="-1005" baseline="23611" dirty="0">
                <a:latin typeface="Courier New"/>
                <a:cs typeface="Courier New"/>
              </a:rPr>
              <a:t>m</a:t>
            </a:r>
            <a:r>
              <a:rPr sz="1200" spc="-15" dirty="0">
                <a:latin typeface="Arial MT"/>
                <a:cs typeface="Arial MT"/>
              </a:rPr>
              <a:t>c</a:t>
            </a:r>
            <a:r>
              <a:rPr sz="1200" spc="-630" dirty="0">
                <a:latin typeface="Arial MT"/>
                <a:cs typeface="Arial MT"/>
              </a:rPr>
              <a:t>h</a:t>
            </a:r>
            <a:r>
              <a:rPr sz="3000" spc="-907" baseline="23611" dirty="0">
                <a:latin typeface="Courier New"/>
                <a:cs typeface="Courier New"/>
              </a:rPr>
              <a:t>a</a:t>
            </a:r>
            <a:r>
              <a:rPr sz="1200" spc="-300" dirty="0">
                <a:latin typeface="Arial MT"/>
                <a:cs typeface="Arial MT"/>
              </a:rPr>
              <a:t>w</a:t>
            </a:r>
            <a:r>
              <a:rPr sz="3000" spc="-1432" baseline="23611" dirty="0">
                <a:latin typeface="Courier New"/>
                <a:cs typeface="Courier New"/>
              </a:rPr>
              <a:t>i</a:t>
            </a:r>
            <a:r>
              <a:rPr sz="1200" spc="-15" dirty="0">
                <a:latin typeface="Arial MT"/>
                <a:cs typeface="Arial MT"/>
              </a:rPr>
              <a:t>a</a:t>
            </a:r>
            <a:r>
              <a:rPr sz="1200" spc="-5" dirty="0">
                <a:latin typeface="Arial MT"/>
                <a:cs typeface="Arial MT"/>
              </a:rPr>
              <a:t>l</a:t>
            </a:r>
            <a:r>
              <a:rPr sz="3000" spc="-1807" baseline="23611" dirty="0">
                <a:latin typeface="Courier New"/>
                <a:cs typeface="Courier New"/>
              </a:rPr>
              <a:t>n</a:t>
            </a:r>
            <a:r>
              <a:rPr sz="1200" spc="-15" dirty="0">
                <a:latin typeface="Arial MT"/>
                <a:cs typeface="Arial MT"/>
              </a:rPr>
              <a:t>b</a:t>
            </a:r>
            <a:r>
              <a:rPr sz="1200" spc="-170" dirty="0">
                <a:latin typeface="Arial MT"/>
                <a:cs typeface="Arial MT"/>
              </a:rPr>
              <a:t>e</a:t>
            </a:r>
            <a:r>
              <a:rPr sz="3000" spc="-1589" baseline="23611" dirty="0">
                <a:latin typeface="Courier New"/>
                <a:cs typeface="Courier New"/>
              </a:rPr>
              <a:t>i</a:t>
            </a:r>
            <a:r>
              <a:rPr sz="1200" spc="-10" dirty="0">
                <a:latin typeface="Arial MT"/>
                <a:cs typeface="Arial MT"/>
              </a:rPr>
              <a:t>,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spc="-425" dirty="0">
                <a:latin typeface="Arial MT"/>
                <a:cs typeface="Arial MT"/>
              </a:rPr>
              <a:t>K</a:t>
            </a:r>
            <a:r>
              <a:rPr sz="3000" spc="-1207" baseline="23611" dirty="0">
                <a:latin typeface="Courier New"/>
                <a:cs typeface="Courier New"/>
              </a:rPr>
              <a:t>n</a:t>
            </a:r>
            <a:r>
              <a:rPr sz="1200" spc="-5" dirty="0">
                <a:latin typeface="Arial MT"/>
                <a:cs typeface="Arial MT"/>
              </a:rPr>
              <a:t>.</a:t>
            </a:r>
            <a:r>
              <a:rPr sz="1200" spc="200" dirty="0">
                <a:latin typeface="Arial MT"/>
                <a:cs typeface="Arial MT"/>
              </a:rPr>
              <a:t> </a:t>
            </a:r>
            <a:r>
              <a:rPr sz="3000" spc="-30" baseline="23611" dirty="0">
                <a:latin typeface="Courier New"/>
                <a:cs typeface="Courier New"/>
              </a:rPr>
              <a:t>g</a:t>
            </a:r>
            <a:r>
              <a:rPr sz="3000" spc="-434" baseline="23611" dirty="0">
                <a:latin typeface="Courier New"/>
                <a:cs typeface="Courier New"/>
              </a:rPr>
              <a:t> </a:t>
            </a:r>
            <a:r>
              <a:rPr sz="3000" spc="-52" baseline="23611" dirty="0">
                <a:latin typeface="Courier New"/>
                <a:cs typeface="Courier New"/>
              </a:rPr>
              <a:t>resources</a:t>
            </a:r>
            <a:r>
              <a:rPr sz="3000" spc="-487" baseline="23611" dirty="0">
                <a:latin typeface="Courier New"/>
                <a:cs typeface="Courier New"/>
              </a:rPr>
              <a:t> </a:t>
            </a:r>
            <a:r>
              <a:rPr sz="3000" spc="-60" baseline="23611" dirty="0">
                <a:latin typeface="Courier New"/>
                <a:cs typeface="Courier New"/>
              </a:rPr>
              <a:t>to</a:t>
            </a:r>
            <a:r>
              <a:rPr sz="3000" spc="-847" baseline="23611" dirty="0">
                <a:latin typeface="Courier New"/>
                <a:cs typeface="Courier New"/>
              </a:rPr>
              <a:t> </a:t>
            </a:r>
            <a:r>
              <a:rPr sz="3000" baseline="23611" dirty="0">
                <a:latin typeface="Courier New"/>
                <a:cs typeface="Courier New"/>
              </a:rPr>
              <a:t>meet</a:t>
            </a:r>
            <a:r>
              <a:rPr sz="3000" spc="-382" baseline="23611" dirty="0">
                <a:latin typeface="Courier New"/>
                <a:cs typeface="Courier New"/>
              </a:rPr>
              <a:t> </a:t>
            </a:r>
            <a:r>
              <a:rPr sz="3000" spc="-75" baseline="23611" dirty="0">
                <a:latin typeface="Courier New"/>
                <a:cs typeface="Courier New"/>
              </a:rPr>
              <a:t>a</a:t>
            </a:r>
            <a:endParaRPr sz="3000" baseline="23611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9" y="1905380"/>
            <a:ext cx="11756390" cy="44918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1090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101090" algn="l"/>
              </a:tabLst>
            </a:pPr>
            <a:r>
              <a:rPr sz="2200" spc="-10" dirty="0">
                <a:latin typeface="Courier New"/>
                <a:cs typeface="Courier New"/>
              </a:rPr>
              <a:t>Rules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Thumb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EV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numbers</a:t>
            </a:r>
            <a:endParaRPr sz="2200" dirty="0">
              <a:latin typeface="Courier New"/>
              <a:cs typeface="Courier New"/>
            </a:endParaRPr>
          </a:p>
          <a:p>
            <a:pPr marL="159829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spc="-10" dirty="0">
                <a:latin typeface="Courier New"/>
                <a:cs typeface="Courier New"/>
              </a:rPr>
              <a:t>Problems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exist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if:</a:t>
            </a:r>
            <a:endParaRPr sz="2200" dirty="0">
              <a:latin typeface="Courier New"/>
              <a:cs typeface="Courier New"/>
            </a:endParaRPr>
          </a:p>
          <a:p>
            <a:pPr marL="2108200" lvl="2" indent="-320675" algn="just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108200" algn="l"/>
              </a:tabLst>
            </a:pPr>
            <a:r>
              <a:rPr sz="2200" spc="-10" dirty="0">
                <a:latin typeface="Courier New"/>
                <a:cs typeface="Courier New"/>
              </a:rPr>
              <a:t>Calculation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CV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SV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lead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negative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numbers</a:t>
            </a:r>
            <a:endParaRPr sz="2200" dirty="0">
              <a:latin typeface="Courier New"/>
              <a:cs typeface="Courier New"/>
            </a:endParaRPr>
          </a:p>
          <a:p>
            <a:pPr marL="2108200" lvl="2" indent="-320675" algn="just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2108200" algn="l"/>
              </a:tabLst>
            </a:pPr>
            <a:r>
              <a:rPr sz="2200" spc="-10" dirty="0">
                <a:latin typeface="Courier New"/>
                <a:cs typeface="Courier New"/>
              </a:rPr>
              <a:t>CPI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SPI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values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less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than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100%</a:t>
            </a:r>
            <a:endParaRPr sz="2200" dirty="0">
              <a:latin typeface="Courier New"/>
              <a:cs typeface="Courier New"/>
            </a:endParaRPr>
          </a:p>
          <a:p>
            <a:pPr marL="1598295" marR="5080" lvl="1" indent="-268605" algn="just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dirty="0">
                <a:latin typeface="Courier New"/>
                <a:cs typeface="Courier New"/>
              </a:rPr>
              <a:t>Problems</a:t>
            </a:r>
            <a:r>
              <a:rPr sz="2200" spc="-35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-36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5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situation</a:t>
            </a:r>
            <a:r>
              <a:rPr sz="2200" spc="-3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when</a:t>
            </a:r>
            <a:r>
              <a:rPr sz="2200" spc="-3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3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33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cost</a:t>
            </a:r>
            <a:r>
              <a:rPr sz="2200" spc="-325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is </a:t>
            </a:r>
            <a:r>
              <a:rPr sz="2200" spc="-20" dirty="0">
                <a:latin typeface="Courier New"/>
                <a:cs typeface="Courier New"/>
              </a:rPr>
              <a:t>exceeding</a:t>
            </a:r>
            <a:r>
              <a:rPr sz="2200" spc="-315" dirty="0">
                <a:latin typeface="Courier New"/>
                <a:cs typeface="Courier New"/>
              </a:rPr>
              <a:t> </a:t>
            </a:r>
            <a:r>
              <a:rPr sz="2200" spc="-125" dirty="0">
                <a:latin typeface="Courier New"/>
                <a:cs typeface="Courier New"/>
              </a:rPr>
              <a:t>the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planned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budget</a:t>
            </a:r>
            <a:r>
              <a:rPr sz="2200" spc="-27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(over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budget)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215" dirty="0">
                <a:latin typeface="Courier New"/>
                <a:cs typeface="Courier New"/>
              </a:rPr>
              <a:t>or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taking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longer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than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planned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time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(behind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schedule).</a:t>
            </a:r>
            <a:endParaRPr sz="2200" dirty="0">
              <a:latin typeface="Courier New"/>
              <a:cs typeface="Courier New"/>
            </a:endParaRPr>
          </a:p>
          <a:p>
            <a:pPr marL="1598295" marR="5080" lvl="1" indent="-268605" algn="just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1598295" algn="l"/>
              </a:tabLst>
            </a:pPr>
            <a:r>
              <a:rPr sz="2200" dirty="0">
                <a:latin typeface="Courier New"/>
                <a:cs typeface="Courier New"/>
              </a:rPr>
              <a:t>CPI</a:t>
            </a:r>
            <a:r>
              <a:rPr sz="2200" spc="-3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value</a:t>
            </a:r>
            <a:r>
              <a:rPr sz="2200" spc="-3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-3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-28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used</a:t>
            </a:r>
            <a:r>
              <a:rPr sz="2200" spc="-3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3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estimate</a:t>
            </a:r>
            <a:r>
              <a:rPr sz="2200" spc="-2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36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projected</a:t>
            </a:r>
            <a:r>
              <a:rPr sz="2200" spc="-2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cost</a:t>
            </a:r>
            <a:r>
              <a:rPr sz="2200" spc="-29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of </a:t>
            </a:r>
            <a:r>
              <a:rPr sz="2200" dirty="0">
                <a:latin typeface="Courier New"/>
                <a:cs typeface="Courier New"/>
              </a:rPr>
              <a:t>completing</a:t>
            </a:r>
            <a:r>
              <a:rPr sz="2200" spc="-29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the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project,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which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means</a:t>
            </a:r>
            <a:r>
              <a:rPr sz="2200" spc="-280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EAC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can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be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calculated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spc="-25" dirty="0" smtClean="0">
                <a:latin typeface="Courier New"/>
                <a:cs typeface="Courier New"/>
              </a:rPr>
              <a:t>using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62707" y="1708966"/>
            <a:ext cx="4847493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8646" y="2677541"/>
            <a:ext cx="3718154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Earned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Value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 for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after Five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Months</a:t>
            </a:r>
            <a:endParaRPr sz="2400" dirty="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1" y="1300987"/>
            <a:ext cx="662940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6237"/>
            <a:ext cx="10883900" cy="4206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Project</a:t>
            </a:r>
            <a:r>
              <a:rPr sz="1700" spc="-45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Portfolio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737870" marR="6350" lvl="1" indent="-268605">
              <a:lnSpc>
                <a:spcPct val="1306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</a:t>
            </a:r>
            <a:r>
              <a:rPr sz="1700" spc="-254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portfolio,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organizations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collect</a:t>
            </a:r>
            <a:r>
              <a:rPr sz="1700" spc="-19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-18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control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</a:t>
            </a:r>
            <a:r>
              <a:rPr sz="1700" spc="-22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entire</a:t>
            </a:r>
            <a:r>
              <a:rPr sz="1700" spc="-1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suite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projects</a:t>
            </a:r>
            <a:r>
              <a:rPr sz="1700" spc="-15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or </a:t>
            </a:r>
            <a:r>
              <a:rPr sz="1700" spc="-10" dirty="0">
                <a:latin typeface="Courier New"/>
                <a:cs typeface="Courier New"/>
              </a:rPr>
              <a:t>investments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as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one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set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of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interrelated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activities.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20" dirty="0">
                <a:latin typeface="Courier New"/>
                <a:cs typeface="Courier New"/>
              </a:rPr>
              <a:t>A</a:t>
            </a:r>
            <a:r>
              <a:rPr sz="1700" spc="-45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portfolio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can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have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five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levels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from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simplest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to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most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complex.</a:t>
            </a:r>
            <a:endParaRPr sz="1700">
              <a:latin typeface="Courier New"/>
              <a:cs typeface="Courier New"/>
            </a:endParaRPr>
          </a:p>
          <a:p>
            <a:pPr marL="1247140" lvl="2" indent="-32067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1247140" algn="l"/>
              </a:tabLst>
            </a:pPr>
            <a:r>
              <a:rPr sz="1700" spc="-10" dirty="0">
                <a:latin typeface="Courier New"/>
                <a:cs typeface="Courier New"/>
              </a:rPr>
              <a:t>Put</a:t>
            </a:r>
            <a:r>
              <a:rPr sz="1700" spc="-459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all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your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projects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one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database</a:t>
            </a:r>
            <a:endParaRPr sz="1700">
              <a:latin typeface="Courier New"/>
              <a:cs typeface="Courier New"/>
            </a:endParaRPr>
          </a:p>
          <a:p>
            <a:pPr marL="1247140" lvl="2" indent="-32067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1247140" algn="l"/>
              </a:tabLst>
            </a:pPr>
            <a:r>
              <a:rPr sz="1700" spc="-10" dirty="0">
                <a:latin typeface="Courier New"/>
                <a:cs typeface="Courier New"/>
              </a:rPr>
              <a:t>Prioritize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projects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your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database</a:t>
            </a:r>
            <a:endParaRPr sz="1700">
              <a:latin typeface="Courier New"/>
              <a:cs typeface="Courier New"/>
            </a:endParaRPr>
          </a:p>
          <a:p>
            <a:pPr marL="1247140" lvl="2" indent="-320675">
              <a:lnSpc>
                <a:spcPct val="100000"/>
              </a:lnSpc>
              <a:spcBef>
                <a:spcPts val="1615"/>
              </a:spcBef>
              <a:buFont typeface="Arial MT"/>
              <a:buChar char="•"/>
              <a:tabLst>
                <a:tab pos="1247140" algn="l"/>
              </a:tabLst>
            </a:pPr>
            <a:r>
              <a:rPr sz="1700" spc="-10" dirty="0">
                <a:latin typeface="Courier New"/>
                <a:cs typeface="Courier New"/>
              </a:rPr>
              <a:t>Divide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your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projects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into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two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or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three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budgets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based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on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type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investment</a:t>
            </a:r>
            <a:endParaRPr sz="1700">
              <a:latin typeface="Courier New"/>
              <a:cs typeface="Courier New"/>
            </a:endParaRPr>
          </a:p>
          <a:p>
            <a:pPr marL="1247140" lvl="2" indent="-32067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1247140" algn="l"/>
              </a:tabLst>
            </a:pPr>
            <a:r>
              <a:rPr sz="1700" spc="-10" dirty="0">
                <a:latin typeface="Courier New"/>
                <a:cs typeface="Courier New"/>
              </a:rPr>
              <a:t>Automate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repository</a:t>
            </a:r>
            <a:endParaRPr sz="1700">
              <a:latin typeface="Courier New"/>
              <a:cs typeface="Courier New"/>
            </a:endParaRPr>
          </a:p>
          <a:p>
            <a:pPr marL="1247140" lvl="2" indent="-320675">
              <a:lnSpc>
                <a:spcPct val="100000"/>
              </a:lnSpc>
              <a:spcBef>
                <a:spcPts val="1630"/>
              </a:spcBef>
              <a:buFont typeface="Arial MT"/>
              <a:buChar char="•"/>
              <a:tabLst>
                <a:tab pos="1247140" algn="l"/>
              </a:tabLst>
            </a:pPr>
            <a:r>
              <a:rPr sz="1700" dirty="0">
                <a:latin typeface="Courier New"/>
                <a:cs typeface="Courier New"/>
              </a:rPr>
              <a:t>Apply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modern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portfolio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theory,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including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risk-</a:t>
            </a:r>
            <a:r>
              <a:rPr sz="1700" dirty="0">
                <a:latin typeface="Courier New"/>
                <a:cs typeface="Courier New"/>
              </a:rPr>
              <a:t>return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tools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that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map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</a:t>
            </a:r>
            <a:endParaRPr sz="1700">
              <a:latin typeface="Courier New"/>
              <a:cs typeface="Courier New"/>
            </a:endParaRPr>
          </a:p>
          <a:p>
            <a:pPr marL="1247140">
              <a:lnSpc>
                <a:spcPct val="100000"/>
              </a:lnSpc>
              <a:spcBef>
                <a:spcPts val="605"/>
              </a:spcBef>
            </a:pPr>
            <a:r>
              <a:rPr sz="1700" spc="-10" dirty="0">
                <a:latin typeface="Courier New"/>
                <a:cs typeface="Courier New"/>
              </a:rPr>
              <a:t>risk</a:t>
            </a:r>
            <a:r>
              <a:rPr sz="1700" spc="-47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on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</a:t>
            </a:r>
            <a:r>
              <a:rPr sz="1700" spc="-54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curve.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Controlling</a:t>
            </a:r>
            <a:r>
              <a:rPr spc="-1235" dirty="0"/>
              <a:t> </a:t>
            </a:r>
            <a:r>
              <a:rPr spc="-10" dirty="0"/>
              <a:t>Costs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783079"/>
            <a:ext cx="1044638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Portfolio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Manager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at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Schlumberger 	</a:t>
            </a:r>
            <a:r>
              <a:rPr sz="2400" dirty="0">
                <a:latin typeface="Courier New"/>
                <a:cs typeface="Courier New"/>
              </a:rPr>
              <a:t>organized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120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into</a:t>
            </a:r>
            <a:r>
              <a:rPr sz="2400" spc="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portfolio</a:t>
            </a:r>
            <a:r>
              <a:rPr sz="2400" spc="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saved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$3 	</a:t>
            </a:r>
            <a:r>
              <a:rPr sz="2400" spc="-10" dirty="0">
                <a:latin typeface="Courier New"/>
                <a:cs typeface="Courier New"/>
              </a:rPr>
              <a:t>million.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Case</a:t>
            </a:r>
            <a:r>
              <a:rPr spc="-1240" dirty="0"/>
              <a:t> </a:t>
            </a:r>
            <a:r>
              <a:rPr spc="-10" dirty="0"/>
              <a:t>Wrap</a:t>
            </a:r>
            <a:r>
              <a:rPr spc="-1275" dirty="0"/>
              <a:t> </a:t>
            </a:r>
            <a:r>
              <a:rPr dirty="0"/>
              <a:t>-</a:t>
            </a:r>
            <a:r>
              <a:rPr spc="-1295" dirty="0"/>
              <a:t> </a:t>
            </a:r>
            <a:r>
              <a:rPr spc="-25" dirty="0"/>
              <a:t>up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663" y="1490472"/>
            <a:ext cx="9186672" cy="448360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966340"/>
            <a:ext cx="8660130" cy="309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spc="-10" dirty="0">
                <a:latin typeface="Courier New"/>
                <a:cs typeface="Courier New"/>
              </a:rPr>
              <a:t>Key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>
              <a:latin typeface="Courier New"/>
              <a:cs typeface="Courier New"/>
            </a:endParaRPr>
          </a:p>
          <a:p>
            <a:pPr marL="789940" lvl="1" indent="-32004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spc="-10" dirty="0">
                <a:latin typeface="Courier New"/>
                <a:cs typeface="Courier New"/>
              </a:rPr>
              <a:t>Plan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789940" lvl="1" indent="-32004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spc="-10" dirty="0">
                <a:latin typeface="Courier New"/>
                <a:cs typeface="Courier New"/>
              </a:rPr>
              <a:t>Estimate</a:t>
            </a:r>
            <a:r>
              <a:rPr sz="2400" spc="-67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Costs</a:t>
            </a:r>
            <a:endParaRPr sz="2400">
              <a:latin typeface="Courier New"/>
              <a:cs typeface="Courier New"/>
            </a:endParaRPr>
          </a:p>
          <a:p>
            <a:pPr marL="789940" lvl="1" indent="-32004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spc="-10" dirty="0">
                <a:latin typeface="Courier New"/>
                <a:cs typeface="Courier New"/>
              </a:rPr>
              <a:t>Determine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Budget</a:t>
            </a:r>
            <a:endParaRPr sz="2400">
              <a:latin typeface="Courier New"/>
              <a:cs typeface="Courier New"/>
            </a:endParaRPr>
          </a:p>
          <a:p>
            <a:pPr marL="789940" lvl="1" indent="-32004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89940" algn="l"/>
              </a:tabLst>
            </a:pPr>
            <a:r>
              <a:rPr sz="2400" spc="-10" dirty="0">
                <a:latin typeface="Courier New"/>
                <a:cs typeface="Courier New"/>
              </a:rPr>
              <a:t>Control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</TotalTime>
  <Words>1429</Words>
  <Application>Microsoft Office PowerPoint</Application>
  <PresentationFormat>Custom</PresentationFormat>
  <Paragraphs>246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Apex</vt:lpstr>
      <vt:lpstr>Chapter 7: Project Cost Management</vt:lpstr>
      <vt:lpstr>Contents:</vt:lpstr>
      <vt:lpstr>Week 9 Learning Outcome:</vt:lpstr>
      <vt:lpstr>The Importance of Project Cost Management</vt:lpstr>
      <vt:lpstr>The Importance of Project Cost Management</vt:lpstr>
      <vt:lpstr>The Importance of Project Cost Management</vt:lpstr>
      <vt:lpstr>The Importance of Project Cost Management</vt:lpstr>
      <vt:lpstr>Basic Principles of Cost Management</vt:lpstr>
      <vt:lpstr>Basic Principles of Cost Management</vt:lpstr>
      <vt:lpstr>Basic Principles of Cost Management</vt:lpstr>
      <vt:lpstr>Basic Principles of Cost Management</vt:lpstr>
      <vt:lpstr>Planning Cost Management</vt:lpstr>
      <vt:lpstr>Estimating Costs</vt:lpstr>
      <vt:lpstr>Estimating Costs</vt:lpstr>
      <vt:lpstr>Estimating Costs</vt:lpstr>
      <vt:lpstr>Estimating Costs</vt:lpstr>
      <vt:lpstr>Estimating Costs</vt:lpstr>
      <vt:lpstr>Estimating Costs</vt:lpstr>
      <vt:lpstr>Estimating Costs</vt:lpstr>
      <vt:lpstr>Estimating Costs</vt:lpstr>
      <vt:lpstr>Determining the Budget</vt:lpstr>
      <vt:lpstr>Determining the Budget</vt:lpstr>
      <vt:lpstr>Project Budget Components</vt:lpstr>
      <vt:lpstr>Determining the Budget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Controlling Costs</vt:lpstr>
      <vt:lpstr>Case Wrap - up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Project Cost Management</dc:title>
  <cp:lastModifiedBy>Rashid</cp:lastModifiedBy>
  <cp:revision>8</cp:revision>
  <dcterms:created xsi:type="dcterms:W3CDTF">2026-09-28T15:54:38Z</dcterms:created>
  <dcterms:modified xsi:type="dcterms:W3CDTF">2026-09-29T11:46:21Z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