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1371600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333169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94488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507786"/>
            <a:ext cx="94488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82440" y="2407482"/>
            <a:ext cx="5556759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3200" dirty="0" smtClean="0">
                <a:solidFill>
                  <a:schemeClr val="bg1"/>
                </a:solidFill>
                <a:latin typeface="Arial MT"/>
                <a:cs typeface="Arial MT"/>
              </a:rPr>
              <a:t>Chapter</a:t>
            </a:r>
            <a:r>
              <a:rPr sz="3200" spc="-6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3200" spc="-25" dirty="0">
                <a:solidFill>
                  <a:schemeClr val="bg1"/>
                </a:solidFill>
                <a:latin typeface="Arial MT"/>
                <a:cs typeface="Arial MT"/>
              </a:rPr>
              <a:t>8</a:t>
            </a:r>
            <a:r>
              <a:rPr sz="3200" spc="-25" dirty="0" smtClean="0">
                <a:solidFill>
                  <a:schemeClr val="bg1"/>
                </a:solidFill>
                <a:latin typeface="Arial MT"/>
                <a:cs typeface="Arial MT"/>
              </a:rPr>
              <a:t>: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3200" spc="-8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Quality</a:t>
            </a:r>
            <a:r>
              <a:rPr sz="3200" spc="-1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Arial MT"/>
                <a:cs typeface="Arial MT"/>
              </a:rPr>
              <a:t>Management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Contents: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7255509" cy="376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Planning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Managing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Controlling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Tools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Techniques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Control.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Modern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Improving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Week</a:t>
            </a:r>
            <a:r>
              <a:rPr spc="-1235" dirty="0"/>
              <a:t> </a:t>
            </a:r>
            <a:r>
              <a:rPr spc="-95" dirty="0"/>
              <a:t>10</a:t>
            </a:r>
            <a:r>
              <a:rPr spc="-1465" dirty="0"/>
              <a:t> </a:t>
            </a:r>
            <a:r>
              <a:rPr spc="-10" dirty="0"/>
              <a:t>Learning</a:t>
            </a:r>
            <a:r>
              <a:rPr spc="-1290" dirty="0"/>
              <a:t> </a:t>
            </a:r>
            <a:r>
              <a:rPr spc="-10" dirty="0"/>
              <a:t>Outcome: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794365" cy="479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154686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Discuss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meaning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importance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 	management.</a:t>
            </a:r>
            <a:endParaRPr sz="2400">
              <a:latin typeface="Courier New"/>
              <a:cs typeface="Courier New"/>
            </a:endParaRPr>
          </a:p>
          <a:p>
            <a:pPr marL="240029" marR="1367155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Identify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various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tools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techniques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 	planning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improvement.</a:t>
            </a:r>
            <a:endParaRPr sz="2400">
              <a:latin typeface="Courier New"/>
              <a:cs typeface="Courier New"/>
            </a:endParaRPr>
          </a:p>
          <a:p>
            <a:pPr marL="240029" marR="269875" indent="-227329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Describe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demonstrate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different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control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tools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techniques.</a:t>
            </a:r>
            <a:endParaRPr sz="2400">
              <a:latin typeface="Courier New"/>
              <a:cs typeface="Courier New"/>
            </a:endParaRPr>
          </a:p>
          <a:p>
            <a:pPr marL="240029" marR="5080" indent="-227329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Describe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various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models,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theories,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standards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that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used 	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reinforce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modern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Project</a:t>
            </a:r>
            <a:r>
              <a:rPr spc="-1225" dirty="0"/>
              <a:t> </a:t>
            </a:r>
            <a:r>
              <a:rPr spc="-10" dirty="0"/>
              <a:t>Quality</a:t>
            </a:r>
            <a:r>
              <a:rPr spc="-127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51757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spc="-41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International</a:t>
            </a:r>
            <a:r>
              <a:rPr spc="-409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Organization</a:t>
            </a:r>
            <a:r>
              <a:rPr spc="5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for</a:t>
            </a:r>
            <a:r>
              <a:rPr spc="-409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Standardization</a:t>
            </a:r>
            <a:r>
              <a:rPr spc="-380" dirty="0">
                <a:solidFill>
                  <a:schemeClr val="bg1"/>
                </a:solidFill>
              </a:rPr>
              <a:t>  </a:t>
            </a:r>
            <a:r>
              <a:rPr spc="-10" dirty="0">
                <a:solidFill>
                  <a:schemeClr val="bg1"/>
                </a:solidFill>
              </a:rPr>
              <a:t>(ISO) 	</a:t>
            </a:r>
            <a:r>
              <a:rPr dirty="0">
                <a:solidFill>
                  <a:schemeClr val="bg1"/>
                </a:solidFill>
              </a:rPr>
              <a:t>defines</a:t>
            </a:r>
            <a:r>
              <a:rPr spc="1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quality</a:t>
            </a:r>
            <a:r>
              <a:rPr spc="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as</a:t>
            </a:r>
            <a:r>
              <a:rPr spc="229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“the</a:t>
            </a:r>
            <a:r>
              <a:rPr spc="1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degree</a:t>
            </a:r>
            <a:r>
              <a:rPr spc="2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20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which</a:t>
            </a:r>
            <a:r>
              <a:rPr spc="20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set</a:t>
            </a:r>
            <a:r>
              <a:rPr spc="20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31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inherent 	characteristics</a:t>
            </a:r>
            <a:r>
              <a:rPr spc="-7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fulfils</a:t>
            </a:r>
            <a:r>
              <a:rPr spc="-71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requirements”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(ISO9000:2000)</a:t>
            </a: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Other</a:t>
            </a:r>
            <a:r>
              <a:rPr spc="-7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experts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define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quality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based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on:</a:t>
            </a:r>
          </a:p>
          <a:p>
            <a:pPr marL="735965" marR="7620" lvl="1" indent="-266700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b="1" dirty="0">
                <a:solidFill>
                  <a:schemeClr val="bg1"/>
                </a:solidFill>
                <a:latin typeface="Courier New"/>
                <a:cs typeface="Courier New"/>
              </a:rPr>
              <a:t>Conformance</a:t>
            </a:r>
            <a:r>
              <a:rPr sz="2400" b="1" spc="-9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chemeClr val="bg1"/>
                </a:solidFill>
                <a:latin typeface="Courier New"/>
                <a:cs typeface="Courier New"/>
              </a:rPr>
              <a:t>to</a:t>
            </a:r>
            <a:r>
              <a:rPr sz="2400" b="1" spc="-10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chemeClr val="bg1"/>
                </a:solidFill>
                <a:latin typeface="Courier New"/>
                <a:cs typeface="Courier New"/>
              </a:rPr>
              <a:t>requirements</a:t>
            </a:r>
            <a:r>
              <a:rPr sz="2400" b="1" spc="-8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indicates</a:t>
            </a:r>
            <a:r>
              <a:rPr sz="2400" spc="-204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that</a:t>
            </a:r>
            <a:r>
              <a:rPr sz="2400" spc="-20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sz="2400" spc="-2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project’s 	processes</a:t>
            </a:r>
            <a:r>
              <a:rPr sz="2400" spc="-69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and</a:t>
            </a:r>
            <a:r>
              <a:rPr sz="2400" spc="-7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products</a:t>
            </a:r>
            <a:r>
              <a:rPr sz="2400" spc="-75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meet</a:t>
            </a:r>
            <a:r>
              <a:rPr sz="2400" spc="-75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sz="2400" spc="-77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written</a:t>
            </a:r>
            <a:r>
              <a:rPr sz="2400" spc="-7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specifications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marR="10795" lvl="1" indent="-266700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b="1" dirty="0">
                <a:solidFill>
                  <a:schemeClr val="bg1"/>
                </a:solidFill>
                <a:latin typeface="Courier New"/>
                <a:cs typeface="Courier New"/>
              </a:rPr>
              <a:t>Fitness</a:t>
            </a:r>
            <a:r>
              <a:rPr sz="2400" b="1" spc="-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chemeClr val="bg1"/>
                </a:solidFill>
                <a:latin typeface="Courier New"/>
                <a:cs typeface="Courier New"/>
              </a:rPr>
              <a:t>for</a:t>
            </a:r>
            <a:r>
              <a:rPr sz="2400" b="1" spc="-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chemeClr val="bg1"/>
                </a:solidFill>
                <a:latin typeface="Courier New"/>
                <a:cs typeface="Courier New"/>
              </a:rPr>
              <a:t>use</a:t>
            </a:r>
            <a:r>
              <a:rPr sz="2400" b="1" spc="-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indicates</a:t>
            </a:r>
            <a:r>
              <a:rPr sz="2400" spc="-29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45" dirty="0">
                <a:solidFill>
                  <a:schemeClr val="bg1"/>
                </a:solidFill>
                <a:latin typeface="Courier New"/>
                <a:cs typeface="Courier New"/>
              </a:rPr>
              <a:t>that</a:t>
            </a:r>
            <a:r>
              <a:rPr sz="2400" spc="-3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a</a:t>
            </a:r>
            <a:r>
              <a:rPr sz="2400" spc="-434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40" dirty="0">
                <a:solidFill>
                  <a:schemeClr val="bg1"/>
                </a:solidFill>
                <a:latin typeface="Courier New"/>
                <a:cs typeface="Courier New"/>
              </a:rPr>
              <a:t>product</a:t>
            </a:r>
            <a:r>
              <a:rPr sz="2400" spc="-29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50" dirty="0">
                <a:solidFill>
                  <a:schemeClr val="bg1"/>
                </a:solidFill>
                <a:latin typeface="Courier New"/>
                <a:cs typeface="Courier New"/>
              </a:rPr>
              <a:t>can</a:t>
            </a:r>
            <a:r>
              <a:rPr sz="2400" spc="-3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45" dirty="0">
                <a:solidFill>
                  <a:schemeClr val="bg1"/>
                </a:solidFill>
                <a:latin typeface="Courier New"/>
                <a:cs typeface="Courier New"/>
              </a:rPr>
              <a:t>be</a:t>
            </a:r>
            <a:r>
              <a:rPr sz="2400" spc="-3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40" dirty="0">
                <a:solidFill>
                  <a:schemeClr val="bg1"/>
                </a:solidFill>
                <a:latin typeface="Courier New"/>
                <a:cs typeface="Courier New"/>
              </a:rPr>
              <a:t>used</a:t>
            </a:r>
            <a:r>
              <a:rPr sz="2400" spc="-48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as</a:t>
            </a:r>
            <a:r>
              <a:rPr sz="2400" spc="-25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25" dirty="0">
                <a:solidFill>
                  <a:schemeClr val="bg1"/>
                </a:solidFill>
                <a:latin typeface="Courier New"/>
                <a:cs typeface="Courier New"/>
              </a:rPr>
              <a:t>it 	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was</a:t>
            </a:r>
            <a:r>
              <a:rPr sz="2400" spc="-7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intended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Project</a:t>
            </a:r>
            <a:r>
              <a:rPr spc="-1225" dirty="0"/>
              <a:t> </a:t>
            </a:r>
            <a:r>
              <a:rPr spc="-10" dirty="0"/>
              <a:t>Quality</a:t>
            </a:r>
            <a:r>
              <a:rPr spc="-127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13138"/>
            <a:ext cx="10890885" cy="409892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ourier New"/>
                <a:cs typeface="Courier New"/>
              </a:rPr>
              <a:t>Project</a:t>
            </a:r>
            <a:r>
              <a:rPr sz="2000" spc="-2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Quality</a:t>
            </a:r>
            <a:r>
              <a:rPr sz="2000" spc="-2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Management</a:t>
            </a:r>
            <a:r>
              <a:rPr sz="2000" spc="-2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guarantees</a:t>
            </a:r>
            <a:r>
              <a:rPr sz="2000" spc="-2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that</a:t>
            </a:r>
            <a:r>
              <a:rPr sz="2000" spc="-2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2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project</a:t>
            </a:r>
            <a:r>
              <a:rPr sz="2000" spc="-2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will</a:t>
            </a:r>
            <a:r>
              <a:rPr sz="2000" spc="-2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satisfy</a:t>
            </a:r>
            <a:r>
              <a:rPr sz="2000" spc="-16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the</a:t>
            </a:r>
            <a:endParaRPr sz="20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20"/>
              </a:spcBef>
            </a:pPr>
            <a:r>
              <a:rPr sz="2000" spc="-20" dirty="0">
                <a:latin typeface="Courier New"/>
                <a:cs typeface="Courier New"/>
              </a:rPr>
              <a:t>needs</a:t>
            </a:r>
            <a:r>
              <a:rPr sz="2000" spc="-5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for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which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it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was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undertaken.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1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09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Quality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Management</a:t>
            </a:r>
            <a:r>
              <a:rPr sz="2000" spc="-58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involves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three</a:t>
            </a:r>
            <a:r>
              <a:rPr sz="2000" spc="-58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processes</a:t>
            </a:r>
            <a:endParaRPr sz="2000">
              <a:latin typeface="Courier New"/>
              <a:cs typeface="Courier New"/>
            </a:endParaRPr>
          </a:p>
          <a:p>
            <a:pPr marL="737870" marR="10795" lvl="1" indent="-268605">
              <a:lnSpc>
                <a:spcPct val="130100"/>
              </a:lnSpc>
              <a:spcBef>
                <a:spcPts val="100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b="1" dirty="0">
                <a:latin typeface="Courier New"/>
                <a:cs typeface="Courier New"/>
              </a:rPr>
              <a:t>Planning</a:t>
            </a:r>
            <a:r>
              <a:rPr sz="2000" b="1" spc="254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quality</a:t>
            </a:r>
            <a:r>
              <a:rPr sz="2000" b="1" spc="2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management</a:t>
            </a:r>
            <a:r>
              <a:rPr sz="2000" b="1" spc="2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identifies</a:t>
            </a:r>
            <a:r>
              <a:rPr sz="2000" spc="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which</a:t>
            </a:r>
            <a:r>
              <a:rPr sz="2000" spc="2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quality</a:t>
            </a:r>
            <a:r>
              <a:rPr sz="2000" spc="2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requirements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5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standards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are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relevant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to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how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satisfy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them.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b="1" dirty="0">
                <a:latin typeface="Courier New"/>
                <a:cs typeface="Courier New"/>
              </a:rPr>
              <a:t>Managing</a:t>
            </a:r>
            <a:r>
              <a:rPr sz="2000" b="1" spc="-70" dirty="0">
                <a:latin typeface="Courier New"/>
                <a:cs typeface="Courier New"/>
              </a:rPr>
              <a:t>  </a:t>
            </a:r>
            <a:r>
              <a:rPr sz="2000" b="1" dirty="0">
                <a:latin typeface="Courier New"/>
                <a:cs typeface="Courier New"/>
              </a:rPr>
              <a:t>Quality</a:t>
            </a:r>
            <a:r>
              <a:rPr sz="2000" b="1" spc="-6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translates</a:t>
            </a:r>
            <a:r>
              <a:rPr sz="2000" spc="-9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9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quality</a:t>
            </a:r>
            <a:r>
              <a:rPr sz="2000" spc="-8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management</a:t>
            </a:r>
            <a:r>
              <a:rPr sz="2000" spc="-7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plan</a:t>
            </a:r>
            <a:r>
              <a:rPr sz="2000" spc="-65" dirty="0">
                <a:latin typeface="Courier New"/>
                <a:cs typeface="Courier New"/>
              </a:rPr>
              <a:t>  </a:t>
            </a:r>
            <a:r>
              <a:rPr sz="2000" spc="-20" dirty="0">
                <a:latin typeface="Courier New"/>
                <a:cs typeface="Courier New"/>
              </a:rPr>
              <a:t>into</a:t>
            </a:r>
            <a:endParaRPr sz="20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720"/>
              </a:spcBef>
            </a:pPr>
            <a:r>
              <a:rPr sz="2000" spc="-20" dirty="0">
                <a:latin typeface="Courier New"/>
                <a:cs typeface="Courier New"/>
              </a:rPr>
              <a:t>executable</a:t>
            </a:r>
            <a:r>
              <a:rPr sz="2000" spc="-5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quality</a:t>
            </a:r>
            <a:r>
              <a:rPr sz="2000" spc="-58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activities.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1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b="1" dirty="0">
                <a:latin typeface="Courier New"/>
                <a:cs typeface="Courier New"/>
              </a:rPr>
              <a:t>Controlling</a:t>
            </a:r>
            <a:r>
              <a:rPr sz="2000" b="1" spc="-195" dirty="0">
                <a:latin typeface="Courier New"/>
                <a:cs typeface="Courier New"/>
              </a:rPr>
              <a:t> </a:t>
            </a:r>
            <a:r>
              <a:rPr sz="2000" b="1" spc="-20" dirty="0">
                <a:latin typeface="Courier New"/>
                <a:cs typeface="Courier New"/>
              </a:rPr>
              <a:t>Quality</a:t>
            </a:r>
            <a:r>
              <a:rPr sz="2000" b="1" spc="-2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monitors</a:t>
            </a:r>
            <a:r>
              <a:rPr sz="2000" spc="-2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specific</a:t>
            </a:r>
            <a:r>
              <a:rPr sz="2000" spc="-2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2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results</a:t>
            </a:r>
            <a:r>
              <a:rPr sz="2000" spc="-229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ensure</a:t>
            </a:r>
            <a:r>
              <a:rPr sz="2000" spc="-16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that</a:t>
            </a:r>
            <a:endParaRPr sz="20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720"/>
              </a:spcBef>
            </a:pPr>
            <a:r>
              <a:rPr sz="2000" spc="-20" dirty="0">
                <a:latin typeface="Courier New"/>
                <a:cs typeface="Courier New"/>
              </a:rPr>
              <a:t>they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are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complete,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correct,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meet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customer</a:t>
            </a:r>
            <a:r>
              <a:rPr sz="2000" spc="-65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expectations.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25" dirty="0"/>
              <a:t> </a:t>
            </a:r>
            <a:r>
              <a:rPr spc="-10" dirty="0"/>
              <a:t>Quality</a:t>
            </a:r>
            <a:r>
              <a:rPr spc="-127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2332"/>
            <a:ext cx="10895965" cy="4464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b="1" spc="-10" dirty="0">
                <a:latin typeface="Courier New"/>
                <a:cs typeface="Courier New"/>
              </a:rPr>
              <a:t>Planning</a:t>
            </a:r>
            <a:r>
              <a:rPr sz="1900" b="1" spc="-55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is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first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step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to</a:t>
            </a:r>
            <a:r>
              <a:rPr sz="1900" spc="-59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ensure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project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quality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management.</a:t>
            </a:r>
            <a:endParaRPr sz="19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dirty="0">
                <a:latin typeface="Courier New"/>
                <a:cs typeface="Courier New"/>
              </a:rPr>
              <a:t>Planning</a:t>
            </a:r>
            <a:r>
              <a:rPr sz="1900" spc="-29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Quality</a:t>
            </a:r>
            <a:r>
              <a:rPr sz="1900" spc="-254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Management</a:t>
            </a:r>
            <a:r>
              <a:rPr sz="1900" spc="-229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implies</a:t>
            </a:r>
            <a:r>
              <a:rPr sz="1900" spc="-225" dirty="0">
                <a:latin typeface="Courier New"/>
                <a:cs typeface="Courier New"/>
              </a:rPr>
              <a:t> </a:t>
            </a:r>
            <a:r>
              <a:rPr sz="1900" spc="-35" dirty="0">
                <a:latin typeface="Courier New"/>
                <a:cs typeface="Courier New"/>
              </a:rPr>
              <a:t>the</a:t>
            </a:r>
            <a:r>
              <a:rPr sz="1900" spc="-25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ability</a:t>
            </a:r>
            <a:r>
              <a:rPr sz="1900" spc="-245" dirty="0">
                <a:latin typeface="Courier New"/>
                <a:cs typeface="Courier New"/>
              </a:rPr>
              <a:t> </a:t>
            </a:r>
            <a:r>
              <a:rPr sz="1900" spc="-45" dirty="0">
                <a:latin typeface="Courier New"/>
                <a:cs typeface="Courier New"/>
              </a:rPr>
              <a:t>to</a:t>
            </a:r>
            <a:r>
              <a:rPr sz="1900" spc="-23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anticipate</a:t>
            </a:r>
            <a:r>
              <a:rPr sz="1900" spc="-229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situations</a:t>
            </a:r>
            <a:r>
              <a:rPr sz="1900" spc="-175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and</a:t>
            </a:r>
            <a:endParaRPr sz="19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670"/>
              </a:spcBef>
            </a:pPr>
            <a:r>
              <a:rPr sz="1900" spc="-20" dirty="0">
                <a:latin typeface="Courier New"/>
                <a:cs typeface="Courier New"/>
              </a:rPr>
              <a:t>prepare</a:t>
            </a:r>
            <a:r>
              <a:rPr sz="1900" spc="-53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actions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to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bring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about</a:t>
            </a:r>
            <a:r>
              <a:rPr sz="1900" spc="-55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the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desired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outcome.</a:t>
            </a:r>
            <a:endParaRPr sz="1900">
              <a:latin typeface="Courier New"/>
              <a:cs typeface="Courier New"/>
            </a:endParaRPr>
          </a:p>
          <a:p>
            <a:pPr marL="240029" marR="14604" indent="-227329">
              <a:lnSpc>
                <a:spcPct val="1306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latin typeface="Courier New"/>
                <a:cs typeface="Courier New"/>
              </a:rPr>
              <a:t>Quality</a:t>
            </a:r>
            <a:r>
              <a:rPr sz="1900" spc="-27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planning</a:t>
            </a:r>
            <a:r>
              <a:rPr sz="1900" spc="-240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involves</a:t>
            </a:r>
            <a:r>
              <a:rPr sz="1900" spc="-2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communicating</a:t>
            </a:r>
            <a:r>
              <a:rPr sz="1900" spc="-245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correct</a:t>
            </a:r>
            <a:r>
              <a:rPr sz="1900" spc="-254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actions</a:t>
            </a:r>
            <a:r>
              <a:rPr sz="1900" spc="-240" dirty="0">
                <a:latin typeface="Courier New"/>
                <a:cs typeface="Courier New"/>
              </a:rPr>
              <a:t> </a:t>
            </a:r>
            <a:r>
              <a:rPr sz="1900" spc="-40" dirty="0">
                <a:latin typeface="Courier New"/>
                <a:cs typeface="Courier New"/>
              </a:rPr>
              <a:t>for</a:t>
            </a:r>
            <a:r>
              <a:rPr sz="1900" spc="-26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ensuring</a:t>
            </a:r>
            <a:r>
              <a:rPr sz="1900" spc="-18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quality 	in</a:t>
            </a:r>
            <a:r>
              <a:rPr sz="1900" spc="-58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understandable</a:t>
            </a:r>
            <a:r>
              <a:rPr sz="1900" spc="-509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and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complete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format</a:t>
            </a:r>
            <a:endParaRPr sz="19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39395" algn="l"/>
              </a:tabLst>
            </a:pPr>
            <a:r>
              <a:rPr sz="1900" dirty="0">
                <a:latin typeface="Courier New"/>
                <a:cs typeface="Courier New"/>
              </a:rPr>
              <a:t>In</a:t>
            </a:r>
            <a:r>
              <a:rPr sz="1900" spc="-13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modern</a:t>
            </a:r>
            <a:r>
              <a:rPr sz="1900" spc="-12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quality</a:t>
            </a:r>
            <a:r>
              <a:rPr sz="1900" spc="-12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management,</a:t>
            </a:r>
            <a:r>
              <a:rPr sz="1900" spc="-11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the</a:t>
            </a:r>
            <a:r>
              <a:rPr sz="1900" spc="-14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drive</a:t>
            </a:r>
            <a:r>
              <a:rPr sz="1900" spc="-14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is</a:t>
            </a:r>
            <a:r>
              <a:rPr sz="1900" spc="-16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to</a:t>
            </a:r>
            <a:r>
              <a:rPr sz="1900" spc="-12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prevent</a:t>
            </a:r>
            <a:r>
              <a:rPr sz="1900" spc="-114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the</a:t>
            </a:r>
            <a:r>
              <a:rPr sz="1900" spc="-16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defects</a:t>
            </a:r>
            <a:r>
              <a:rPr sz="1900" spc="-26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through</a:t>
            </a:r>
            <a:r>
              <a:rPr sz="1900" spc="-75" dirty="0">
                <a:latin typeface="Courier New"/>
                <a:cs typeface="Courier New"/>
              </a:rPr>
              <a:t> </a:t>
            </a:r>
            <a:r>
              <a:rPr sz="1900" spc="-50" dirty="0">
                <a:latin typeface="Courier New"/>
                <a:cs typeface="Courier New"/>
              </a:rPr>
              <a:t>a</a:t>
            </a:r>
            <a:endParaRPr sz="19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00"/>
              </a:spcBef>
            </a:pPr>
            <a:r>
              <a:rPr sz="1900" spc="-10" dirty="0">
                <a:latin typeface="Courier New"/>
                <a:cs typeface="Courier New"/>
              </a:rPr>
              <a:t>program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of: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737870" algn="l"/>
              </a:tabLst>
            </a:pPr>
            <a:r>
              <a:rPr sz="1900" spc="-10" dirty="0">
                <a:latin typeface="Courier New"/>
                <a:cs typeface="Courier New"/>
              </a:rPr>
              <a:t>Selecting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the</a:t>
            </a:r>
            <a:r>
              <a:rPr sz="1900" spc="-57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proper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materials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737870" algn="l"/>
              </a:tabLst>
            </a:pPr>
            <a:r>
              <a:rPr sz="1900" spc="-20" dirty="0">
                <a:latin typeface="Courier New"/>
                <a:cs typeface="Courier New"/>
              </a:rPr>
              <a:t>Training</a:t>
            </a:r>
            <a:r>
              <a:rPr sz="1900" spc="-53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and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indoctrinating</a:t>
            </a:r>
            <a:r>
              <a:rPr sz="1900" spc="-47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people</a:t>
            </a:r>
            <a:r>
              <a:rPr sz="1900" spc="-56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in</a:t>
            </a:r>
            <a:r>
              <a:rPr sz="1900" spc="-55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quality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737870" algn="l"/>
              </a:tabLst>
            </a:pPr>
            <a:r>
              <a:rPr sz="1900" spc="-10" dirty="0">
                <a:latin typeface="Courier New"/>
                <a:cs typeface="Courier New"/>
              </a:rPr>
              <a:t>Planning</a:t>
            </a:r>
            <a:r>
              <a:rPr sz="1900" spc="-55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process</a:t>
            </a:r>
            <a:r>
              <a:rPr sz="1900" spc="-58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that</a:t>
            </a:r>
            <a:r>
              <a:rPr sz="1900" spc="-57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ensures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appropriate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outcome</a:t>
            </a:r>
            <a:endParaRPr sz="1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25" dirty="0"/>
              <a:t> </a:t>
            </a:r>
            <a:r>
              <a:rPr spc="-10" dirty="0"/>
              <a:t>Quality</a:t>
            </a:r>
            <a:r>
              <a:rPr spc="-127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330263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number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tools 	</a:t>
            </a:r>
            <a:r>
              <a:rPr sz="2400" spc="-10" dirty="0">
                <a:latin typeface="Courier New"/>
                <a:cs typeface="Courier New"/>
              </a:rPr>
              <a:t>management.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9402" y="1966340"/>
            <a:ext cx="5945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techniques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exist</a:t>
            </a:r>
            <a:r>
              <a:rPr sz="2400" spc="-1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planning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96550" y="1966340"/>
            <a:ext cx="1275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Courier New"/>
                <a:cs typeface="Courier New"/>
              </a:rPr>
              <a:t>quality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524" y="3009137"/>
            <a:ext cx="9464675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Design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of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Experiments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one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such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technique</a:t>
            </a:r>
            <a:r>
              <a:rPr sz="2400" spc="-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is 	</a:t>
            </a:r>
            <a:r>
              <a:rPr sz="2400" dirty="0">
                <a:latin typeface="Courier New"/>
                <a:cs typeface="Courier New"/>
              </a:rPr>
              <a:t>identify</a:t>
            </a:r>
            <a:r>
              <a:rPr sz="2400" spc="5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which</a:t>
            </a:r>
            <a:r>
              <a:rPr sz="2400" spc="5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variables</a:t>
            </a:r>
            <a:r>
              <a:rPr sz="2400" spc="5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have</a:t>
            </a:r>
            <a:r>
              <a:rPr sz="2400" spc="5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5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most</a:t>
            </a:r>
            <a:r>
              <a:rPr sz="2400" spc="5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influence 	overall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outcome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17885" y="3009137"/>
            <a:ext cx="12573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1440">
              <a:lnSpc>
                <a:spcPct val="1501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used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to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47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the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1524" y="4781631"/>
            <a:ext cx="10895330" cy="17995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also</a:t>
            </a:r>
            <a:r>
              <a:rPr sz="2400" spc="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applied</a:t>
            </a:r>
            <a:r>
              <a:rPr sz="2400" spc="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address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other</a:t>
            </a:r>
            <a:r>
              <a:rPr sz="2400" spc="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1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 	issues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such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trade-offs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between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schedule.</a:t>
            </a:r>
            <a:endParaRPr sz="2400" dirty="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Quality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planning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projects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involves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the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description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of</a:t>
            </a:r>
            <a:r>
              <a:rPr sz="2400" spc="-38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key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25" dirty="0"/>
              <a:t> </a:t>
            </a:r>
            <a:r>
              <a:rPr spc="-10" dirty="0"/>
              <a:t>Quality</a:t>
            </a:r>
            <a:r>
              <a:rPr spc="-127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2332"/>
            <a:ext cx="10889615" cy="4090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spc="-10" dirty="0">
                <a:latin typeface="Courier New"/>
                <a:cs typeface="Courier New"/>
              </a:rPr>
              <a:t>Quality</a:t>
            </a:r>
            <a:r>
              <a:rPr sz="1900" spc="-55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Affecting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Scope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Aspects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of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IT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Projects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737870" algn="l"/>
              </a:tabLst>
            </a:pPr>
            <a:r>
              <a:rPr sz="1900" b="1" dirty="0">
                <a:latin typeface="Courier New"/>
                <a:cs typeface="Courier New"/>
              </a:rPr>
              <a:t>Functionality:</a:t>
            </a:r>
            <a:r>
              <a:rPr sz="1900" b="1" spc="6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the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degree</a:t>
            </a:r>
            <a:r>
              <a:rPr sz="1900" spc="-58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to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which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</a:t>
            </a:r>
            <a:r>
              <a:rPr sz="1900" spc="-60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system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performs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its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intended</a:t>
            </a:r>
            <a:r>
              <a:rPr sz="1900" spc="-59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function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737870" algn="l"/>
              </a:tabLst>
            </a:pPr>
            <a:r>
              <a:rPr sz="1900" b="1" dirty="0">
                <a:latin typeface="Courier New"/>
                <a:cs typeface="Courier New"/>
              </a:rPr>
              <a:t>Features:</a:t>
            </a:r>
            <a:r>
              <a:rPr sz="1900" b="1" spc="114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they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system’s</a:t>
            </a:r>
            <a:r>
              <a:rPr sz="1900" spc="-55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special</a:t>
            </a:r>
            <a:r>
              <a:rPr sz="1900" spc="-53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characteristics</a:t>
            </a:r>
            <a:r>
              <a:rPr sz="1900" spc="-47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that</a:t>
            </a:r>
            <a:r>
              <a:rPr sz="1900" spc="-55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appeal</a:t>
            </a:r>
            <a:r>
              <a:rPr sz="1900" spc="-55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to</a:t>
            </a:r>
            <a:r>
              <a:rPr sz="1900" spc="-55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users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737870" algn="l"/>
              </a:tabLst>
            </a:pPr>
            <a:r>
              <a:rPr sz="1900" b="1" dirty="0">
                <a:latin typeface="Courier New"/>
                <a:cs typeface="Courier New"/>
              </a:rPr>
              <a:t>System</a:t>
            </a:r>
            <a:r>
              <a:rPr sz="1900" b="1" spc="-6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outputs:</a:t>
            </a:r>
            <a:r>
              <a:rPr sz="1900" b="1" spc="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the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system</a:t>
            </a:r>
            <a:r>
              <a:rPr sz="1900" spc="-58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generated</a:t>
            </a:r>
            <a:r>
              <a:rPr sz="1900" spc="4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screens</a:t>
            </a:r>
            <a:r>
              <a:rPr sz="1900" spc="-58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and</a:t>
            </a:r>
            <a:r>
              <a:rPr sz="1900" spc="-58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reports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737870" algn="l"/>
              </a:tabLst>
            </a:pPr>
            <a:r>
              <a:rPr sz="1900" b="1" dirty="0">
                <a:latin typeface="Courier New"/>
                <a:cs typeface="Courier New"/>
              </a:rPr>
              <a:t>Performance:</a:t>
            </a:r>
            <a:r>
              <a:rPr sz="1900" b="1" spc="17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addresses</a:t>
            </a:r>
            <a:r>
              <a:rPr sz="1900" spc="16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how</a:t>
            </a:r>
            <a:r>
              <a:rPr sz="1900" spc="13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well</a:t>
            </a:r>
            <a:r>
              <a:rPr sz="1900" spc="14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</a:t>
            </a:r>
            <a:r>
              <a:rPr sz="1900" spc="4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product</a:t>
            </a:r>
            <a:r>
              <a:rPr sz="1900" spc="1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or</a:t>
            </a:r>
            <a:r>
              <a:rPr sz="1900" spc="18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service</a:t>
            </a:r>
            <a:r>
              <a:rPr sz="1900" spc="16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accomplishes</a:t>
            </a:r>
            <a:r>
              <a:rPr sz="1900" spc="240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the</a:t>
            </a:r>
            <a:endParaRPr sz="19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695"/>
              </a:spcBef>
            </a:pPr>
            <a:r>
              <a:rPr sz="1900" spc="-20" dirty="0">
                <a:latin typeface="Courier New"/>
                <a:cs typeface="Courier New"/>
              </a:rPr>
              <a:t>customer’s</a:t>
            </a:r>
            <a:r>
              <a:rPr sz="1900" spc="-48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intended</a:t>
            </a:r>
            <a:r>
              <a:rPr sz="1900" spc="-484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use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737870" algn="l"/>
              </a:tabLst>
            </a:pPr>
            <a:r>
              <a:rPr sz="1900" b="1" dirty="0">
                <a:latin typeface="Courier New"/>
                <a:cs typeface="Courier New"/>
              </a:rPr>
              <a:t>Reliability:</a:t>
            </a:r>
            <a:r>
              <a:rPr sz="1900" b="1" spc="-16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the</a:t>
            </a:r>
            <a:r>
              <a:rPr sz="1900" spc="-20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ability</a:t>
            </a:r>
            <a:r>
              <a:rPr sz="1900" spc="-19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of</a:t>
            </a:r>
            <a:r>
              <a:rPr sz="1900" spc="-26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</a:t>
            </a:r>
            <a:r>
              <a:rPr sz="1900" spc="-28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product</a:t>
            </a:r>
            <a:r>
              <a:rPr sz="1900" spc="-19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or</a:t>
            </a:r>
            <a:r>
              <a:rPr sz="1900" spc="-26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service</a:t>
            </a:r>
            <a:r>
              <a:rPr sz="1900" spc="-19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to</a:t>
            </a:r>
            <a:r>
              <a:rPr sz="1900" spc="-26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demonstrate</a:t>
            </a:r>
            <a:r>
              <a:rPr sz="1900" spc="-1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expected</a:t>
            </a:r>
            <a:endParaRPr sz="19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675"/>
              </a:spcBef>
            </a:pPr>
            <a:r>
              <a:rPr sz="1900" spc="-10" dirty="0">
                <a:latin typeface="Courier New"/>
                <a:cs typeface="Courier New"/>
              </a:rPr>
              <a:t>performance</a:t>
            </a:r>
            <a:r>
              <a:rPr sz="1900" spc="-51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under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normal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conditions</a:t>
            </a:r>
            <a:endParaRPr sz="19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7870" algn="l"/>
              </a:tabLst>
            </a:pPr>
            <a:r>
              <a:rPr sz="1900" b="1" dirty="0">
                <a:latin typeface="Courier New"/>
                <a:cs typeface="Courier New"/>
              </a:rPr>
              <a:t>Maintainability:</a:t>
            </a:r>
            <a:r>
              <a:rPr sz="1900" b="1" spc="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refers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to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the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ease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of</a:t>
            </a:r>
            <a:r>
              <a:rPr sz="1900" spc="-60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performing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maintenance</a:t>
            </a:r>
            <a:r>
              <a:rPr sz="1900" spc="-55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on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product</a:t>
            </a:r>
            <a:endParaRPr sz="1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Managing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3766185" cy="1068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Managing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4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term</a:t>
            </a:r>
            <a:r>
              <a:rPr sz="2400" spc="434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Quality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68417" y="2643073"/>
            <a:ext cx="53200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assurance</a:t>
            </a:r>
            <a:r>
              <a:rPr sz="2400" b="1" spc="5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refers</a:t>
            </a:r>
            <a:r>
              <a:rPr sz="2400" spc="48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4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describe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88905" y="2459817"/>
            <a:ext cx="1482725" cy="112395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545"/>
              </a:spcBef>
            </a:pPr>
            <a:r>
              <a:rPr sz="2400" dirty="0">
                <a:latin typeface="Courier New"/>
                <a:cs typeface="Courier New"/>
              </a:rPr>
              <a:t>all</a:t>
            </a:r>
            <a:r>
              <a:rPr sz="2400" spc="42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Courier New"/>
                <a:cs typeface="Courier New"/>
              </a:rPr>
              <a:t>relevant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6897" y="3009137"/>
            <a:ext cx="84950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activities</a:t>
            </a:r>
            <a:r>
              <a:rPr sz="2400" spc="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associated</a:t>
            </a:r>
            <a:r>
              <a:rPr sz="2400" spc="11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with</a:t>
            </a:r>
            <a:r>
              <a:rPr sz="2400" spc="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satisfaction</a:t>
            </a:r>
            <a:r>
              <a:rPr sz="2400" spc="14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</a:t>
            </a:r>
            <a:r>
              <a:rPr sz="2400" spc="-10" dirty="0">
                <a:latin typeface="Courier New"/>
                <a:cs typeface="Courier New"/>
              </a:rPr>
              <a:t>quality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standards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8674" y="4232020"/>
            <a:ext cx="10443210" cy="2349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marR="9525" indent="-26670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80670" algn="l"/>
              </a:tabLst>
            </a:pPr>
            <a:r>
              <a:rPr sz="2400" b="1" dirty="0">
                <a:latin typeface="Courier New"/>
                <a:cs typeface="Courier New"/>
              </a:rPr>
              <a:t>Managing</a:t>
            </a:r>
            <a:r>
              <a:rPr sz="2400" b="1" spc="30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Quality</a:t>
            </a:r>
            <a:r>
              <a:rPr sz="2400" b="1" spc="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includes</a:t>
            </a:r>
            <a:r>
              <a:rPr sz="2400" spc="2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all</a:t>
            </a:r>
            <a:r>
              <a:rPr sz="2400" spc="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3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quality</a:t>
            </a:r>
            <a:r>
              <a:rPr sz="2400" spc="3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assurance 	activities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plus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product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design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improvements</a:t>
            </a:r>
            <a:endParaRPr sz="2400" dirty="0">
              <a:latin typeface="Courier New"/>
              <a:cs typeface="Courier New"/>
            </a:endParaRPr>
          </a:p>
          <a:p>
            <a:pPr marL="278765" marR="5080" indent="-266700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28067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quality</a:t>
            </a:r>
            <a:r>
              <a:rPr sz="2400" spc="-1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1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plan,</a:t>
            </a:r>
            <a:r>
              <a:rPr sz="2400" spc="-1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1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documents,</a:t>
            </a:r>
            <a:r>
              <a:rPr sz="2400" spc="-16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dirty="0">
                <a:latin typeface="Courier New"/>
                <a:cs typeface="Courier New"/>
              </a:rPr>
              <a:t>organization</a:t>
            </a:r>
            <a:r>
              <a:rPr sz="2400" spc="-33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process</a:t>
            </a:r>
            <a:r>
              <a:rPr sz="2400" spc="-32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assets</a:t>
            </a:r>
            <a:r>
              <a:rPr sz="2400" spc="-32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2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important</a:t>
            </a:r>
            <a:r>
              <a:rPr sz="2400" spc="-31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inputs</a:t>
            </a:r>
            <a:r>
              <a:rPr sz="2400" spc="-30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for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Managing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57197"/>
            <a:ext cx="10894695" cy="4640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Managing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Quality</a:t>
            </a:r>
            <a:endParaRPr sz="2200" dirty="0">
              <a:latin typeface="Courier New"/>
              <a:cs typeface="Courier New"/>
            </a:endParaRPr>
          </a:p>
          <a:p>
            <a:pPr marL="737870" marR="9525" lvl="1" indent="-268605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737870" algn="l"/>
              </a:tabLst>
            </a:pPr>
            <a:r>
              <a:rPr sz="2200" b="1" dirty="0">
                <a:latin typeface="Courier New"/>
                <a:cs typeface="Courier New"/>
              </a:rPr>
              <a:t>Benchmarking</a:t>
            </a:r>
            <a:r>
              <a:rPr sz="2200" b="1" spc="225" dirty="0"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compares</a:t>
            </a:r>
            <a:r>
              <a:rPr sz="2200" i="1" u="heavy" spc="25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specific</a:t>
            </a:r>
            <a:r>
              <a:rPr sz="2200" i="1" u="heavy" spc="254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project</a:t>
            </a:r>
            <a:r>
              <a:rPr sz="2200" i="1" u="heavy" spc="25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practices</a:t>
            </a:r>
            <a:r>
              <a:rPr sz="2200" i="1" u="heavy" spc="229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</a:t>
            </a:r>
            <a:r>
              <a:rPr sz="2200" spc="229" dirty="0">
                <a:latin typeface="Courier New"/>
                <a:cs typeface="Courier New"/>
              </a:rPr>
              <a:t> </a:t>
            </a:r>
            <a:r>
              <a:rPr sz="22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product</a:t>
            </a:r>
            <a:r>
              <a:rPr sz="2200" i="1" spc="-10" dirty="0"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characteristics</a:t>
            </a:r>
            <a:r>
              <a:rPr sz="2200" i="1" u="heavy" spc="-34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to</a:t>
            </a:r>
            <a:r>
              <a:rPr sz="2200" i="1" u="heavy" spc="-9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those</a:t>
            </a:r>
            <a:r>
              <a:rPr sz="2200" i="1" u="heavy" spc="7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of</a:t>
            </a:r>
            <a:r>
              <a:rPr sz="2200" i="1" u="heavy" spc="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other</a:t>
            </a:r>
            <a:r>
              <a:rPr sz="2200" i="1" u="heavy" spc="6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projects</a:t>
            </a:r>
            <a:r>
              <a:rPr sz="2200" i="1" spc="-305" dirty="0">
                <a:latin typeface="Courier New"/>
                <a:cs typeface="Courier New"/>
              </a:rPr>
              <a:t> </a:t>
            </a:r>
            <a:r>
              <a:rPr sz="2200" spc="-290" dirty="0">
                <a:latin typeface="Courier New"/>
                <a:cs typeface="Courier New"/>
              </a:rPr>
              <a:t>or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products</a:t>
            </a:r>
            <a:r>
              <a:rPr sz="2200" i="1" u="heavy" spc="3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within</a:t>
            </a:r>
            <a:r>
              <a:rPr sz="2200" i="1" spc="-10" dirty="0"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or</a:t>
            </a:r>
            <a:r>
              <a:rPr sz="2200" i="1" u="heavy" spc="-37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outside</a:t>
            </a:r>
            <a:r>
              <a:rPr sz="2200" i="1" u="heavy" spc="-36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the</a:t>
            </a:r>
            <a:r>
              <a:rPr sz="2200" i="1" u="heavy" spc="-36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performing</a:t>
            </a:r>
            <a:r>
              <a:rPr sz="2200" i="1" u="heavy" spc="-36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organization</a:t>
            </a:r>
            <a:r>
              <a:rPr sz="2200" i="1" u="heavy" spc="-36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-36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thus</a:t>
            </a:r>
            <a:r>
              <a:rPr sz="2200" spc="-365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generates ideas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for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quality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improvement.</a:t>
            </a:r>
            <a:endParaRPr sz="2200" dirty="0">
              <a:latin typeface="Courier New"/>
              <a:cs typeface="Courier New"/>
            </a:endParaRPr>
          </a:p>
          <a:p>
            <a:pPr marL="737870" marR="5080" lvl="1" indent="-268605" algn="just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737870" algn="l"/>
              </a:tabLst>
            </a:pP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50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q</a:t>
            </a:r>
            <a:r>
              <a:rPr sz="2200" spc="-60" dirty="0">
                <a:latin typeface="Courier New"/>
                <a:cs typeface="Courier New"/>
              </a:rPr>
              <a:t>u</a:t>
            </a:r>
            <a:r>
              <a:rPr sz="2200" spc="-5" dirty="0">
                <a:latin typeface="Courier New"/>
                <a:cs typeface="Courier New"/>
              </a:rPr>
              <a:t>a</a:t>
            </a:r>
            <a:r>
              <a:rPr sz="2200" spc="-15" dirty="0">
                <a:latin typeface="Courier New"/>
                <a:cs typeface="Courier New"/>
              </a:rPr>
              <a:t>l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5" dirty="0">
                <a:latin typeface="Courier New"/>
                <a:cs typeface="Courier New"/>
              </a:rPr>
              <a:t>t</a:t>
            </a:r>
            <a:r>
              <a:rPr sz="2200" dirty="0">
                <a:latin typeface="Courier New"/>
                <a:cs typeface="Courier New"/>
              </a:rPr>
              <a:t>y</a:t>
            </a:r>
            <a:r>
              <a:rPr sz="2200" spc="47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a</a:t>
            </a:r>
            <a:r>
              <a:rPr sz="2200" spc="-35" dirty="0">
                <a:latin typeface="Courier New"/>
                <a:cs typeface="Courier New"/>
              </a:rPr>
              <a:t>ud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470" dirty="0">
                <a:latin typeface="Courier New"/>
                <a:cs typeface="Courier New"/>
              </a:rPr>
              <a:t> </a:t>
            </a:r>
            <a:r>
              <a:rPr sz="2200" spc="-200" dirty="0">
                <a:latin typeface="Courier New"/>
                <a:cs typeface="Courier New"/>
              </a:rPr>
              <a:t>i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49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a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425" dirty="0">
                <a:latin typeface="Courier New"/>
                <a:cs typeface="Courier New"/>
              </a:rPr>
              <a:t> </a:t>
            </a:r>
            <a:r>
              <a:rPr sz="2200" spc="-100" dirty="0">
                <a:latin typeface="Courier New"/>
                <a:cs typeface="Courier New"/>
              </a:rPr>
              <a:t>i</a:t>
            </a:r>
            <a:r>
              <a:rPr sz="2200" spc="-55" dirty="0">
                <a:latin typeface="Courier New"/>
                <a:cs typeface="Courier New"/>
              </a:rPr>
              <a:t>m</a:t>
            </a:r>
            <a:r>
              <a:rPr sz="2200" spc="-30" dirty="0">
                <a:latin typeface="Courier New"/>
                <a:cs typeface="Courier New"/>
              </a:rPr>
              <a:t>p</a:t>
            </a: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spc="-10" dirty="0">
                <a:latin typeface="Courier New"/>
                <a:cs typeface="Courier New"/>
              </a:rPr>
              <a:t>r</a:t>
            </a:r>
            <a:r>
              <a:rPr sz="2200" spc="-5" dirty="0">
                <a:latin typeface="Courier New"/>
                <a:cs typeface="Courier New"/>
              </a:rPr>
              <a:t>t</a:t>
            </a:r>
            <a:r>
              <a:rPr sz="2200" spc="-10" dirty="0">
                <a:latin typeface="Courier New"/>
                <a:cs typeface="Courier New"/>
              </a:rPr>
              <a:t>a</a:t>
            </a:r>
            <a:r>
              <a:rPr sz="2200" spc="-5" dirty="0">
                <a:latin typeface="Courier New"/>
                <a:cs typeface="Courier New"/>
              </a:rPr>
              <a:t>n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45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t</a:t>
            </a:r>
            <a:r>
              <a:rPr sz="2200" spc="-105" dirty="0">
                <a:latin typeface="Courier New"/>
                <a:cs typeface="Courier New"/>
              </a:rPr>
              <a:t>o</a:t>
            </a: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l</a:t>
            </a:r>
            <a:r>
              <a:rPr sz="2200" spc="49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f</a:t>
            </a:r>
            <a:r>
              <a:rPr sz="2200" spc="-35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r</a:t>
            </a:r>
            <a:r>
              <a:rPr sz="2200" spc="42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m</a:t>
            </a:r>
            <a:r>
              <a:rPr sz="2200" spc="-60" dirty="0">
                <a:latin typeface="Courier New"/>
                <a:cs typeface="Courier New"/>
              </a:rPr>
              <a:t>a</a:t>
            </a:r>
            <a:r>
              <a:rPr sz="2200" spc="-35" dirty="0">
                <a:latin typeface="Courier New"/>
                <a:cs typeface="Courier New"/>
              </a:rPr>
              <a:t>n</a:t>
            </a:r>
            <a:r>
              <a:rPr sz="2200" spc="15" dirty="0">
                <a:latin typeface="Courier New"/>
                <a:cs typeface="Courier New"/>
              </a:rPr>
              <a:t>agin</a:t>
            </a:r>
            <a:r>
              <a:rPr sz="2200" dirty="0">
                <a:latin typeface="Courier New"/>
                <a:cs typeface="Courier New"/>
              </a:rPr>
              <a:t>g</a:t>
            </a:r>
            <a:r>
              <a:rPr sz="2200" spc="530" dirty="0">
                <a:latin typeface="Courier New"/>
                <a:cs typeface="Courier New"/>
              </a:rPr>
              <a:t> </a:t>
            </a:r>
            <a:r>
              <a:rPr sz="2200" spc="-150" dirty="0">
                <a:latin typeface="Courier New"/>
                <a:cs typeface="Courier New"/>
              </a:rPr>
              <a:t>q</a:t>
            </a:r>
            <a:r>
              <a:rPr sz="2200" spc="15" dirty="0">
                <a:latin typeface="Courier New"/>
                <a:cs typeface="Courier New"/>
              </a:rPr>
              <a:t>uality</a:t>
            </a:r>
            <a:r>
              <a:rPr sz="2200" dirty="0">
                <a:latin typeface="Courier New"/>
                <a:cs typeface="Courier New"/>
              </a:rPr>
              <a:t>. </a:t>
            </a:r>
            <a:r>
              <a:rPr sz="2200" b="1" spc="-5" dirty="0">
                <a:latin typeface="Courier New"/>
                <a:cs typeface="Courier New"/>
              </a:rPr>
              <a:t>Qualit</a:t>
            </a:r>
            <a:r>
              <a:rPr sz="2200" b="1" dirty="0">
                <a:latin typeface="Courier New"/>
                <a:cs typeface="Courier New"/>
              </a:rPr>
              <a:t>y</a:t>
            </a:r>
            <a:r>
              <a:rPr sz="2200" b="1" spc="2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Au</a:t>
            </a:r>
            <a:r>
              <a:rPr sz="2200" b="1" spc="15" dirty="0">
                <a:latin typeface="Courier New"/>
                <a:cs typeface="Courier New"/>
              </a:rPr>
              <a:t>d</a:t>
            </a:r>
            <a:r>
              <a:rPr sz="2200" b="1" spc="-5" dirty="0">
                <a:latin typeface="Courier New"/>
                <a:cs typeface="Courier New"/>
              </a:rPr>
              <a:t>i</a:t>
            </a:r>
            <a:r>
              <a:rPr sz="2200" b="1" dirty="0">
                <a:latin typeface="Courier New"/>
                <a:cs typeface="Courier New"/>
              </a:rPr>
              <a:t>t</a:t>
            </a:r>
            <a:r>
              <a:rPr sz="2200" b="1" spc="-15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r</a:t>
            </a:r>
            <a:r>
              <a:rPr sz="2200" spc="10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f</a:t>
            </a:r>
            <a:r>
              <a:rPr sz="2200" spc="10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r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36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t</a:t>
            </a:r>
            <a:r>
              <a:rPr sz="2200" dirty="0">
                <a:latin typeface="Courier New"/>
                <a:cs typeface="Courier New"/>
              </a:rPr>
              <a:t>o</a:t>
            </a:r>
            <a:r>
              <a:rPr sz="2200" spc="-459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53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s</a:t>
            </a:r>
            <a:r>
              <a:rPr sz="2200" spc="-55" dirty="0">
                <a:latin typeface="Courier New"/>
                <a:cs typeface="Courier New"/>
              </a:rPr>
              <a:t>t</a:t>
            </a:r>
            <a:r>
              <a:rPr sz="2200" spc="-30" dirty="0">
                <a:latin typeface="Courier New"/>
                <a:cs typeface="Courier New"/>
              </a:rPr>
              <a:t>ru</a:t>
            </a:r>
            <a:r>
              <a:rPr sz="2200" spc="-5" dirty="0">
                <a:latin typeface="Courier New"/>
                <a:cs typeface="Courier New"/>
              </a:rPr>
              <a:t>c</a:t>
            </a:r>
            <a:r>
              <a:rPr sz="2200" spc="-10" dirty="0">
                <a:latin typeface="Courier New"/>
                <a:cs typeface="Courier New"/>
              </a:rPr>
              <a:t>t</a:t>
            </a:r>
            <a:r>
              <a:rPr sz="2200" spc="-5" dirty="0">
                <a:latin typeface="Courier New"/>
                <a:cs typeface="Courier New"/>
              </a:rPr>
              <a:t>u</a:t>
            </a:r>
            <a:r>
              <a:rPr sz="2200" spc="-10" dirty="0">
                <a:latin typeface="Courier New"/>
                <a:cs typeface="Courier New"/>
              </a:rPr>
              <a:t>r</a:t>
            </a:r>
            <a:r>
              <a:rPr sz="2200" spc="-5" dirty="0">
                <a:latin typeface="Courier New"/>
                <a:cs typeface="Courier New"/>
              </a:rPr>
              <a:t>e</a:t>
            </a:r>
            <a:r>
              <a:rPr sz="2200" dirty="0">
                <a:latin typeface="Courier New"/>
                <a:cs typeface="Courier New"/>
              </a:rPr>
              <a:t>d</a:t>
            </a:r>
            <a:r>
              <a:rPr sz="2200" spc="-370" dirty="0">
                <a:latin typeface="Courier New"/>
                <a:cs typeface="Courier New"/>
              </a:rPr>
              <a:t> </a:t>
            </a:r>
            <a:r>
              <a:rPr sz="2200" spc="-200" dirty="0">
                <a:latin typeface="Courier New"/>
                <a:cs typeface="Courier New"/>
              </a:rPr>
              <a:t>r</a:t>
            </a:r>
            <a:r>
              <a:rPr sz="2200" spc="-5" dirty="0">
                <a:latin typeface="Courier New"/>
                <a:cs typeface="Courier New"/>
              </a:rPr>
              <a:t>e</a:t>
            </a:r>
            <a:r>
              <a:rPr sz="2200" spc="-10" dirty="0">
                <a:latin typeface="Courier New"/>
                <a:cs typeface="Courier New"/>
              </a:rPr>
              <a:t>v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0" dirty="0">
                <a:latin typeface="Courier New"/>
                <a:cs typeface="Courier New"/>
              </a:rPr>
              <a:t>e</a:t>
            </a:r>
            <a:r>
              <a:rPr sz="2200" dirty="0">
                <a:latin typeface="Courier New"/>
                <a:cs typeface="Courier New"/>
              </a:rPr>
              <a:t>w</a:t>
            </a:r>
            <a:r>
              <a:rPr sz="2200" spc="-36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f</a:t>
            </a:r>
            <a:r>
              <a:rPr sz="2200" spc="-440" dirty="0">
                <a:latin typeface="Courier New"/>
                <a:cs typeface="Courier New"/>
              </a:rPr>
              <a:t> </a:t>
            </a:r>
            <a:r>
              <a:rPr sz="2200" spc="-100" dirty="0">
                <a:latin typeface="Courier New"/>
                <a:cs typeface="Courier New"/>
              </a:rPr>
              <a:t>s</a:t>
            </a:r>
            <a:r>
              <a:rPr sz="2200" spc="-30" dirty="0">
                <a:latin typeface="Courier New"/>
                <a:cs typeface="Courier New"/>
              </a:rPr>
              <a:t>p</a:t>
            </a:r>
            <a:r>
              <a:rPr sz="2200" spc="-5" dirty="0">
                <a:latin typeface="Courier New"/>
                <a:cs typeface="Courier New"/>
              </a:rPr>
              <a:t>e</a:t>
            </a:r>
            <a:r>
              <a:rPr sz="2200" spc="15" dirty="0">
                <a:latin typeface="Courier New"/>
                <a:cs typeface="Courier New"/>
              </a:rPr>
              <a:t>cifi</a:t>
            </a:r>
            <a:r>
              <a:rPr sz="2200" dirty="0">
                <a:latin typeface="Courier New"/>
                <a:cs typeface="Courier New"/>
              </a:rPr>
              <a:t>c</a:t>
            </a:r>
            <a:r>
              <a:rPr sz="2200" spc="-350" dirty="0">
                <a:latin typeface="Courier New"/>
                <a:cs typeface="Courier New"/>
              </a:rPr>
              <a:t> </a:t>
            </a:r>
            <a:r>
              <a:rPr sz="2200" spc="-175" dirty="0">
                <a:latin typeface="Courier New"/>
                <a:cs typeface="Courier New"/>
              </a:rPr>
              <a:t>q</a:t>
            </a:r>
            <a:r>
              <a:rPr sz="2200" spc="15" dirty="0">
                <a:latin typeface="Courier New"/>
                <a:cs typeface="Courier New"/>
              </a:rPr>
              <a:t>ualit</a:t>
            </a:r>
            <a:r>
              <a:rPr sz="2200" dirty="0">
                <a:latin typeface="Courier New"/>
                <a:cs typeface="Courier New"/>
              </a:rPr>
              <a:t>y </a:t>
            </a:r>
            <a:r>
              <a:rPr sz="2200" spc="-5" dirty="0">
                <a:latin typeface="Courier New"/>
                <a:cs typeface="Courier New"/>
              </a:rPr>
              <a:t>m</a:t>
            </a:r>
            <a:r>
              <a:rPr sz="2200" spc="-10" dirty="0">
                <a:latin typeface="Courier New"/>
                <a:cs typeface="Courier New"/>
              </a:rPr>
              <a:t>a</a:t>
            </a:r>
            <a:r>
              <a:rPr sz="2200" spc="-5" dirty="0">
                <a:latin typeface="Courier New"/>
                <a:cs typeface="Courier New"/>
              </a:rPr>
              <a:t>n</a:t>
            </a:r>
            <a:r>
              <a:rPr sz="2200" spc="-10" dirty="0">
                <a:latin typeface="Courier New"/>
                <a:cs typeface="Courier New"/>
              </a:rPr>
              <a:t>a</a:t>
            </a:r>
            <a:r>
              <a:rPr sz="2200" spc="-5" dirty="0">
                <a:latin typeface="Courier New"/>
                <a:cs typeface="Courier New"/>
              </a:rPr>
              <a:t>g</a:t>
            </a:r>
            <a:r>
              <a:rPr sz="2200" spc="-10" dirty="0">
                <a:latin typeface="Courier New"/>
                <a:cs typeface="Courier New"/>
              </a:rPr>
              <a:t>e</a:t>
            </a:r>
            <a:r>
              <a:rPr sz="2200" spc="15" dirty="0">
                <a:latin typeface="Courier New"/>
                <a:cs typeface="Courier New"/>
              </a:rPr>
              <a:t>m</a:t>
            </a:r>
            <a:r>
              <a:rPr sz="2200" spc="-5" dirty="0">
                <a:latin typeface="Courier New"/>
                <a:cs typeface="Courier New"/>
              </a:rPr>
              <a:t>e</a:t>
            </a:r>
            <a:r>
              <a:rPr sz="2200" spc="-10" dirty="0">
                <a:latin typeface="Courier New"/>
                <a:cs typeface="Courier New"/>
              </a:rPr>
              <a:t>n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2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a</a:t>
            </a:r>
            <a:r>
              <a:rPr sz="2200" spc="-55" dirty="0">
                <a:latin typeface="Courier New"/>
                <a:cs typeface="Courier New"/>
              </a:rPr>
              <a:t>c</a:t>
            </a:r>
            <a:r>
              <a:rPr sz="2200" spc="-30" dirty="0">
                <a:latin typeface="Courier New"/>
                <a:cs typeface="Courier New"/>
              </a:rPr>
              <a:t>t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0" dirty="0">
                <a:latin typeface="Courier New"/>
                <a:cs typeface="Courier New"/>
              </a:rPr>
              <a:t>v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0" dirty="0">
                <a:latin typeface="Courier New"/>
                <a:cs typeface="Courier New"/>
              </a:rPr>
              <a:t>t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0" dirty="0">
                <a:latin typeface="Courier New"/>
                <a:cs typeface="Courier New"/>
              </a:rPr>
              <a:t>e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2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t</a:t>
            </a:r>
            <a:r>
              <a:rPr sz="2200" spc="-55" dirty="0">
                <a:latin typeface="Courier New"/>
                <a:cs typeface="Courier New"/>
              </a:rPr>
              <a:t>h</a:t>
            </a:r>
            <a:r>
              <a:rPr sz="2200" spc="-30" dirty="0">
                <a:latin typeface="Courier New"/>
                <a:cs typeface="Courier New"/>
              </a:rPr>
              <a:t>a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-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h</a:t>
            </a:r>
            <a:r>
              <a:rPr sz="2200" spc="-55" dirty="0">
                <a:latin typeface="Courier New"/>
                <a:cs typeface="Courier New"/>
              </a:rPr>
              <a:t>e</a:t>
            </a:r>
            <a:r>
              <a:rPr sz="2200" spc="-30" dirty="0">
                <a:latin typeface="Courier New"/>
                <a:cs typeface="Courier New"/>
              </a:rPr>
              <a:t>l</a:t>
            </a:r>
            <a:r>
              <a:rPr sz="2200" dirty="0">
                <a:latin typeface="Courier New"/>
                <a:cs typeface="Courier New"/>
              </a:rPr>
              <a:t>p</a:t>
            </a:r>
            <a:r>
              <a:rPr sz="2200" spc="-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i</a:t>
            </a:r>
            <a:r>
              <a:rPr sz="2200" spc="-55" dirty="0">
                <a:latin typeface="Courier New"/>
                <a:cs typeface="Courier New"/>
              </a:rPr>
              <a:t>d</a:t>
            </a:r>
            <a:r>
              <a:rPr sz="2200" spc="-5" dirty="0">
                <a:latin typeface="Courier New"/>
                <a:cs typeface="Courier New"/>
              </a:rPr>
              <a:t>e</a:t>
            </a:r>
            <a:r>
              <a:rPr sz="2200" spc="-35" dirty="0">
                <a:latin typeface="Courier New"/>
                <a:cs typeface="Courier New"/>
              </a:rPr>
              <a:t>n</a:t>
            </a:r>
            <a:r>
              <a:rPr sz="2200" spc="-5" dirty="0">
                <a:latin typeface="Courier New"/>
                <a:cs typeface="Courier New"/>
              </a:rPr>
              <a:t>t</a:t>
            </a:r>
            <a:r>
              <a:rPr sz="2200" spc="-10" dirty="0">
                <a:latin typeface="Courier New"/>
                <a:cs typeface="Courier New"/>
              </a:rPr>
              <a:t>i</a:t>
            </a:r>
            <a:r>
              <a:rPr sz="2200" spc="-5" dirty="0">
                <a:latin typeface="Courier New"/>
                <a:cs typeface="Courier New"/>
              </a:rPr>
              <a:t>f</a:t>
            </a:r>
            <a:r>
              <a:rPr sz="2200" dirty="0">
                <a:latin typeface="Courier New"/>
                <a:cs typeface="Courier New"/>
              </a:rPr>
              <a:t>y</a:t>
            </a:r>
            <a:r>
              <a:rPr sz="2200" spc="1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l</a:t>
            </a:r>
            <a:r>
              <a:rPr sz="2200" spc="-55" dirty="0">
                <a:latin typeface="Courier New"/>
                <a:cs typeface="Courier New"/>
              </a:rPr>
              <a:t>e</a:t>
            </a:r>
            <a:r>
              <a:rPr sz="2200" spc="-30" dirty="0">
                <a:latin typeface="Courier New"/>
                <a:cs typeface="Courier New"/>
              </a:rPr>
              <a:t>s</a:t>
            </a:r>
            <a:r>
              <a:rPr sz="2200" spc="-5" dirty="0">
                <a:latin typeface="Courier New"/>
                <a:cs typeface="Courier New"/>
              </a:rPr>
              <a:t>s</a:t>
            </a:r>
            <a:r>
              <a:rPr sz="2200" spc="-10" dirty="0">
                <a:latin typeface="Courier New"/>
                <a:cs typeface="Courier New"/>
              </a:rPr>
              <a:t>o</a:t>
            </a:r>
            <a:r>
              <a:rPr sz="2200" spc="-5" dirty="0">
                <a:latin typeface="Courier New"/>
                <a:cs typeface="Courier New"/>
              </a:rPr>
              <a:t>n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1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l</a:t>
            </a:r>
            <a:r>
              <a:rPr sz="2200" spc="-30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a</a:t>
            </a:r>
            <a:r>
              <a:rPr sz="2200" spc="10" dirty="0">
                <a:latin typeface="Courier New"/>
                <a:cs typeface="Courier New"/>
              </a:rPr>
              <a:t>r</a:t>
            </a:r>
            <a:r>
              <a:rPr sz="2200" spc="-5" dirty="0">
                <a:latin typeface="Courier New"/>
                <a:cs typeface="Courier New"/>
              </a:rPr>
              <a:t>n</a:t>
            </a:r>
            <a:r>
              <a:rPr sz="2200" spc="10" dirty="0">
                <a:latin typeface="Courier New"/>
                <a:cs typeface="Courier New"/>
              </a:rPr>
              <a:t>e</a:t>
            </a:r>
            <a:r>
              <a:rPr sz="2200" dirty="0">
                <a:latin typeface="Courier New"/>
                <a:cs typeface="Courier New"/>
              </a:rPr>
              <a:t>d</a:t>
            </a:r>
            <a:r>
              <a:rPr sz="2200" spc="7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t</a:t>
            </a:r>
            <a:r>
              <a:rPr sz="2200" spc="-5" dirty="0">
                <a:latin typeface="Courier New"/>
                <a:cs typeface="Courier New"/>
              </a:rPr>
              <a:t>h</a:t>
            </a:r>
            <a:r>
              <a:rPr sz="2200" spc="-10" dirty="0">
                <a:latin typeface="Courier New"/>
                <a:cs typeface="Courier New"/>
              </a:rPr>
              <a:t>a</a:t>
            </a:r>
            <a:r>
              <a:rPr sz="2200" dirty="0">
                <a:latin typeface="Courier New"/>
                <a:cs typeface="Courier New"/>
              </a:rPr>
              <a:t>t </a:t>
            </a:r>
            <a:r>
              <a:rPr sz="2200" spc="-10" dirty="0">
                <a:latin typeface="Courier New"/>
                <a:cs typeface="Courier New"/>
              </a:rPr>
              <a:t>coul</a:t>
            </a:r>
            <a:r>
              <a:rPr sz="2200" dirty="0">
                <a:latin typeface="Courier New"/>
                <a:cs typeface="Courier New"/>
              </a:rPr>
              <a:t>d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improv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performanc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-7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curren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r</a:t>
            </a:r>
            <a:r>
              <a:rPr sz="2200" spc="-7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futur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5" dirty="0">
                <a:latin typeface="Courier New"/>
                <a:cs typeface="Courier New"/>
              </a:rPr>
              <a:t>s</a:t>
            </a:r>
            <a:r>
              <a:rPr sz="2200" dirty="0">
                <a:latin typeface="Courier New"/>
                <a:cs typeface="Courier New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Managing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Controlling</a:t>
            </a:r>
            <a:r>
              <a:rPr spc="-1295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5381"/>
            <a:ext cx="10887710" cy="4531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Controlling</a:t>
            </a:r>
            <a:r>
              <a:rPr sz="2000" spc="-484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Quality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Controlling</a:t>
            </a:r>
            <a:r>
              <a:rPr sz="2000" spc="-5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quality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is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different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from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planning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managing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quality.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key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outcomes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of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Quality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Control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Process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includes:</a:t>
            </a:r>
            <a:endParaRPr sz="2000">
              <a:latin typeface="Courier New"/>
              <a:cs typeface="Courier New"/>
            </a:endParaRPr>
          </a:p>
          <a:p>
            <a:pPr marL="1243965" lvl="2" indent="-317500" algn="just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1243965" algn="l"/>
              </a:tabLst>
            </a:pPr>
            <a:r>
              <a:rPr sz="2000" b="1" dirty="0">
                <a:latin typeface="Courier New"/>
                <a:cs typeface="Courier New"/>
              </a:rPr>
              <a:t>Acceptance</a:t>
            </a:r>
            <a:r>
              <a:rPr sz="2000" b="1" spc="1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decisions</a:t>
            </a:r>
            <a:r>
              <a:rPr sz="2000" b="1" spc="1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whether</a:t>
            </a:r>
            <a:r>
              <a:rPr sz="2000" spc="11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7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products</a:t>
            </a:r>
            <a:r>
              <a:rPr sz="2000" spc="1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or</a:t>
            </a:r>
            <a:r>
              <a:rPr sz="2000" spc="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services</a:t>
            </a:r>
            <a:r>
              <a:rPr sz="2000" spc="1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that</a:t>
            </a:r>
            <a:r>
              <a:rPr sz="2000" spc="14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are</a:t>
            </a:r>
            <a:endParaRPr sz="2000">
              <a:latin typeface="Courier New"/>
              <a:cs typeface="Courier New"/>
            </a:endParaRPr>
          </a:p>
          <a:p>
            <a:pPr marL="1247140" algn="just">
              <a:lnSpc>
                <a:spcPct val="100000"/>
              </a:lnSpc>
              <a:spcBef>
                <a:spcPts val="720"/>
              </a:spcBef>
            </a:pPr>
            <a:r>
              <a:rPr sz="2000" spc="-20" dirty="0">
                <a:latin typeface="Courier New"/>
                <a:cs typeface="Courier New"/>
              </a:rPr>
              <a:t>produced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as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part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of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will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be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accepted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or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rejected.</a:t>
            </a:r>
            <a:endParaRPr sz="2000">
              <a:latin typeface="Courier New"/>
              <a:cs typeface="Courier New"/>
            </a:endParaRPr>
          </a:p>
          <a:p>
            <a:pPr marL="1243965" marR="5080" lvl="2" indent="-317500" algn="just">
              <a:lnSpc>
                <a:spcPct val="130000"/>
              </a:lnSpc>
              <a:spcBef>
                <a:spcPts val="990"/>
              </a:spcBef>
              <a:buFont typeface="Arial MT"/>
              <a:buChar char="•"/>
              <a:tabLst>
                <a:tab pos="1247140" algn="l"/>
              </a:tabLst>
            </a:pPr>
            <a:r>
              <a:rPr sz="2000" b="1" spc="-15" dirty="0">
                <a:latin typeface="Courier New"/>
                <a:cs typeface="Courier New"/>
              </a:rPr>
              <a:t>Rework</a:t>
            </a:r>
            <a:r>
              <a:rPr sz="2000" b="1" spc="-380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refers</a:t>
            </a:r>
            <a:r>
              <a:rPr sz="2000" spc="-40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to</a:t>
            </a:r>
            <a:r>
              <a:rPr sz="2000" spc="-45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the</a:t>
            </a:r>
            <a:r>
              <a:rPr sz="2000" spc="-405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activity</a:t>
            </a:r>
            <a:r>
              <a:rPr sz="2000" spc="-37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of</a:t>
            </a:r>
            <a:r>
              <a:rPr sz="2000" spc="-455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bringing</a:t>
            </a:r>
            <a:r>
              <a:rPr sz="2000" spc="-415" dirty="0">
                <a:latin typeface="Courier New"/>
                <a:cs typeface="Courier New"/>
              </a:rPr>
              <a:t> </a:t>
            </a:r>
            <a:r>
              <a:rPr sz="2000" spc="-15" dirty="0">
                <a:latin typeface="Courier New"/>
                <a:cs typeface="Courier New"/>
              </a:rPr>
              <a:t>a</a:t>
            </a:r>
            <a:r>
              <a:rPr sz="2000" spc="-720" dirty="0">
                <a:latin typeface="Courier New"/>
                <a:cs typeface="Courier New"/>
              </a:rPr>
              <a:t> </a:t>
            </a:r>
            <a:r>
              <a:rPr sz="2000" spc="-15" dirty="0">
                <a:latin typeface="Courier New"/>
                <a:cs typeface="Courier New"/>
              </a:rPr>
              <a:t>rejected</a:t>
            </a:r>
            <a:r>
              <a:rPr sz="2000" spc="-380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items</a:t>
            </a:r>
            <a:r>
              <a:rPr sz="2000" spc="-355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back</a:t>
            </a:r>
            <a:r>
              <a:rPr sz="2000" spc="-36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into</a:t>
            </a:r>
            <a:r>
              <a:rPr sz="2000" spc="-15" dirty="0">
                <a:latin typeface="Courier New"/>
                <a:cs typeface="Courier New"/>
              </a:rPr>
              <a:t> 	compliance</a:t>
            </a:r>
            <a:r>
              <a:rPr sz="2000" spc="-35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with</a:t>
            </a:r>
            <a:r>
              <a:rPr sz="2000" spc="-38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the</a:t>
            </a:r>
            <a:r>
              <a:rPr sz="2000" spc="-385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product</a:t>
            </a:r>
            <a:r>
              <a:rPr sz="2000" spc="-35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requirements,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specifications,</a:t>
            </a:r>
            <a:r>
              <a:rPr sz="2000" spc="-300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or</a:t>
            </a:r>
            <a:r>
              <a:rPr sz="2000" spc="-385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other</a:t>
            </a:r>
            <a:r>
              <a:rPr sz="2000" spc="-15" dirty="0">
                <a:latin typeface="Courier New"/>
                <a:cs typeface="Courier New"/>
              </a:rPr>
              <a:t> 	stakeholder</a:t>
            </a:r>
            <a:r>
              <a:rPr sz="2000" spc="-570" dirty="0">
                <a:latin typeface="Courier New"/>
                <a:cs typeface="Courier New"/>
              </a:rPr>
              <a:t> </a:t>
            </a:r>
            <a:r>
              <a:rPr sz="2000" spc="-15" dirty="0">
                <a:latin typeface="Courier New"/>
                <a:cs typeface="Courier New"/>
              </a:rPr>
              <a:t>expectations.</a:t>
            </a:r>
            <a:endParaRPr sz="2000">
              <a:latin typeface="Courier New"/>
              <a:cs typeface="Courier New"/>
            </a:endParaRPr>
          </a:p>
          <a:p>
            <a:pPr marL="1243965" lvl="2" indent="-317500" algn="just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1243965" algn="l"/>
              </a:tabLst>
            </a:pPr>
            <a:r>
              <a:rPr sz="2000" b="1" dirty="0">
                <a:latin typeface="Courier New"/>
                <a:cs typeface="Courier New"/>
              </a:rPr>
              <a:t>Process</a:t>
            </a:r>
            <a:r>
              <a:rPr sz="2000" b="1" spc="29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adjustments</a:t>
            </a:r>
            <a:r>
              <a:rPr sz="2000" b="1" spc="29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are</a:t>
            </a:r>
            <a:r>
              <a:rPr sz="2000" spc="2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applied</a:t>
            </a:r>
            <a:r>
              <a:rPr sz="2000" spc="2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2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correct</a:t>
            </a:r>
            <a:r>
              <a:rPr sz="2000" spc="28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or</a:t>
            </a:r>
            <a:r>
              <a:rPr sz="2000" spc="2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prevent</a:t>
            </a:r>
            <a:r>
              <a:rPr sz="2000" spc="3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further</a:t>
            </a:r>
            <a:endParaRPr sz="2000">
              <a:latin typeface="Courier New"/>
              <a:cs typeface="Courier New"/>
            </a:endParaRPr>
          </a:p>
          <a:p>
            <a:pPr marL="1247140" algn="just">
              <a:lnSpc>
                <a:spcPct val="100000"/>
              </a:lnSpc>
              <a:spcBef>
                <a:spcPts val="720"/>
              </a:spcBef>
            </a:pPr>
            <a:r>
              <a:rPr sz="2000" spc="-20" dirty="0">
                <a:latin typeface="Courier New"/>
                <a:cs typeface="Courier New"/>
              </a:rPr>
              <a:t>quality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problems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based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on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quality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control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measurements.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5381"/>
            <a:ext cx="9497060" cy="39916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Seven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Basic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Tools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of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Quality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their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application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IT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projects: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Cause-and-effect</a:t>
            </a:r>
            <a:r>
              <a:rPr sz="2000" spc="-4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diagrams.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Control</a:t>
            </a:r>
            <a:r>
              <a:rPr sz="2000" spc="-5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charts.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10" dirty="0">
                <a:latin typeface="Courier New"/>
                <a:cs typeface="Courier New"/>
              </a:rPr>
              <a:t>Checksheet.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Scatter</a:t>
            </a:r>
            <a:r>
              <a:rPr sz="2000" spc="-5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diagrams.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10" dirty="0">
                <a:latin typeface="Courier New"/>
                <a:cs typeface="Courier New"/>
              </a:rPr>
              <a:t>Histogram.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Pareto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chart.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10" dirty="0">
                <a:latin typeface="Courier New"/>
                <a:cs typeface="Courier New"/>
              </a:rPr>
              <a:t>Flowcharts.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0395"/>
            <a:ext cx="7205345" cy="1535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spc="-10" dirty="0">
                <a:latin typeface="Courier New"/>
                <a:cs typeface="Courier New"/>
              </a:rPr>
              <a:t>Cause-and-</a:t>
            </a:r>
            <a:r>
              <a:rPr sz="2200" b="1" dirty="0">
                <a:latin typeface="Courier New"/>
                <a:cs typeface="Courier New"/>
              </a:rPr>
              <a:t>effect</a:t>
            </a:r>
            <a:r>
              <a:rPr sz="2200" b="1" spc="49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diagrams</a:t>
            </a:r>
            <a:r>
              <a:rPr sz="2200" b="1" spc="509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(also</a:t>
            </a:r>
            <a:r>
              <a:rPr sz="2200" spc="4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known</a:t>
            </a:r>
            <a:r>
              <a:rPr sz="2200" spc="45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as </a:t>
            </a:r>
            <a:r>
              <a:rPr sz="2200" dirty="0">
                <a:latin typeface="Courier New"/>
                <a:cs typeface="Courier New"/>
              </a:rPr>
              <a:t>diagrams)</a:t>
            </a:r>
            <a:r>
              <a:rPr sz="2200" spc="3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trace</a:t>
            </a:r>
            <a:r>
              <a:rPr sz="2200" spc="3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complaints</a:t>
            </a:r>
            <a:r>
              <a:rPr sz="2200" spc="3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about</a:t>
            </a:r>
            <a:r>
              <a:rPr sz="2200" spc="3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quality operations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that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caused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those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problems.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31251" y="1790395"/>
            <a:ext cx="3536315" cy="1032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1435">
              <a:lnSpc>
                <a:spcPct val="150100"/>
              </a:lnSpc>
              <a:spcBef>
                <a:spcPts val="95"/>
              </a:spcBef>
            </a:pP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fishbone</a:t>
            </a:r>
            <a:r>
              <a:rPr sz="2200" i="1" spc="4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</a:t>
            </a:r>
            <a:r>
              <a:rPr sz="2200" spc="475" dirty="0">
                <a:latin typeface="Courier New"/>
                <a:cs typeface="Courier New"/>
              </a:rPr>
              <a:t> </a:t>
            </a:r>
            <a:r>
              <a:rPr sz="2200" i="1" u="heavy" spc="-3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Ishikawa</a:t>
            </a:r>
            <a:r>
              <a:rPr sz="2200" i="1" spc="-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problems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5129" y="2460498"/>
            <a:ext cx="1974214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back</a:t>
            </a:r>
            <a:r>
              <a:rPr sz="2200" spc="-37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31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the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524" y="3424946"/>
            <a:ext cx="10907395" cy="3300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latin typeface="Courier New"/>
                <a:cs typeface="Courier New"/>
              </a:rPr>
              <a:t>Cause-and-</a:t>
            </a:r>
            <a:r>
              <a:rPr sz="2200" spc="-35" dirty="0">
                <a:latin typeface="Courier New"/>
                <a:cs typeface="Courier New"/>
              </a:rPr>
              <a:t>effect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diagrams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160" dirty="0">
                <a:latin typeface="Courier New"/>
                <a:cs typeface="Courier New"/>
              </a:rPr>
              <a:t>are</a:t>
            </a:r>
            <a:r>
              <a:rPr sz="2200" spc="-17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helpful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335" dirty="0">
                <a:latin typeface="Courier New"/>
                <a:cs typeface="Courier New"/>
              </a:rPr>
              <a:t>in</a:t>
            </a:r>
            <a:r>
              <a:rPr sz="2200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finding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160" dirty="0">
                <a:latin typeface="Courier New"/>
                <a:cs typeface="Courier New"/>
              </a:rPr>
              <a:t>the</a:t>
            </a:r>
            <a:r>
              <a:rPr sz="2200" spc="-170" dirty="0">
                <a:latin typeface="Courier New"/>
                <a:cs typeface="Courier New"/>
              </a:rPr>
              <a:t> </a:t>
            </a:r>
            <a:r>
              <a:rPr sz="2200" spc="-120" dirty="0">
                <a:latin typeface="Courier New"/>
                <a:cs typeface="Courier New"/>
              </a:rPr>
              <a:t>root</a:t>
            </a:r>
            <a:r>
              <a:rPr sz="2200" spc="-21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cause</a:t>
            </a:r>
            <a:r>
              <a:rPr sz="2200" spc="-125" dirty="0">
                <a:latin typeface="Courier New"/>
                <a:cs typeface="Courier New"/>
              </a:rPr>
              <a:t> </a:t>
            </a:r>
            <a:r>
              <a:rPr sz="2200" spc="-240" dirty="0">
                <a:latin typeface="Courier New"/>
                <a:cs typeface="Courier New"/>
              </a:rPr>
              <a:t>of</a:t>
            </a:r>
            <a:r>
              <a:rPr sz="2200" spc="-9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a </a:t>
            </a:r>
            <a:r>
              <a:rPr sz="2200" spc="-10" dirty="0">
                <a:latin typeface="Courier New"/>
                <a:cs typeface="Courier New"/>
              </a:rPr>
              <a:t>problem.</a:t>
            </a:r>
            <a:endParaRPr sz="2200" dirty="0">
              <a:latin typeface="Courier New"/>
              <a:cs typeface="Courier New"/>
            </a:endParaRPr>
          </a:p>
          <a:p>
            <a:pPr marL="241300" marR="20320" indent="-228600" algn="just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Courier New"/>
                <a:cs typeface="Courier New"/>
              </a:rPr>
              <a:t>5</a:t>
            </a:r>
            <a:r>
              <a:rPr sz="2200" b="1" spc="26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whys</a:t>
            </a:r>
            <a:r>
              <a:rPr sz="2200" b="1" spc="300" dirty="0"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technique</a:t>
            </a:r>
            <a:r>
              <a:rPr sz="2200" i="1" u="heavy" spc="33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of</a:t>
            </a:r>
            <a:r>
              <a:rPr sz="2200" i="1" u="heavy" spc="27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repeatedly</a:t>
            </a:r>
            <a:r>
              <a:rPr sz="2200" i="1" u="heavy" spc="27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asking</a:t>
            </a:r>
            <a:r>
              <a:rPr sz="2200" i="1" u="heavy" spc="27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the</a:t>
            </a:r>
            <a:r>
              <a:rPr sz="2200" i="1" u="heavy" spc="29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question</a:t>
            </a:r>
            <a:r>
              <a:rPr sz="2200" i="1" u="heavy" spc="35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“Why?”</a:t>
            </a:r>
            <a:r>
              <a:rPr sz="2200" i="1" u="heavy" spc="3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can </a:t>
            </a:r>
            <a:r>
              <a:rPr sz="2200" spc="-55" dirty="0">
                <a:latin typeface="Courier New"/>
                <a:cs typeface="Courier New"/>
              </a:rPr>
              <a:t>also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315" dirty="0">
                <a:latin typeface="Courier New"/>
                <a:cs typeface="Courier New"/>
              </a:rPr>
              <a:t>be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114" dirty="0">
                <a:latin typeface="Courier New"/>
                <a:cs typeface="Courier New"/>
              </a:rPr>
              <a:t>used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spc="-335" dirty="0">
                <a:latin typeface="Courier New"/>
                <a:cs typeface="Courier New"/>
              </a:rPr>
              <a:t>to</a:t>
            </a:r>
            <a:r>
              <a:rPr sz="2200" spc="5" dirty="0">
                <a:latin typeface="Courier New"/>
                <a:cs typeface="Courier New"/>
              </a:rPr>
              <a:t> </a:t>
            </a:r>
            <a:r>
              <a:rPr sz="2200" spc="-185" dirty="0">
                <a:latin typeface="Courier New"/>
                <a:cs typeface="Courier New"/>
              </a:rPr>
              <a:t>help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peel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114" dirty="0">
                <a:latin typeface="Courier New"/>
                <a:cs typeface="Courier New"/>
              </a:rPr>
              <a:t>away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spc="-170" dirty="0">
                <a:latin typeface="Courier New"/>
                <a:cs typeface="Courier New"/>
              </a:rPr>
              <a:t>the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layers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475" dirty="0">
                <a:latin typeface="Courier New"/>
                <a:cs typeface="Courier New"/>
              </a:rPr>
              <a:t>of</a:t>
            </a:r>
            <a:r>
              <a:rPr sz="2200" spc="145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symptoms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100" dirty="0">
                <a:latin typeface="Courier New"/>
                <a:cs typeface="Courier New"/>
              </a:rPr>
              <a:t>that</a:t>
            </a:r>
            <a:r>
              <a:rPr sz="2200" spc="-229" dirty="0">
                <a:latin typeface="Courier New"/>
                <a:cs typeface="Courier New"/>
              </a:rPr>
              <a:t> </a:t>
            </a:r>
            <a:r>
              <a:rPr sz="2200" spc="-125" dirty="0">
                <a:latin typeface="Courier New"/>
                <a:cs typeface="Courier New"/>
              </a:rPr>
              <a:t>can</a:t>
            </a:r>
            <a:r>
              <a:rPr sz="2200" spc="-210" dirty="0">
                <a:latin typeface="Courier New"/>
                <a:cs typeface="Courier New"/>
              </a:rPr>
              <a:t> </a:t>
            </a:r>
            <a:r>
              <a:rPr sz="2200" spc="-75" dirty="0">
                <a:latin typeface="Courier New"/>
                <a:cs typeface="Courier New"/>
              </a:rPr>
              <a:t>lead</a:t>
            </a:r>
            <a:r>
              <a:rPr sz="2200" spc="-13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to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root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cause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problem.</a:t>
            </a:r>
            <a:endParaRPr sz="2200" dirty="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Courier New"/>
                <a:cs typeface="Courier New"/>
              </a:rPr>
              <a:t>5</a:t>
            </a:r>
            <a:r>
              <a:rPr sz="2200" b="1" spc="-1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good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rule</a:t>
            </a:r>
            <a:r>
              <a:rPr sz="2200" b="1" spc="-12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of</a:t>
            </a:r>
            <a:r>
              <a:rPr sz="2200" b="1" spc="-114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thumb</a:t>
            </a:r>
            <a:r>
              <a:rPr sz="2200" dirty="0">
                <a:latin typeface="Courier New"/>
                <a:cs typeface="Courier New"/>
              </a:rPr>
              <a:t>,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however,</a:t>
            </a:r>
            <a:r>
              <a:rPr sz="2200" spc="-2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other</a:t>
            </a:r>
            <a:r>
              <a:rPr sz="2200" spc="-1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number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229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questions</a:t>
            </a:r>
            <a:r>
              <a:rPr sz="2200" spc="-13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can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1524" y="1783079"/>
            <a:ext cx="385508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  <a:tab pos="2039620" algn="l"/>
              </a:tabLst>
            </a:pPr>
            <a:r>
              <a:rPr sz="2400" spc="-10" dirty="0">
                <a:latin typeface="Courier New"/>
                <a:cs typeface="Courier New"/>
              </a:rPr>
              <a:t>Sample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35" dirty="0">
                <a:latin typeface="Courier New"/>
                <a:cs typeface="Courier New"/>
              </a:rPr>
              <a:t>Cause-</a:t>
            </a:r>
            <a:r>
              <a:rPr sz="2400" dirty="0">
                <a:latin typeface="Courier New"/>
                <a:cs typeface="Courier New"/>
              </a:rPr>
              <a:t>and-	</a:t>
            </a:r>
            <a:r>
              <a:rPr sz="2400" spc="-10" dirty="0">
                <a:latin typeface="Courier New"/>
                <a:cs typeface="Courier New"/>
              </a:rPr>
              <a:t>effect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Diagram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7928" y="1825751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9538"/>
            <a:ext cx="10897870" cy="4633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4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control</a:t>
            </a:r>
            <a:r>
              <a:rPr sz="2200" b="1" spc="-5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chart</a:t>
            </a:r>
            <a:r>
              <a:rPr sz="2200" b="1" spc="-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1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graphic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display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data</a:t>
            </a:r>
            <a:r>
              <a:rPr sz="2200" spc="-1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-1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highlights</a:t>
            </a:r>
            <a:r>
              <a:rPr sz="2200" spc="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the </a:t>
            </a:r>
            <a:r>
              <a:rPr sz="2200" spc="-10" dirty="0">
                <a:latin typeface="Courier New"/>
                <a:cs typeface="Courier New"/>
              </a:rPr>
              <a:t>results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process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over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time.</a:t>
            </a:r>
            <a:endParaRPr sz="2200" dirty="0">
              <a:latin typeface="Courier New"/>
              <a:cs typeface="Courier New"/>
            </a:endParaRPr>
          </a:p>
          <a:p>
            <a:pPr marL="240665" indent="-227965" algn="just">
              <a:lnSpc>
                <a:spcPct val="100000"/>
              </a:lnSpc>
              <a:spcBef>
                <a:spcPts val="20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ourier New"/>
                <a:cs typeface="Courier New"/>
              </a:rPr>
              <a:t>Control</a:t>
            </a:r>
            <a:r>
              <a:rPr sz="2200" spc="1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charts</a:t>
            </a:r>
            <a:r>
              <a:rPr sz="2200" spc="1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enable</a:t>
            </a:r>
            <a:r>
              <a:rPr sz="2200" spc="2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you</a:t>
            </a:r>
            <a:r>
              <a:rPr sz="2200" spc="1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determine</a:t>
            </a:r>
            <a:r>
              <a:rPr sz="2200" spc="1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whether</a:t>
            </a:r>
            <a:r>
              <a:rPr sz="2200" spc="1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process</a:t>
            </a:r>
            <a:r>
              <a:rPr sz="2200" spc="2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17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in</a:t>
            </a:r>
            <a:endParaRPr sz="2200" dirty="0">
              <a:latin typeface="Courier New"/>
              <a:cs typeface="Courier New"/>
            </a:endParaRPr>
          </a:p>
          <a:p>
            <a:pPr marL="241300" algn="just">
              <a:lnSpc>
                <a:spcPct val="100000"/>
              </a:lnSpc>
              <a:spcBef>
                <a:spcPts val="1055"/>
              </a:spcBef>
            </a:pPr>
            <a:r>
              <a:rPr sz="2200" spc="-10" dirty="0">
                <a:latin typeface="Courier New"/>
                <a:cs typeface="Courier New"/>
              </a:rPr>
              <a:t>control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or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out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control.</a:t>
            </a:r>
            <a:endParaRPr sz="2200" dirty="0">
              <a:latin typeface="Courier New"/>
              <a:cs typeface="Courier New"/>
            </a:endParaRPr>
          </a:p>
          <a:p>
            <a:pPr marL="241300" marR="8890" indent="-228600" algn="just">
              <a:lnSpc>
                <a:spcPct val="14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latin typeface="Courier New"/>
                <a:cs typeface="Courier New"/>
              </a:rPr>
              <a:t>Whe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44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p</a:t>
            </a:r>
            <a:r>
              <a:rPr sz="2200" spc="-60" dirty="0">
                <a:latin typeface="Courier New"/>
                <a:cs typeface="Courier New"/>
              </a:rPr>
              <a:t>r</a:t>
            </a:r>
            <a:r>
              <a:rPr sz="2200" spc="-35" dirty="0">
                <a:latin typeface="Courier New"/>
                <a:cs typeface="Courier New"/>
              </a:rPr>
              <a:t>o</a:t>
            </a:r>
            <a:r>
              <a:rPr sz="2200" spc="-5" dirty="0">
                <a:latin typeface="Courier New"/>
                <a:cs typeface="Courier New"/>
              </a:rPr>
              <a:t>c</a:t>
            </a:r>
            <a:r>
              <a:rPr sz="2200" spc="-15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s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i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37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i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spc="-175" dirty="0">
                <a:latin typeface="Courier New"/>
                <a:cs typeface="Courier New"/>
              </a:rPr>
              <a:t>c</a:t>
            </a:r>
            <a:r>
              <a:rPr sz="2200" spc="-80" dirty="0">
                <a:latin typeface="Courier New"/>
                <a:cs typeface="Courier New"/>
              </a:rPr>
              <a:t>o</a:t>
            </a:r>
            <a:r>
              <a:rPr sz="2200" spc="-60" dirty="0">
                <a:latin typeface="Courier New"/>
                <a:cs typeface="Courier New"/>
              </a:rPr>
              <a:t>n</a:t>
            </a:r>
            <a:r>
              <a:rPr sz="2200" spc="-35" dirty="0">
                <a:latin typeface="Courier New"/>
                <a:cs typeface="Courier New"/>
              </a:rPr>
              <a:t>t</a:t>
            </a:r>
            <a:r>
              <a:rPr sz="2200" spc="-5" dirty="0">
                <a:latin typeface="Courier New"/>
                <a:cs typeface="Courier New"/>
              </a:rPr>
              <a:t>r</a:t>
            </a:r>
            <a:r>
              <a:rPr sz="2200" spc="-15" dirty="0">
                <a:latin typeface="Courier New"/>
                <a:cs typeface="Courier New"/>
              </a:rPr>
              <a:t>o</a:t>
            </a:r>
            <a:r>
              <a:rPr sz="2200" spc="-5" dirty="0">
                <a:latin typeface="Courier New"/>
                <a:cs typeface="Courier New"/>
              </a:rPr>
              <a:t>l</a:t>
            </a:r>
            <a:r>
              <a:rPr sz="2200" dirty="0">
                <a:latin typeface="Courier New"/>
                <a:cs typeface="Courier New"/>
              </a:rPr>
              <a:t>,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a</a:t>
            </a:r>
            <a:r>
              <a:rPr sz="2200" spc="-60" dirty="0">
                <a:latin typeface="Courier New"/>
                <a:cs typeface="Courier New"/>
              </a:rPr>
              <a:t>n</a:t>
            </a:r>
            <a:r>
              <a:rPr sz="2200" dirty="0">
                <a:latin typeface="Courier New"/>
                <a:cs typeface="Courier New"/>
              </a:rPr>
              <a:t>y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v</a:t>
            </a:r>
            <a:r>
              <a:rPr sz="2200" spc="-60" dirty="0">
                <a:latin typeface="Courier New"/>
                <a:cs typeface="Courier New"/>
              </a:rPr>
              <a:t>a</a:t>
            </a:r>
            <a:r>
              <a:rPr sz="2200" spc="-35" dirty="0">
                <a:latin typeface="Courier New"/>
                <a:cs typeface="Courier New"/>
              </a:rPr>
              <a:t>r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40" dirty="0">
                <a:latin typeface="Courier New"/>
                <a:cs typeface="Courier New"/>
              </a:rPr>
              <a:t>a</a:t>
            </a:r>
            <a:r>
              <a:rPr sz="2200" spc="-5" dirty="0">
                <a:latin typeface="Courier New"/>
                <a:cs typeface="Courier New"/>
              </a:rPr>
              <a:t>t</a:t>
            </a:r>
            <a:r>
              <a:rPr sz="2200" spc="-15" dirty="0">
                <a:latin typeface="Courier New"/>
                <a:cs typeface="Courier New"/>
              </a:rPr>
              <a:t>i</a:t>
            </a: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spc="-15" dirty="0">
                <a:latin typeface="Courier New"/>
                <a:cs typeface="Courier New"/>
              </a:rPr>
              <a:t>n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i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-37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t</a:t>
            </a:r>
            <a:r>
              <a:rPr sz="2200" spc="-60" dirty="0">
                <a:latin typeface="Courier New"/>
                <a:cs typeface="Courier New"/>
              </a:rPr>
              <a:t>h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p</a:t>
            </a:r>
            <a:r>
              <a:rPr sz="2200" spc="-5" dirty="0">
                <a:latin typeface="Courier New"/>
                <a:cs typeface="Courier New"/>
              </a:rPr>
              <a:t>r</a:t>
            </a:r>
            <a:r>
              <a:rPr sz="2200" spc="-15" dirty="0">
                <a:latin typeface="Courier New"/>
                <a:cs typeface="Courier New"/>
              </a:rPr>
              <a:t>o</a:t>
            </a:r>
            <a:r>
              <a:rPr sz="2200" spc="15" dirty="0">
                <a:latin typeface="Courier New"/>
                <a:cs typeface="Courier New"/>
              </a:rPr>
              <a:t>ce</a:t>
            </a:r>
            <a:r>
              <a:rPr sz="2200" spc="-5" dirty="0">
                <a:latin typeface="Courier New"/>
                <a:cs typeface="Courier New"/>
              </a:rPr>
              <a:t>s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r</a:t>
            </a:r>
            <a:r>
              <a:rPr sz="2200" spc="-35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s</a:t>
            </a:r>
            <a:r>
              <a:rPr sz="2200" spc="5" dirty="0">
                <a:latin typeface="Courier New"/>
                <a:cs typeface="Courier New"/>
              </a:rPr>
              <a:t>u</a:t>
            </a:r>
            <a:r>
              <a:rPr sz="2200" spc="15" dirty="0">
                <a:latin typeface="Courier New"/>
                <a:cs typeface="Courier New"/>
              </a:rPr>
              <a:t>lt</a:t>
            </a:r>
            <a:r>
              <a:rPr sz="2200" dirty="0">
                <a:latin typeface="Courier New"/>
                <a:cs typeface="Courier New"/>
              </a:rPr>
              <a:t>s </a:t>
            </a:r>
            <a:r>
              <a:rPr sz="2200" spc="-5" dirty="0">
                <a:latin typeface="Courier New"/>
                <a:cs typeface="Courier New"/>
              </a:rPr>
              <a:t>ar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100" dirty="0">
                <a:latin typeface="Courier New"/>
                <a:cs typeface="Courier New"/>
              </a:rPr>
              <a:t>p</a:t>
            </a:r>
            <a:r>
              <a:rPr sz="2200" spc="-55" dirty="0">
                <a:latin typeface="Courier New"/>
                <a:cs typeface="Courier New"/>
              </a:rPr>
              <a:t>r</a:t>
            </a:r>
            <a:r>
              <a:rPr sz="2200" spc="-5" dirty="0">
                <a:latin typeface="Courier New"/>
                <a:cs typeface="Courier New"/>
              </a:rPr>
              <a:t>od</a:t>
            </a:r>
            <a:r>
              <a:rPr sz="2200" spc="-10" dirty="0">
                <a:latin typeface="Courier New"/>
                <a:cs typeface="Courier New"/>
              </a:rPr>
              <a:t>u</a:t>
            </a:r>
            <a:r>
              <a:rPr sz="2200" spc="-5" dirty="0">
                <a:latin typeface="Courier New"/>
                <a:cs typeface="Courier New"/>
              </a:rPr>
              <a:t>ce</a:t>
            </a:r>
            <a:r>
              <a:rPr sz="2200" dirty="0">
                <a:latin typeface="Courier New"/>
                <a:cs typeface="Courier New"/>
              </a:rPr>
              <a:t>d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b</a:t>
            </a:r>
            <a:r>
              <a:rPr sz="2200" dirty="0">
                <a:latin typeface="Courier New"/>
                <a:cs typeface="Courier New"/>
              </a:rPr>
              <a:t>y</a:t>
            </a:r>
            <a:r>
              <a:rPr sz="2200" spc="-390" dirty="0">
                <a:latin typeface="Courier New"/>
                <a:cs typeface="Courier New"/>
              </a:rPr>
              <a:t> </a:t>
            </a:r>
            <a:r>
              <a:rPr sz="2200" b="1" spc="-105" dirty="0">
                <a:latin typeface="Courier New"/>
                <a:cs typeface="Courier New"/>
              </a:rPr>
              <a:t>r</a:t>
            </a:r>
            <a:r>
              <a:rPr sz="2200" b="1" spc="-55" dirty="0">
                <a:latin typeface="Courier New"/>
                <a:cs typeface="Courier New"/>
              </a:rPr>
              <a:t>an</a:t>
            </a:r>
            <a:r>
              <a:rPr sz="2200" b="1" spc="-5" dirty="0">
                <a:latin typeface="Courier New"/>
                <a:cs typeface="Courier New"/>
              </a:rPr>
              <a:t>d</a:t>
            </a:r>
            <a:r>
              <a:rPr sz="2200" b="1" spc="-10" dirty="0">
                <a:latin typeface="Courier New"/>
                <a:cs typeface="Courier New"/>
              </a:rPr>
              <a:t>o</a:t>
            </a:r>
            <a:r>
              <a:rPr sz="2200" b="1" dirty="0">
                <a:latin typeface="Courier New"/>
                <a:cs typeface="Courier New"/>
              </a:rPr>
              <a:t>m</a:t>
            </a:r>
            <a:r>
              <a:rPr sz="2200" b="1" spc="-29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e</a:t>
            </a:r>
            <a:r>
              <a:rPr sz="2200" spc="-30" dirty="0">
                <a:latin typeface="Courier New"/>
                <a:cs typeface="Courier New"/>
              </a:rPr>
              <a:t>ve</a:t>
            </a:r>
            <a:r>
              <a:rPr sz="2200" spc="-5" dirty="0">
                <a:latin typeface="Courier New"/>
                <a:cs typeface="Courier New"/>
              </a:rPr>
              <a:t>n</a:t>
            </a:r>
            <a:r>
              <a:rPr sz="2200" spc="-10" dirty="0">
                <a:latin typeface="Courier New"/>
                <a:cs typeface="Courier New"/>
              </a:rPr>
              <a:t>t</a:t>
            </a:r>
            <a:r>
              <a:rPr sz="2200" spc="-5" dirty="0">
                <a:latin typeface="Courier New"/>
                <a:cs typeface="Courier New"/>
              </a:rPr>
              <a:t>s</a:t>
            </a:r>
            <a:r>
              <a:rPr sz="2200" dirty="0">
                <a:latin typeface="Courier New"/>
                <a:cs typeface="Courier New"/>
              </a:rPr>
              <a:t>.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b="1" spc="-105" dirty="0">
                <a:latin typeface="Courier New"/>
                <a:cs typeface="Courier New"/>
              </a:rPr>
              <a:t>I</a:t>
            </a:r>
            <a:r>
              <a:rPr sz="2200" b="1" spc="-55" dirty="0">
                <a:latin typeface="Courier New"/>
                <a:cs typeface="Courier New"/>
              </a:rPr>
              <a:t>n</a:t>
            </a:r>
            <a:r>
              <a:rPr sz="2200" b="1" spc="-30" dirty="0">
                <a:latin typeface="Courier New"/>
                <a:cs typeface="Courier New"/>
              </a:rPr>
              <a:t>-</a:t>
            </a:r>
            <a:r>
              <a:rPr sz="2200" b="1" spc="-5" dirty="0">
                <a:latin typeface="Courier New"/>
                <a:cs typeface="Courier New"/>
              </a:rPr>
              <a:t>contro</a:t>
            </a:r>
            <a:r>
              <a:rPr sz="2200" b="1" dirty="0">
                <a:latin typeface="Courier New"/>
                <a:cs typeface="Courier New"/>
              </a:rPr>
              <a:t>l</a:t>
            </a:r>
            <a:r>
              <a:rPr sz="2200" b="1" spc="-5" dirty="0">
                <a:latin typeface="Courier New"/>
                <a:cs typeface="Courier New"/>
              </a:rPr>
              <a:t> pr</a:t>
            </a:r>
            <a:r>
              <a:rPr sz="2200" b="1" spc="15" dirty="0">
                <a:latin typeface="Courier New"/>
                <a:cs typeface="Courier New"/>
              </a:rPr>
              <a:t>o</a:t>
            </a:r>
            <a:r>
              <a:rPr sz="2200" b="1" spc="-5" dirty="0">
                <a:latin typeface="Courier New"/>
                <a:cs typeface="Courier New"/>
              </a:rPr>
              <a:t>ce</a:t>
            </a:r>
            <a:r>
              <a:rPr sz="2200" b="1" spc="-10" dirty="0">
                <a:latin typeface="Courier New"/>
                <a:cs typeface="Courier New"/>
              </a:rPr>
              <a:t>s</a:t>
            </a:r>
            <a:r>
              <a:rPr sz="2200" b="1" spc="15" dirty="0">
                <a:latin typeface="Courier New"/>
                <a:cs typeface="Courier New"/>
              </a:rPr>
              <a:t>s</a:t>
            </a:r>
            <a:r>
              <a:rPr sz="2200" b="1" spc="-5" dirty="0">
                <a:latin typeface="Courier New"/>
                <a:cs typeface="Courier New"/>
              </a:rPr>
              <a:t>e</a:t>
            </a:r>
            <a:r>
              <a:rPr sz="2200" b="1" dirty="0">
                <a:latin typeface="Courier New"/>
                <a:cs typeface="Courier New"/>
              </a:rPr>
              <a:t>s</a:t>
            </a:r>
            <a:r>
              <a:rPr sz="2200" b="1" spc="-20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d</a:t>
            </a:r>
            <a:r>
              <a:rPr sz="2200" dirty="0">
                <a:latin typeface="Courier New"/>
                <a:cs typeface="Courier New"/>
              </a:rPr>
              <a:t>o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150" dirty="0">
                <a:latin typeface="Courier New"/>
                <a:cs typeface="Courier New"/>
              </a:rPr>
              <a:t>n</a:t>
            </a:r>
            <a:r>
              <a:rPr sz="2200" spc="15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n</a:t>
            </a:r>
            <a:r>
              <a:rPr sz="2200" spc="-30" dirty="0">
                <a:latin typeface="Courier New"/>
                <a:cs typeface="Courier New"/>
              </a:rPr>
              <a:t>e</a:t>
            </a:r>
            <a:r>
              <a:rPr sz="2200" spc="15" dirty="0">
                <a:latin typeface="Courier New"/>
                <a:cs typeface="Courier New"/>
              </a:rPr>
              <a:t>e</a:t>
            </a:r>
            <a:r>
              <a:rPr sz="2200" dirty="0">
                <a:latin typeface="Courier New"/>
                <a:cs typeface="Courier New"/>
              </a:rPr>
              <a:t>d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to </a:t>
            </a:r>
            <a:r>
              <a:rPr sz="2200" spc="-5" dirty="0">
                <a:latin typeface="Courier New"/>
                <a:cs typeface="Courier New"/>
              </a:rPr>
              <a:t>b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adjusted</a:t>
            </a:r>
            <a:r>
              <a:rPr sz="2200" dirty="0">
                <a:latin typeface="Courier New"/>
                <a:cs typeface="Courier New"/>
              </a:rPr>
              <a:t>.</a:t>
            </a:r>
          </a:p>
          <a:p>
            <a:pPr marL="241300" marR="7620" indent="-228600" algn="just">
              <a:lnSpc>
                <a:spcPct val="14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latin typeface="Courier New"/>
                <a:cs typeface="Courier New"/>
              </a:rPr>
              <a:t>Whe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44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p</a:t>
            </a:r>
            <a:r>
              <a:rPr sz="2200" spc="-60" dirty="0">
                <a:latin typeface="Courier New"/>
                <a:cs typeface="Courier New"/>
              </a:rPr>
              <a:t>r</a:t>
            </a:r>
            <a:r>
              <a:rPr sz="2200" spc="-35" dirty="0">
                <a:latin typeface="Courier New"/>
                <a:cs typeface="Courier New"/>
              </a:rPr>
              <a:t>o</a:t>
            </a:r>
            <a:r>
              <a:rPr sz="2200" spc="-5" dirty="0">
                <a:latin typeface="Courier New"/>
                <a:cs typeface="Courier New"/>
              </a:rPr>
              <a:t>c</a:t>
            </a:r>
            <a:r>
              <a:rPr sz="2200" spc="-15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s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i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37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o</a:t>
            </a:r>
            <a:r>
              <a:rPr sz="2200" spc="-130" dirty="0">
                <a:latin typeface="Courier New"/>
                <a:cs typeface="Courier New"/>
              </a:rPr>
              <a:t>u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f</a:t>
            </a:r>
            <a:r>
              <a:rPr sz="2200" spc="-37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c</a:t>
            </a:r>
            <a:r>
              <a:rPr sz="2200" spc="-60" dirty="0">
                <a:latin typeface="Courier New"/>
                <a:cs typeface="Courier New"/>
              </a:rPr>
              <a:t>o</a:t>
            </a:r>
            <a:r>
              <a:rPr sz="2200" spc="-35" dirty="0">
                <a:latin typeface="Courier New"/>
                <a:cs typeface="Courier New"/>
              </a:rPr>
              <a:t>n</a:t>
            </a:r>
            <a:r>
              <a:rPr sz="2200" spc="-5" dirty="0">
                <a:latin typeface="Courier New"/>
                <a:cs typeface="Courier New"/>
              </a:rPr>
              <a:t>t</a:t>
            </a:r>
            <a:r>
              <a:rPr sz="2200" spc="-15" dirty="0">
                <a:latin typeface="Courier New"/>
                <a:cs typeface="Courier New"/>
              </a:rPr>
              <a:t>r</a:t>
            </a: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spc="-15" dirty="0">
                <a:latin typeface="Courier New"/>
                <a:cs typeface="Courier New"/>
              </a:rPr>
              <a:t>l</a:t>
            </a:r>
            <a:r>
              <a:rPr sz="2200" dirty="0">
                <a:latin typeface="Courier New"/>
                <a:cs typeface="Courier New"/>
              </a:rPr>
              <a:t>,</a:t>
            </a:r>
            <a:r>
              <a:rPr sz="2200" spc="-31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v</a:t>
            </a:r>
            <a:r>
              <a:rPr sz="2200" spc="-60" dirty="0">
                <a:latin typeface="Courier New"/>
                <a:cs typeface="Courier New"/>
              </a:rPr>
              <a:t>a</a:t>
            </a:r>
            <a:r>
              <a:rPr sz="2200" spc="-35" dirty="0">
                <a:latin typeface="Courier New"/>
                <a:cs typeface="Courier New"/>
              </a:rPr>
              <a:t>r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40" dirty="0">
                <a:latin typeface="Courier New"/>
                <a:cs typeface="Courier New"/>
              </a:rPr>
              <a:t>a</a:t>
            </a:r>
            <a:r>
              <a:rPr sz="2200" spc="-5" dirty="0">
                <a:latin typeface="Courier New"/>
                <a:cs typeface="Courier New"/>
              </a:rPr>
              <a:t>t</a:t>
            </a:r>
            <a:r>
              <a:rPr sz="2200" spc="-15" dirty="0">
                <a:latin typeface="Courier New"/>
                <a:cs typeface="Courier New"/>
              </a:rPr>
              <a:t>i</a:t>
            </a: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spc="-15" dirty="0">
                <a:latin typeface="Courier New"/>
                <a:cs typeface="Courier New"/>
              </a:rPr>
              <a:t>n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i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-37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t</a:t>
            </a:r>
            <a:r>
              <a:rPr sz="2200" spc="-60" dirty="0">
                <a:latin typeface="Courier New"/>
                <a:cs typeface="Courier New"/>
              </a:rPr>
              <a:t>h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p</a:t>
            </a:r>
            <a:r>
              <a:rPr sz="2200" spc="-5" dirty="0">
                <a:latin typeface="Courier New"/>
                <a:cs typeface="Courier New"/>
              </a:rPr>
              <a:t>r</a:t>
            </a:r>
            <a:r>
              <a:rPr sz="2200" spc="-15" dirty="0">
                <a:latin typeface="Courier New"/>
                <a:cs typeface="Courier New"/>
              </a:rPr>
              <a:t>o</a:t>
            </a:r>
            <a:r>
              <a:rPr sz="2200" spc="15" dirty="0">
                <a:latin typeface="Courier New"/>
                <a:cs typeface="Courier New"/>
              </a:rPr>
              <a:t>ce</a:t>
            </a:r>
            <a:r>
              <a:rPr sz="2200" spc="-5" dirty="0">
                <a:latin typeface="Courier New"/>
                <a:cs typeface="Courier New"/>
              </a:rPr>
              <a:t>s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r</a:t>
            </a:r>
            <a:r>
              <a:rPr sz="2200" spc="-35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s</a:t>
            </a:r>
            <a:r>
              <a:rPr sz="2200" spc="5" dirty="0">
                <a:latin typeface="Courier New"/>
                <a:cs typeface="Courier New"/>
              </a:rPr>
              <a:t>u</a:t>
            </a:r>
            <a:r>
              <a:rPr sz="2200" spc="15" dirty="0">
                <a:latin typeface="Courier New"/>
                <a:cs typeface="Courier New"/>
              </a:rPr>
              <a:t>lt</a:t>
            </a:r>
            <a:r>
              <a:rPr sz="2200" dirty="0">
                <a:latin typeface="Courier New"/>
                <a:cs typeface="Courier New"/>
              </a:rPr>
              <a:t>s </a:t>
            </a:r>
            <a:r>
              <a:rPr sz="2200" spc="-10" dirty="0">
                <a:latin typeface="Courier New"/>
                <a:cs typeface="Courier New"/>
              </a:rPr>
              <a:t>ar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395" dirty="0">
                <a:latin typeface="Courier New"/>
                <a:cs typeface="Courier New"/>
              </a:rPr>
              <a:t> </a:t>
            </a:r>
            <a:r>
              <a:rPr sz="2200" spc="-100" dirty="0">
                <a:latin typeface="Courier New"/>
                <a:cs typeface="Courier New"/>
              </a:rPr>
              <a:t>c</a:t>
            </a:r>
            <a:r>
              <a:rPr sz="2200" spc="-30" dirty="0">
                <a:latin typeface="Courier New"/>
                <a:cs typeface="Courier New"/>
              </a:rPr>
              <a:t>au</a:t>
            </a:r>
            <a:r>
              <a:rPr sz="2200" spc="-5" dirty="0">
                <a:latin typeface="Courier New"/>
                <a:cs typeface="Courier New"/>
              </a:rPr>
              <a:t>s</a:t>
            </a:r>
            <a:r>
              <a:rPr sz="2200" spc="-10" dirty="0">
                <a:latin typeface="Courier New"/>
                <a:cs typeface="Courier New"/>
              </a:rPr>
              <a:t>e</a:t>
            </a:r>
            <a:r>
              <a:rPr sz="2200" dirty="0">
                <a:latin typeface="Courier New"/>
                <a:cs typeface="Courier New"/>
              </a:rPr>
              <a:t>d</a:t>
            </a:r>
            <a:r>
              <a:rPr sz="2200" spc="-42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b</a:t>
            </a:r>
            <a:r>
              <a:rPr sz="2200" dirty="0">
                <a:latin typeface="Courier New"/>
                <a:cs typeface="Courier New"/>
              </a:rPr>
              <a:t>y</a:t>
            </a:r>
            <a:r>
              <a:rPr sz="2200" spc="-465" dirty="0">
                <a:latin typeface="Courier New"/>
                <a:cs typeface="Courier New"/>
              </a:rPr>
              <a:t> </a:t>
            </a:r>
            <a:r>
              <a:rPr sz="2200" b="1" spc="-105" dirty="0">
                <a:latin typeface="Courier New"/>
                <a:cs typeface="Courier New"/>
              </a:rPr>
              <a:t>n</a:t>
            </a:r>
            <a:r>
              <a:rPr sz="2200" b="1" spc="-60" dirty="0">
                <a:latin typeface="Courier New"/>
                <a:cs typeface="Courier New"/>
              </a:rPr>
              <a:t>o</a:t>
            </a:r>
            <a:r>
              <a:rPr sz="2200" b="1" spc="-35" dirty="0">
                <a:latin typeface="Courier New"/>
                <a:cs typeface="Courier New"/>
              </a:rPr>
              <a:t>n</a:t>
            </a:r>
            <a:r>
              <a:rPr sz="2200" b="1" spc="-5" dirty="0">
                <a:latin typeface="Courier New"/>
                <a:cs typeface="Courier New"/>
              </a:rPr>
              <a:t>r</a:t>
            </a:r>
            <a:r>
              <a:rPr sz="2200" b="1" spc="-40" dirty="0">
                <a:latin typeface="Courier New"/>
                <a:cs typeface="Courier New"/>
              </a:rPr>
              <a:t>a</a:t>
            </a:r>
            <a:r>
              <a:rPr sz="2200" b="1" spc="-5" dirty="0">
                <a:latin typeface="Courier New"/>
                <a:cs typeface="Courier New"/>
              </a:rPr>
              <a:t>n</a:t>
            </a:r>
            <a:r>
              <a:rPr sz="2200" b="1" spc="-15" dirty="0">
                <a:latin typeface="Courier New"/>
                <a:cs typeface="Courier New"/>
              </a:rPr>
              <a:t>d</a:t>
            </a:r>
            <a:r>
              <a:rPr sz="2200" b="1" spc="-5" dirty="0">
                <a:latin typeface="Courier New"/>
                <a:cs typeface="Courier New"/>
              </a:rPr>
              <a:t>o</a:t>
            </a:r>
            <a:r>
              <a:rPr sz="2200" b="1" dirty="0">
                <a:latin typeface="Courier New"/>
                <a:cs typeface="Courier New"/>
              </a:rPr>
              <a:t>m</a:t>
            </a:r>
            <a:r>
              <a:rPr sz="2200" b="1" spc="-39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e</a:t>
            </a:r>
            <a:r>
              <a:rPr sz="2200" spc="-60" dirty="0">
                <a:latin typeface="Courier New"/>
                <a:cs typeface="Courier New"/>
              </a:rPr>
              <a:t>v</a:t>
            </a:r>
            <a:r>
              <a:rPr sz="2200" spc="-35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n</a:t>
            </a:r>
            <a:r>
              <a:rPr sz="2200" spc="-15" dirty="0">
                <a:latin typeface="Courier New"/>
                <a:cs typeface="Courier New"/>
              </a:rPr>
              <a:t>t</a:t>
            </a:r>
            <a:r>
              <a:rPr sz="2200" spc="-5" dirty="0">
                <a:latin typeface="Courier New"/>
                <a:cs typeface="Courier New"/>
              </a:rPr>
              <a:t>s</a:t>
            </a:r>
            <a:r>
              <a:rPr sz="2200" dirty="0">
                <a:latin typeface="Courier New"/>
                <a:cs typeface="Courier New"/>
              </a:rPr>
              <a:t>.</a:t>
            </a:r>
            <a:r>
              <a:rPr sz="2200" spc="-41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F</a:t>
            </a:r>
            <a:r>
              <a:rPr sz="2200" spc="-60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r</a:t>
            </a:r>
            <a:r>
              <a:rPr sz="2200" spc="-465" dirty="0">
                <a:latin typeface="Courier New"/>
                <a:cs typeface="Courier New"/>
              </a:rPr>
              <a:t> </a:t>
            </a:r>
            <a:r>
              <a:rPr sz="2200" b="1" spc="-80" dirty="0">
                <a:latin typeface="Courier New"/>
                <a:cs typeface="Courier New"/>
              </a:rPr>
              <a:t>o</a:t>
            </a:r>
            <a:r>
              <a:rPr sz="2200" b="1" spc="-100" dirty="0">
                <a:latin typeface="Courier New"/>
                <a:cs typeface="Courier New"/>
              </a:rPr>
              <a:t>u</a:t>
            </a:r>
            <a:r>
              <a:rPr sz="2200" b="1" spc="-15" dirty="0">
                <a:latin typeface="Courier New"/>
                <a:cs typeface="Courier New"/>
              </a:rPr>
              <a:t>t</a:t>
            </a:r>
            <a:r>
              <a:rPr sz="2200" b="1" spc="-10" dirty="0">
                <a:latin typeface="Courier New"/>
                <a:cs typeface="Courier New"/>
              </a:rPr>
              <a:t>-of-</a:t>
            </a:r>
            <a:r>
              <a:rPr sz="2200" b="1" spc="-5" dirty="0">
                <a:latin typeface="Courier New"/>
                <a:cs typeface="Courier New"/>
              </a:rPr>
              <a:t>c</a:t>
            </a:r>
            <a:r>
              <a:rPr sz="2200" b="1" spc="10" dirty="0">
                <a:latin typeface="Courier New"/>
                <a:cs typeface="Courier New"/>
              </a:rPr>
              <a:t>o</a:t>
            </a:r>
            <a:r>
              <a:rPr sz="2200" b="1" spc="-5" dirty="0">
                <a:latin typeface="Courier New"/>
                <a:cs typeface="Courier New"/>
              </a:rPr>
              <a:t>n</a:t>
            </a:r>
            <a:r>
              <a:rPr sz="2200" b="1" spc="-10" dirty="0">
                <a:latin typeface="Courier New"/>
                <a:cs typeface="Courier New"/>
              </a:rPr>
              <a:t>t</a:t>
            </a:r>
            <a:r>
              <a:rPr sz="2200" b="1" spc="-5" dirty="0">
                <a:latin typeface="Courier New"/>
                <a:cs typeface="Courier New"/>
              </a:rPr>
              <a:t>r</a:t>
            </a:r>
            <a:r>
              <a:rPr sz="2200" b="1" spc="5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l</a:t>
            </a:r>
            <a:r>
              <a:rPr sz="2200" spc="-395" dirty="0">
                <a:latin typeface="Courier New"/>
                <a:cs typeface="Courier New"/>
              </a:rPr>
              <a:t> </a:t>
            </a:r>
            <a:r>
              <a:rPr sz="2200" spc="-100" dirty="0" smtClean="0">
                <a:latin typeface="Courier New"/>
                <a:cs typeface="Courier New"/>
              </a:rPr>
              <a:t>e</a:t>
            </a:r>
            <a:r>
              <a:rPr sz="2200" spc="-30" dirty="0" smtClean="0">
                <a:latin typeface="Courier New"/>
                <a:cs typeface="Courier New"/>
              </a:rPr>
              <a:t>ve</a:t>
            </a:r>
            <a:r>
              <a:rPr sz="2200" spc="15" dirty="0" smtClean="0">
                <a:latin typeface="Courier New"/>
                <a:cs typeface="Courier New"/>
              </a:rPr>
              <a:t>n</a:t>
            </a:r>
            <a:r>
              <a:rPr sz="2200" spc="-5" dirty="0" smtClean="0">
                <a:latin typeface="Courier New"/>
                <a:cs typeface="Courier New"/>
              </a:rPr>
              <a:t>t</a:t>
            </a:r>
            <a:r>
              <a:rPr sz="2200" spc="10" dirty="0" smtClean="0">
                <a:latin typeface="Courier New"/>
                <a:cs typeface="Courier New"/>
              </a:rPr>
              <a:t>s</a:t>
            </a:r>
            <a:r>
              <a:rPr lang="en-US" sz="2200" dirty="0">
                <a:latin typeface="Courier New"/>
                <a:cs typeface="Courier New"/>
              </a:rPr>
              <a:t>.</a:t>
            </a:r>
            <a:r>
              <a:rPr sz="2200" spc="-350" dirty="0" smtClean="0">
                <a:latin typeface="Courier New"/>
                <a:cs typeface="Courier New"/>
              </a:rPr>
              <a:t> 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96237"/>
            <a:ext cx="3887470" cy="4246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935" indent="-22923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935" algn="l"/>
              </a:tabLst>
            </a:pPr>
            <a:r>
              <a:rPr sz="1700" spc="-10" dirty="0">
                <a:latin typeface="Courier New"/>
                <a:cs typeface="Courier New"/>
              </a:rPr>
              <a:t>Sample</a:t>
            </a:r>
            <a:r>
              <a:rPr sz="1700" spc="-46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Control</a:t>
            </a:r>
            <a:r>
              <a:rPr sz="1700" spc="-49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Chart</a:t>
            </a:r>
            <a:endParaRPr sz="1700">
              <a:latin typeface="Courier New"/>
              <a:cs typeface="Courier New"/>
            </a:endParaRPr>
          </a:p>
          <a:p>
            <a:pPr marL="241300" marR="8890" indent="-228600" algn="just">
              <a:lnSpc>
                <a:spcPct val="13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dirty="0">
                <a:latin typeface="Courier New"/>
                <a:cs typeface="Courier New"/>
              </a:rPr>
              <a:t>Quality</a:t>
            </a:r>
            <a:r>
              <a:rPr sz="1700" spc="-220" dirty="0">
                <a:latin typeface="Courier New"/>
                <a:cs typeface="Courier New"/>
              </a:rPr>
              <a:t>  </a:t>
            </a:r>
            <a:r>
              <a:rPr sz="1700" dirty="0">
                <a:latin typeface="Courier New"/>
                <a:cs typeface="Courier New"/>
              </a:rPr>
              <a:t>control</a:t>
            </a:r>
            <a:r>
              <a:rPr sz="1700" spc="-235" dirty="0">
                <a:latin typeface="Courier New"/>
                <a:cs typeface="Courier New"/>
              </a:rPr>
              <a:t>  </a:t>
            </a:r>
            <a:r>
              <a:rPr sz="1700" dirty="0">
                <a:latin typeface="Courier New"/>
                <a:cs typeface="Courier New"/>
              </a:rPr>
              <a:t>charts</a:t>
            </a:r>
            <a:r>
              <a:rPr sz="1700" spc="-140" dirty="0">
                <a:latin typeface="Courier New"/>
                <a:cs typeface="Courier New"/>
              </a:rPr>
              <a:t>  </a:t>
            </a:r>
            <a:r>
              <a:rPr sz="1700" spc="-25" dirty="0">
                <a:latin typeface="Courier New"/>
                <a:cs typeface="Courier New"/>
              </a:rPr>
              <a:t>and </a:t>
            </a:r>
            <a:r>
              <a:rPr sz="1700" spc="-20" dirty="0">
                <a:latin typeface="Courier New"/>
                <a:cs typeface="Courier New"/>
              </a:rPr>
              <a:t>the</a:t>
            </a:r>
            <a:r>
              <a:rPr sz="1700" spc="-240" dirty="0">
                <a:latin typeface="Courier New"/>
                <a:cs typeface="Courier New"/>
              </a:rPr>
              <a:t> </a:t>
            </a:r>
            <a:r>
              <a:rPr sz="1700" spc="-55" dirty="0">
                <a:latin typeface="Courier New"/>
                <a:cs typeface="Courier New"/>
              </a:rPr>
              <a:t>seven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90" dirty="0">
                <a:latin typeface="Courier New"/>
                <a:cs typeface="Courier New"/>
              </a:rPr>
              <a:t>run</a:t>
            </a:r>
            <a:r>
              <a:rPr sz="1700" spc="-165" dirty="0">
                <a:latin typeface="Courier New"/>
                <a:cs typeface="Courier New"/>
              </a:rPr>
              <a:t> </a:t>
            </a:r>
            <a:r>
              <a:rPr sz="1700" spc="-65" dirty="0">
                <a:latin typeface="Courier New"/>
                <a:cs typeface="Courier New"/>
              </a:rPr>
              <a:t>rule</a:t>
            </a:r>
            <a:r>
              <a:rPr sz="1700" spc="-190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can</a:t>
            </a:r>
            <a:r>
              <a:rPr sz="1700" spc="-165" dirty="0">
                <a:latin typeface="Courier New"/>
                <a:cs typeface="Courier New"/>
              </a:rPr>
              <a:t> </a:t>
            </a:r>
            <a:r>
              <a:rPr sz="1700" spc="-270" dirty="0">
                <a:latin typeface="Courier New"/>
                <a:cs typeface="Courier New"/>
              </a:rPr>
              <a:t>be</a:t>
            </a:r>
            <a:r>
              <a:rPr sz="1700" spc="1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used </a:t>
            </a:r>
            <a:r>
              <a:rPr sz="1700" spc="-10" dirty="0">
                <a:latin typeface="Courier New"/>
                <a:cs typeface="Courier New"/>
              </a:rPr>
              <a:t>to</a:t>
            </a:r>
            <a:r>
              <a:rPr sz="1700" spc="-459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look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for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patterns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in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data.</a:t>
            </a:r>
            <a:endParaRPr sz="1700">
              <a:latin typeface="Courier New"/>
              <a:cs typeface="Courier New"/>
            </a:endParaRPr>
          </a:p>
          <a:p>
            <a:pPr marL="241300" marR="5080" indent="-228600" algn="just">
              <a:lnSpc>
                <a:spcPct val="13020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200" dirty="0">
                <a:latin typeface="Courier New"/>
                <a:cs typeface="Courier New"/>
              </a:rPr>
              <a:t>  </a:t>
            </a:r>
            <a:r>
              <a:rPr sz="1700" b="1" dirty="0">
                <a:latin typeface="Courier New"/>
                <a:cs typeface="Courier New"/>
              </a:rPr>
              <a:t>seven</a:t>
            </a:r>
            <a:r>
              <a:rPr sz="1700" b="1" spc="-195" dirty="0">
                <a:latin typeface="Courier New"/>
                <a:cs typeface="Courier New"/>
              </a:rPr>
              <a:t>  </a:t>
            </a:r>
            <a:r>
              <a:rPr sz="1700" b="1" dirty="0">
                <a:latin typeface="Courier New"/>
                <a:cs typeface="Courier New"/>
              </a:rPr>
              <a:t>run</a:t>
            </a:r>
            <a:r>
              <a:rPr sz="1700" b="1" spc="-175" dirty="0">
                <a:latin typeface="Courier New"/>
                <a:cs typeface="Courier New"/>
              </a:rPr>
              <a:t>  </a:t>
            </a:r>
            <a:r>
              <a:rPr sz="1700" b="1" dirty="0">
                <a:latin typeface="Courier New"/>
                <a:cs typeface="Courier New"/>
              </a:rPr>
              <a:t>rule</a:t>
            </a:r>
            <a:r>
              <a:rPr sz="1700" b="1" spc="-150" dirty="0">
                <a:latin typeface="Courier New"/>
                <a:cs typeface="Courier New"/>
              </a:rPr>
              <a:t>  </a:t>
            </a:r>
            <a:r>
              <a:rPr sz="1700" spc="-10" dirty="0">
                <a:latin typeface="Courier New"/>
                <a:cs typeface="Courier New"/>
              </a:rPr>
              <a:t>states </a:t>
            </a:r>
            <a:r>
              <a:rPr sz="1700" spc="-20" dirty="0">
                <a:latin typeface="Courier New"/>
                <a:cs typeface="Courier New"/>
              </a:rPr>
              <a:t>that</a:t>
            </a:r>
            <a:r>
              <a:rPr sz="1700" spc="-240" dirty="0">
                <a:latin typeface="Courier New"/>
                <a:cs typeface="Courier New"/>
              </a:rPr>
              <a:t> </a:t>
            </a:r>
            <a:r>
              <a:rPr sz="1700" spc="-170" dirty="0">
                <a:latin typeface="Courier New"/>
                <a:cs typeface="Courier New"/>
              </a:rPr>
              <a:t>if</a:t>
            </a:r>
            <a:r>
              <a:rPr sz="1700" spc="-85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seven</a:t>
            </a:r>
            <a:r>
              <a:rPr sz="1700" spc="-204" dirty="0">
                <a:latin typeface="Courier New"/>
                <a:cs typeface="Courier New"/>
              </a:rPr>
              <a:t> </a:t>
            </a:r>
            <a:r>
              <a:rPr sz="1700" spc="-65" dirty="0">
                <a:latin typeface="Courier New"/>
                <a:cs typeface="Courier New"/>
              </a:rPr>
              <a:t>data</a:t>
            </a:r>
            <a:r>
              <a:rPr sz="1700" spc="-19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points</a:t>
            </a:r>
            <a:r>
              <a:rPr sz="1700" spc="-185" dirty="0">
                <a:latin typeface="Courier New"/>
                <a:cs typeface="Courier New"/>
              </a:rPr>
              <a:t> </a:t>
            </a:r>
            <a:r>
              <a:rPr sz="1700" spc="-190" dirty="0">
                <a:latin typeface="Courier New"/>
                <a:cs typeface="Courier New"/>
              </a:rPr>
              <a:t>in</a:t>
            </a:r>
            <a:r>
              <a:rPr sz="1700" spc="-70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a </a:t>
            </a:r>
            <a:r>
              <a:rPr sz="1700" dirty="0">
                <a:latin typeface="Courier New"/>
                <a:cs typeface="Courier New"/>
              </a:rPr>
              <a:t>row</a:t>
            </a:r>
            <a:r>
              <a:rPr sz="1700" spc="-204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are</a:t>
            </a:r>
            <a:r>
              <a:rPr sz="1700" spc="-2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all</a:t>
            </a:r>
            <a:r>
              <a:rPr sz="1700" spc="-22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below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18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mean</a:t>
            </a:r>
            <a:r>
              <a:rPr sz="1700" spc="-16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or </a:t>
            </a:r>
            <a:r>
              <a:rPr sz="1700" dirty="0">
                <a:latin typeface="Courier New"/>
                <a:cs typeface="Courier New"/>
              </a:rPr>
              <a:t>above</a:t>
            </a:r>
            <a:r>
              <a:rPr sz="1700" spc="3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3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mean,</a:t>
            </a:r>
            <a:r>
              <a:rPr sz="1700" spc="3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or</a:t>
            </a:r>
            <a:r>
              <a:rPr sz="1700" spc="3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are</a:t>
            </a:r>
            <a:r>
              <a:rPr sz="1700" spc="-260" dirty="0">
                <a:latin typeface="Courier New"/>
                <a:cs typeface="Courier New"/>
              </a:rPr>
              <a:t>  </a:t>
            </a:r>
            <a:r>
              <a:rPr sz="1700" spc="-25" dirty="0">
                <a:latin typeface="Courier New"/>
                <a:cs typeface="Courier New"/>
              </a:rPr>
              <a:t>all </a:t>
            </a:r>
            <a:r>
              <a:rPr sz="1700" dirty="0">
                <a:latin typeface="Courier New"/>
                <a:cs typeface="Courier New"/>
              </a:rPr>
              <a:t>increasing</a:t>
            </a:r>
            <a:r>
              <a:rPr sz="1700" spc="175" dirty="0">
                <a:latin typeface="Courier New"/>
                <a:cs typeface="Courier New"/>
              </a:rPr>
              <a:t>  </a:t>
            </a:r>
            <a:r>
              <a:rPr sz="1700" dirty="0">
                <a:latin typeface="Courier New"/>
                <a:cs typeface="Courier New"/>
              </a:rPr>
              <a:t>or</a:t>
            </a:r>
            <a:r>
              <a:rPr sz="1700" spc="145" dirty="0">
                <a:latin typeface="Courier New"/>
                <a:cs typeface="Courier New"/>
              </a:rPr>
              <a:t>  </a:t>
            </a:r>
            <a:r>
              <a:rPr sz="1700" spc="-10" dirty="0">
                <a:latin typeface="Courier New"/>
                <a:cs typeface="Courier New"/>
              </a:rPr>
              <a:t>decreasing, </a:t>
            </a:r>
            <a:r>
              <a:rPr sz="1700" dirty="0">
                <a:latin typeface="Courier New"/>
                <a:cs typeface="Courier New"/>
              </a:rPr>
              <a:t>then</a:t>
            </a:r>
            <a:r>
              <a:rPr sz="1700" spc="-8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8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process</a:t>
            </a:r>
            <a:r>
              <a:rPr sz="1700" spc="-7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needs</a:t>
            </a:r>
            <a:r>
              <a:rPr sz="1700" spc="-3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to</a:t>
            </a:r>
            <a:r>
              <a:rPr sz="1700" spc="-2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be </a:t>
            </a:r>
            <a:r>
              <a:rPr sz="1700" dirty="0">
                <a:latin typeface="Courier New"/>
                <a:cs typeface="Courier New"/>
              </a:rPr>
              <a:t>examined</a:t>
            </a:r>
            <a:r>
              <a:rPr sz="1700" spc="285" dirty="0">
                <a:latin typeface="Courier New"/>
                <a:cs typeface="Courier New"/>
              </a:rPr>
              <a:t>   </a:t>
            </a:r>
            <a:r>
              <a:rPr sz="1700" dirty="0">
                <a:latin typeface="Courier New"/>
                <a:cs typeface="Courier New"/>
              </a:rPr>
              <a:t>for</a:t>
            </a:r>
            <a:r>
              <a:rPr sz="1700" spc="295" dirty="0">
                <a:latin typeface="Courier New"/>
                <a:cs typeface="Courier New"/>
              </a:rPr>
              <a:t>   </a:t>
            </a:r>
            <a:r>
              <a:rPr sz="1700" spc="-10" dirty="0">
                <a:latin typeface="Courier New"/>
                <a:cs typeface="Courier New"/>
              </a:rPr>
              <a:t>nonrandom problems</a:t>
            </a:r>
            <a:endParaRPr sz="17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600" y="1770888"/>
            <a:ext cx="6562343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8973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ourier New"/>
                <a:cs typeface="Courier New"/>
              </a:rPr>
              <a:t>Checksheet</a:t>
            </a:r>
            <a:r>
              <a:rPr sz="2400" b="1" spc="-3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(sometimes</a:t>
            </a:r>
            <a:r>
              <a:rPr sz="2400" spc="-3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called</a:t>
            </a:r>
            <a:r>
              <a:rPr sz="2400" spc="-3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260" dirty="0"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tally</a:t>
            </a:r>
            <a:r>
              <a:rPr sz="2400" i="1" u="heavy" spc="-37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sheet</a:t>
            </a:r>
            <a:r>
              <a:rPr sz="2400" i="1" u="heavy" spc="-35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or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72496" y="1966340"/>
            <a:ext cx="1699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checklist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2515361"/>
            <a:ext cx="10419080" cy="1068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depending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its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format)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collect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analyze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data.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Tally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marks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used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enter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each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data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occurrence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manually.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3570478"/>
            <a:ext cx="304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Sample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Checksheet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8952" y="1420367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27263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Scatter</a:t>
            </a:r>
            <a:r>
              <a:rPr b="1" spc="-4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diagram</a:t>
            </a:r>
            <a:r>
              <a:rPr b="1" spc="-5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5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used</a:t>
            </a:r>
            <a:r>
              <a:rPr spc="-8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10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highlight</a:t>
            </a:r>
            <a:r>
              <a:rPr spc="-6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if</a:t>
            </a:r>
            <a:r>
              <a:rPr spc="-10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there</a:t>
            </a:r>
            <a:r>
              <a:rPr spc="-3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80" dirty="0">
                <a:solidFill>
                  <a:schemeClr val="bg1"/>
                </a:solidFill>
              </a:rPr>
              <a:t>  </a:t>
            </a:r>
            <a:r>
              <a:rPr spc="-50" dirty="0">
                <a:solidFill>
                  <a:schemeClr val="bg1"/>
                </a:solidFill>
              </a:rPr>
              <a:t>a 	</a:t>
            </a:r>
            <a:r>
              <a:rPr spc="-10" dirty="0">
                <a:solidFill>
                  <a:schemeClr val="bg1"/>
                </a:solidFill>
              </a:rPr>
              <a:t>relationship</a:t>
            </a:r>
            <a:r>
              <a:rPr spc="-7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between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two</a:t>
            </a:r>
            <a:r>
              <a:rPr spc="-72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variables.</a:t>
            </a:r>
          </a:p>
          <a:p>
            <a:pPr marL="240029" marR="22225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If</a:t>
            </a:r>
            <a:r>
              <a:rPr spc="-370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the</a:t>
            </a:r>
            <a:r>
              <a:rPr spc="-38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data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points</a:t>
            </a:r>
            <a:r>
              <a:rPr spc="-200" dirty="0">
                <a:solidFill>
                  <a:schemeClr val="bg1"/>
                </a:solidFill>
              </a:rPr>
              <a:t> </a:t>
            </a:r>
            <a:r>
              <a:rPr spc="-105" dirty="0">
                <a:solidFill>
                  <a:schemeClr val="bg1"/>
                </a:solidFill>
              </a:rPr>
              <a:t>are</a:t>
            </a:r>
            <a:r>
              <a:rPr spc="-409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closer</a:t>
            </a:r>
            <a:r>
              <a:rPr spc="-33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to</a:t>
            </a:r>
            <a:r>
              <a:rPr spc="-409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diagonal</a:t>
            </a:r>
            <a:r>
              <a:rPr spc="-33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line,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it</a:t>
            </a:r>
            <a:r>
              <a:rPr spc="-3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indicates 	that</a:t>
            </a:r>
            <a:r>
              <a:rPr spc="-7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two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variables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are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more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closely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related.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3449192"/>
            <a:ext cx="3854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Sample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Scatter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Diagram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1517903"/>
            <a:ext cx="6800087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897235" cy="2349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295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histogram</a:t>
            </a:r>
            <a:r>
              <a:rPr sz="2400" b="1" spc="-28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5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28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bar</a:t>
            </a:r>
            <a:r>
              <a:rPr sz="2400" spc="-3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graph</a:t>
            </a:r>
            <a:r>
              <a:rPr sz="2400" spc="-2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-28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shows</a:t>
            </a:r>
            <a:r>
              <a:rPr sz="2400" spc="-2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distribution</a:t>
            </a:r>
            <a:r>
              <a:rPr sz="2400" spc="-25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spc="-10" dirty="0">
                <a:latin typeface="Courier New"/>
                <a:cs typeface="Courier New"/>
              </a:rPr>
              <a:t>variables.</a:t>
            </a:r>
            <a:endParaRPr sz="2400">
              <a:latin typeface="Courier New"/>
              <a:cs typeface="Courier New"/>
            </a:endParaRPr>
          </a:p>
          <a:p>
            <a:pPr marL="240029" marR="762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Each</a:t>
            </a:r>
            <a:r>
              <a:rPr sz="2400" spc="-475" dirty="0">
                <a:latin typeface="Courier New"/>
                <a:cs typeface="Courier New"/>
              </a:rPr>
              <a:t> </a:t>
            </a:r>
            <a:r>
              <a:rPr sz="2400" b="1" spc="-65" dirty="0">
                <a:latin typeface="Courier New"/>
                <a:cs typeface="Courier New"/>
              </a:rPr>
              <a:t>bar</a:t>
            </a:r>
            <a:r>
              <a:rPr sz="2400" b="1" spc="-52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depicts</a:t>
            </a:r>
            <a:r>
              <a:rPr sz="2400" spc="-500" dirty="0">
                <a:latin typeface="Courier New"/>
                <a:cs typeface="Courier New"/>
              </a:rPr>
              <a:t> </a:t>
            </a:r>
            <a:r>
              <a:rPr sz="2400" spc="-110" dirty="0">
                <a:latin typeface="Courier New"/>
                <a:cs typeface="Courier New"/>
              </a:rPr>
              <a:t>an</a:t>
            </a:r>
            <a:r>
              <a:rPr sz="2400" spc="-47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attribute</a:t>
            </a:r>
            <a:r>
              <a:rPr sz="2400" spc="-50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or</a:t>
            </a:r>
            <a:r>
              <a:rPr sz="2400" spc="-57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characteristic</a:t>
            </a:r>
            <a:r>
              <a:rPr sz="2400" spc="-51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of</a:t>
            </a:r>
            <a:r>
              <a:rPr sz="2400" spc="-5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2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problem</a:t>
            </a:r>
            <a:r>
              <a:rPr sz="2400" spc="-434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or 	</a:t>
            </a:r>
            <a:r>
              <a:rPr sz="2400" spc="-10" dirty="0">
                <a:latin typeface="Courier New"/>
                <a:cs typeface="Courier New"/>
              </a:rPr>
              <a:t>situation,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height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bar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shows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its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frequency.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8933" y="3392246"/>
            <a:ext cx="28581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Sample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Histogram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420367"/>
            <a:ext cx="6995159" cy="441745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50834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A</a:t>
            </a:r>
            <a:r>
              <a:rPr spc="-365" dirty="0">
                <a:solidFill>
                  <a:schemeClr val="bg1"/>
                </a:solidFill>
              </a:rPr>
              <a:t> </a:t>
            </a:r>
            <a:r>
              <a:rPr b="1" spc="-100" dirty="0">
                <a:solidFill>
                  <a:schemeClr val="bg1"/>
                </a:solidFill>
                <a:latin typeface="Courier New"/>
                <a:cs typeface="Courier New"/>
              </a:rPr>
              <a:t>p</a:t>
            </a:r>
            <a:r>
              <a:rPr b="1" spc="-50" dirty="0">
                <a:solidFill>
                  <a:schemeClr val="bg1"/>
                </a:solidFill>
                <a:latin typeface="Courier New"/>
                <a:cs typeface="Courier New"/>
              </a:rPr>
              <a:t>a</a:t>
            </a:r>
            <a:r>
              <a:rPr b="1" spc="-25" dirty="0">
                <a:solidFill>
                  <a:schemeClr val="bg1"/>
                </a:solidFill>
                <a:latin typeface="Courier New"/>
                <a:cs typeface="Courier New"/>
              </a:rPr>
              <a:t>ret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o </a:t>
            </a:r>
            <a:r>
              <a:rPr b="1" spc="-5" dirty="0">
                <a:solidFill>
                  <a:schemeClr val="bg1"/>
                </a:solidFill>
                <a:latin typeface="Courier New"/>
                <a:cs typeface="Courier New"/>
              </a:rPr>
              <a:t>char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t </a:t>
            </a:r>
            <a:r>
              <a:rPr spc="-25" dirty="0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1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675" dirty="0">
                <a:solidFill>
                  <a:schemeClr val="bg1"/>
                </a:solidFill>
              </a:rPr>
              <a:t> </a:t>
            </a:r>
            <a:r>
              <a:rPr spc="-145" dirty="0">
                <a:solidFill>
                  <a:schemeClr val="bg1"/>
                </a:solidFill>
              </a:rPr>
              <a:t>h</a:t>
            </a:r>
            <a:r>
              <a:rPr spc="-75" dirty="0">
                <a:solidFill>
                  <a:schemeClr val="bg1"/>
                </a:solidFill>
              </a:rPr>
              <a:t>i</a:t>
            </a:r>
            <a:r>
              <a:rPr spc="-50" dirty="0">
                <a:solidFill>
                  <a:schemeClr val="bg1"/>
                </a:solidFill>
              </a:rPr>
              <a:t>s</a:t>
            </a:r>
            <a:r>
              <a:rPr spc="-25" dirty="0">
                <a:solidFill>
                  <a:schemeClr val="bg1"/>
                </a:solidFill>
              </a:rPr>
              <a:t>t</a:t>
            </a:r>
            <a:r>
              <a:rPr spc="-5" dirty="0">
                <a:solidFill>
                  <a:schemeClr val="bg1"/>
                </a:solidFill>
              </a:rPr>
              <a:t>o</a:t>
            </a:r>
            <a:r>
              <a:rPr spc="-25" dirty="0">
                <a:solidFill>
                  <a:schemeClr val="bg1"/>
                </a:solidFill>
              </a:rPr>
              <a:t>g</a:t>
            </a:r>
            <a:r>
              <a:rPr spc="-5" dirty="0">
                <a:solidFill>
                  <a:schemeClr val="bg1"/>
                </a:solidFill>
              </a:rPr>
              <a:t>ra</a:t>
            </a:r>
            <a:r>
              <a:rPr dirty="0">
                <a:solidFill>
                  <a:schemeClr val="bg1"/>
                </a:solidFill>
              </a:rPr>
              <a:t>m</a:t>
            </a:r>
            <a:r>
              <a:rPr spc="-38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t</a:t>
            </a:r>
            <a:r>
              <a:rPr spc="-50" dirty="0">
                <a:solidFill>
                  <a:schemeClr val="bg1"/>
                </a:solidFill>
              </a:rPr>
              <a:t>h</a:t>
            </a:r>
            <a:r>
              <a:rPr spc="-25" dirty="0">
                <a:solidFill>
                  <a:schemeClr val="bg1"/>
                </a:solidFill>
              </a:rPr>
              <a:t>a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62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ca</a:t>
            </a:r>
            <a:r>
              <a:rPr dirty="0">
                <a:solidFill>
                  <a:schemeClr val="bg1"/>
                </a:solidFill>
              </a:rPr>
              <a:t>n</a:t>
            </a:r>
            <a:r>
              <a:rPr spc="-36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b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45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u</a:t>
            </a:r>
            <a:r>
              <a:rPr spc="-75" dirty="0">
                <a:solidFill>
                  <a:schemeClr val="bg1"/>
                </a:solidFill>
              </a:rPr>
              <a:t>s</a:t>
            </a:r>
            <a:r>
              <a:rPr spc="-25" dirty="0">
                <a:solidFill>
                  <a:schemeClr val="bg1"/>
                </a:solidFill>
              </a:rPr>
              <a:t>e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409" dirty="0">
                <a:solidFill>
                  <a:schemeClr val="bg1"/>
                </a:solidFill>
              </a:rPr>
              <a:t> </a:t>
            </a:r>
            <a:r>
              <a:rPr spc="-70" dirty="0">
                <a:solidFill>
                  <a:schemeClr val="bg1"/>
                </a:solidFill>
              </a:rPr>
              <a:t>t</a:t>
            </a:r>
            <a:r>
              <a:rPr dirty="0">
                <a:solidFill>
                  <a:schemeClr val="bg1"/>
                </a:solidFill>
              </a:rPr>
              <a:t>o</a:t>
            </a:r>
            <a:r>
              <a:rPr spc="-409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i</a:t>
            </a:r>
            <a:r>
              <a:rPr spc="-25" dirty="0">
                <a:solidFill>
                  <a:schemeClr val="bg1"/>
                </a:solidFill>
              </a:rPr>
              <a:t>d</a:t>
            </a:r>
            <a:r>
              <a:rPr spc="-50" dirty="0">
                <a:solidFill>
                  <a:schemeClr val="bg1"/>
                </a:solidFill>
              </a:rPr>
              <a:t>e</a:t>
            </a:r>
            <a:r>
              <a:rPr spc="20" dirty="0">
                <a:solidFill>
                  <a:schemeClr val="bg1"/>
                </a:solidFill>
              </a:rPr>
              <a:t>ntif</a:t>
            </a:r>
            <a:r>
              <a:rPr dirty="0">
                <a:solidFill>
                  <a:schemeClr val="bg1"/>
                </a:solidFill>
              </a:rPr>
              <a:t>y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a</a:t>
            </a:r>
            <a:r>
              <a:rPr spc="-25" dirty="0">
                <a:solidFill>
                  <a:schemeClr val="bg1"/>
                </a:solidFill>
              </a:rPr>
              <a:t>n</a:t>
            </a:r>
            <a:r>
              <a:rPr dirty="0">
                <a:solidFill>
                  <a:schemeClr val="bg1"/>
                </a:solidFill>
              </a:rPr>
              <a:t>d 	</a:t>
            </a:r>
            <a:r>
              <a:rPr spc="-5" dirty="0">
                <a:solidFill>
                  <a:schemeClr val="bg1"/>
                </a:solidFill>
              </a:rPr>
              <a:t>prioritiz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72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p</a:t>
            </a:r>
            <a:r>
              <a:rPr spc="-5" dirty="0">
                <a:solidFill>
                  <a:schemeClr val="bg1"/>
                </a:solidFill>
              </a:rPr>
              <a:t>rob</a:t>
            </a:r>
            <a:r>
              <a:rPr spc="5" dirty="0">
                <a:solidFill>
                  <a:schemeClr val="bg1"/>
                </a:solidFill>
              </a:rPr>
              <a:t>l</a:t>
            </a:r>
            <a:r>
              <a:rPr spc="-5" dirty="0">
                <a:solidFill>
                  <a:schemeClr val="bg1"/>
                </a:solidFill>
              </a:rPr>
              <a:t>e</a:t>
            </a:r>
            <a:r>
              <a:rPr dirty="0">
                <a:solidFill>
                  <a:schemeClr val="bg1"/>
                </a:solidFill>
              </a:rPr>
              <a:t>m</a:t>
            </a:r>
            <a:r>
              <a:rPr spc="-800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areas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 marL="735965" marR="5080" lvl="1" indent="-266700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First,</a:t>
            </a:r>
            <a:r>
              <a:rPr sz="2400" spc="-5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sz="2400" spc="-8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variables</a:t>
            </a:r>
            <a:r>
              <a:rPr sz="2400" spc="-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in</a:t>
            </a:r>
            <a:r>
              <a:rPr sz="2400" spc="-13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a</a:t>
            </a:r>
            <a:r>
              <a:rPr sz="2400" spc="-2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histogram</a:t>
            </a:r>
            <a:r>
              <a:rPr sz="2400" spc="-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are</a:t>
            </a:r>
            <a:r>
              <a:rPr sz="2400" spc="-1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ordered</a:t>
            </a:r>
            <a:r>
              <a:rPr sz="2400" spc="-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by</a:t>
            </a:r>
            <a:r>
              <a:rPr sz="2400" spc="-30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their 	occurrence</a:t>
            </a:r>
            <a:r>
              <a:rPr sz="2400" spc="-6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frequency.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marR="5080" lvl="1" indent="-266700" algn="just">
              <a:lnSpc>
                <a:spcPct val="150000"/>
              </a:lnSpc>
              <a:spcBef>
                <a:spcPts val="990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Then</a:t>
            </a:r>
            <a:r>
              <a:rPr sz="2400" spc="-409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pareto</a:t>
            </a:r>
            <a:r>
              <a:rPr sz="2400" spc="-42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charts</a:t>
            </a:r>
            <a:r>
              <a:rPr sz="2400" spc="-40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can</a:t>
            </a:r>
            <a:r>
              <a:rPr sz="2400" spc="58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easily</a:t>
            </a:r>
            <a:r>
              <a:rPr sz="2400" spc="-409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identify</a:t>
            </a:r>
            <a:r>
              <a:rPr sz="2400" spc="-39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sz="2400" spc="59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vital</a:t>
            </a:r>
            <a:r>
              <a:rPr sz="2400" spc="-38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sz="2400" spc="-25" dirty="0">
                <a:solidFill>
                  <a:schemeClr val="bg1"/>
                </a:solidFill>
                <a:latin typeface="Courier New"/>
                <a:cs typeface="Courier New"/>
              </a:rPr>
              <a:t>top 	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contributors</a:t>
            </a:r>
            <a:r>
              <a:rPr sz="2400" spc="-37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that</a:t>
            </a:r>
            <a:r>
              <a:rPr sz="2400" spc="-9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30" dirty="0">
                <a:solidFill>
                  <a:schemeClr val="bg1"/>
                </a:solidFill>
                <a:latin typeface="Courier New"/>
                <a:cs typeface="Courier New"/>
              </a:rPr>
              <a:t>account</a:t>
            </a:r>
            <a:r>
              <a:rPr sz="2400" spc="-2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for</a:t>
            </a:r>
            <a:r>
              <a:rPr sz="2400" spc="-29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most</a:t>
            </a:r>
            <a:r>
              <a:rPr sz="2400" spc="-9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5" dirty="0">
                <a:solidFill>
                  <a:schemeClr val="bg1"/>
                </a:solidFill>
                <a:latin typeface="Courier New"/>
                <a:cs typeface="Courier New"/>
              </a:rPr>
              <a:t>of</a:t>
            </a:r>
            <a:r>
              <a:rPr sz="2400" spc="-254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sz="2400" spc="-29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quality</a:t>
            </a:r>
            <a:r>
              <a:rPr sz="2400" spc="-19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related 	problems</a:t>
            </a:r>
            <a:r>
              <a:rPr sz="2400" spc="-70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in</a:t>
            </a:r>
            <a:r>
              <a:rPr sz="2400" spc="-77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a</a:t>
            </a:r>
            <a:r>
              <a:rPr sz="2400" spc="-75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system.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Pareto</a:t>
            </a:r>
            <a:r>
              <a:rPr b="1" spc="-1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analysis</a:t>
            </a:r>
            <a:r>
              <a:rPr b="1" spc="-114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2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also</a:t>
            </a:r>
            <a:r>
              <a:rPr spc="-29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called</a:t>
            </a:r>
            <a:r>
              <a:rPr spc="-275" dirty="0">
                <a:solidFill>
                  <a:schemeClr val="bg1"/>
                </a:solidFill>
              </a:rPr>
              <a:t> </a:t>
            </a:r>
            <a:r>
              <a:rPr spc="-114" dirty="0">
                <a:solidFill>
                  <a:schemeClr val="bg1"/>
                </a:solidFill>
              </a:rPr>
              <a:t>80-</a:t>
            </a:r>
            <a:r>
              <a:rPr dirty="0">
                <a:solidFill>
                  <a:schemeClr val="bg1"/>
                </a:solidFill>
              </a:rPr>
              <a:t>20</a:t>
            </a:r>
            <a:r>
              <a:rPr spc="-32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rule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indicating</a:t>
            </a:r>
            <a:r>
              <a:rPr spc="-1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that</a:t>
            </a:r>
            <a:r>
              <a:rPr spc="-25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80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4692" y="3414725"/>
            <a:ext cx="21297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Pareto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Chart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347216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0395"/>
            <a:ext cx="10898505" cy="480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Courier New"/>
                <a:cs typeface="Courier New"/>
              </a:rPr>
              <a:t>Flowcharts</a:t>
            </a:r>
            <a:r>
              <a:rPr sz="2200" b="1" spc="2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refer</a:t>
            </a:r>
            <a:r>
              <a:rPr sz="2200" spc="20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240" dirty="0"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graphic</a:t>
            </a:r>
            <a:r>
              <a:rPr sz="2200" i="1" u="heavy" spc="26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displays</a:t>
            </a:r>
            <a:r>
              <a:rPr sz="2200" i="1" u="heavy" spc="28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of</a:t>
            </a:r>
            <a:r>
              <a:rPr sz="2200" i="1" u="heavy" spc="26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the</a:t>
            </a:r>
            <a:r>
              <a:rPr sz="2200" i="1" u="heavy" spc="26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logic</a:t>
            </a:r>
            <a:r>
              <a:rPr sz="2200" i="1" u="heavy" spc="26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and</a:t>
            </a:r>
            <a:r>
              <a:rPr sz="2200" i="1" u="heavy" spc="28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flow</a:t>
            </a:r>
            <a:r>
              <a:rPr sz="2200" i="1" u="heavy" spc="26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of</a:t>
            </a:r>
            <a:r>
              <a:rPr sz="2200" i="1" spc="-25" dirty="0"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processes</a:t>
            </a:r>
            <a:r>
              <a:rPr sz="2200" i="1" u="heavy" spc="5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assist</a:t>
            </a:r>
            <a:r>
              <a:rPr sz="2200" spc="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you to</a:t>
            </a:r>
            <a:r>
              <a:rPr sz="2200" spc="-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analyze</a:t>
            </a:r>
            <a:r>
              <a:rPr sz="2200" spc="1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how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problems</a:t>
            </a:r>
            <a:r>
              <a:rPr sz="2200" spc="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occur</a:t>
            </a:r>
            <a:r>
              <a:rPr sz="2200" spc="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2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how </a:t>
            </a:r>
            <a:r>
              <a:rPr sz="2200" spc="-10" dirty="0">
                <a:latin typeface="Courier New"/>
                <a:cs typeface="Courier New"/>
              </a:rPr>
              <a:t>processes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can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enhanced.</a:t>
            </a:r>
            <a:endParaRPr sz="2200" dirty="0">
              <a:latin typeface="Courier New"/>
              <a:cs typeface="Courier New"/>
            </a:endParaRPr>
          </a:p>
          <a:p>
            <a:pPr marL="241300" marR="15240" indent="-228600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20" dirty="0">
                <a:latin typeface="Courier New"/>
                <a:cs typeface="Courier New"/>
              </a:rPr>
              <a:t>Flowcharts</a:t>
            </a:r>
            <a:r>
              <a:rPr sz="2200" spc="-31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highlight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i="1" u="heavy" spc="-3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activities</a:t>
            </a:r>
            <a:r>
              <a:rPr sz="2200" spc="-35" dirty="0">
                <a:latin typeface="Courier New"/>
                <a:cs typeface="Courier New"/>
              </a:rPr>
              <a:t>,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decision</a:t>
            </a:r>
            <a:r>
              <a:rPr sz="2200" i="1" u="heavy" spc="-114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points</a:t>
            </a:r>
            <a:r>
              <a:rPr sz="2200" spc="-10" dirty="0">
                <a:latin typeface="Courier New"/>
                <a:cs typeface="Courier New"/>
              </a:rPr>
              <a:t>,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125" dirty="0">
                <a:latin typeface="Courier New"/>
                <a:cs typeface="Courier New"/>
              </a:rPr>
              <a:t>and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spc="-95" dirty="0">
                <a:latin typeface="Courier New"/>
                <a:cs typeface="Courier New"/>
              </a:rPr>
              <a:t>the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order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in </a:t>
            </a:r>
            <a:r>
              <a:rPr sz="2200" spc="-10" dirty="0">
                <a:latin typeface="Courier New"/>
                <a:cs typeface="Courier New"/>
              </a:rPr>
              <a:t>which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information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is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processed.</a:t>
            </a:r>
            <a:endParaRPr sz="2200" dirty="0">
              <a:latin typeface="Courier New"/>
              <a:cs typeface="Courier New"/>
            </a:endParaRPr>
          </a:p>
          <a:p>
            <a:pPr marL="241300" marR="7620" indent="-228600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Figure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spc="-75" dirty="0">
                <a:latin typeface="Courier New"/>
                <a:cs typeface="Courier New"/>
              </a:rPr>
              <a:t>8-</a:t>
            </a:r>
            <a:r>
              <a:rPr sz="2200" dirty="0">
                <a:latin typeface="Courier New"/>
                <a:cs typeface="Courier New"/>
              </a:rPr>
              <a:t>8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shows</a:t>
            </a:r>
            <a:r>
              <a:rPr sz="2200" spc="-1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process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-1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can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be</a:t>
            </a:r>
            <a:r>
              <a:rPr sz="2200" spc="-1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used</a:t>
            </a:r>
            <a:r>
              <a:rPr sz="2200" spc="-1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by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team</a:t>
            </a:r>
            <a:r>
              <a:rPr sz="2200" spc="-4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to </a:t>
            </a:r>
            <a:r>
              <a:rPr sz="2200" spc="-20" dirty="0">
                <a:latin typeface="Courier New"/>
                <a:cs typeface="Courier New"/>
              </a:rPr>
              <a:t>decide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whether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265" dirty="0">
                <a:latin typeface="Courier New"/>
                <a:cs typeface="Courier New"/>
              </a:rPr>
              <a:t>to</a:t>
            </a:r>
            <a:r>
              <a:rPr sz="2200" spc="-65" dirty="0">
                <a:latin typeface="Courier New"/>
                <a:cs typeface="Courier New"/>
              </a:rPr>
              <a:t> accept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spc="-240" dirty="0">
                <a:latin typeface="Courier New"/>
                <a:cs typeface="Courier New"/>
              </a:rPr>
              <a:t>or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spc="-65" dirty="0">
                <a:latin typeface="Courier New"/>
                <a:cs typeface="Courier New"/>
              </a:rPr>
              <a:t>reject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deliverables.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75" dirty="0">
                <a:latin typeface="Courier New"/>
                <a:cs typeface="Courier New"/>
              </a:rPr>
              <a:t>This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basic</a:t>
            </a:r>
            <a:r>
              <a:rPr sz="2200" spc="-1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quality </a:t>
            </a:r>
            <a:r>
              <a:rPr sz="2200" dirty="0">
                <a:latin typeface="Courier New"/>
                <a:cs typeface="Courier New"/>
              </a:rPr>
              <a:t>tool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145" dirty="0">
                <a:latin typeface="Courier New"/>
                <a:cs typeface="Courier New"/>
              </a:rPr>
              <a:t>is</a:t>
            </a:r>
            <a:r>
              <a:rPr sz="2200" spc="-18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called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stratification:</a:t>
            </a:r>
            <a:r>
              <a:rPr sz="2200" b="1" spc="-2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technique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that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displays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data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from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number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7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different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sources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see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if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pattern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emerges.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8933" y="3570478"/>
            <a:ext cx="2857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Sample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Flowchart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420367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889127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Beside</a:t>
            </a:r>
            <a:r>
              <a:rPr sz="2400" spc="30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flowcharts,</a:t>
            </a:r>
            <a:r>
              <a:rPr sz="2400" b="1" spc="30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Run</a:t>
            </a:r>
            <a:r>
              <a:rPr sz="2400" b="1" spc="35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charts</a:t>
            </a:r>
            <a:r>
              <a:rPr sz="2400" b="1" spc="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also</a:t>
            </a:r>
            <a:r>
              <a:rPr sz="2400" spc="2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be 	</a:t>
            </a:r>
            <a:r>
              <a:rPr sz="2400" spc="-10" dirty="0">
                <a:latin typeface="Courier New"/>
                <a:cs typeface="Courier New"/>
              </a:rPr>
              <a:t>stratification.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87736" y="1966340"/>
            <a:ext cx="1684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used</a:t>
            </a:r>
            <a:r>
              <a:rPr sz="2400" spc="10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for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3009137"/>
            <a:ext cx="10912475" cy="357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run</a:t>
            </a:r>
            <a:r>
              <a:rPr sz="2400" spc="-11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chart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shows</a:t>
            </a:r>
            <a:r>
              <a:rPr sz="2400" spc="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history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pattern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variation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 	</a:t>
            </a:r>
            <a:r>
              <a:rPr sz="2400" spc="-10" dirty="0">
                <a:latin typeface="Courier New"/>
                <a:cs typeface="Courier New"/>
              </a:rPr>
              <a:t>process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over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time.</a:t>
            </a:r>
            <a:endParaRPr sz="2400" dirty="0">
              <a:latin typeface="Courier New"/>
              <a:cs typeface="Courier New"/>
            </a:endParaRPr>
          </a:p>
          <a:p>
            <a:pPr marL="240029" marR="17145" indent="-227329">
              <a:lnSpc>
                <a:spcPct val="1501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line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chart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shows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the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data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points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plotted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 	</a:t>
            </a:r>
            <a:r>
              <a:rPr sz="2400" spc="-10" dirty="0">
                <a:latin typeface="Courier New"/>
                <a:cs typeface="Courier New"/>
              </a:rPr>
              <a:t>order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their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occurrence.</a:t>
            </a:r>
            <a:endParaRPr sz="2400" dirty="0">
              <a:latin typeface="Courier New"/>
              <a:cs typeface="Courier New"/>
            </a:endParaRPr>
          </a:p>
          <a:p>
            <a:pPr marL="240029" marR="20320" indent="-227329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Run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chart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be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used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analyzed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trends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data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predict 	future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outcomes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using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historical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results.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562707" y="910671"/>
            <a:ext cx="4618893" cy="2289729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lang="en-US" spc="-1230" dirty="0" smtClean="0"/>
              <a:t> </a:t>
            </a:r>
            <a:r>
              <a:rPr spc="-10" dirty="0" smtClean="0"/>
              <a:t>and</a:t>
            </a:r>
            <a:r>
              <a:rPr spc="-1270" dirty="0" smtClean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lang="en-US" spc="-1290" dirty="0" smtClean="0"/>
              <a:t> </a:t>
            </a:r>
            <a:r>
              <a:rPr spc="-10" dirty="0" smtClean="0"/>
              <a:t>Quality </a:t>
            </a:r>
            <a:r>
              <a:rPr spc="-10" dirty="0"/>
              <a:t>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7700" y="3268471"/>
            <a:ext cx="2759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Sample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Run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Chart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600" y="1420367"/>
            <a:ext cx="6574535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27330" y="1813138"/>
            <a:ext cx="11861800" cy="5029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7920" marR="77470" indent="-226695" algn="just">
              <a:lnSpc>
                <a:spcPct val="130100"/>
              </a:lnSpc>
              <a:spcBef>
                <a:spcPts val="95"/>
              </a:spcBef>
              <a:buFont typeface="Arial MT"/>
              <a:buChar char="•"/>
              <a:tabLst>
                <a:tab pos="1139825" algn="l"/>
              </a:tabLst>
            </a:pPr>
            <a:r>
              <a:rPr sz="2000" spc="-15" dirty="0">
                <a:latin typeface="Courier New"/>
                <a:cs typeface="Courier New"/>
              </a:rPr>
              <a:t>Members</a:t>
            </a:r>
            <a:r>
              <a:rPr sz="2000" spc="-23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of</a:t>
            </a:r>
            <a:r>
              <a:rPr sz="2000" spc="-310" dirty="0">
                <a:latin typeface="Courier New"/>
                <a:cs typeface="Courier New"/>
              </a:rPr>
              <a:t> </a:t>
            </a:r>
            <a:r>
              <a:rPr sz="2000" spc="-15" dirty="0">
                <a:latin typeface="Courier New"/>
                <a:cs typeface="Courier New"/>
              </a:rPr>
              <a:t>a</a:t>
            </a:r>
            <a:r>
              <a:rPr sz="2000" spc="-40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project</a:t>
            </a:r>
            <a:r>
              <a:rPr sz="2000" spc="-440" dirty="0">
                <a:latin typeface="Courier New"/>
                <a:cs typeface="Courier New"/>
              </a:rPr>
              <a:t> </a:t>
            </a:r>
            <a:r>
              <a:rPr sz="2000" spc="-15" dirty="0">
                <a:latin typeface="Courier New"/>
                <a:cs typeface="Courier New"/>
              </a:rPr>
              <a:t>team</a:t>
            </a:r>
            <a:r>
              <a:rPr sz="2000" spc="-23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who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works</a:t>
            </a:r>
            <a:r>
              <a:rPr sz="2000" spc="-27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on</a:t>
            </a:r>
            <a:r>
              <a:rPr sz="2000" spc="-31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the</a:t>
            </a:r>
            <a:r>
              <a:rPr sz="2000" spc="-455" dirty="0">
                <a:latin typeface="Courier New"/>
                <a:cs typeface="Courier New"/>
              </a:rPr>
              <a:t> </a:t>
            </a:r>
            <a:r>
              <a:rPr sz="2000" spc="-15" dirty="0">
                <a:latin typeface="Courier New"/>
                <a:cs typeface="Courier New"/>
              </a:rPr>
              <a:t>quality</a:t>
            </a:r>
            <a:r>
              <a:rPr sz="2000" spc="-23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control</a:t>
            </a:r>
            <a:r>
              <a:rPr sz="2000" spc="-250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must</a:t>
            </a:r>
            <a:r>
              <a:rPr sz="2000" spc="-400" dirty="0">
                <a:latin typeface="Courier New"/>
                <a:cs typeface="Courier New"/>
              </a:rPr>
              <a:t> </a:t>
            </a:r>
            <a:r>
              <a:rPr sz="2000" spc="5" dirty="0">
                <a:latin typeface="Courier New"/>
                <a:cs typeface="Courier New"/>
              </a:rPr>
              <a:t>have</a:t>
            </a:r>
            <a:r>
              <a:rPr sz="2000" spc="-18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solid</a:t>
            </a:r>
            <a:r>
              <a:rPr sz="2000" spc="-15" dirty="0">
                <a:latin typeface="Courier New"/>
                <a:cs typeface="Courier New"/>
              </a:rPr>
              <a:t> 	understanding</a:t>
            </a:r>
            <a:r>
              <a:rPr sz="2000" spc="31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of</a:t>
            </a:r>
            <a:r>
              <a:rPr sz="2000" spc="240" dirty="0">
                <a:latin typeface="Courier New"/>
                <a:cs typeface="Courier New"/>
              </a:rPr>
              <a:t> </a:t>
            </a:r>
            <a:r>
              <a:rPr sz="2000" b="1" spc="-35" dirty="0">
                <a:latin typeface="Courier New"/>
                <a:cs typeface="Courier New"/>
              </a:rPr>
              <a:t>Statistical</a:t>
            </a:r>
            <a:r>
              <a:rPr sz="2000" b="1" spc="350" dirty="0">
                <a:latin typeface="Courier New"/>
                <a:cs typeface="Courier New"/>
              </a:rPr>
              <a:t> </a:t>
            </a:r>
            <a:r>
              <a:rPr sz="2000" b="1" spc="-15" dirty="0">
                <a:latin typeface="Courier New"/>
                <a:cs typeface="Courier New"/>
              </a:rPr>
              <a:t>Sampling</a:t>
            </a:r>
            <a:r>
              <a:rPr sz="2000" b="1" spc="3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that</a:t>
            </a:r>
            <a:r>
              <a:rPr sz="2000" spc="31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has</a:t>
            </a:r>
            <a:r>
              <a:rPr sz="2000" spc="290" dirty="0">
                <a:latin typeface="Courier New"/>
                <a:cs typeface="Courier New"/>
              </a:rPr>
              <a:t> </a:t>
            </a:r>
            <a:r>
              <a:rPr sz="2000" spc="-15" dirty="0">
                <a:latin typeface="Courier New"/>
                <a:cs typeface="Courier New"/>
              </a:rPr>
              <a:t>a</a:t>
            </a:r>
            <a:r>
              <a:rPr sz="2000" spc="17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key</a:t>
            </a:r>
            <a:r>
              <a:rPr sz="2000" spc="26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role</a:t>
            </a:r>
            <a:r>
              <a:rPr sz="2000" spc="1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365" dirty="0">
                <a:latin typeface="Courier New"/>
                <a:cs typeface="Courier New"/>
              </a:rPr>
              <a:t> </a:t>
            </a:r>
            <a:r>
              <a:rPr sz="2000" spc="-15" dirty="0">
                <a:latin typeface="Courier New"/>
                <a:cs typeface="Courier New"/>
              </a:rPr>
              <a:t>project 	quality</a:t>
            </a:r>
            <a:r>
              <a:rPr sz="2000" spc="-570" dirty="0">
                <a:latin typeface="Courier New"/>
                <a:cs typeface="Courier New"/>
              </a:rPr>
              <a:t> </a:t>
            </a:r>
            <a:r>
              <a:rPr sz="2000" spc="-15" dirty="0">
                <a:latin typeface="Courier New"/>
                <a:cs typeface="Courier New"/>
              </a:rPr>
              <a:t>management.</a:t>
            </a:r>
            <a:endParaRPr sz="2000">
              <a:latin typeface="Courier New"/>
              <a:cs typeface="Courier New"/>
            </a:endParaRPr>
          </a:p>
          <a:p>
            <a:pPr marL="1137920" indent="-22669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1137920" algn="l"/>
              </a:tabLst>
            </a:pPr>
            <a:r>
              <a:rPr sz="2000" spc="-20" dirty="0">
                <a:latin typeface="Courier New"/>
                <a:cs typeface="Courier New"/>
              </a:rPr>
              <a:t>In</a:t>
            </a:r>
            <a:r>
              <a:rPr sz="2000" spc="-440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statistical</a:t>
            </a:r>
            <a:r>
              <a:rPr sz="2000" spc="-440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sampling,</a:t>
            </a:r>
            <a:r>
              <a:rPr sz="2000" spc="-42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only</a:t>
            </a:r>
            <a:r>
              <a:rPr sz="2000" spc="-45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part</a:t>
            </a:r>
            <a:r>
              <a:rPr sz="2000" spc="-470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of</a:t>
            </a:r>
            <a:r>
              <a:rPr sz="2000" spc="-509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</a:t>
            </a:r>
            <a:r>
              <a:rPr sz="2000" spc="-58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population</a:t>
            </a:r>
            <a:r>
              <a:rPr sz="2000" spc="-44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of</a:t>
            </a:r>
            <a:r>
              <a:rPr sz="2000" spc="-509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interest</a:t>
            </a:r>
            <a:r>
              <a:rPr sz="2000" spc="-45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is</a:t>
            </a:r>
            <a:r>
              <a:rPr sz="2000" spc="-6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chosen</a:t>
            </a:r>
            <a:r>
              <a:rPr sz="2000" spc="-38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for</a:t>
            </a:r>
            <a:endParaRPr sz="2000">
              <a:latin typeface="Courier New"/>
              <a:cs typeface="Courier New"/>
            </a:endParaRPr>
          </a:p>
          <a:p>
            <a:pPr marL="1139825">
              <a:lnSpc>
                <a:spcPct val="100000"/>
              </a:lnSpc>
              <a:spcBef>
                <a:spcPts val="720"/>
              </a:spcBef>
            </a:pPr>
            <a:r>
              <a:rPr sz="2000" spc="-10" dirty="0">
                <a:latin typeface="Courier New"/>
                <a:cs typeface="Courier New"/>
              </a:rPr>
              <a:t>analysis.</a:t>
            </a:r>
            <a:endParaRPr sz="2000">
              <a:latin typeface="Courier New"/>
              <a:cs typeface="Courier New"/>
            </a:endParaRPr>
          </a:p>
          <a:p>
            <a:pPr marL="1137920" indent="-22669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1137920" algn="l"/>
              </a:tabLst>
            </a:pP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30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chosen</a:t>
            </a:r>
            <a:r>
              <a:rPr sz="2000" spc="-31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sample</a:t>
            </a:r>
            <a:r>
              <a:rPr sz="2000" spc="-31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size</a:t>
            </a:r>
            <a:r>
              <a:rPr sz="2000" spc="-29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depends</a:t>
            </a:r>
            <a:r>
              <a:rPr sz="2000" spc="-30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on</a:t>
            </a:r>
            <a:r>
              <a:rPr sz="2000" spc="-330" dirty="0">
                <a:latin typeface="Courier New"/>
                <a:cs typeface="Courier New"/>
              </a:rPr>
              <a:t>  </a:t>
            </a: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how</a:t>
            </a:r>
            <a:r>
              <a:rPr sz="2000" i="1" u="heavy" spc="-3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you</a:t>
            </a:r>
            <a:r>
              <a:rPr sz="2000" i="1" u="heavy" spc="-28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want</a:t>
            </a:r>
            <a:r>
              <a:rPr sz="2000" i="1" u="heavy" spc="-28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the</a:t>
            </a:r>
            <a:r>
              <a:rPr sz="2000" i="1" u="heavy" spc="-29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sample</a:t>
            </a:r>
            <a:r>
              <a:rPr sz="2000" i="1" u="heavy" spc="-28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to</a:t>
            </a:r>
            <a:r>
              <a:rPr sz="2000" i="1" u="heavy" spc="-28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i="1" u="heavy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be</a:t>
            </a:r>
            <a:endParaRPr sz="2000">
              <a:latin typeface="Courier New"/>
              <a:cs typeface="Courier New"/>
            </a:endParaRPr>
          </a:p>
          <a:p>
            <a:pPr marL="1139825">
              <a:lnSpc>
                <a:spcPct val="100000"/>
              </a:lnSpc>
              <a:spcBef>
                <a:spcPts val="725"/>
              </a:spcBef>
            </a:pP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representative</a:t>
            </a:r>
            <a:r>
              <a:rPr sz="2000" i="1" u="heavy" spc="-8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of</a:t>
            </a:r>
            <a:r>
              <a:rPr sz="2000" i="1" u="heavy" spc="-7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the</a:t>
            </a:r>
            <a:r>
              <a:rPr sz="2000" i="1" u="heavy" spc="-7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entire</a:t>
            </a:r>
            <a:r>
              <a:rPr sz="2000" i="1" u="heavy" spc="-7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0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population</a:t>
            </a:r>
            <a:r>
              <a:rPr sz="2000" spc="-10" dirty="0">
                <a:latin typeface="Courier New"/>
                <a:cs typeface="Courier New"/>
              </a:rPr>
              <a:t>.</a:t>
            </a:r>
            <a:endParaRPr sz="2000">
              <a:latin typeface="Courier New"/>
              <a:cs typeface="Courier New"/>
            </a:endParaRPr>
          </a:p>
          <a:p>
            <a:pPr marL="1137920" indent="-22669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1137920" algn="l"/>
              </a:tabLst>
            </a:pPr>
            <a:r>
              <a:rPr sz="2000" spc="-20" dirty="0">
                <a:latin typeface="Courier New"/>
                <a:cs typeface="Courier New"/>
              </a:rPr>
              <a:t>A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simple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formula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is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given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determine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sample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size:</a:t>
            </a:r>
            <a:endParaRPr sz="2000">
              <a:latin typeface="Courier New"/>
              <a:cs typeface="Courier New"/>
            </a:endParaRPr>
          </a:p>
          <a:p>
            <a:pPr marL="1636395" lvl="1" indent="-26797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1636395" algn="l"/>
              </a:tabLst>
            </a:pPr>
            <a:r>
              <a:rPr sz="2000" spc="-20" dirty="0">
                <a:latin typeface="Courier New"/>
                <a:cs typeface="Courier New"/>
              </a:rPr>
              <a:t>Sample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size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=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65" dirty="0">
                <a:latin typeface="Courier New"/>
                <a:cs typeface="Courier New"/>
              </a:rPr>
              <a:t>0.25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*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(certainty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factor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/acceptable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error)</a:t>
            </a:r>
            <a:r>
              <a:rPr sz="2025" spc="-15" baseline="24691" dirty="0">
                <a:latin typeface="Courier New"/>
                <a:cs typeface="Courier New"/>
              </a:rPr>
              <a:t>2</a:t>
            </a:r>
            <a:endParaRPr sz="2025" baseline="24691">
              <a:latin typeface="Courier New"/>
              <a:cs typeface="Courier New"/>
            </a:endParaRPr>
          </a:p>
          <a:p>
            <a:pPr marL="1636395" lvl="1" indent="-267970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1636395" algn="l"/>
              </a:tabLst>
            </a:pPr>
            <a:r>
              <a:rPr sz="2000" spc="-20" dirty="0">
                <a:latin typeface="Courier New"/>
                <a:cs typeface="Courier New"/>
              </a:rPr>
              <a:t>certainty</a:t>
            </a:r>
            <a:r>
              <a:rPr sz="2000" spc="-409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factor</a:t>
            </a:r>
            <a:r>
              <a:rPr sz="2000" spc="-440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signifies</a:t>
            </a:r>
            <a:r>
              <a:rPr sz="2000" spc="-409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how</a:t>
            </a:r>
            <a:r>
              <a:rPr sz="2000" spc="-445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confident</a:t>
            </a:r>
            <a:r>
              <a:rPr sz="2000" spc="-430" dirty="0">
                <a:latin typeface="Courier New"/>
                <a:cs typeface="Courier New"/>
              </a:rPr>
              <a:t> </a:t>
            </a:r>
            <a:r>
              <a:rPr sz="2000" spc="-75" dirty="0">
                <a:latin typeface="Courier New"/>
                <a:cs typeface="Courier New"/>
              </a:rPr>
              <a:t>you</a:t>
            </a:r>
            <a:r>
              <a:rPr sz="2000" spc="-41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want</a:t>
            </a:r>
            <a:r>
              <a:rPr sz="2000" spc="-440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to</a:t>
            </a:r>
            <a:r>
              <a:rPr sz="2000" spc="-490" dirty="0">
                <a:latin typeface="Courier New"/>
                <a:cs typeface="Courier New"/>
              </a:rPr>
              <a:t> </a:t>
            </a:r>
            <a:r>
              <a:rPr sz="2000" spc="-65" dirty="0">
                <a:latin typeface="Courier New"/>
                <a:cs typeface="Courier New"/>
              </a:rPr>
              <a:t>be</a:t>
            </a:r>
            <a:r>
              <a:rPr sz="2000" spc="-49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that</a:t>
            </a:r>
            <a:r>
              <a:rPr sz="2000" spc="-420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the</a:t>
            </a:r>
            <a:r>
              <a:rPr sz="2000" spc="-38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sampled</a:t>
            </a:r>
            <a:endParaRPr sz="2000">
              <a:latin typeface="Courier New"/>
              <a:cs typeface="Courier New"/>
            </a:endParaRPr>
          </a:p>
          <a:p>
            <a:pPr marL="50800">
              <a:lnSpc>
                <a:spcPct val="100000"/>
              </a:lnSpc>
              <a:spcBef>
                <a:spcPts val="795"/>
              </a:spcBef>
            </a:pP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Presentation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 </a:t>
            </a:r>
            <a:r>
              <a:rPr sz="1200" spc="-45" dirty="0">
                <a:latin typeface="Arial MT"/>
                <a:cs typeface="Arial MT"/>
              </a:rPr>
              <a:t>m</a:t>
            </a:r>
            <a:r>
              <a:rPr sz="1200" spc="-5" dirty="0">
                <a:latin typeface="Arial MT"/>
                <a:cs typeface="Arial MT"/>
              </a:rPr>
              <a:t>a</a:t>
            </a:r>
            <a:r>
              <a:rPr sz="1200" spc="-245" dirty="0">
                <a:latin typeface="Arial MT"/>
                <a:cs typeface="Arial MT"/>
              </a:rPr>
              <a:t>i</a:t>
            </a:r>
            <a:r>
              <a:rPr sz="3000" spc="-1410" baseline="1388" dirty="0">
                <a:latin typeface="Courier New"/>
                <a:cs typeface="Courier New"/>
              </a:rPr>
              <a:t>d</a:t>
            </a:r>
            <a:r>
              <a:rPr sz="1200" spc="-5" dirty="0">
                <a:latin typeface="Arial MT"/>
                <a:cs typeface="Arial MT"/>
              </a:rPr>
              <a:t>nl</a:t>
            </a:r>
            <a:r>
              <a:rPr sz="3000" spc="-1777" baseline="1388" dirty="0">
                <a:latin typeface="Courier New"/>
                <a:cs typeface="Courier New"/>
              </a:rPr>
              <a:t>a</a:t>
            </a:r>
            <a:r>
              <a:rPr sz="1200" dirty="0">
                <a:latin typeface="Arial MT"/>
                <a:cs typeface="Arial MT"/>
              </a:rPr>
              <a:t>y </a:t>
            </a:r>
            <a:r>
              <a:rPr sz="1200" spc="-420" dirty="0">
                <a:latin typeface="Arial MT"/>
                <a:cs typeface="Arial MT"/>
              </a:rPr>
              <a:t>d</a:t>
            </a:r>
            <a:r>
              <a:rPr sz="3000" spc="-1214" baseline="1388" dirty="0">
                <a:latin typeface="Courier New"/>
                <a:cs typeface="Courier New"/>
              </a:rPr>
              <a:t>t</a:t>
            </a:r>
            <a:r>
              <a:rPr sz="1200" spc="-5" dirty="0">
                <a:latin typeface="Arial MT"/>
                <a:cs typeface="Arial MT"/>
              </a:rPr>
              <a:t>e</a:t>
            </a:r>
            <a:r>
              <a:rPr sz="1200" spc="-560" dirty="0">
                <a:latin typeface="Arial MT"/>
                <a:cs typeface="Arial MT"/>
              </a:rPr>
              <a:t>p</a:t>
            </a:r>
            <a:r>
              <a:rPr sz="3000" spc="-1005" baseline="1388" dirty="0">
                <a:latin typeface="Courier New"/>
                <a:cs typeface="Courier New"/>
              </a:rPr>
              <a:t>a</a:t>
            </a:r>
            <a:r>
              <a:rPr sz="1200" spc="-5" dirty="0">
                <a:latin typeface="Arial MT"/>
                <a:cs typeface="Arial MT"/>
              </a:rPr>
              <a:t>e</a:t>
            </a:r>
            <a:r>
              <a:rPr sz="1200" spc="-15" dirty="0">
                <a:latin typeface="Arial MT"/>
                <a:cs typeface="Arial MT"/>
              </a:rPr>
              <a:t>n</a:t>
            </a:r>
            <a:r>
              <a:rPr sz="1200" spc="-5" dirty="0">
                <a:latin typeface="Arial MT"/>
                <a:cs typeface="Arial MT"/>
              </a:rPr>
              <a:t>d</a:t>
            </a:r>
            <a:r>
              <a:rPr sz="1200" spc="-245" dirty="0">
                <a:latin typeface="Arial MT"/>
                <a:cs typeface="Arial MT"/>
              </a:rPr>
              <a:t>e</a:t>
            </a:r>
            <a:r>
              <a:rPr sz="3000" spc="-1477" baseline="1388" dirty="0">
                <a:latin typeface="Courier New"/>
                <a:cs typeface="Courier New"/>
              </a:rPr>
              <a:t>i</a:t>
            </a:r>
            <a:r>
              <a:rPr sz="1200" spc="-5" dirty="0">
                <a:latin typeface="Arial MT"/>
                <a:cs typeface="Arial MT"/>
              </a:rPr>
              <a:t>n</a:t>
            </a:r>
            <a:r>
              <a:rPr sz="1200" spc="-130" dirty="0">
                <a:latin typeface="Arial MT"/>
                <a:cs typeface="Arial MT"/>
              </a:rPr>
              <a:t>t</a:t>
            </a:r>
            <a:r>
              <a:rPr sz="3000" spc="-1260" baseline="1388" dirty="0">
                <a:latin typeface="Courier New"/>
                <a:cs typeface="Courier New"/>
              </a:rPr>
              <a:t>n</a:t>
            </a:r>
            <a:r>
              <a:rPr sz="1200" spc="-15" dirty="0">
                <a:latin typeface="Arial MT"/>
                <a:cs typeface="Arial MT"/>
              </a:rPr>
              <a:t>o</a:t>
            </a:r>
            <a:r>
              <a:rPr sz="1200" spc="-580" dirty="0">
                <a:latin typeface="Arial MT"/>
                <a:cs typeface="Arial MT"/>
              </a:rPr>
              <a:t>n</a:t>
            </a:r>
            <a:r>
              <a:rPr sz="3000" spc="-494" baseline="1388" dirty="0">
                <a:latin typeface="Courier New"/>
                <a:cs typeface="Courier New"/>
              </a:rPr>
              <a:t>c</a:t>
            </a:r>
            <a:r>
              <a:rPr sz="1200" spc="-60" dirty="0">
                <a:latin typeface="Arial MT"/>
                <a:cs typeface="Arial MT"/>
              </a:rPr>
              <a:t>t</a:t>
            </a:r>
            <a:r>
              <a:rPr sz="3000" spc="-1770" baseline="1388" dirty="0">
                <a:latin typeface="Courier New"/>
                <a:cs typeface="Courier New"/>
              </a:rPr>
              <a:t>l</a:t>
            </a:r>
            <a:r>
              <a:rPr sz="1200" spc="-10" dirty="0">
                <a:latin typeface="Arial MT"/>
                <a:cs typeface="Arial MT"/>
              </a:rPr>
              <a:t>h</a:t>
            </a:r>
            <a:r>
              <a:rPr sz="1200" spc="-200" dirty="0">
                <a:latin typeface="Arial MT"/>
                <a:cs typeface="Arial MT"/>
              </a:rPr>
              <a:t>e</a:t>
            </a:r>
            <a:r>
              <a:rPr sz="3000" spc="-1072" baseline="1388" dirty="0">
                <a:latin typeface="Courier New"/>
                <a:cs typeface="Courier New"/>
              </a:rPr>
              <a:t>u</a:t>
            </a:r>
            <a:r>
              <a:rPr sz="1200" spc="-20" dirty="0">
                <a:latin typeface="Arial MT"/>
                <a:cs typeface="Arial MT"/>
              </a:rPr>
              <a:t>t</a:t>
            </a:r>
            <a:r>
              <a:rPr sz="1200" spc="-315" dirty="0">
                <a:latin typeface="Arial MT"/>
                <a:cs typeface="Arial MT"/>
              </a:rPr>
              <a:t>e</a:t>
            </a:r>
            <a:r>
              <a:rPr sz="3000" spc="-1372" baseline="1388" dirty="0">
                <a:latin typeface="Courier New"/>
                <a:cs typeface="Courier New"/>
              </a:rPr>
              <a:t>d</a:t>
            </a:r>
            <a:r>
              <a:rPr sz="1200" spc="-40" dirty="0">
                <a:latin typeface="Arial MT"/>
                <a:cs typeface="Arial MT"/>
              </a:rPr>
              <a:t>x</a:t>
            </a:r>
            <a:r>
              <a:rPr sz="1200" spc="-35" dirty="0">
                <a:latin typeface="Arial MT"/>
                <a:cs typeface="Arial MT"/>
              </a:rPr>
              <a:t>t</a:t>
            </a:r>
            <a:r>
              <a:rPr sz="3000" spc="-1807" baseline="1388" dirty="0">
                <a:latin typeface="Courier New"/>
                <a:cs typeface="Courier New"/>
              </a:rPr>
              <a:t>e</a:t>
            </a:r>
            <a:r>
              <a:rPr sz="1200" spc="-10" dirty="0">
                <a:latin typeface="Arial MT"/>
                <a:cs typeface="Arial MT"/>
              </a:rPr>
              <a:t>b</a:t>
            </a:r>
            <a:r>
              <a:rPr sz="1200" spc="-170" dirty="0">
                <a:latin typeface="Arial MT"/>
                <a:cs typeface="Arial MT"/>
              </a:rPr>
              <a:t>o</a:t>
            </a:r>
            <a:r>
              <a:rPr sz="3000" spc="-1597" baseline="1388" dirty="0">
                <a:latin typeface="Courier New"/>
                <a:cs typeface="Courier New"/>
              </a:rPr>
              <a:t>s</a:t>
            </a:r>
            <a:r>
              <a:rPr sz="1200" spc="-5" dirty="0">
                <a:latin typeface="Arial MT"/>
                <a:cs typeface="Arial MT"/>
              </a:rPr>
              <a:t>o</a:t>
            </a:r>
            <a:r>
              <a:rPr sz="1200" spc="-10" dirty="0">
                <a:latin typeface="Arial MT"/>
                <a:cs typeface="Arial MT"/>
              </a:rPr>
              <a:t>k:</a:t>
            </a:r>
            <a:r>
              <a:rPr sz="1200" spc="6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</a:t>
            </a:r>
            <a:r>
              <a:rPr sz="1200" spc="-160" dirty="0">
                <a:latin typeface="Arial MT"/>
                <a:cs typeface="Arial MT"/>
              </a:rPr>
              <a:t>n</a:t>
            </a:r>
            <a:r>
              <a:rPr sz="3000" spc="-1582" baseline="1388" dirty="0">
                <a:latin typeface="Courier New"/>
                <a:cs typeface="Courier New"/>
              </a:rPr>
              <a:t>o</a:t>
            </a:r>
            <a:r>
              <a:rPr sz="1200" spc="-10" dirty="0">
                <a:latin typeface="Arial MT"/>
                <a:cs typeface="Arial MT"/>
              </a:rPr>
              <a:t>f</a:t>
            </a:r>
            <a:r>
              <a:rPr sz="1200" spc="-35" dirty="0">
                <a:latin typeface="Arial MT"/>
                <a:cs typeface="Arial MT"/>
              </a:rPr>
              <a:t>o</a:t>
            </a:r>
            <a:r>
              <a:rPr sz="3000" spc="-1762" baseline="1388" dirty="0">
                <a:latin typeface="Courier New"/>
                <a:cs typeface="Courier New"/>
              </a:rPr>
              <a:t>n</a:t>
            </a:r>
            <a:r>
              <a:rPr sz="1200" spc="5" dirty="0">
                <a:latin typeface="Arial MT"/>
                <a:cs typeface="Arial MT"/>
              </a:rPr>
              <a:t>r</a:t>
            </a:r>
            <a:r>
              <a:rPr sz="1200" spc="-295" dirty="0">
                <a:latin typeface="Arial MT"/>
                <a:cs typeface="Arial MT"/>
              </a:rPr>
              <a:t>m</a:t>
            </a:r>
            <a:r>
              <a:rPr sz="3000" spc="-1432" baseline="1388" dirty="0">
                <a:latin typeface="Courier New"/>
                <a:cs typeface="Courier New"/>
              </a:rPr>
              <a:t>l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85" dirty="0">
                <a:latin typeface="Arial MT"/>
                <a:cs typeface="Arial MT"/>
              </a:rPr>
              <a:t>t</a:t>
            </a:r>
            <a:r>
              <a:rPr sz="3000" spc="-1695" baseline="1388" dirty="0">
                <a:latin typeface="Courier New"/>
                <a:cs typeface="Courier New"/>
              </a:rPr>
              <a:t>y</a:t>
            </a:r>
            <a:r>
              <a:rPr sz="1200" spc="20" dirty="0">
                <a:latin typeface="Arial MT"/>
                <a:cs typeface="Arial MT"/>
              </a:rPr>
              <a:t>i</a:t>
            </a:r>
            <a:r>
              <a:rPr sz="1200" spc="-5" dirty="0">
                <a:latin typeface="Arial MT"/>
                <a:cs typeface="Arial MT"/>
              </a:rPr>
              <a:t>o</a:t>
            </a:r>
            <a:r>
              <a:rPr sz="1200" dirty="0">
                <a:latin typeface="Arial MT"/>
                <a:cs typeface="Arial MT"/>
              </a:rPr>
              <a:t>n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t</a:t>
            </a:r>
            <a:r>
              <a:rPr sz="1200" spc="-204" dirty="0">
                <a:latin typeface="Arial MT"/>
                <a:cs typeface="Arial MT"/>
              </a:rPr>
              <a:t>e</a:t>
            </a:r>
            <a:r>
              <a:rPr sz="3000" spc="-1545" baseline="1388" dirty="0">
                <a:latin typeface="Courier New"/>
                <a:cs typeface="Courier New"/>
              </a:rPr>
              <a:t>t</a:t>
            </a:r>
            <a:r>
              <a:rPr sz="1200" spc="-15" dirty="0">
                <a:latin typeface="Arial MT"/>
                <a:cs typeface="Arial MT"/>
              </a:rPr>
              <a:t>c</a:t>
            </a:r>
            <a:r>
              <a:rPr sz="1200" spc="-275" dirty="0">
                <a:latin typeface="Arial MT"/>
                <a:cs typeface="Arial MT"/>
              </a:rPr>
              <a:t>h</a:t>
            </a:r>
            <a:r>
              <a:rPr sz="3000" spc="-1432" baseline="1388" dirty="0">
                <a:latin typeface="Courier New"/>
                <a:cs typeface="Courier New"/>
              </a:rPr>
              <a:t>h</a:t>
            </a:r>
            <a:r>
              <a:rPr sz="1200" spc="-10" dirty="0">
                <a:latin typeface="Arial MT"/>
                <a:cs typeface="Arial MT"/>
              </a:rPr>
              <a:t>n</a:t>
            </a:r>
            <a:r>
              <a:rPr sz="1200" spc="-420" dirty="0">
                <a:latin typeface="Arial MT"/>
                <a:cs typeface="Arial MT"/>
              </a:rPr>
              <a:t>o</a:t>
            </a:r>
            <a:r>
              <a:rPr sz="3000" spc="-1214" baseline="1388" dirty="0">
                <a:latin typeface="Courier New"/>
                <a:cs typeface="Courier New"/>
              </a:rPr>
              <a:t>o</a:t>
            </a:r>
            <a:r>
              <a:rPr sz="1200" spc="10" dirty="0">
                <a:latin typeface="Arial MT"/>
                <a:cs typeface="Arial MT"/>
              </a:rPr>
              <a:t>l</a:t>
            </a:r>
            <a:r>
              <a:rPr sz="1200" spc="-175" dirty="0">
                <a:latin typeface="Arial MT"/>
                <a:cs typeface="Arial MT"/>
              </a:rPr>
              <a:t>o</a:t>
            </a:r>
            <a:r>
              <a:rPr sz="3000" spc="-1589" baseline="1388" dirty="0">
                <a:latin typeface="Courier New"/>
                <a:cs typeface="Courier New"/>
              </a:rPr>
              <a:t>s</a:t>
            </a:r>
            <a:r>
              <a:rPr sz="1200" spc="-30" dirty="0">
                <a:latin typeface="Arial MT"/>
                <a:cs typeface="Arial MT"/>
              </a:rPr>
              <a:t>g</a:t>
            </a:r>
            <a:r>
              <a:rPr sz="1200" spc="-229" dirty="0">
                <a:latin typeface="Arial MT"/>
                <a:cs typeface="Arial MT"/>
              </a:rPr>
              <a:t>y</a:t>
            </a:r>
            <a:r>
              <a:rPr sz="3000" spc="-1500" baseline="1388" dirty="0">
                <a:latin typeface="Courier New"/>
                <a:cs typeface="Courier New"/>
              </a:rPr>
              <a:t>e</a:t>
            </a:r>
            <a:r>
              <a:rPr sz="1200" spc="-10" dirty="0">
                <a:latin typeface="Arial MT"/>
                <a:cs typeface="Arial MT"/>
              </a:rPr>
              <a:t>: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</a:t>
            </a:r>
            <a:r>
              <a:rPr sz="1200" spc="5" dirty="0">
                <a:latin typeface="Arial MT"/>
                <a:cs typeface="Arial MT"/>
              </a:rPr>
              <a:t>r</a:t>
            </a:r>
            <a:r>
              <a:rPr sz="1200" spc="-5" dirty="0">
                <a:latin typeface="Arial MT"/>
                <a:cs typeface="Arial MT"/>
              </a:rPr>
              <a:t>o</a:t>
            </a:r>
            <a:r>
              <a:rPr sz="1200" spc="-25" dirty="0">
                <a:latin typeface="Arial MT"/>
                <a:cs typeface="Arial MT"/>
              </a:rPr>
              <a:t>j</a:t>
            </a:r>
            <a:r>
              <a:rPr sz="1200" spc="-610" dirty="0">
                <a:latin typeface="Arial MT"/>
                <a:cs typeface="Arial MT"/>
              </a:rPr>
              <a:t>e</a:t>
            </a:r>
            <a:r>
              <a:rPr sz="3000" spc="-900" baseline="1388" dirty="0">
                <a:latin typeface="Courier New"/>
                <a:cs typeface="Courier New"/>
              </a:rPr>
              <a:t>v</a:t>
            </a:r>
            <a:r>
              <a:rPr sz="1200" spc="-85" dirty="0">
                <a:latin typeface="Arial MT"/>
                <a:cs typeface="Arial MT"/>
              </a:rPr>
              <a:t>c</a:t>
            </a:r>
            <a:r>
              <a:rPr sz="3000" spc="-1695" baseline="1388" dirty="0">
                <a:latin typeface="Courier New"/>
                <a:cs typeface="Courier New"/>
              </a:rPr>
              <a:t>a</a:t>
            </a:r>
            <a:r>
              <a:rPr sz="1200" dirty="0">
                <a:latin typeface="Arial MT"/>
                <a:cs typeface="Arial MT"/>
              </a:rPr>
              <a:t>t</a:t>
            </a:r>
            <a:r>
              <a:rPr sz="1200" spc="55" dirty="0">
                <a:latin typeface="Arial MT"/>
                <a:cs typeface="Arial MT"/>
              </a:rPr>
              <a:t> </a:t>
            </a:r>
            <a:r>
              <a:rPr sz="1200" spc="-640" dirty="0">
                <a:latin typeface="Arial MT"/>
                <a:cs typeface="Arial MT"/>
              </a:rPr>
              <a:t>m</a:t>
            </a:r>
            <a:r>
              <a:rPr sz="3000" spc="-944" baseline="1388" dirty="0">
                <a:latin typeface="Courier New"/>
                <a:cs typeface="Courier New"/>
              </a:rPr>
              <a:t>r</a:t>
            </a:r>
            <a:r>
              <a:rPr sz="1200" spc="-90" dirty="0">
                <a:latin typeface="Arial MT"/>
                <a:cs typeface="Arial MT"/>
              </a:rPr>
              <a:t>a</a:t>
            </a:r>
            <a:r>
              <a:rPr sz="3000" spc="-1717" baseline="1388" dirty="0">
                <a:latin typeface="Courier New"/>
                <a:cs typeface="Courier New"/>
              </a:rPr>
              <a:t>i</a:t>
            </a:r>
            <a:r>
              <a:rPr sz="1200" spc="-5" dirty="0">
                <a:latin typeface="Arial MT"/>
                <a:cs typeface="Arial MT"/>
              </a:rPr>
              <a:t>n</a:t>
            </a:r>
            <a:r>
              <a:rPr sz="1200" spc="-240" dirty="0">
                <a:latin typeface="Arial MT"/>
                <a:cs typeface="Arial MT"/>
              </a:rPr>
              <a:t>a</a:t>
            </a:r>
            <a:r>
              <a:rPr sz="3000" spc="-1485" baseline="1388" dirty="0">
                <a:latin typeface="Courier New"/>
                <a:cs typeface="Courier New"/>
              </a:rPr>
              <a:t>a</a:t>
            </a:r>
            <a:r>
              <a:rPr sz="1200" spc="-5" dirty="0">
                <a:latin typeface="Arial MT"/>
                <a:cs typeface="Arial MT"/>
              </a:rPr>
              <a:t>g</a:t>
            </a:r>
            <a:r>
              <a:rPr sz="1200" spc="-380" dirty="0">
                <a:latin typeface="Arial MT"/>
                <a:cs typeface="Arial MT"/>
              </a:rPr>
              <a:t>e</a:t>
            </a:r>
            <a:r>
              <a:rPr sz="3000" spc="-1275" baseline="1388" dirty="0">
                <a:latin typeface="Courier New"/>
                <a:cs typeface="Courier New"/>
              </a:rPr>
              <a:t>t</a:t>
            </a:r>
            <a:r>
              <a:rPr sz="1200" spc="-185" dirty="0">
                <a:latin typeface="Arial MT"/>
                <a:cs typeface="Arial MT"/>
              </a:rPr>
              <a:t>m</a:t>
            </a:r>
            <a:r>
              <a:rPr sz="3000" spc="-1635" baseline="1388" dirty="0">
                <a:latin typeface="Courier New"/>
                <a:cs typeface="Courier New"/>
              </a:rPr>
              <a:t>i</a:t>
            </a:r>
            <a:r>
              <a:rPr sz="1200" spc="-15" dirty="0">
                <a:latin typeface="Arial MT"/>
                <a:cs typeface="Arial MT"/>
              </a:rPr>
              <a:t>e</a:t>
            </a:r>
            <a:r>
              <a:rPr sz="1200" spc="-280" dirty="0">
                <a:latin typeface="Arial MT"/>
                <a:cs typeface="Arial MT"/>
              </a:rPr>
              <a:t>n</a:t>
            </a:r>
            <a:r>
              <a:rPr sz="3000" spc="-1417" baseline="1388" dirty="0">
                <a:latin typeface="Courier New"/>
                <a:cs typeface="Courier New"/>
              </a:rPr>
              <a:t>o</a:t>
            </a:r>
            <a:r>
              <a:rPr sz="1200" spc="-10" dirty="0">
                <a:latin typeface="Arial MT"/>
                <a:cs typeface="Arial MT"/>
              </a:rPr>
              <a:t>t</a:t>
            </a:r>
            <a:r>
              <a:rPr sz="1200" spc="30" dirty="0">
                <a:latin typeface="Arial MT"/>
                <a:cs typeface="Arial MT"/>
              </a:rPr>
              <a:t> </a:t>
            </a:r>
            <a:r>
              <a:rPr sz="1200" spc="-155" dirty="0">
                <a:latin typeface="Arial MT"/>
                <a:cs typeface="Arial MT"/>
              </a:rPr>
              <a:t>(</a:t>
            </a:r>
            <a:r>
              <a:rPr sz="3000" spc="-1567" baseline="1388" dirty="0">
                <a:latin typeface="Courier New"/>
                <a:cs typeface="Courier New"/>
              </a:rPr>
              <a:t>n</a:t>
            </a:r>
            <a:r>
              <a:rPr sz="1200" spc="-5" dirty="0">
                <a:latin typeface="Arial MT"/>
                <a:cs typeface="Arial MT"/>
              </a:rPr>
              <a:t>9</a:t>
            </a:r>
            <a:r>
              <a:rPr sz="1200" spc="-15" dirty="0">
                <a:latin typeface="Arial MT"/>
                <a:cs typeface="Arial MT"/>
              </a:rPr>
              <a:t>t</a:t>
            </a:r>
            <a:r>
              <a:rPr sz="1200" spc="-650" dirty="0">
                <a:latin typeface="Arial MT"/>
                <a:cs typeface="Arial MT"/>
              </a:rPr>
              <a:t>h</a:t>
            </a:r>
            <a:r>
              <a:rPr sz="3000" spc="-375" baseline="1388" dirty="0">
                <a:latin typeface="Courier New"/>
                <a:cs typeface="Courier New"/>
              </a:rPr>
              <a:t>s</a:t>
            </a:r>
            <a:r>
              <a:rPr sz="1200" spc="-10" dirty="0">
                <a:latin typeface="Arial MT"/>
                <a:cs typeface="Arial MT"/>
              </a:rPr>
              <a:t>e</a:t>
            </a:r>
            <a:r>
              <a:rPr sz="1200" dirty="0">
                <a:latin typeface="Arial MT"/>
                <a:cs typeface="Arial MT"/>
              </a:rPr>
              <a:t>d</a:t>
            </a:r>
            <a:r>
              <a:rPr sz="1200" spc="15" dirty="0">
                <a:latin typeface="Arial MT"/>
                <a:cs typeface="Arial MT"/>
              </a:rPr>
              <a:t>i</a:t>
            </a:r>
            <a:r>
              <a:rPr sz="1200" spc="-15" dirty="0">
                <a:latin typeface="Arial MT"/>
                <a:cs typeface="Arial MT"/>
              </a:rPr>
              <a:t>t</a:t>
            </a:r>
            <a:r>
              <a:rPr sz="1200" spc="-210" dirty="0">
                <a:latin typeface="Arial MT"/>
                <a:cs typeface="Arial MT"/>
              </a:rPr>
              <a:t>i</a:t>
            </a:r>
            <a:r>
              <a:rPr sz="3000" spc="-1485" baseline="1388" dirty="0">
                <a:latin typeface="Courier New"/>
                <a:cs typeface="Courier New"/>
              </a:rPr>
              <a:t>t</a:t>
            </a:r>
            <a:r>
              <a:rPr sz="1200" spc="-10" dirty="0">
                <a:latin typeface="Arial MT"/>
                <a:cs typeface="Arial MT"/>
              </a:rPr>
              <a:t>o</a:t>
            </a:r>
            <a:r>
              <a:rPr sz="1200" spc="-445" dirty="0">
                <a:latin typeface="Arial MT"/>
                <a:cs typeface="Arial MT"/>
              </a:rPr>
              <a:t>n</a:t>
            </a:r>
            <a:r>
              <a:rPr sz="3000" spc="-1155" baseline="1388" dirty="0">
                <a:latin typeface="Courier New"/>
                <a:cs typeface="Courier New"/>
              </a:rPr>
              <a:t>h</a:t>
            </a:r>
            <a:r>
              <a:rPr sz="1200" spc="-5" dirty="0">
                <a:latin typeface="Arial MT"/>
                <a:cs typeface="Arial MT"/>
              </a:rPr>
              <a:t>)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spc="-675" dirty="0">
                <a:latin typeface="Arial MT"/>
                <a:cs typeface="Arial MT"/>
              </a:rPr>
              <a:t>b</a:t>
            </a:r>
            <a:r>
              <a:rPr sz="3000" spc="-832" baseline="1388" dirty="0">
                <a:latin typeface="Courier New"/>
                <a:cs typeface="Courier New"/>
              </a:rPr>
              <a:t>a</a:t>
            </a:r>
            <a:r>
              <a:rPr sz="1200" spc="-80" dirty="0">
                <a:latin typeface="Arial MT"/>
                <a:cs typeface="Arial MT"/>
              </a:rPr>
              <a:t>y</a:t>
            </a:r>
            <a:r>
              <a:rPr sz="3000" spc="-1214" baseline="1388" dirty="0">
                <a:latin typeface="Courier New"/>
                <a:cs typeface="Courier New"/>
              </a:rPr>
              <a:t>t</a:t>
            </a:r>
            <a:r>
              <a:rPr sz="1200" spc="-20" dirty="0">
                <a:latin typeface="Arial MT"/>
                <a:cs typeface="Arial MT"/>
              </a:rPr>
              <a:t>S</a:t>
            </a:r>
            <a:r>
              <a:rPr sz="1200" spc="-15" dirty="0">
                <a:latin typeface="Arial MT"/>
                <a:cs typeface="Arial MT"/>
              </a:rPr>
              <a:t>ch</a:t>
            </a:r>
            <a:r>
              <a:rPr sz="1200" spc="-340" dirty="0">
                <a:latin typeface="Arial MT"/>
                <a:cs typeface="Arial MT"/>
              </a:rPr>
              <a:t>w</a:t>
            </a:r>
            <a:r>
              <a:rPr sz="3000" spc="-1380" baseline="1388" dirty="0">
                <a:latin typeface="Courier New"/>
                <a:cs typeface="Courier New"/>
              </a:rPr>
              <a:t>o</a:t>
            </a:r>
            <a:r>
              <a:rPr sz="1200" spc="-15" dirty="0">
                <a:latin typeface="Arial MT"/>
                <a:cs typeface="Arial MT"/>
              </a:rPr>
              <a:t>a</a:t>
            </a:r>
            <a:r>
              <a:rPr sz="1200" spc="-120" dirty="0">
                <a:latin typeface="Arial MT"/>
                <a:cs typeface="Arial MT"/>
              </a:rPr>
              <a:t>l</a:t>
            </a:r>
            <a:r>
              <a:rPr sz="3000" spc="-1635" baseline="1388" dirty="0">
                <a:latin typeface="Courier New"/>
                <a:cs typeface="Courier New"/>
              </a:rPr>
              <a:t>c</a:t>
            </a:r>
            <a:r>
              <a:rPr sz="1200" spc="-15" dirty="0">
                <a:latin typeface="Arial MT"/>
                <a:cs typeface="Arial MT"/>
              </a:rPr>
              <a:t>b</a:t>
            </a:r>
            <a:r>
              <a:rPr sz="1200" spc="-330" dirty="0">
                <a:latin typeface="Arial MT"/>
                <a:cs typeface="Arial MT"/>
              </a:rPr>
              <a:t>e</a:t>
            </a:r>
            <a:r>
              <a:rPr sz="3000" spc="-1342" baseline="1388" dirty="0">
                <a:latin typeface="Courier New"/>
                <a:cs typeface="Courier New"/>
              </a:rPr>
              <a:t>c</a:t>
            </a:r>
            <a:r>
              <a:rPr sz="1200" spc="-10" dirty="0">
                <a:latin typeface="Arial MT"/>
                <a:cs typeface="Arial MT"/>
              </a:rPr>
              <a:t>,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610" dirty="0">
                <a:latin typeface="Arial MT"/>
                <a:cs typeface="Arial MT"/>
              </a:rPr>
              <a:t>K</a:t>
            </a:r>
            <a:r>
              <a:rPr sz="3000" spc="-930" baseline="1388" dirty="0">
                <a:latin typeface="Courier New"/>
                <a:cs typeface="Courier New"/>
              </a:rPr>
              <a:t>u</a:t>
            </a:r>
            <a:r>
              <a:rPr sz="1200" spc="-5" dirty="0">
                <a:latin typeface="Arial MT"/>
                <a:cs typeface="Arial MT"/>
              </a:rPr>
              <a:t>.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Courier New"/>
                <a:cs typeface="Courier New"/>
              </a:rPr>
              <a:t>r</a:t>
            </a:r>
            <a:r>
              <a:rPr sz="3000" spc="-352" baseline="1388" dirty="0">
                <a:latin typeface="Courier New"/>
                <a:cs typeface="Courier New"/>
              </a:rPr>
              <a:t>  </a:t>
            </a:r>
            <a:r>
              <a:rPr sz="3000" baseline="1388" dirty="0">
                <a:latin typeface="Courier New"/>
                <a:cs typeface="Courier New"/>
              </a:rPr>
              <a:t>naturally</a:t>
            </a:r>
            <a:r>
              <a:rPr sz="3000" spc="-442" baseline="1388" dirty="0">
                <a:latin typeface="Courier New"/>
                <a:cs typeface="Courier New"/>
              </a:rPr>
              <a:t>  </a:t>
            </a:r>
            <a:r>
              <a:rPr sz="3000" baseline="1388" dirty="0">
                <a:latin typeface="Courier New"/>
                <a:cs typeface="Courier New"/>
              </a:rPr>
              <a:t>in</a:t>
            </a:r>
            <a:r>
              <a:rPr sz="3000" spc="-292" baseline="1388" dirty="0">
                <a:latin typeface="Courier New"/>
                <a:cs typeface="Courier New"/>
              </a:rPr>
              <a:t>  </a:t>
            </a:r>
            <a:r>
              <a:rPr sz="3000" spc="-37" baseline="1388" dirty="0">
                <a:latin typeface="Courier New"/>
                <a:cs typeface="Courier New"/>
              </a:rPr>
              <a:t>the</a:t>
            </a:r>
            <a:endParaRPr sz="3000" baseline="1388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10894060" cy="1617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Commonly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Certainty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Factors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acceptable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error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is</a:t>
            </a:r>
            <a:r>
              <a:rPr sz="2400" spc="-39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associated</a:t>
            </a:r>
            <a:r>
              <a:rPr sz="2400" spc="-5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with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the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desired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certainty</a:t>
            </a:r>
            <a:endParaRPr sz="24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calculated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using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formula: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1-</a:t>
            </a:r>
            <a:r>
              <a:rPr sz="2400" spc="-10" dirty="0">
                <a:latin typeface="Courier New"/>
                <a:cs typeface="Courier New"/>
              </a:rPr>
              <a:t>percent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certainty/100.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5623" y="3730752"/>
            <a:ext cx="7388352" cy="151180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10897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ourier New"/>
                <a:cs typeface="Courier New"/>
              </a:rPr>
              <a:t>Six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Sigma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defined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as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“a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comprehensive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and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flexible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system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0124" y="2332227"/>
            <a:ext cx="10668635" cy="112331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achieving,</a:t>
            </a:r>
            <a:r>
              <a:rPr sz="2400" spc="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sustaining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maximizing</a:t>
            </a:r>
            <a:r>
              <a:rPr sz="2400" spc="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business</a:t>
            </a:r>
            <a:r>
              <a:rPr sz="2400" spc="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success.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b="1" dirty="0">
                <a:latin typeface="Courier New"/>
                <a:cs typeface="Courier New"/>
              </a:rPr>
              <a:t>Six</a:t>
            </a:r>
            <a:r>
              <a:rPr sz="2400" b="1" spc="-310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Sigma</a:t>
            </a:r>
            <a:r>
              <a:rPr sz="2400" b="1" spc="-31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33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uniquely</a:t>
            </a:r>
            <a:r>
              <a:rPr sz="2400" spc="-32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driven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0124" y="3613150"/>
            <a:ext cx="5327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customer</a:t>
            </a:r>
            <a:r>
              <a:rPr sz="2400" spc="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needs,</a:t>
            </a:r>
            <a:r>
              <a:rPr sz="2400" spc="125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disciplined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92214" y="2881122"/>
            <a:ext cx="49733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2395">
              <a:lnSpc>
                <a:spcPct val="1501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by</a:t>
            </a:r>
            <a:r>
              <a:rPr sz="2400" spc="-34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close</a:t>
            </a:r>
            <a:r>
              <a:rPr sz="2400" spc="-3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understanding</a:t>
            </a:r>
            <a:r>
              <a:rPr sz="2400" spc="-350" dirty="0">
                <a:latin typeface="Courier New"/>
                <a:cs typeface="Courier New"/>
              </a:rPr>
              <a:t>  </a:t>
            </a:r>
            <a:r>
              <a:rPr sz="2400" spc="-35" dirty="0">
                <a:latin typeface="Courier New"/>
                <a:cs typeface="Courier New"/>
              </a:rPr>
              <a:t>of </a:t>
            </a:r>
            <a:r>
              <a:rPr sz="2400" dirty="0">
                <a:latin typeface="Courier New"/>
                <a:cs typeface="Courier New"/>
              </a:rPr>
              <a:t>use</a:t>
            </a:r>
            <a:r>
              <a:rPr sz="2400" spc="-2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of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38515" y="3613150"/>
            <a:ext cx="3333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facts,</a:t>
            </a:r>
            <a:r>
              <a:rPr sz="2400" spc="4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data,</a:t>
            </a:r>
            <a:r>
              <a:rPr sz="2400" spc="45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and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0124" y="3978590"/>
            <a:ext cx="8223884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statistical</a:t>
            </a:r>
            <a:r>
              <a:rPr sz="2400" spc="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analysis,</a:t>
            </a:r>
            <a:r>
              <a:rPr sz="2400" spc="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diligent</a:t>
            </a:r>
            <a:r>
              <a:rPr sz="2400" spc="2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attention improving,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reinventing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business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processes.”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11665" y="4161485"/>
            <a:ext cx="22599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managing,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 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78130" y="1783079"/>
            <a:ext cx="11894820" cy="4655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9355" marR="4953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1190625" algn="l"/>
              </a:tabLst>
            </a:pPr>
            <a:r>
              <a:rPr sz="2400" spc="-10" dirty="0">
                <a:latin typeface="Courier New"/>
                <a:cs typeface="Courier New"/>
              </a:rPr>
              <a:t>Six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Sigma’s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threshold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120" dirty="0">
                <a:latin typeface="Courier New"/>
                <a:cs typeface="Courier New"/>
              </a:rPr>
              <a:t>for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quality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229" dirty="0">
                <a:latin typeface="Courier New"/>
                <a:cs typeface="Courier New"/>
              </a:rPr>
              <a:t>is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spc="-204" dirty="0">
                <a:latin typeface="Courier New"/>
                <a:cs typeface="Courier New"/>
              </a:rPr>
              <a:t>no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more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than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175" dirty="0">
                <a:latin typeface="Courier New"/>
                <a:cs typeface="Courier New"/>
              </a:rPr>
              <a:t>3.4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defects, 	errors,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mistakes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per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million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opportunities.</a:t>
            </a:r>
            <a:endParaRPr sz="2400" dirty="0">
              <a:latin typeface="Courier New"/>
              <a:cs typeface="Courier New"/>
            </a:endParaRPr>
          </a:p>
          <a:p>
            <a:pPr marL="1189355" marR="52069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1190625" algn="l"/>
              </a:tabLst>
            </a:pPr>
            <a:r>
              <a:rPr sz="2400" spc="-5" dirty="0">
                <a:latin typeface="Courier New"/>
                <a:cs typeface="Courier New"/>
              </a:rPr>
              <a:t>Si</a:t>
            </a:r>
            <a:r>
              <a:rPr sz="2400" dirty="0">
                <a:latin typeface="Courier New"/>
                <a:cs typeface="Courier New"/>
              </a:rPr>
              <a:t>x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S</a:t>
            </a:r>
            <a:r>
              <a:rPr sz="2400" spc="-50" dirty="0">
                <a:latin typeface="Courier New"/>
                <a:cs typeface="Courier New"/>
              </a:rPr>
              <a:t>ig</a:t>
            </a:r>
            <a:r>
              <a:rPr sz="2400" spc="-25" dirty="0">
                <a:latin typeface="Courier New"/>
                <a:cs typeface="Courier New"/>
              </a:rPr>
              <a:t>m</a:t>
            </a:r>
            <a:r>
              <a:rPr sz="2400" spc="-10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’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in</a:t>
            </a:r>
            <a:r>
              <a:rPr sz="2400" spc="-5" dirty="0">
                <a:latin typeface="Courier New"/>
                <a:cs typeface="Courier New"/>
              </a:rPr>
              <a:t>c</a:t>
            </a:r>
            <a:r>
              <a:rPr sz="2400" spc="-25" dirty="0">
                <a:latin typeface="Courier New"/>
                <a:cs typeface="Courier New"/>
              </a:rPr>
              <a:t>i</a:t>
            </a:r>
            <a:r>
              <a:rPr sz="2400" spc="-5" dirty="0">
                <a:latin typeface="Courier New"/>
                <a:cs typeface="Courier New"/>
              </a:rPr>
              <a:t>ple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c</a:t>
            </a:r>
            <a:r>
              <a:rPr sz="2400" spc="-75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55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b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60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p</a:t>
            </a:r>
            <a:r>
              <a:rPr sz="2400" spc="-25" dirty="0">
                <a:latin typeface="Courier New"/>
                <a:cs typeface="Courier New"/>
              </a:rPr>
              <a:t>pl</a:t>
            </a:r>
            <a:r>
              <a:rPr sz="2400" spc="-5" dirty="0">
                <a:latin typeface="Courier New"/>
                <a:cs typeface="Courier New"/>
              </a:rPr>
              <a:t>i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6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v</a:t>
            </a:r>
            <a:r>
              <a:rPr sz="2400" spc="-75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rie</a:t>
            </a:r>
            <a:r>
              <a:rPr sz="2400" spc="20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48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555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p</a:t>
            </a:r>
            <a:r>
              <a:rPr sz="2400" spc="20" dirty="0">
                <a:latin typeface="Courier New"/>
                <a:cs typeface="Courier New"/>
              </a:rPr>
              <a:t>rocesse</a:t>
            </a:r>
            <a:r>
              <a:rPr sz="2400" dirty="0">
                <a:latin typeface="Courier New"/>
                <a:cs typeface="Courier New"/>
              </a:rPr>
              <a:t>s 	</a:t>
            </a:r>
            <a:r>
              <a:rPr sz="2400" spc="-5" dirty="0">
                <a:latin typeface="Courier New"/>
                <a:cs typeface="Courier New"/>
              </a:rPr>
              <a:t>includin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d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si</a:t>
            </a:r>
            <a:r>
              <a:rPr sz="2400" spc="-5" dirty="0">
                <a:latin typeface="Courier New"/>
                <a:cs typeface="Courier New"/>
              </a:rPr>
              <a:t>g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46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an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ro</a:t>
            </a:r>
            <a:r>
              <a:rPr sz="2400" spc="-25" dirty="0">
                <a:latin typeface="Courier New"/>
                <a:cs typeface="Courier New"/>
              </a:rPr>
              <a:t>d</a:t>
            </a:r>
            <a:r>
              <a:rPr sz="2400" spc="-5" dirty="0">
                <a:latin typeface="Courier New"/>
                <a:cs typeface="Courier New"/>
              </a:rPr>
              <a:t>uctio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145" dirty="0">
                <a:latin typeface="Courier New"/>
                <a:cs typeface="Courier New"/>
              </a:rPr>
              <a:t>p</a:t>
            </a:r>
            <a:r>
              <a:rPr sz="2400" spc="-75" dirty="0">
                <a:latin typeface="Courier New"/>
                <a:cs typeface="Courier New"/>
              </a:rPr>
              <a:t>r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d</a:t>
            </a:r>
            <a:r>
              <a:rPr sz="2400" spc="-5" dirty="0">
                <a:latin typeface="Courier New"/>
                <a:cs typeface="Courier New"/>
              </a:rPr>
              <a:t>u</a:t>
            </a:r>
            <a:r>
              <a:rPr sz="2400" spc="-25" dirty="0">
                <a:latin typeface="Courier New"/>
                <a:cs typeface="Courier New"/>
              </a:rPr>
              <a:t>c</a:t>
            </a:r>
            <a:r>
              <a:rPr sz="2400" spc="-5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h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5" dirty="0">
                <a:latin typeface="Courier New"/>
                <a:cs typeface="Courier New"/>
              </a:rPr>
              <a:t>l</a:t>
            </a:r>
            <a:r>
              <a:rPr sz="2400" dirty="0">
                <a:latin typeface="Courier New"/>
                <a:cs typeface="Courier New"/>
              </a:rPr>
              <a:t>p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d</a:t>
            </a:r>
            <a:r>
              <a:rPr sz="2400" spc="-7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s</a:t>
            </a:r>
            <a:r>
              <a:rPr sz="2400" spc="-5" dirty="0">
                <a:latin typeface="Courier New"/>
                <a:cs typeface="Courier New"/>
              </a:rPr>
              <a:t>k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or 	</a:t>
            </a:r>
            <a:r>
              <a:rPr sz="2400" spc="-5" dirty="0">
                <a:latin typeface="Courier New"/>
                <a:cs typeface="Courier New"/>
              </a:rPr>
              <a:t>othe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custo</a:t>
            </a:r>
            <a:r>
              <a:rPr sz="2400" spc="-25" dirty="0">
                <a:latin typeface="Courier New"/>
                <a:cs typeface="Courier New"/>
              </a:rPr>
              <a:t>m</a:t>
            </a:r>
            <a:r>
              <a:rPr sz="2400" spc="-5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5" dirty="0">
                <a:latin typeface="Courier New"/>
                <a:cs typeface="Courier New"/>
              </a:rPr>
              <a:t>-servic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79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proce</a:t>
            </a:r>
            <a:r>
              <a:rPr sz="2400" spc="-25" dirty="0">
                <a:latin typeface="Courier New"/>
                <a:cs typeface="Courier New"/>
              </a:rPr>
              <a:t>s</a:t>
            </a:r>
            <a:r>
              <a:rPr sz="2400" spc="-5" dirty="0">
                <a:latin typeface="Courier New"/>
                <a:cs typeface="Courier New"/>
              </a:rPr>
              <a:t>se</a:t>
            </a:r>
            <a:r>
              <a:rPr sz="2400" dirty="0">
                <a:latin typeface="Courier New"/>
                <a:cs typeface="Courier New"/>
              </a:rPr>
              <a:t>s.</a:t>
            </a:r>
          </a:p>
          <a:p>
            <a:pPr marL="1189355" marR="53340" indent="-227329" algn="just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1190625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40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f</a:t>
            </a:r>
            <a:r>
              <a:rPr sz="2400" spc="-50" dirty="0">
                <a:latin typeface="Courier New"/>
                <a:cs typeface="Courier New"/>
              </a:rPr>
              <a:t>i</a:t>
            </a:r>
            <a:r>
              <a:rPr sz="2400" spc="-25" dirty="0">
                <a:latin typeface="Courier New"/>
                <a:cs typeface="Courier New"/>
              </a:rPr>
              <a:t>ve</a:t>
            </a:r>
            <a:r>
              <a:rPr sz="2400" spc="-5" dirty="0">
                <a:latin typeface="Courier New"/>
                <a:cs typeface="Courier New"/>
              </a:rPr>
              <a:t>-phas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38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spc="-50" dirty="0">
                <a:latin typeface="Courier New"/>
                <a:cs typeface="Courier New"/>
              </a:rPr>
              <a:t>m</a:t>
            </a:r>
            <a:r>
              <a:rPr sz="2400" spc="-75" dirty="0">
                <a:latin typeface="Courier New"/>
                <a:cs typeface="Courier New"/>
              </a:rPr>
              <a:t>p</a:t>
            </a:r>
            <a:r>
              <a:rPr sz="2400" spc="-5" dirty="0">
                <a:latin typeface="Courier New"/>
                <a:cs typeface="Courier New"/>
              </a:rPr>
              <a:t>rovemen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409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oce</a:t>
            </a:r>
            <a:r>
              <a:rPr sz="2400" spc="-5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575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c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l</a:t>
            </a:r>
            <a:r>
              <a:rPr sz="2400" spc="-25" dirty="0">
                <a:latin typeface="Courier New"/>
                <a:cs typeface="Courier New"/>
              </a:rPr>
              <a:t>le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409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D</a:t>
            </a:r>
            <a:r>
              <a:rPr sz="2400" spc="-50" dirty="0">
                <a:latin typeface="Courier New"/>
                <a:cs typeface="Courier New"/>
              </a:rPr>
              <a:t>M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C</a:t>
            </a:r>
            <a:r>
              <a:rPr sz="2400" spc="45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525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n</a:t>
            </a:r>
            <a:r>
              <a:rPr sz="2400" spc="-75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r</a:t>
            </a:r>
            <a:r>
              <a:rPr sz="2400" spc="-5" dirty="0">
                <a:latin typeface="Courier New"/>
                <a:cs typeface="Courier New"/>
              </a:rPr>
              <a:t>ma</a:t>
            </a:r>
            <a:r>
              <a:rPr sz="2400" spc="20" dirty="0">
                <a:latin typeface="Courier New"/>
                <a:cs typeface="Courier New"/>
              </a:rPr>
              <a:t>ll</a:t>
            </a:r>
            <a:r>
              <a:rPr sz="2400" dirty="0">
                <a:latin typeface="Courier New"/>
                <a:cs typeface="Courier New"/>
              </a:rPr>
              <a:t>y 	</a:t>
            </a:r>
            <a:r>
              <a:rPr sz="2400" spc="-5" dirty="0">
                <a:latin typeface="Courier New"/>
                <a:cs typeface="Courier New"/>
              </a:rPr>
              <a:t>followe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b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60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S</a:t>
            </a:r>
            <a:r>
              <a:rPr sz="2400" spc="-5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x</a:t>
            </a:r>
            <a:r>
              <a:rPr sz="2400" spc="-58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S</a:t>
            </a:r>
            <a:r>
              <a:rPr sz="2400" spc="-125" dirty="0">
                <a:latin typeface="Courier New"/>
                <a:cs typeface="Courier New"/>
              </a:rPr>
              <a:t>i</a:t>
            </a:r>
            <a:r>
              <a:rPr sz="2400" spc="-5" dirty="0">
                <a:latin typeface="Courier New"/>
                <a:cs typeface="Courier New"/>
              </a:rPr>
              <a:t>gm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55" dirty="0">
                <a:latin typeface="Courier New"/>
                <a:cs typeface="Courier New"/>
              </a:rPr>
              <a:t>ro</a:t>
            </a:r>
            <a:r>
              <a:rPr sz="2400" spc="-30" dirty="0">
                <a:latin typeface="Courier New"/>
                <a:cs typeface="Courier New"/>
              </a:rPr>
              <a:t>j</a:t>
            </a:r>
            <a:r>
              <a:rPr sz="2400" spc="-5" dirty="0">
                <a:latin typeface="Courier New"/>
                <a:cs typeface="Courier New"/>
              </a:rPr>
              <a:t>ect</a:t>
            </a:r>
            <a:r>
              <a:rPr sz="2400" dirty="0">
                <a:latin typeface="Courier New"/>
                <a:cs typeface="Courier New"/>
              </a:rPr>
              <a:t>s.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D</a:t>
            </a:r>
            <a:r>
              <a:rPr sz="2400" spc="-55" dirty="0">
                <a:latin typeface="Courier New"/>
                <a:cs typeface="Courier New"/>
              </a:rPr>
              <a:t>M</a:t>
            </a:r>
            <a:r>
              <a:rPr sz="2400" spc="-30" dirty="0">
                <a:latin typeface="Courier New"/>
                <a:cs typeface="Courier New"/>
              </a:rPr>
              <a:t>A</a:t>
            </a:r>
            <a:r>
              <a:rPr sz="2400" spc="-5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C</a:t>
            </a:r>
            <a:r>
              <a:rPr sz="2400" spc="-50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6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s</a:t>
            </a:r>
            <a:r>
              <a:rPr sz="2400" spc="-75" dirty="0">
                <a:latin typeface="Courier New"/>
                <a:cs typeface="Courier New"/>
              </a:rPr>
              <a:t>y</a:t>
            </a:r>
            <a:r>
              <a:rPr sz="2400" spc="-30" dirty="0">
                <a:latin typeface="Courier New"/>
                <a:cs typeface="Courier New"/>
              </a:rPr>
              <a:t>ste</a:t>
            </a:r>
            <a:r>
              <a:rPr sz="2400" spc="-5" dirty="0">
                <a:latin typeface="Courier New"/>
                <a:cs typeface="Courier New"/>
              </a:rPr>
              <a:t>mi</a:t>
            </a:r>
            <a:r>
              <a:rPr sz="2400" dirty="0">
                <a:latin typeface="Courier New"/>
                <a:cs typeface="Courier New"/>
              </a:rPr>
              <a:t>c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-55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c</a:t>
            </a:r>
            <a:r>
              <a:rPr sz="2400" spc="-100" dirty="0">
                <a:latin typeface="Courier New"/>
                <a:cs typeface="Courier New"/>
              </a:rPr>
              <a:t>l</a:t>
            </a:r>
            <a:r>
              <a:rPr sz="2400" spc="-55" dirty="0">
                <a:latin typeface="Courier New"/>
                <a:cs typeface="Courier New"/>
              </a:rPr>
              <a:t>o</a:t>
            </a:r>
            <a:r>
              <a:rPr sz="2400" spc="-30" dirty="0">
                <a:latin typeface="Courier New"/>
                <a:cs typeface="Courier New"/>
              </a:rPr>
              <a:t>se</a:t>
            </a:r>
            <a:r>
              <a:rPr sz="2400" spc="-25" dirty="0">
                <a:latin typeface="Courier New"/>
                <a:cs typeface="Courier New"/>
              </a:rPr>
              <a:t>d</a:t>
            </a:r>
            <a:r>
              <a:rPr sz="2400" dirty="0">
                <a:latin typeface="Courier New"/>
                <a:cs typeface="Courier New"/>
              </a:rPr>
              <a:t>-	</a:t>
            </a:r>
            <a:r>
              <a:rPr sz="2400" spc="-5" dirty="0">
                <a:latin typeface="Courier New"/>
                <a:cs typeface="Courier New"/>
              </a:rPr>
              <a:t>loo</a:t>
            </a:r>
            <a:r>
              <a:rPr sz="2400" dirty="0">
                <a:latin typeface="Courier New"/>
                <a:cs typeface="Courier New"/>
              </a:rPr>
              <a:t>p 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55" dirty="0">
                <a:latin typeface="Courier New"/>
                <a:cs typeface="Courier New"/>
              </a:rPr>
              <a:t>r</a:t>
            </a:r>
            <a:r>
              <a:rPr sz="2400" spc="-30" dirty="0">
                <a:latin typeface="Courier New"/>
                <a:cs typeface="Courier New"/>
              </a:rPr>
              <a:t>oc</a:t>
            </a:r>
            <a:r>
              <a:rPr sz="2400" spc="-5" dirty="0">
                <a:latin typeface="Courier New"/>
                <a:cs typeface="Courier New"/>
              </a:rPr>
              <a:t>e</a:t>
            </a:r>
            <a:r>
              <a:rPr sz="2400" spc="-30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s  </a:t>
            </a:r>
            <a:r>
              <a:rPr sz="2400" spc="-100" dirty="0">
                <a:latin typeface="Courier New"/>
                <a:cs typeface="Courier New"/>
              </a:rPr>
              <a:t>f</a:t>
            </a:r>
            <a:r>
              <a:rPr sz="2400" spc="-12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r  </a:t>
            </a:r>
            <a:r>
              <a:rPr sz="2400" spc="-100" dirty="0">
                <a:latin typeface="Courier New"/>
                <a:cs typeface="Courier New"/>
              </a:rPr>
              <a:t>s</a:t>
            </a:r>
            <a:r>
              <a:rPr sz="2400" spc="-55" dirty="0">
                <a:latin typeface="Courier New"/>
                <a:cs typeface="Courier New"/>
              </a:rPr>
              <a:t>c</a:t>
            </a:r>
            <a:r>
              <a:rPr sz="2400" spc="-30" dirty="0">
                <a:latin typeface="Courier New"/>
                <a:cs typeface="Courier New"/>
              </a:rPr>
              <a:t>ie</a:t>
            </a:r>
            <a:r>
              <a:rPr sz="2400" spc="-5" dirty="0">
                <a:latin typeface="Courier New"/>
                <a:cs typeface="Courier New"/>
              </a:rPr>
              <a:t>ntif</a:t>
            </a:r>
            <a:r>
              <a:rPr sz="2400" spc="-3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c</a:t>
            </a:r>
            <a:r>
              <a:rPr sz="2400" spc="144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-125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d  </a:t>
            </a:r>
            <a:r>
              <a:rPr sz="2400" spc="-100" dirty="0">
                <a:latin typeface="Courier New"/>
                <a:cs typeface="Courier New"/>
              </a:rPr>
              <a:t>f</a:t>
            </a:r>
            <a:r>
              <a:rPr sz="2400" spc="-55" dirty="0">
                <a:latin typeface="Courier New"/>
                <a:cs typeface="Courier New"/>
              </a:rPr>
              <a:t>a</a:t>
            </a:r>
            <a:r>
              <a:rPr sz="2400" spc="-30" dirty="0">
                <a:latin typeface="Courier New"/>
                <a:cs typeface="Courier New"/>
              </a:rPr>
              <a:t>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139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b</a:t>
            </a:r>
            <a:r>
              <a:rPr sz="2400" spc="-30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se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1455" dirty="0">
                <a:latin typeface="Courier New"/>
                <a:cs typeface="Courier New"/>
              </a:rPr>
              <a:t> </a:t>
            </a:r>
            <a:r>
              <a:rPr sz="2400" spc="-195" dirty="0" smtClean="0">
                <a:latin typeface="Courier New"/>
                <a:cs typeface="Courier New"/>
              </a:rPr>
              <a:t>c</a:t>
            </a:r>
            <a:r>
              <a:rPr sz="2400" spc="15" dirty="0" smtClean="0">
                <a:latin typeface="Courier New"/>
                <a:cs typeface="Courier New"/>
              </a:rPr>
              <a:t>ontinue</a:t>
            </a:r>
            <a:r>
              <a:rPr sz="2400" dirty="0" smtClean="0">
                <a:latin typeface="Courier New"/>
                <a:cs typeface="Courier New"/>
              </a:rPr>
              <a:t>d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9" y="1905381"/>
            <a:ext cx="11751945" cy="454355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99820" indent="-2266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1099820" algn="l"/>
              </a:tabLst>
            </a:pPr>
            <a:r>
              <a:rPr sz="2000" spc="-20" dirty="0">
                <a:latin typeface="Courier New"/>
                <a:cs typeface="Courier New"/>
              </a:rPr>
              <a:t>DMAIC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Five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Phases</a:t>
            </a:r>
            <a:endParaRPr sz="20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1598295" algn="l"/>
              </a:tabLst>
            </a:pPr>
            <a:r>
              <a:rPr sz="2000" b="1" dirty="0">
                <a:latin typeface="Courier New"/>
                <a:cs typeface="Courier New"/>
              </a:rPr>
              <a:t>D</a:t>
            </a:r>
            <a:r>
              <a:rPr sz="2000" dirty="0">
                <a:latin typeface="Courier New"/>
                <a:cs typeface="Courier New"/>
              </a:rPr>
              <a:t>efine:</a:t>
            </a:r>
            <a:r>
              <a:rPr sz="2000" spc="-24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In</a:t>
            </a:r>
            <a:r>
              <a:rPr sz="2000" spc="-28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this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phase,</a:t>
            </a:r>
            <a:r>
              <a:rPr sz="2000" spc="-2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problem/opportunity,</a:t>
            </a:r>
            <a:r>
              <a:rPr sz="2000" spc="-229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process,</a:t>
            </a:r>
            <a:r>
              <a:rPr sz="2000" spc="-2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and</a:t>
            </a:r>
            <a:r>
              <a:rPr sz="2000" spc="-2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customer</a:t>
            </a:r>
            <a:endParaRPr sz="2000" dirty="0">
              <a:latin typeface="Courier New"/>
              <a:cs typeface="Courier New"/>
            </a:endParaRPr>
          </a:p>
          <a:p>
            <a:pPr marL="1598295">
              <a:lnSpc>
                <a:spcPct val="100000"/>
              </a:lnSpc>
              <a:spcBef>
                <a:spcPts val="720"/>
              </a:spcBef>
            </a:pPr>
            <a:r>
              <a:rPr sz="2000" spc="-20" dirty="0">
                <a:latin typeface="Courier New"/>
                <a:cs typeface="Courier New"/>
              </a:rPr>
              <a:t>requirements</a:t>
            </a:r>
            <a:r>
              <a:rPr sz="2000" spc="-509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are</a:t>
            </a:r>
            <a:r>
              <a:rPr sz="2000" spc="-58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defined</a:t>
            </a:r>
            <a:r>
              <a:rPr sz="2000" spc="-10" dirty="0">
                <a:latin typeface="Courier New"/>
                <a:cs typeface="Courier New"/>
              </a:rPr>
              <a:t>.</a:t>
            </a:r>
            <a:endParaRPr sz="2000" dirty="0">
              <a:latin typeface="Courier New"/>
              <a:cs typeface="Courier New"/>
            </a:endParaRPr>
          </a:p>
          <a:p>
            <a:pPr marL="1598295" marR="7620" lvl="1" indent="-268605">
              <a:lnSpc>
                <a:spcPct val="130100"/>
              </a:lnSpc>
              <a:spcBef>
                <a:spcPts val="1010"/>
              </a:spcBef>
              <a:buFont typeface="Arial MT"/>
              <a:buChar char="•"/>
              <a:tabLst>
                <a:tab pos="1598295" algn="l"/>
              </a:tabLst>
            </a:pPr>
            <a:r>
              <a:rPr sz="2000" b="1" dirty="0">
                <a:latin typeface="Courier New"/>
                <a:cs typeface="Courier New"/>
              </a:rPr>
              <a:t>M</a:t>
            </a:r>
            <a:r>
              <a:rPr sz="2000" dirty="0">
                <a:latin typeface="Courier New"/>
                <a:cs typeface="Courier New"/>
              </a:rPr>
              <a:t>easure:</a:t>
            </a:r>
            <a:r>
              <a:rPr sz="2000" spc="2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229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this</a:t>
            </a:r>
            <a:r>
              <a:rPr sz="2000" spc="2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phase,</a:t>
            </a:r>
            <a:r>
              <a:rPr sz="2000" spc="28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measures</a:t>
            </a:r>
            <a:r>
              <a:rPr sz="2000" b="1" spc="2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are</a:t>
            </a:r>
            <a:r>
              <a:rPr sz="2000" spc="2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defined</a:t>
            </a:r>
            <a:r>
              <a:rPr sz="2000" spc="2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after</a:t>
            </a:r>
            <a:r>
              <a:rPr sz="2000" spc="2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which</a:t>
            </a:r>
            <a:r>
              <a:rPr sz="2000" spc="1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data</a:t>
            </a:r>
            <a:r>
              <a:rPr sz="2000" spc="31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is </a:t>
            </a:r>
            <a:r>
              <a:rPr sz="2000" spc="-20" dirty="0">
                <a:latin typeface="Courier New"/>
                <a:cs typeface="Courier New"/>
              </a:rPr>
              <a:t>collected,</a:t>
            </a:r>
            <a:r>
              <a:rPr sz="2000" spc="-509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compiled,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58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displayed.</a:t>
            </a:r>
            <a:endParaRPr sz="20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1598295" algn="l"/>
              </a:tabLst>
            </a:pPr>
            <a:r>
              <a:rPr sz="2000" b="1" dirty="0">
                <a:latin typeface="Courier New"/>
                <a:cs typeface="Courier New"/>
              </a:rPr>
              <a:t>A</a:t>
            </a:r>
            <a:r>
              <a:rPr sz="2000" dirty="0">
                <a:latin typeface="Courier New"/>
                <a:cs typeface="Courier New"/>
              </a:rPr>
              <a:t>nalyze:</a:t>
            </a:r>
            <a:r>
              <a:rPr sz="2000" spc="2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20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this</a:t>
            </a:r>
            <a:r>
              <a:rPr sz="2000" spc="229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phase,</a:t>
            </a:r>
            <a:r>
              <a:rPr sz="2000" spc="2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process</a:t>
            </a:r>
            <a:r>
              <a:rPr sz="2000" spc="2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details</a:t>
            </a:r>
            <a:r>
              <a:rPr sz="2000" spc="3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are</a:t>
            </a:r>
            <a:r>
              <a:rPr sz="2000" spc="20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analyzed</a:t>
            </a:r>
            <a:r>
              <a:rPr sz="2000" b="1" spc="25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2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look</a:t>
            </a:r>
            <a:r>
              <a:rPr sz="2000" spc="29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for</a:t>
            </a:r>
            <a:endParaRPr sz="2000" dirty="0">
              <a:latin typeface="Courier New"/>
              <a:cs typeface="Courier New"/>
            </a:endParaRPr>
          </a:p>
          <a:p>
            <a:pPr marL="1598295">
              <a:lnSpc>
                <a:spcPct val="100000"/>
              </a:lnSpc>
              <a:spcBef>
                <a:spcPts val="720"/>
              </a:spcBef>
            </a:pPr>
            <a:r>
              <a:rPr sz="2000" spc="-20" dirty="0">
                <a:latin typeface="Courier New"/>
                <a:cs typeface="Courier New"/>
              </a:rPr>
              <a:t>improvement</a:t>
            </a:r>
            <a:r>
              <a:rPr sz="2000" spc="-484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opportunities.</a:t>
            </a:r>
            <a:endParaRPr sz="20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1598295" algn="l"/>
              </a:tabLst>
            </a:pPr>
            <a:r>
              <a:rPr sz="2000" b="1" spc="-10" dirty="0">
                <a:latin typeface="Courier New"/>
                <a:cs typeface="Courier New"/>
              </a:rPr>
              <a:t>I</a:t>
            </a:r>
            <a:r>
              <a:rPr sz="2000" spc="-10" dirty="0">
                <a:latin typeface="Courier New"/>
                <a:cs typeface="Courier New"/>
              </a:rPr>
              <a:t>mprove:</a:t>
            </a:r>
            <a:r>
              <a:rPr sz="2000" spc="-42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In</a:t>
            </a:r>
            <a:r>
              <a:rPr sz="2000" spc="-49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this</a:t>
            </a:r>
            <a:r>
              <a:rPr sz="2000" spc="-445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phase,</a:t>
            </a:r>
            <a:r>
              <a:rPr sz="2000" spc="-41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solutions</a:t>
            </a:r>
            <a:r>
              <a:rPr sz="2000" spc="-43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and</a:t>
            </a:r>
            <a:r>
              <a:rPr sz="2000" spc="-440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ideas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are</a:t>
            </a:r>
            <a:r>
              <a:rPr sz="2000" spc="-41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generated</a:t>
            </a:r>
            <a:r>
              <a:rPr sz="2000" spc="-430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to</a:t>
            </a:r>
            <a:r>
              <a:rPr sz="2000" spc="-495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improve</a:t>
            </a:r>
            <a:r>
              <a:rPr sz="2000" b="1" spc="-36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the</a:t>
            </a:r>
            <a:endParaRPr sz="2000" dirty="0">
              <a:latin typeface="Courier New"/>
              <a:cs typeface="Courier New"/>
            </a:endParaRPr>
          </a:p>
          <a:p>
            <a:pPr marL="1598295">
              <a:lnSpc>
                <a:spcPct val="100000"/>
              </a:lnSpc>
              <a:spcBef>
                <a:spcPts val="720"/>
              </a:spcBef>
            </a:pPr>
            <a:r>
              <a:rPr sz="2000" spc="-10" dirty="0">
                <a:latin typeface="Courier New"/>
                <a:cs typeface="Courier New"/>
              </a:rPr>
              <a:t>problem.</a:t>
            </a:r>
            <a:endParaRPr sz="20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735"/>
              </a:spcBef>
              <a:buFont typeface="Arial MT"/>
              <a:buChar char="•"/>
              <a:tabLst>
                <a:tab pos="1598295" algn="l"/>
              </a:tabLst>
            </a:pPr>
            <a:r>
              <a:rPr sz="2000" b="1" dirty="0">
                <a:latin typeface="Courier New"/>
                <a:cs typeface="Courier New"/>
              </a:rPr>
              <a:t>C</a:t>
            </a:r>
            <a:r>
              <a:rPr sz="2000" dirty="0">
                <a:latin typeface="Courier New"/>
                <a:cs typeface="Courier New"/>
              </a:rPr>
              <a:t>ontrol:</a:t>
            </a:r>
            <a:r>
              <a:rPr sz="2000" spc="8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5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this</a:t>
            </a:r>
            <a:r>
              <a:rPr sz="2000" spc="14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phase,</a:t>
            </a:r>
            <a:r>
              <a:rPr sz="2000" spc="7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stability</a:t>
            </a:r>
            <a:r>
              <a:rPr sz="2000" spc="15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of</a:t>
            </a:r>
            <a:r>
              <a:rPr sz="2000" spc="3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6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improvements</a:t>
            </a:r>
            <a:r>
              <a:rPr sz="2000" spc="95" dirty="0">
                <a:latin typeface="Courier New"/>
                <a:cs typeface="Courier New"/>
              </a:rPr>
              <a:t>  </a:t>
            </a:r>
            <a:r>
              <a:rPr sz="2000" spc="-25" dirty="0" smtClean="0">
                <a:latin typeface="Courier New"/>
                <a:cs typeface="Courier New"/>
              </a:rPr>
              <a:t>and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8571230" cy="1742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Read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following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Six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Sigma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Selection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Six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Sigma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Statistics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4155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Testing</a:t>
            </a:r>
            <a:r>
              <a:rPr spc="1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needs</a:t>
            </a:r>
            <a:r>
              <a:rPr spc="1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2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be</a:t>
            </a:r>
            <a:r>
              <a:rPr spc="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done</a:t>
            </a:r>
            <a:r>
              <a:rPr spc="1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almost</a:t>
            </a:r>
            <a:r>
              <a:rPr spc="-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during</a:t>
            </a:r>
            <a:r>
              <a:rPr spc="1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every</a:t>
            </a:r>
            <a:r>
              <a:rPr spc="2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phase</a:t>
            </a:r>
            <a:r>
              <a:rPr spc="2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17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the 	</a:t>
            </a:r>
            <a:r>
              <a:rPr dirty="0">
                <a:solidFill>
                  <a:schemeClr val="bg1"/>
                </a:solidFill>
              </a:rPr>
              <a:t>systems</a:t>
            </a:r>
            <a:r>
              <a:rPr spc="-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development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life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cycle.</a:t>
            </a:r>
            <a:r>
              <a:rPr spc="-11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Figure</a:t>
            </a:r>
            <a:r>
              <a:rPr spc="-9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8-</a:t>
            </a:r>
            <a:r>
              <a:rPr dirty="0">
                <a:solidFill>
                  <a:schemeClr val="bg1"/>
                </a:solidFill>
              </a:rPr>
              <a:t>11</a:t>
            </a:r>
            <a:r>
              <a:rPr spc="-1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given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on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the 	</a:t>
            </a:r>
            <a:r>
              <a:rPr dirty="0">
                <a:solidFill>
                  <a:schemeClr val="bg1"/>
                </a:solidFill>
              </a:rPr>
              <a:t>next</a:t>
            </a:r>
            <a:r>
              <a:rPr spc="-365" dirty="0">
                <a:solidFill>
                  <a:schemeClr val="bg1"/>
                </a:solidFill>
              </a:rPr>
              <a:t> </a:t>
            </a:r>
            <a:r>
              <a:rPr spc="-60" dirty="0">
                <a:solidFill>
                  <a:schemeClr val="bg1"/>
                </a:solidFill>
              </a:rPr>
              <a:t>slide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spc="-55" dirty="0">
                <a:solidFill>
                  <a:schemeClr val="bg1"/>
                </a:solidFill>
              </a:rPr>
              <a:t>where</a:t>
            </a:r>
            <a:r>
              <a:rPr spc="-305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several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phases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include</a:t>
            </a:r>
            <a:r>
              <a:rPr spc="-31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specific</a:t>
            </a:r>
            <a:r>
              <a:rPr spc="-254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work</a:t>
            </a:r>
            <a:r>
              <a:rPr spc="-254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related 	to</a:t>
            </a:r>
            <a:r>
              <a:rPr spc="-7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testing.</a:t>
            </a:r>
          </a:p>
          <a:p>
            <a:pPr marL="735965" lvl="1" indent="-26670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Unit</a:t>
            </a:r>
            <a:r>
              <a:rPr sz="2400" spc="-69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testing.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4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Integration</a:t>
            </a:r>
            <a:r>
              <a:rPr sz="2400" spc="-69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testing.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System</a:t>
            </a:r>
            <a:r>
              <a:rPr sz="2400" spc="-68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testing.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User</a:t>
            </a:r>
            <a:r>
              <a:rPr sz="2400" spc="-70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acceptance</a:t>
            </a:r>
            <a:r>
              <a:rPr sz="2400" spc="-7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testing.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Tools</a:t>
            </a:r>
            <a:r>
              <a:rPr spc="-1230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Techniques</a:t>
            </a:r>
            <a:r>
              <a:rPr spc="-1300" dirty="0"/>
              <a:t> </a:t>
            </a:r>
            <a:r>
              <a:rPr spc="-10" dirty="0"/>
              <a:t>for</a:t>
            </a:r>
            <a:r>
              <a:rPr spc="-1290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6830" y="3387216"/>
            <a:ext cx="493585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4990" marR="5080" indent="-542925">
              <a:lnSpc>
                <a:spcPct val="1501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Testing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tasks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software development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life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cycle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6247" y="1359408"/>
            <a:ext cx="5193792" cy="44500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Modern</a:t>
            </a:r>
            <a:r>
              <a:rPr spc="-1240" dirty="0"/>
              <a:t> </a:t>
            </a:r>
            <a:r>
              <a:rPr spc="-10" dirty="0"/>
              <a:t>Quality</a:t>
            </a:r>
            <a:r>
              <a:rPr spc="-126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10894060" cy="364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Modern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Management: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Requires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customer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satisfaction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Prefers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prevention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inspection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Recognizes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responsibility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Different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quality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experts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proposed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comprehensive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guidelines</a:t>
            </a:r>
            <a:endParaRPr sz="24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445"/>
              </a:spcBef>
            </a:pP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quality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improvement.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Read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pages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351-</a:t>
            </a:r>
            <a:r>
              <a:rPr sz="2400" spc="-25" dirty="0">
                <a:latin typeface="Courier New"/>
                <a:cs typeface="Courier New"/>
              </a:rPr>
              <a:t>355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Improving</a:t>
            </a:r>
            <a:r>
              <a:rPr spc="-1235" dirty="0"/>
              <a:t> </a:t>
            </a:r>
            <a:r>
              <a:rPr spc="-10" dirty="0"/>
              <a:t>IT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3296159"/>
          </a:xfrm>
          <a:prstGeom prst="rect">
            <a:avLst/>
          </a:prstGeom>
        </p:spPr>
        <p:txBody>
          <a:bodyPr vert="horz" wrap="square" lIns="0" tIns="195961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Strong</a:t>
            </a:r>
            <a:r>
              <a:rPr spc="-68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leadership</a:t>
            </a: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understands</a:t>
            </a:r>
            <a:r>
              <a:rPr sz="2400" spc="-7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sz="2400" spc="-7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cost</a:t>
            </a:r>
            <a:r>
              <a:rPr sz="2400" spc="-7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of</a:t>
            </a:r>
            <a:r>
              <a:rPr sz="2400" spc="-77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quality.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provides</a:t>
            </a:r>
            <a:r>
              <a:rPr sz="2400" spc="-7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a</a:t>
            </a:r>
            <a:r>
              <a:rPr sz="2400" spc="-78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good</a:t>
            </a:r>
            <a:r>
              <a:rPr sz="2400" spc="-77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workplace</a:t>
            </a:r>
            <a:r>
              <a:rPr sz="2400" spc="-79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to</a:t>
            </a:r>
            <a:r>
              <a:rPr sz="2400" spc="-75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improve</a:t>
            </a:r>
            <a:r>
              <a:rPr sz="2400" spc="-78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quality.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works</a:t>
            </a:r>
            <a:r>
              <a:rPr sz="2400" spc="7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for</a:t>
            </a:r>
            <a:r>
              <a:rPr sz="2400" spc="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sz="2400" spc="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improvement</a:t>
            </a:r>
            <a:r>
              <a:rPr sz="2400" spc="7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of the</a:t>
            </a:r>
            <a:r>
              <a:rPr sz="2400" spc="18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organization’s</a:t>
            </a:r>
            <a:r>
              <a:rPr sz="2400" spc="-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overall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1445"/>
              </a:spcBef>
            </a:pPr>
            <a:r>
              <a:rPr spc="-10" dirty="0">
                <a:solidFill>
                  <a:schemeClr val="bg1"/>
                </a:solidFill>
              </a:rPr>
              <a:t>maturity</a:t>
            </a:r>
            <a:r>
              <a:rPr spc="-7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level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software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development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Improving</a:t>
            </a:r>
            <a:r>
              <a:rPr spc="-1235" dirty="0"/>
              <a:t> </a:t>
            </a:r>
            <a:r>
              <a:rPr spc="-10" dirty="0"/>
              <a:t>IT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32812"/>
            <a:ext cx="1930400" cy="956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Leadership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04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Joseph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98191" y="2527554"/>
            <a:ext cx="370332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M.</a:t>
            </a:r>
            <a:r>
              <a:rPr sz="2200" spc="-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Juran</a:t>
            </a:r>
            <a:r>
              <a:rPr sz="2200" spc="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said</a:t>
            </a:r>
            <a:r>
              <a:rPr sz="2200" spc="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-6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1945,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6897" y="2997199"/>
            <a:ext cx="868426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management</a:t>
            </a:r>
            <a:r>
              <a:rPr sz="2200" spc="-13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be</a:t>
            </a:r>
            <a:r>
              <a:rPr sz="2200" spc="-170" dirty="0">
                <a:latin typeface="Courier New"/>
                <a:cs typeface="Courier New"/>
              </a:rPr>
              <a:t>  </a:t>
            </a:r>
            <a:r>
              <a:rPr sz="2200" spc="-40" dirty="0">
                <a:latin typeface="Courier New"/>
                <a:cs typeface="Courier New"/>
              </a:rPr>
              <a:t>quality-</a:t>
            </a:r>
            <a:r>
              <a:rPr sz="2200" dirty="0">
                <a:latin typeface="Courier New"/>
                <a:cs typeface="Courier New"/>
              </a:rPr>
              <a:t>minded.</a:t>
            </a:r>
            <a:r>
              <a:rPr sz="2200" spc="-13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-16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13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absence</a:t>
            </a:r>
            <a:r>
              <a:rPr sz="2200" spc="-114" dirty="0">
                <a:latin typeface="Courier New"/>
                <a:cs typeface="Courier New"/>
              </a:rPr>
              <a:t>  </a:t>
            </a:r>
            <a:r>
              <a:rPr sz="2200" spc="-25" dirty="0">
                <a:latin typeface="Courier New"/>
                <a:cs typeface="Courier New"/>
              </a:rPr>
              <a:t>of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66992" y="2394407"/>
            <a:ext cx="5102225" cy="96520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55"/>
              </a:spcBef>
            </a:pPr>
            <a:r>
              <a:rPr sz="2200" dirty="0">
                <a:latin typeface="Courier New"/>
                <a:cs typeface="Courier New"/>
              </a:rPr>
              <a:t>“It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most</a:t>
            </a:r>
            <a:r>
              <a:rPr sz="2200" spc="-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important</a:t>
            </a:r>
            <a:r>
              <a:rPr sz="2200" spc="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9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top</a:t>
            </a:r>
            <a:endParaRPr sz="2200">
              <a:latin typeface="Courier New"/>
              <a:cs typeface="Courier New"/>
            </a:endParaRPr>
          </a:p>
          <a:p>
            <a:pPr marR="12065" algn="r">
              <a:lnSpc>
                <a:spcPct val="100000"/>
              </a:lnSpc>
              <a:spcBef>
                <a:spcPts val="1060"/>
              </a:spcBef>
            </a:pPr>
            <a:r>
              <a:rPr sz="2200" spc="-10" dirty="0">
                <a:latin typeface="Courier New"/>
                <a:cs typeface="Courier New"/>
              </a:rPr>
              <a:t>sincere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8674" y="3466287"/>
            <a:ext cx="10433685" cy="24968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10"/>
              </a:spcBef>
            </a:pPr>
            <a:r>
              <a:rPr sz="2200" spc="-10" dirty="0">
                <a:latin typeface="Courier New"/>
                <a:cs typeface="Courier New"/>
              </a:rPr>
              <a:t>manifestation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interest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at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top,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little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will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happen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below.”</a:t>
            </a:r>
            <a:endParaRPr sz="220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280670" algn="l"/>
              </a:tabLst>
            </a:pP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number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of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quality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experts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argue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spc="-85" dirty="0">
                <a:latin typeface="Courier New"/>
                <a:cs typeface="Courier New"/>
              </a:rPr>
              <a:t>the</a:t>
            </a:r>
            <a:r>
              <a:rPr sz="2200" spc="-36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main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cause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of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quality</a:t>
            </a:r>
            <a:endParaRPr sz="2200">
              <a:latin typeface="Courier New"/>
              <a:cs typeface="Courier New"/>
            </a:endParaRPr>
          </a:p>
          <a:p>
            <a:pPr marL="280670">
              <a:lnSpc>
                <a:spcPct val="100000"/>
              </a:lnSpc>
              <a:spcBef>
                <a:spcPts val="1060"/>
              </a:spcBef>
            </a:pPr>
            <a:r>
              <a:rPr sz="2200" spc="-10" dirty="0">
                <a:latin typeface="Courier New"/>
                <a:cs typeface="Courier New"/>
              </a:rPr>
              <a:t>problems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is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lack</a:t>
            </a:r>
            <a:r>
              <a:rPr sz="2200" b="1" spc="-4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of</a:t>
            </a:r>
            <a:r>
              <a:rPr sz="2200" b="1" spc="30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leadership</a:t>
            </a:r>
            <a:r>
              <a:rPr sz="2200" spc="-10" dirty="0">
                <a:latin typeface="Courier New"/>
                <a:cs typeface="Courier New"/>
              </a:rPr>
              <a:t>.</a:t>
            </a:r>
            <a:endParaRPr sz="220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280670" algn="l"/>
              </a:tabLst>
            </a:pPr>
            <a:r>
              <a:rPr sz="2200" dirty="0">
                <a:latin typeface="Courier New"/>
                <a:cs typeface="Courier New"/>
              </a:rPr>
              <a:t>Most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quality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related</a:t>
            </a:r>
            <a:r>
              <a:rPr sz="2200" spc="-2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problems</a:t>
            </a:r>
            <a:r>
              <a:rPr sz="2200" spc="-2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are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due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2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endParaRPr sz="2200">
              <a:latin typeface="Courier New"/>
              <a:cs typeface="Courier New"/>
            </a:endParaRPr>
          </a:p>
          <a:p>
            <a:pPr marL="280670">
              <a:lnSpc>
                <a:spcPct val="100000"/>
              </a:lnSpc>
              <a:spcBef>
                <a:spcPts val="1055"/>
              </a:spcBef>
            </a:pP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not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technical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issues.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Improving</a:t>
            </a:r>
            <a:r>
              <a:rPr spc="-1235" dirty="0"/>
              <a:t> </a:t>
            </a:r>
            <a:r>
              <a:rPr spc="-10" dirty="0"/>
              <a:t>IT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1472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515" dirty="0">
                <a:solidFill>
                  <a:schemeClr val="bg1"/>
                </a:solidFill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cost</a:t>
            </a:r>
            <a:r>
              <a:rPr b="1" spc="-8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of</a:t>
            </a:r>
            <a:r>
              <a:rPr b="1" spc="-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quality</a:t>
            </a:r>
            <a:r>
              <a:rPr b="1" spc="-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chemeClr val="bg1"/>
                </a:solidFill>
              </a:rPr>
              <a:t>equals</a:t>
            </a:r>
            <a:r>
              <a:rPr spc="-530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to</a:t>
            </a:r>
            <a:r>
              <a:rPr spc="-605" dirty="0">
                <a:solidFill>
                  <a:schemeClr val="bg1"/>
                </a:solidFill>
              </a:rPr>
              <a:t> </a:t>
            </a:r>
            <a:r>
              <a:rPr spc="-65" dirty="0">
                <a:solidFill>
                  <a:schemeClr val="bg1"/>
                </a:solidFill>
              </a:rPr>
              <a:t>the</a:t>
            </a:r>
            <a:r>
              <a:rPr spc="-575" dirty="0">
                <a:solidFill>
                  <a:schemeClr val="bg1"/>
                </a:solidFill>
              </a:rPr>
              <a:t> </a:t>
            </a:r>
            <a:r>
              <a:rPr spc="-65" dirty="0">
                <a:solidFill>
                  <a:schemeClr val="bg1"/>
                </a:solidFill>
              </a:rPr>
              <a:t>cost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of</a:t>
            </a:r>
            <a:r>
              <a:rPr spc="-60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conformance</a:t>
            </a:r>
            <a:r>
              <a:rPr spc="-285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plus</a:t>
            </a:r>
            <a:r>
              <a:rPr spc="-53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the 	</a:t>
            </a:r>
            <a:r>
              <a:rPr spc="-10" dirty="0">
                <a:solidFill>
                  <a:schemeClr val="bg1"/>
                </a:solidFill>
              </a:rPr>
              <a:t>cost</a:t>
            </a:r>
            <a:r>
              <a:rPr spc="-7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of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nonconformance.</a:t>
            </a:r>
          </a:p>
          <a:p>
            <a:pPr marL="240029" marR="762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Conformance</a:t>
            </a:r>
            <a:r>
              <a:rPr b="1" spc="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chemeClr val="bg1"/>
                </a:solidFill>
              </a:rPr>
              <a:t>refers</a:t>
            </a:r>
            <a:r>
              <a:rPr spc="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delivery</a:t>
            </a:r>
            <a:r>
              <a:rPr spc="1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1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products,</a:t>
            </a:r>
            <a:r>
              <a:rPr spc="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which</a:t>
            </a:r>
            <a:r>
              <a:rPr spc="9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meet 	</a:t>
            </a:r>
            <a:r>
              <a:rPr spc="-10" dirty="0">
                <a:solidFill>
                  <a:schemeClr val="bg1"/>
                </a:solidFill>
              </a:rPr>
              <a:t>requirements</a:t>
            </a:r>
            <a:r>
              <a:rPr spc="-72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and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fitness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for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use.</a:t>
            </a:r>
          </a:p>
          <a:p>
            <a:pPr marL="240029" marR="10795" indent="-227329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cost</a:t>
            </a:r>
            <a:r>
              <a:rPr b="1" spc="-1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of</a:t>
            </a:r>
            <a:r>
              <a:rPr b="1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nonconformance</a:t>
            </a:r>
            <a:r>
              <a:rPr b="1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chemeClr val="bg1"/>
                </a:solidFill>
              </a:rPr>
              <a:t>means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accepting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responsibility</a:t>
            </a:r>
            <a:r>
              <a:rPr spc="-434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of 	</a:t>
            </a:r>
            <a:r>
              <a:rPr spc="-10" dirty="0">
                <a:solidFill>
                  <a:schemeClr val="bg1"/>
                </a:solidFill>
              </a:rPr>
              <a:t>failures</a:t>
            </a:r>
            <a:r>
              <a:rPr spc="-69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or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not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meeting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quality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expectations.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Improving</a:t>
            </a:r>
            <a:r>
              <a:rPr spc="-1235" dirty="0"/>
              <a:t> </a:t>
            </a:r>
            <a:r>
              <a:rPr spc="-10" dirty="0"/>
              <a:t>IT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16792"/>
            <a:ext cx="10888980" cy="467233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b="1" dirty="0">
                <a:latin typeface="Courier New"/>
                <a:cs typeface="Courier New"/>
              </a:rPr>
              <a:t>Prevention</a:t>
            </a:r>
            <a:r>
              <a:rPr sz="1900" b="1" spc="3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cost</a:t>
            </a:r>
            <a:r>
              <a:rPr sz="1900" b="1" spc="3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includes</a:t>
            </a:r>
            <a:r>
              <a:rPr sz="1900" spc="-409" dirty="0">
                <a:latin typeface="Courier New"/>
                <a:cs typeface="Courier New"/>
              </a:rPr>
              <a:t> </a:t>
            </a:r>
            <a:r>
              <a:rPr sz="1900" spc="-40" dirty="0">
                <a:latin typeface="Courier New"/>
                <a:cs typeface="Courier New"/>
              </a:rPr>
              <a:t>the</a:t>
            </a:r>
            <a:r>
              <a:rPr sz="1900" spc="-459" dirty="0">
                <a:latin typeface="Courier New"/>
                <a:cs typeface="Courier New"/>
              </a:rPr>
              <a:t> </a:t>
            </a:r>
            <a:r>
              <a:rPr sz="1900" spc="-40" dirty="0">
                <a:latin typeface="Courier New"/>
                <a:cs typeface="Courier New"/>
              </a:rPr>
              <a:t>cost</a:t>
            </a:r>
            <a:r>
              <a:rPr sz="1900" spc="-434" dirty="0">
                <a:latin typeface="Courier New"/>
                <a:cs typeface="Courier New"/>
              </a:rPr>
              <a:t> </a:t>
            </a:r>
            <a:r>
              <a:rPr sz="1900" spc="-50" dirty="0">
                <a:latin typeface="Courier New"/>
                <a:cs typeface="Courier New"/>
              </a:rPr>
              <a:t>of</a:t>
            </a:r>
            <a:r>
              <a:rPr sz="1900" spc="-484" dirty="0">
                <a:latin typeface="Courier New"/>
                <a:cs typeface="Courier New"/>
              </a:rPr>
              <a:t> </a:t>
            </a:r>
            <a:r>
              <a:rPr sz="1900" spc="-30" dirty="0">
                <a:latin typeface="Courier New"/>
                <a:cs typeface="Courier New"/>
              </a:rPr>
              <a:t>planning</a:t>
            </a:r>
            <a:r>
              <a:rPr sz="1900" spc="-405" dirty="0">
                <a:latin typeface="Courier New"/>
                <a:cs typeface="Courier New"/>
              </a:rPr>
              <a:t> </a:t>
            </a:r>
            <a:r>
              <a:rPr sz="1900" spc="-40" dirty="0">
                <a:latin typeface="Courier New"/>
                <a:cs typeface="Courier New"/>
              </a:rPr>
              <a:t>and</a:t>
            </a:r>
            <a:r>
              <a:rPr sz="1900" spc="-434" dirty="0">
                <a:latin typeface="Courier New"/>
                <a:cs typeface="Courier New"/>
              </a:rPr>
              <a:t> </a:t>
            </a:r>
            <a:r>
              <a:rPr sz="1900" spc="-30" dirty="0">
                <a:latin typeface="Courier New"/>
                <a:cs typeface="Courier New"/>
              </a:rPr>
              <a:t>executing</a:t>
            </a:r>
            <a:r>
              <a:rPr sz="1900" spc="-42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</a:t>
            </a:r>
            <a:r>
              <a:rPr sz="1900" spc="-530" dirty="0">
                <a:latin typeface="Courier New"/>
                <a:cs typeface="Courier New"/>
              </a:rPr>
              <a:t> </a:t>
            </a:r>
            <a:r>
              <a:rPr sz="1900" spc="-30" dirty="0">
                <a:latin typeface="Courier New"/>
                <a:cs typeface="Courier New"/>
              </a:rPr>
              <a:t>project</a:t>
            </a:r>
            <a:r>
              <a:rPr sz="1900" spc="-35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provided</a:t>
            </a:r>
            <a:endParaRPr sz="1900" dirty="0">
              <a:latin typeface="Courier New"/>
              <a:cs typeface="Courier New"/>
            </a:endParaRPr>
          </a:p>
          <a:p>
            <a:pPr marL="241300" algn="just">
              <a:lnSpc>
                <a:spcPct val="100000"/>
              </a:lnSpc>
              <a:spcBef>
                <a:spcPts val="670"/>
              </a:spcBef>
            </a:pPr>
            <a:r>
              <a:rPr sz="1900" spc="-20" dirty="0">
                <a:latin typeface="Courier New"/>
                <a:cs typeface="Courier New"/>
              </a:rPr>
              <a:t>that</a:t>
            </a:r>
            <a:r>
              <a:rPr sz="1900" spc="-55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it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is</a:t>
            </a:r>
            <a:r>
              <a:rPr sz="1900" spc="-55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error-free</a:t>
            </a:r>
            <a:r>
              <a:rPr sz="1900" spc="-55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or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within</a:t>
            </a:r>
            <a:r>
              <a:rPr sz="1900" spc="-55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an</a:t>
            </a:r>
            <a:r>
              <a:rPr sz="1900" spc="-57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acceptable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error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range.</a:t>
            </a:r>
            <a:endParaRPr sz="1900" dirty="0">
              <a:latin typeface="Courier New"/>
              <a:cs typeface="Courier New"/>
            </a:endParaRPr>
          </a:p>
          <a:p>
            <a:pPr marL="239395" marR="5080" indent="-226695" algn="just">
              <a:lnSpc>
                <a:spcPct val="13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b="1" dirty="0">
                <a:latin typeface="Courier New"/>
                <a:cs typeface="Courier New"/>
              </a:rPr>
              <a:t>Appraisal</a:t>
            </a:r>
            <a:r>
              <a:rPr sz="1900" b="1" spc="-85" dirty="0">
                <a:latin typeface="Courier New"/>
                <a:cs typeface="Courier New"/>
              </a:rPr>
              <a:t>  </a:t>
            </a:r>
            <a:r>
              <a:rPr sz="1900" b="1" dirty="0">
                <a:latin typeface="Courier New"/>
                <a:cs typeface="Courier New"/>
              </a:rPr>
              <a:t>cost</a:t>
            </a:r>
            <a:r>
              <a:rPr sz="1900" b="1" spc="-80" dirty="0">
                <a:latin typeface="Courier New"/>
                <a:cs typeface="Courier New"/>
              </a:rPr>
              <a:t>  </a:t>
            </a:r>
            <a:r>
              <a:rPr sz="1900" dirty="0">
                <a:latin typeface="Courier New"/>
                <a:cs typeface="Courier New"/>
              </a:rPr>
              <a:t>includes</a:t>
            </a:r>
            <a:r>
              <a:rPr sz="1900" spc="-95" dirty="0">
                <a:latin typeface="Courier New"/>
                <a:cs typeface="Courier New"/>
              </a:rPr>
              <a:t>  </a:t>
            </a:r>
            <a:r>
              <a:rPr sz="1900" dirty="0">
                <a:latin typeface="Courier New"/>
                <a:cs typeface="Courier New"/>
              </a:rPr>
              <a:t>the</a:t>
            </a:r>
            <a:r>
              <a:rPr sz="1900" spc="-114" dirty="0">
                <a:latin typeface="Courier New"/>
                <a:cs typeface="Courier New"/>
              </a:rPr>
              <a:t>  </a:t>
            </a:r>
            <a:r>
              <a:rPr sz="1900" dirty="0">
                <a:latin typeface="Courier New"/>
                <a:cs typeface="Courier New"/>
              </a:rPr>
              <a:t>cost</a:t>
            </a:r>
            <a:r>
              <a:rPr sz="1900" spc="-114" dirty="0">
                <a:latin typeface="Courier New"/>
                <a:cs typeface="Courier New"/>
              </a:rPr>
              <a:t>  </a:t>
            </a:r>
            <a:r>
              <a:rPr sz="1900" dirty="0">
                <a:latin typeface="Courier New"/>
                <a:cs typeface="Courier New"/>
              </a:rPr>
              <a:t>of</a:t>
            </a:r>
            <a:r>
              <a:rPr sz="1900" spc="-120" dirty="0">
                <a:latin typeface="Courier New"/>
                <a:cs typeface="Courier New"/>
              </a:rPr>
              <a:t>  </a:t>
            </a:r>
            <a:r>
              <a:rPr sz="1900" dirty="0">
                <a:latin typeface="Courier New"/>
                <a:cs typeface="Courier New"/>
              </a:rPr>
              <a:t>inspecting</a:t>
            </a:r>
            <a:r>
              <a:rPr sz="1900" spc="-100" dirty="0">
                <a:latin typeface="Courier New"/>
                <a:cs typeface="Courier New"/>
              </a:rPr>
              <a:t>  </a:t>
            </a:r>
            <a:r>
              <a:rPr sz="1900" dirty="0">
                <a:latin typeface="Courier New"/>
                <a:cs typeface="Courier New"/>
              </a:rPr>
              <a:t>processes</a:t>
            </a:r>
            <a:r>
              <a:rPr sz="1900" spc="-135" dirty="0">
                <a:latin typeface="Courier New"/>
                <a:cs typeface="Courier New"/>
              </a:rPr>
              <a:t>  </a:t>
            </a:r>
            <a:r>
              <a:rPr sz="1900" dirty="0">
                <a:latin typeface="Courier New"/>
                <a:cs typeface="Courier New"/>
              </a:rPr>
              <a:t>and</a:t>
            </a:r>
            <a:r>
              <a:rPr sz="1900" spc="-65" dirty="0">
                <a:latin typeface="Courier New"/>
                <a:cs typeface="Courier New"/>
              </a:rPr>
              <a:t>  </a:t>
            </a:r>
            <a:r>
              <a:rPr sz="1900" spc="-10" dirty="0">
                <a:latin typeface="Courier New"/>
                <a:cs typeface="Courier New"/>
              </a:rPr>
              <a:t>their 	</a:t>
            </a:r>
            <a:r>
              <a:rPr sz="1900" dirty="0">
                <a:latin typeface="Courier New"/>
                <a:cs typeface="Courier New"/>
              </a:rPr>
              <a:t>corresponding</a:t>
            </a:r>
            <a:r>
              <a:rPr sz="1900" spc="-1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outputs</a:t>
            </a:r>
            <a:r>
              <a:rPr sz="1900" spc="12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to</a:t>
            </a:r>
            <a:r>
              <a:rPr sz="1900" spc="-14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confirm</a:t>
            </a:r>
            <a:r>
              <a:rPr sz="1900" spc="-3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that</a:t>
            </a:r>
            <a:r>
              <a:rPr sz="1900" spc="-3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</a:t>
            </a:r>
            <a:r>
              <a:rPr sz="1900" spc="-13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project</a:t>
            </a:r>
            <a:r>
              <a:rPr sz="1900" spc="-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is</a:t>
            </a:r>
            <a:r>
              <a:rPr sz="1900" spc="-75" dirty="0">
                <a:latin typeface="Courier New"/>
                <a:cs typeface="Courier New"/>
              </a:rPr>
              <a:t> </a:t>
            </a:r>
            <a:r>
              <a:rPr sz="1900" spc="-40" dirty="0">
                <a:latin typeface="Courier New"/>
                <a:cs typeface="Courier New"/>
              </a:rPr>
              <a:t>error-</a:t>
            </a:r>
            <a:r>
              <a:rPr sz="1900" dirty="0">
                <a:latin typeface="Courier New"/>
                <a:cs typeface="Courier New"/>
              </a:rPr>
              <a:t>free</a:t>
            </a:r>
            <a:r>
              <a:rPr sz="1900" spc="-1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or</a:t>
            </a:r>
            <a:r>
              <a:rPr sz="1900" spc="4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within</a:t>
            </a:r>
            <a:r>
              <a:rPr sz="1900" spc="10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an 	</a:t>
            </a:r>
            <a:r>
              <a:rPr sz="1900" spc="-20" dirty="0">
                <a:latin typeface="Courier New"/>
                <a:cs typeface="Courier New"/>
              </a:rPr>
              <a:t>acceptable</a:t>
            </a:r>
            <a:r>
              <a:rPr sz="1900" spc="-49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error</a:t>
            </a:r>
            <a:r>
              <a:rPr sz="1900" spc="-52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range.</a:t>
            </a:r>
            <a:endParaRPr sz="1900" dirty="0">
              <a:latin typeface="Courier New"/>
              <a:cs typeface="Courier New"/>
            </a:endParaRPr>
          </a:p>
          <a:p>
            <a:pPr marL="240029" marR="9525" indent="-227329" algn="just">
              <a:lnSpc>
                <a:spcPct val="1307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b="1" dirty="0">
                <a:latin typeface="Courier New"/>
                <a:cs typeface="Courier New"/>
              </a:rPr>
              <a:t>Internal</a:t>
            </a:r>
            <a:r>
              <a:rPr sz="1900" b="1" spc="-3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failure</a:t>
            </a:r>
            <a:r>
              <a:rPr sz="1900" b="1" spc="-2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cost</a:t>
            </a:r>
            <a:r>
              <a:rPr sz="1900" b="1" spc="-2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refers</a:t>
            </a:r>
            <a:r>
              <a:rPr sz="1900" spc="-4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to</a:t>
            </a:r>
            <a:r>
              <a:rPr sz="1900" spc="-11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the</a:t>
            </a:r>
            <a:r>
              <a:rPr sz="1900" spc="-8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cost</a:t>
            </a:r>
            <a:r>
              <a:rPr sz="1900" spc="-6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incurred</a:t>
            </a:r>
            <a:r>
              <a:rPr sz="1900" spc="-4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to</a:t>
            </a:r>
            <a:r>
              <a:rPr sz="1900" spc="-11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correct</a:t>
            </a:r>
            <a:r>
              <a:rPr sz="1900" spc="-4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an</a:t>
            </a:r>
            <a:r>
              <a:rPr sz="1900" spc="-24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identified 	defect</a:t>
            </a:r>
            <a:r>
              <a:rPr sz="1900" spc="-58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before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the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product</a:t>
            </a:r>
            <a:r>
              <a:rPr sz="1900" spc="-57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is</a:t>
            </a:r>
            <a:r>
              <a:rPr sz="1900" spc="-57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received</a:t>
            </a:r>
            <a:r>
              <a:rPr sz="1900" spc="-57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by</a:t>
            </a:r>
            <a:r>
              <a:rPr sz="1900" spc="-59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the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customer.</a:t>
            </a:r>
            <a:endParaRPr sz="1900" dirty="0">
              <a:latin typeface="Courier New"/>
              <a:cs typeface="Courier New"/>
            </a:endParaRPr>
          </a:p>
          <a:p>
            <a:pPr marL="239395" indent="-226695" algn="just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39395" algn="l"/>
              </a:tabLst>
            </a:pPr>
            <a:r>
              <a:rPr sz="1900" b="1" dirty="0">
                <a:latin typeface="Courier New"/>
                <a:cs typeface="Courier New"/>
              </a:rPr>
              <a:t>External failure</a:t>
            </a:r>
            <a:r>
              <a:rPr sz="1900" b="1" spc="1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cost</a:t>
            </a:r>
            <a:r>
              <a:rPr sz="1900" b="1" spc="1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refers</a:t>
            </a:r>
            <a:r>
              <a:rPr sz="1900" spc="-385" dirty="0">
                <a:latin typeface="Courier New"/>
                <a:cs typeface="Courier New"/>
              </a:rPr>
              <a:t> </a:t>
            </a:r>
            <a:r>
              <a:rPr sz="1900" spc="-30" dirty="0">
                <a:latin typeface="Courier New"/>
                <a:cs typeface="Courier New"/>
              </a:rPr>
              <a:t>to</a:t>
            </a:r>
            <a:r>
              <a:rPr sz="1900" spc="-425" dirty="0">
                <a:latin typeface="Courier New"/>
                <a:cs typeface="Courier New"/>
              </a:rPr>
              <a:t> </a:t>
            </a:r>
            <a:r>
              <a:rPr sz="1900" spc="-55" dirty="0">
                <a:latin typeface="Courier New"/>
                <a:cs typeface="Courier New"/>
              </a:rPr>
              <a:t>the</a:t>
            </a:r>
            <a:r>
              <a:rPr sz="1900" spc="-405" dirty="0">
                <a:latin typeface="Courier New"/>
                <a:cs typeface="Courier New"/>
              </a:rPr>
              <a:t> </a:t>
            </a:r>
            <a:r>
              <a:rPr sz="1900" spc="-45" dirty="0">
                <a:latin typeface="Courier New"/>
                <a:cs typeface="Courier New"/>
              </a:rPr>
              <a:t>cost</a:t>
            </a:r>
            <a:r>
              <a:rPr sz="1900" spc="-380" dirty="0">
                <a:latin typeface="Courier New"/>
                <a:cs typeface="Courier New"/>
              </a:rPr>
              <a:t> </a:t>
            </a:r>
            <a:r>
              <a:rPr sz="1900" spc="-45" dirty="0">
                <a:latin typeface="Courier New"/>
                <a:cs typeface="Courier New"/>
              </a:rPr>
              <a:t>that</a:t>
            </a:r>
            <a:r>
              <a:rPr sz="1900" spc="-380" dirty="0">
                <a:latin typeface="Courier New"/>
                <a:cs typeface="Courier New"/>
              </a:rPr>
              <a:t> </a:t>
            </a:r>
            <a:r>
              <a:rPr sz="1900" spc="-30" dirty="0">
                <a:latin typeface="Courier New"/>
                <a:cs typeface="Courier New"/>
              </a:rPr>
              <a:t>is</a:t>
            </a:r>
            <a:r>
              <a:rPr sz="1900" spc="-455" dirty="0">
                <a:latin typeface="Courier New"/>
                <a:cs typeface="Courier New"/>
              </a:rPr>
              <a:t> </a:t>
            </a:r>
            <a:r>
              <a:rPr sz="1900" spc="-35" dirty="0">
                <a:latin typeface="Courier New"/>
                <a:cs typeface="Courier New"/>
              </a:rPr>
              <a:t>related</a:t>
            </a:r>
            <a:r>
              <a:rPr sz="1900" spc="-380" dirty="0">
                <a:latin typeface="Courier New"/>
                <a:cs typeface="Courier New"/>
              </a:rPr>
              <a:t> </a:t>
            </a:r>
            <a:r>
              <a:rPr sz="1900" spc="-30" dirty="0">
                <a:latin typeface="Courier New"/>
                <a:cs typeface="Courier New"/>
              </a:rPr>
              <a:t>to</a:t>
            </a:r>
            <a:r>
              <a:rPr sz="1900" spc="-455" dirty="0">
                <a:latin typeface="Courier New"/>
                <a:cs typeface="Courier New"/>
              </a:rPr>
              <a:t> </a:t>
            </a:r>
            <a:r>
              <a:rPr sz="1900" spc="-40" dirty="0">
                <a:latin typeface="Courier New"/>
                <a:cs typeface="Courier New"/>
              </a:rPr>
              <a:t>all</a:t>
            </a:r>
            <a:r>
              <a:rPr sz="1900" spc="-405" dirty="0">
                <a:latin typeface="Courier New"/>
                <a:cs typeface="Courier New"/>
              </a:rPr>
              <a:t> </a:t>
            </a:r>
            <a:r>
              <a:rPr sz="1900" spc="-30" dirty="0">
                <a:latin typeface="Courier New"/>
                <a:cs typeface="Courier New"/>
              </a:rPr>
              <a:t>errors</a:t>
            </a:r>
            <a:r>
              <a:rPr sz="1900" spc="-30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neither</a:t>
            </a:r>
            <a:endParaRPr sz="1900" dirty="0">
              <a:latin typeface="Courier New"/>
              <a:cs typeface="Courier New"/>
            </a:endParaRPr>
          </a:p>
          <a:p>
            <a:pPr marL="241300" algn="just">
              <a:lnSpc>
                <a:spcPct val="100000"/>
              </a:lnSpc>
              <a:spcBef>
                <a:spcPts val="700"/>
              </a:spcBef>
            </a:pPr>
            <a:r>
              <a:rPr sz="1900" spc="-10" dirty="0">
                <a:latin typeface="Courier New"/>
                <a:cs typeface="Courier New"/>
              </a:rPr>
              <a:t>detected</a:t>
            </a:r>
            <a:r>
              <a:rPr sz="1900" spc="-55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nor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corrected</a:t>
            </a:r>
            <a:r>
              <a:rPr sz="1900" spc="-54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before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it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is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delivered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to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the</a:t>
            </a:r>
            <a:r>
              <a:rPr sz="1900" spc="-58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customer.</a:t>
            </a:r>
            <a:endParaRPr sz="1900" dirty="0">
              <a:latin typeface="Courier New"/>
              <a:cs typeface="Courier New"/>
            </a:endParaRPr>
          </a:p>
          <a:p>
            <a:pPr marL="240029" indent="-227329" algn="just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b="1" dirty="0">
                <a:latin typeface="Courier New"/>
                <a:cs typeface="Courier New"/>
              </a:rPr>
              <a:t>Measurement</a:t>
            </a:r>
            <a:r>
              <a:rPr sz="1900" b="1" spc="-8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and</a:t>
            </a:r>
            <a:r>
              <a:rPr sz="1900" b="1" spc="-3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test</a:t>
            </a:r>
            <a:r>
              <a:rPr sz="1900" b="1" spc="-4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equipment</a:t>
            </a:r>
            <a:r>
              <a:rPr sz="1900" b="1" spc="-7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costs</a:t>
            </a:r>
            <a:r>
              <a:rPr sz="1900" b="1" spc="-4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refer</a:t>
            </a:r>
            <a:r>
              <a:rPr sz="1900" spc="-40" dirty="0">
                <a:latin typeface="Courier New"/>
                <a:cs typeface="Courier New"/>
              </a:rPr>
              <a:t> </a:t>
            </a:r>
            <a:r>
              <a:rPr sz="1900" spc="-85" dirty="0">
                <a:latin typeface="Courier New"/>
                <a:cs typeface="Courier New"/>
              </a:rPr>
              <a:t>to</a:t>
            </a:r>
            <a:r>
              <a:rPr sz="1900" spc="-265" dirty="0">
                <a:latin typeface="Courier New"/>
                <a:cs typeface="Courier New"/>
              </a:rPr>
              <a:t> </a:t>
            </a:r>
            <a:r>
              <a:rPr sz="1900" spc="-40" dirty="0">
                <a:latin typeface="Courier New"/>
                <a:cs typeface="Courier New"/>
              </a:rPr>
              <a:t>the</a:t>
            </a:r>
            <a:r>
              <a:rPr sz="1900" spc="-24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capital</a:t>
            </a:r>
            <a:r>
              <a:rPr sz="1900" spc="-20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cost</a:t>
            </a:r>
            <a:r>
              <a:rPr sz="1900" spc="-15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of</a:t>
            </a:r>
            <a:r>
              <a:rPr sz="1900" spc="-15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equipment</a:t>
            </a:r>
            <a:endParaRPr sz="1900" dirty="0">
              <a:latin typeface="Courier New"/>
              <a:cs typeface="Courier New"/>
            </a:endParaRPr>
          </a:p>
          <a:p>
            <a:pPr marL="241300" algn="just">
              <a:lnSpc>
                <a:spcPct val="100000"/>
              </a:lnSpc>
              <a:spcBef>
                <a:spcPts val="675"/>
              </a:spcBef>
            </a:pPr>
            <a:r>
              <a:rPr sz="1900" spc="-20" dirty="0">
                <a:latin typeface="Courier New"/>
                <a:cs typeface="Courier New"/>
              </a:rPr>
              <a:t>that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is</a:t>
            </a:r>
            <a:r>
              <a:rPr sz="1900" spc="-550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used</a:t>
            </a:r>
            <a:r>
              <a:rPr sz="1900" spc="-55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to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conduct</a:t>
            </a:r>
            <a:r>
              <a:rPr sz="1900" spc="-55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prevention</a:t>
            </a:r>
            <a:r>
              <a:rPr sz="1900" spc="-57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and</a:t>
            </a:r>
            <a:r>
              <a:rPr sz="1900" spc="-55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appraisal</a:t>
            </a:r>
            <a:r>
              <a:rPr sz="1900" spc="-54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activities.</a:t>
            </a:r>
            <a:endParaRPr sz="19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Improving</a:t>
            </a:r>
            <a:r>
              <a:rPr spc="-1235" dirty="0"/>
              <a:t> </a:t>
            </a:r>
            <a:r>
              <a:rPr spc="-10" dirty="0"/>
              <a:t>IT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05634"/>
            <a:ext cx="10907395" cy="4767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16510" indent="-228600" algn="just">
              <a:lnSpc>
                <a:spcPct val="13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DeMarco</a:t>
            </a:r>
            <a:r>
              <a:rPr sz="2200" spc="31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29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Lister</a:t>
            </a:r>
            <a:r>
              <a:rPr sz="2200" spc="31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conducted</a:t>
            </a:r>
            <a:r>
              <a:rPr sz="2200" spc="31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30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study</a:t>
            </a:r>
            <a:r>
              <a:rPr sz="2200" spc="30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identifying</a:t>
            </a:r>
            <a:r>
              <a:rPr sz="2200" spc="345" dirty="0">
                <a:latin typeface="Courier New"/>
                <a:cs typeface="Courier New"/>
              </a:rPr>
              <a:t>  </a:t>
            </a:r>
            <a:r>
              <a:rPr sz="2200" spc="-40" dirty="0">
                <a:latin typeface="Courier New"/>
                <a:cs typeface="Courier New"/>
              </a:rPr>
              <a:t>that </a:t>
            </a:r>
            <a:r>
              <a:rPr sz="2200" dirty="0">
                <a:latin typeface="Courier New"/>
                <a:cs typeface="Courier New"/>
              </a:rPr>
              <a:t>organizational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issues</a:t>
            </a:r>
            <a:r>
              <a:rPr sz="2200" spc="-1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had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much</a:t>
            </a:r>
            <a:r>
              <a:rPr sz="2200" spc="-1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greater</a:t>
            </a:r>
            <a:r>
              <a:rPr sz="2200" spc="-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influence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on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programmer </a:t>
            </a:r>
            <a:r>
              <a:rPr sz="2200" dirty="0">
                <a:latin typeface="Courier New"/>
                <a:cs typeface="Courier New"/>
              </a:rPr>
              <a:t>productivity</a:t>
            </a:r>
            <a:r>
              <a:rPr sz="2200" spc="5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compared</a:t>
            </a:r>
            <a:r>
              <a:rPr sz="2200" spc="5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4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technical</a:t>
            </a:r>
            <a:r>
              <a:rPr sz="2200" spc="2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environment</a:t>
            </a:r>
            <a:r>
              <a:rPr sz="2200" spc="5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</a:t>
            </a:r>
            <a:r>
              <a:rPr sz="2200" spc="4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programming languages.</a:t>
            </a:r>
            <a:endParaRPr sz="2200" dirty="0">
              <a:latin typeface="Courier New"/>
              <a:cs typeface="Courier New"/>
            </a:endParaRPr>
          </a:p>
          <a:p>
            <a:pPr marL="241300" marR="5080" indent="-228600" algn="just">
              <a:lnSpc>
                <a:spcPct val="13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Across</a:t>
            </a:r>
            <a:r>
              <a:rPr sz="2200" spc="4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organizations,</a:t>
            </a:r>
            <a:r>
              <a:rPr sz="2200" spc="4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productivity</a:t>
            </a:r>
            <a:r>
              <a:rPr sz="2200" spc="2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4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programmers</a:t>
            </a:r>
            <a:r>
              <a:rPr sz="2200" spc="4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varied</a:t>
            </a:r>
            <a:r>
              <a:rPr sz="2200" spc="4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by</a:t>
            </a:r>
            <a:r>
              <a:rPr sz="2200" spc="42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a </a:t>
            </a:r>
            <a:r>
              <a:rPr sz="2200" dirty="0">
                <a:latin typeface="Courier New"/>
                <a:cs typeface="Courier New"/>
              </a:rPr>
              <a:t>factor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1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one</a:t>
            </a:r>
            <a:r>
              <a:rPr sz="2200" spc="-1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ten.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However,</a:t>
            </a:r>
            <a:r>
              <a:rPr sz="2200" spc="-1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within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1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same</a:t>
            </a:r>
            <a:r>
              <a:rPr sz="2200" spc="-1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organization</a:t>
            </a:r>
            <a:r>
              <a:rPr sz="2200" spc="-20" dirty="0">
                <a:latin typeface="Courier New"/>
                <a:cs typeface="Courier New"/>
              </a:rPr>
              <a:t> this </a:t>
            </a:r>
            <a:r>
              <a:rPr sz="2200" spc="-10" dirty="0">
                <a:latin typeface="Courier New"/>
                <a:cs typeface="Courier New"/>
              </a:rPr>
              <a:t>difference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is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only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21</a:t>
            </a:r>
            <a:r>
              <a:rPr sz="2200" spc="-7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percent.</a:t>
            </a:r>
            <a:endParaRPr sz="2200" dirty="0">
              <a:latin typeface="Courier New"/>
              <a:cs typeface="Courier New"/>
            </a:endParaRPr>
          </a:p>
          <a:p>
            <a:pPr marL="241300" marR="17145" indent="-228600" algn="just">
              <a:lnSpc>
                <a:spcPct val="13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They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also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found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that</a:t>
            </a:r>
            <a:r>
              <a:rPr sz="2200" spc="-2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productivity</a:t>
            </a:r>
            <a:r>
              <a:rPr sz="2200" spc="-190" dirty="0">
                <a:latin typeface="Courier New"/>
                <a:cs typeface="Courier New"/>
              </a:rPr>
              <a:t> </a:t>
            </a:r>
            <a:r>
              <a:rPr sz="2200" spc="-100" dirty="0">
                <a:latin typeface="Courier New"/>
                <a:cs typeface="Courier New"/>
              </a:rPr>
              <a:t>and</a:t>
            </a:r>
            <a:r>
              <a:rPr sz="2200" spc="-229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programming</a:t>
            </a:r>
            <a:r>
              <a:rPr sz="2200" spc="-1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language,</a:t>
            </a:r>
            <a:r>
              <a:rPr sz="2200" spc="-1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years of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experience,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or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salary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have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no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correlation.</a:t>
            </a:r>
            <a:endParaRPr sz="2200" dirty="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In</a:t>
            </a:r>
            <a:r>
              <a:rPr sz="2200" spc="-35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conclusion,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49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dedicated</a:t>
            </a:r>
            <a:r>
              <a:rPr sz="2200" b="1" spc="-27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workspace</a:t>
            </a:r>
            <a:r>
              <a:rPr sz="2200" b="1" spc="-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484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quiet</a:t>
            </a:r>
            <a:r>
              <a:rPr sz="2200" b="1" spc="-7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work</a:t>
            </a:r>
            <a:r>
              <a:rPr sz="2200" b="1" spc="-70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environment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Improving</a:t>
            </a:r>
            <a:r>
              <a:rPr spc="-1235" dirty="0"/>
              <a:t> </a:t>
            </a:r>
            <a:r>
              <a:rPr spc="-10" dirty="0"/>
              <a:t>IT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7498080" cy="11239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240029" algn="l"/>
                <a:tab pos="2862580" algn="l"/>
                <a:tab pos="4725670" algn="l"/>
                <a:tab pos="6795770" algn="l"/>
              </a:tabLst>
            </a:pPr>
            <a:r>
              <a:rPr sz="2400" spc="-10" dirty="0">
                <a:latin typeface="Courier New"/>
                <a:cs typeface="Courier New"/>
              </a:rPr>
              <a:t>Experienced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Courier New"/>
                <a:cs typeface="Courier New"/>
              </a:rPr>
              <a:t>Managers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75" dirty="0">
                <a:latin typeface="Courier New"/>
                <a:cs typeface="Courier New"/>
              </a:rPr>
              <a:t>know</a:t>
            </a:r>
            <a:endParaRPr sz="24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445"/>
              </a:spcBef>
            </a:pPr>
            <a:r>
              <a:rPr sz="2400" b="1" dirty="0">
                <a:latin typeface="Courier New"/>
                <a:cs typeface="Courier New"/>
              </a:rPr>
              <a:t>stakeholder’s</a:t>
            </a:r>
            <a:r>
              <a:rPr sz="2400" b="1" spc="57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expectations</a:t>
            </a:r>
            <a:r>
              <a:rPr sz="2400" b="1" spc="-41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5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critical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14715" y="1783079"/>
            <a:ext cx="116903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5609">
              <a:lnSpc>
                <a:spcPct val="150100"/>
              </a:lnSpc>
              <a:spcBef>
                <a:spcPts val="100"/>
              </a:spcBef>
            </a:pPr>
            <a:r>
              <a:rPr sz="2400" spc="-60" dirty="0">
                <a:latin typeface="Courier New"/>
                <a:cs typeface="Courier New"/>
              </a:rPr>
              <a:t>that </a:t>
            </a:r>
            <a:r>
              <a:rPr sz="2400" spc="-10" dirty="0">
                <a:latin typeface="Courier New"/>
                <a:cs typeface="Courier New"/>
              </a:rPr>
              <a:t>aspect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62184" y="1783079"/>
            <a:ext cx="1906270" cy="11239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R="47625" algn="r">
              <a:lnSpc>
                <a:spcPct val="100000"/>
              </a:lnSpc>
              <a:spcBef>
                <a:spcPts val="1540"/>
              </a:spcBef>
            </a:pPr>
            <a:r>
              <a:rPr sz="2400" b="1" spc="-10" dirty="0">
                <a:latin typeface="Courier New"/>
                <a:cs typeface="Courier New"/>
              </a:rPr>
              <a:t>managing</a:t>
            </a:r>
            <a:endParaRPr sz="24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400" dirty="0">
                <a:latin typeface="Courier New"/>
                <a:cs typeface="Courier New"/>
              </a:rPr>
              <a:t>  </a:t>
            </a:r>
            <a:r>
              <a:rPr sz="2400" spc="-30" dirty="0">
                <a:latin typeface="Courier New"/>
                <a:cs typeface="Courier New"/>
              </a:rPr>
              <a:t>project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0124" y="3064255"/>
            <a:ext cx="3406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quality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04858" y="5769051"/>
            <a:ext cx="2867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3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</a:t>
            </a:r>
            <a:r>
              <a:rPr sz="2400" spc="4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them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1524" y="3741166"/>
            <a:ext cx="7808595" cy="296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Expectations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may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vary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depending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on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Organization’s</a:t>
            </a:r>
            <a:r>
              <a:rPr sz="2400" spc="-6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culture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Geographic</a:t>
            </a:r>
            <a:r>
              <a:rPr sz="2400" spc="-6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regions</a:t>
            </a:r>
            <a:endParaRPr sz="2400" dirty="0">
              <a:latin typeface="Courier New"/>
              <a:cs typeface="Courier New"/>
            </a:endParaRPr>
          </a:p>
          <a:p>
            <a:pPr marL="240029" marR="5080" indent="-227329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3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2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crucial</a:t>
            </a:r>
            <a:r>
              <a:rPr sz="2400" spc="3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4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know</a:t>
            </a:r>
            <a:r>
              <a:rPr sz="2400" spc="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these</a:t>
            </a:r>
            <a:r>
              <a:rPr sz="2400" spc="3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expectations 	properly.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Improving</a:t>
            </a:r>
            <a:r>
              <a:rPr spc="-1235" dirty="0"/>
              <a:t> </a:t>
            </a:r>
            <a:r>
              <a:rPr spc="-10" dirty="0"/>
              <a:t>IT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869315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Maturity</a:t>
            </a:r>
            <a:r>
              <a:rPr sz="2400" b="1" spc="57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Models</a:t>
            </a:r>
            <a:r>
              <a:rPr sz="2400" b="1" spc="5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provide</a:t>
            </a:r>
            <a:r>
              <a:rPr sz="2400" spc="5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3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framework</a:t>
            </a:r>
            <a:r>
              <a:rPr sz="2400" spc="5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50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can 	</a:t>
            </a:r>
            <a:r>
              <a:rPr sz="2400" spc="-10" dirty="0">
                <a:latin typeface="Courier New"/>
                <a:cs typeface="Courier New"/>
              </a:rPr>
              <a:t>improve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processes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systems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organization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01225" y="1966340"/>
            <a:ext cx="19646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5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used</a:t>
            </a:r>
            <a:r>
              <a:rPr sz="2400" spc="44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3192271"/>
            <a:ext cx="10900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Maturity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Models</a:t>
            </a:r>
            <a:r>
              <a:rPr sz="2400" spc="-1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usually</a:t>
            </a:r>
            <a:r>
              <a:rPr sz="2400" spc="-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have</a:t>
            </a:r>
            <a:r>
              <a:rPr sz="2400" spc="-12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five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levels</a:t>
            </a:r>
            <a:r>
              <a:rPr sz="2400" spc="-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which</a:t>
            </a:r>
            <a:r>
              <a:rPr sz="2400" spc="-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first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0124" y="3557904"/>
            <a:ext cx="1066546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level</a:t>
            </a:r>
            <a:r>
              <a:rPr sz="2400" spc="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describes</a:t>
            </a:r>
            <a:r>
              <a:rPr sz="2400" spc="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characteristics</a:t>
            </a:r>
            <a:r>
              <a:rPr sz="2400" spc="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2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least</a:t>
            </a:r>
            <a:r>
              <a:rPr sz="2400" spc="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organized</a:t>
            </a:r>
            <a:r>
              <a:rPr sz="2400" spc="35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or </a:t>
            </a:r>
            <a:r>
              <a:rPr sz="2400" dirty="0">
                <a:latin typeface="Courier New"/>
                <a:cs typeface="Courier New"/>
              </a:rPr>
              <a:t>mature</a:t>
            </a:r>
            <a:r>
              <a:rPr sz="2400" spc="-24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organizations</a:t>
            </a:r>
            <a:r>
              <a:rPr sz="2400" spc="-22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whereas</a:t>
            </a:r>
            <a:r>
              <a:rPr sz="2400" spc="-2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29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fifth</a:t>
            </a:r>
            <a:r>
              <a:rPr sz="2400" spc="-240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level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64648" y="4107794"/>
            <a:ext cx="2004060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35280">
              <a:lnSpc>
                <a:spcPct val="150000"/>
              </a:lnSpc>
              <a:spcBef>
                <a:spcPts val="95"/>
              </a:spcBef>
              <a:tabLst>
                <a:tab pos="902969" algn="l"/>
              </a:tabLst>
            </a:pPr>
            <a:r>
              <a:rPr sz="2400" spc="-10" dirty="0">
                <a:latin typeface="Courier New"/>
                <a:cs typeface="Courier New"/>
              </a:rPr>
              <a:t>describes </a:t>
            </a:r>
            <a:r>
              <a:rPr sz="2400" spc="-25" dirty="0">
                <a:latin typeface="Courier New"/>
                <a:cs typeface="Courier New"/>
              </a:rPr>
              <a:t>or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mature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0124" y="4655728"/>
            <a:ext cx="8139430" cy="1123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95"/>
              </a:spcBef>
              <a:tabLst>
                <a:tab pos="3317240" algn="l"/>
                <a:tab pos="4182745" algn="l"/>
                <a:tab pos="5247005" algn="l"/>
                <a:tab pos="6490970" algn="l"/>
              </a:tabLst>
            </a:pPr>
            <a:r>
              <a:rPr sz="2400" spc="-10" dirty="0">
                <a:latin typeface="Courier New"/>
                <a:cs typeface="Courier New"/>
              </a:rPr>
              <a:t>characteristics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of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the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most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organized </a:t>
            </a:r>
            <a:r>
              <a:rPr sz="2400" spc="-10" dirty="0">
                <a:latin typeface="Courier New"/>
                <a:cs typeface="Courier New"/>
              </a:rPr>
              <a:t>organizations.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Improving</a:t>
            </a:r>
            <a:r>
              <a:rPr spc="-1235" dirty="0"/>
              <a:t> </a:t>
            </a:r>
            <a:r>
              <a:rPr spc="-10" dirty="0"/>
              <a:t>IT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38909"/>
            <a:ext cx="1024191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Three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popular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maturity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models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Software</a:t>
            </a:r>
            <a:r>
              <a:rPr sz="2400" b="1" spc="-1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Quality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Function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Deployment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(SQFD)</a:t>
            </a:r>
            <a:r>
              <a:rPr sz="2400" b="1" spc="-7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Model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85856" y="3216655"/>
            <a:ext cx="148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planning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674" y="3070098"/>
            <a:ext cx="8963025" cy="169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9940" marR="268605" indent="-320675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789940" algn="l"/>
              </a:tabLst>
            </a:pPr>
            <a:r>
              <a:rPr sz="2400" dirty="0">
                <a:latin typeface="Courier New"/>
                <a:cs typeface="Courier New"/>
              </a:rPr>
              <a:t>Focuses</a:t>
            </a:r>
            <a:r>
              <a:rPr sz="2400" spc="-409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5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defining</a:t>
            </a:r>
            <a:r>
              <a:rPr sz="2400" spc="-3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user</a:t>
            </a:r>
            <a:r>
              <a:rPr sz="2400" spc="5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requirements</a:t>
            </a:r>
            <a:r>
              <a:rPr sz="2400" spc="-385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and </a:t>
            </a:r>
            <a:r>
              <a:rPr sz="2400" spc="-10" dirty="0">
                <a:latin typeface="Courier New"/>
                <a:cs typeface="Courier New"/>
              </a:rPr>
              <a:t>software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projects.</a:t>
            </a:r>
            <a:endParaRPr sz="2400">
              <a:latin typeface="Courier New"/>
              <a:cs typeface="Courier New"/>
            </a:endParaRPr>
          </a:p>
          <a:p>
            <a:pPr marL="279400" indent="-26670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79400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Capability</a:t>
            </a:r>
            <a:r>
              <a:rPr sz="2400" b="1" spc="-114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Maturity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Model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Integration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(CMMI)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5873" y="4863890"/>
            <a:ext cx="9982200" cy="156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0200" marR="5080" indent="-318135" algn="just">
              <a:lnSpc>
                <a:spcPct val="140000"/>
              </a:lnSpc>
              <a:spcBef>
                <a:spcPts val="95"/>
              </a:spcBef>
              <a:buFont typeface="Arial MT"/>
              <a:buChar char="•"/>
              <a:tabLst>
                <a:tab pos="332740" algn="l"/>
              </a:tabLst>
            </a:pP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10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3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process</a:t>
            </a:r>
            <a:r>
              <a:rPr sz="2400" spc="-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improvement</a:t>
            </a:r>
            <a:r>
              <a:rPr sz="2400" spc="10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approach</a:t>
            </a:r>
            <a:r>
              <a:rPr sz="2400" spc="12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tha</a:t>
            </a:r>
            <a:r>
              <a:rPr sz="2400" spc="100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provides 	</a:t>
            </a:r>
            <a:r>
              <a:rPr sz="2400" dirty="0">
                <a:latin typeface="Courier New"/>
                <a:cs typeface="Courier New"/>
              </a:rPr>
              <a:t>organizations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with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essential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elements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effective 	processes.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Improving</a:t>
            </a:r>
            <a:r>
              <a:rPr spc="-1235" dirty="0"/>
              <a:t> </a:t>
            </a:r>
            <a:r>
              <a:rPr spc="-10" dirty="0"/>
              <a:t>IT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57197"/>
            <a:ext cx="9711690" cy="4143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CMMI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levels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are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listed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below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starting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from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lowest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highest.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1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Incomplete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Performed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Managed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0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Defined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Quantitatively</a:t>
            </a:r>
            <a:r>
              <a:rPr sz="2200" spc="-5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Managed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Optimizing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Improving</a:t>
            </a:r>
            <a:r>
              <a:rPr spc="-1235" dirty="0"/>
              <a:t> </a:t>
            </a:r>
            <a:r>
              <a:rPr spc="-10" dirty="0"/>
              <a:t>IT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082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>
                <a:solidFill>
                  <a:schemeClr val="bg1"/>
                </a:solidFill>
              </a:rPr>
              <a:t>Organizational</a:t>
            </a:r>
            <a:r>
              <a:rPr spc="-525" dirty="0">
                <a:solidFill>
                  <a:schemeClr val="bg1"/>
                </a:solidFill>
              </a:rPr>
              <a:t> </a:t>
            </a:r>
            <a:r>
              <a:rPr i="1" u="heavy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Project</a:t>
            </a:r>
            <a:r>
              <a:rPr i="1" u="heavy" spc="-6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i="1" u="heavy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Management</a:t>
            </a:r>
            <a:r>
              <a:rPr i="1" u="heavy" spc="-5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i="1" u="heavy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Maturity</a:t>
            </a:r>
            <a:r>
              <a:rPr i="1" u="heavy" spc="-25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i="1" u="heavy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Model</a:t>
            </a:r>
            <a:r>
              <a:rPr i="1" u="heavy" spc="-1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>
                <a:solidFill>
                  <a:schemeClr val="bg1"/>
                </a:solidFill>
              </a:rPr>
              <a:t>(OPM3)</a:t>
            </a:r>
            <a:r>
              <a:rPr spc="-459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was 	</a:t>
            </a:r>
            <a:r>
              <a:rPr spc="-10" dirty="0">
                <a:solidFill>
                  <a:schemeClr val="bg1"/>
                </a:solidFill>
              </a:rPr>
              <a:t>released</a:t>
            </a:r>
            <a:r>
              <a:rPr spc="-7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by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PMI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in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December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2003.</a:t>
            </a:r>
          </a:p>
          <a:p>
            <a:pPr marL="240029" indent="-227329" algn="just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>
                <a:solidFill>
                  <a:schemeClr val="bg1"/>
                </a:solidFill>
              </a:rPr>
              <a:t>This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model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based</a:t>
            </a:r>
            <a:r>
              <a:rPr spc="-2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on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market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research</a:t>
            </a:r>
            <a:r>
              <a:rPr spc="-2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surveys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incorporating</a:t>
            </a:r>
          </a:p>
          <a:p>
            <a:pPr marL="241300" marR="5080" algn="just">
              <a:lnSpc>
                <a:spcPct val="150100"/>
              </a:lnSpc>
            </a:pPr>
            <a:r>
              <a:rPr dirty="0">
                <a:solidFill>
                  <a:schemeClr val="bg1"/>
                </a:solidFill>
              </a:rPr>
              <a:t>180</a:t>
            </a:r>
            <a:r>
              <a:rPr spc="-2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best</a:t>
            </a:r>
            <a:r>
              <a:rPr spc="-1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practices,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more</a:t>
            </a:r>
            <a:r>
              <a:rPr spc="-1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than</a:t>
            </a:r>
            <a:r>
              <a:rPr spc="-19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2,400</a:t>
            </a:r>
            <a:r>
              <a:rPr spc="-2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capabilities,</a:t>
            </a:r>
            <a:r>
              <a:rPr spc="-1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outcomes,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-370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key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performance</a:t>
            </a:r>
            <a:r>
              <a:rPr spc="-330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indicators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70" dirty="0">
                <a:solidFill>
                  <a:schemeClr val="bg1"/>
                </a:solidFill>
              </a:rPr>
              <a:t>that</a:t>
            </a:r>
            <a:r>
              <a:rPr spc="-280" dirty="0">
                <a:solidFill>
                  <a:schemeClr val="bg1"/>
                </a:solidFill>
              </a:rPr>
              <a:t> </a:t>
            </a:r>
            <a:r>
              <a:rPr spc="-60" dirty="0">
                <a:solidFill>
                  <a:schemeClr val="bg1"/>
                </a:solidFill>
              </a:rPr>
              <a:t>were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communicated</a:t>
            </a:r>
            <a:r>
              <a:rPr spc="-220" dirty="0">
                <a:solidFill>
                  <a:schemeClr val="bg1"/>
                </a:solidFill>
              </a:rPr>
              <a:t> </a:t>
            </a:r>
            <a:r>
              <a:rPr spc="-90" dirty="0">
                <a:solidFill>
                  <a:schemeClr val="bg1"/>
                </a:solidFill>
              </a:rPr>
              <a:t>to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more </a:t>
            </a:r>
            <a:r>
              <a:rPr spc="-10" dirty="0">
                <a:solidFill>
                  <a:schemeClr val="bg1"/>
                </a:solidFill>
              </a:rPr>
              <a:t>than</a:t>
            </a:r>
            <a:r>
              <a:rPr spc="-705" dirty="0">
                <a:solidFill>
                  <a:schemeClr val="bg1"/>
                </a:solidFill>
              </a:rPr>
              <a:t> </a:t>
            </a:r>
            <a:r>
              <a:rPr spc="-60" dirty="0">
                <a:solidFill>
                  <a:schemeClr val="bg1"/>
                </a:solidFill>
              </a:rPr>
              <a:t>30,000</a:t>
            </a:r>
            <a:r>
              <a:rPr spc="-8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management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professionals.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Chapter</a:t>
            </a:r>
            <a:r>
              <a:rPr spc="-1225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8437245" cy="241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Key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processes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are: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Plan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Manage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Control</a:t>
            </a:r>
            <a:r>
              <a:rPr sz="2400" spc="-6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Quality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8</TotalTime>
  <Words>1740</Words>
  <Application>Microsoft Office PowerPoint</Application>
  <PresentationFormat>Custom</PresentationFormat>
  <Paragraphs>279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Apex</vt:lpstr>
      <vt:lpstr>Chapter 8: Project Quality Management</vt:lpstr>
      <vt:lpstr>Contents:</vt:lpstr>
      <vt:lpstr>Week 10 Learning Outcome:</vt:lpstr>
      <vt:lpstr>Project Quality Management</vt:lpstr>
      <vt:lpstr>Project Quality Management</vt:lpstr>
      <vt:lpstr>Planning Quality Management</vt:lpstr>
      <vt:lpstr>Planning Quality Management</vt:lpstr>
      <vt:lpstr>Planning Quality Management</vt:lpstr>
      <vt:lpstr>Managing and Controlling Quality</vt:lpstr>
      <vt:lpstr>Managing and Controlling Quality</vt:lpstr>
      <vt:lpstr>Managing and Controlling Quality</vt:lpstr>
      <vt:lpstr>Tools and Techniques for Quality Control</vt:lpstr>
      <vt:lpstr>Tools and Techniques for Quality Control</vt:lpstr>
      <vt:lpstr>Tools and Techniques for Quality Control</vt:lpstr>
      <vt:lpstr>Tools and Techniques for Quality Control</vt:lpstr>
      <vt:lpstr>Tools and Techniques for Quality Control</vt:lpstr>
      <vt:lpstr>Tools and Techniques for Quality Control</vt:lpstr>
      <vt:lpstr>Tools and Techniques for Quality Control</vt:lpstr>
      <vt:lpstr>Tools and Techniques for Quality Control</vt:lpstr>
      <vt:lpstr>Tools and Techniques for Quality Control</vt:lpstr>
      <vt:lpstr>Tools and Techniques for Quality Control</vt:lpstr>
      <vt:lpstr>Tools and Techniques for Quality Control</vt:lpstr>
      <vt:lpstr>Tools and Techniques for Quality Control</vt:lpstr>
      <vt:lpstr>Tools and Techniques for Quality Control</vt:lpstr>
      <vt:lpstr>Tools and Techniques for Quality Control</vt:lpstr>
      <vt:lpstr>Tools and Techniques for Quality Control</vt:lpstr>
      <vt:lpstr>Tools and Techniques for Quality Control</vt:lpstr>
      <vt:lpstr>Tools  and Techniques for  Quality Control</vt:lpstr>
      <vt:lpstr>Tools and Techniques for Quality Control</vt:lpstr>
      <vt:lpstr>Tools and Techniques for Quality Control</vt:lpstr>
      <vt:lpstr>Tools and Techniques for Quality Control</vt:lpstr>
      <vt:lpstr>Tools and Techniques for Quality Control</vt:lpstr>
      <vt:lpstr>Tools and Techniques for Quality</vt:lpstr>
      <vt:lpstr>Tools and Techniques for Quality</vt:lpstr>
      <vt:lpstr>Tools and Techniques for Quality</vt:lpstr>
      <vt:lpstr>Tools and Techniques for Quality</vt:lpstr>
      <vt:lpstr>Modern Quality Management</vt:lpstr>
      <vt:lpstr>Improving IT Project Quality</vt:lpstr>
      <vt:lpstr>Improving IT Project Quality</vt:lpstr>
      <vt:lpstr>Improving IT Project Quality</vt:lpstr>
      <vt:lpstr>Improving IT Project Quality</vt:lpstr>
      <vt:lpstr>Improving IT Project Quality</vt:lpstr>
      <vt:lpstr>Improving IT Project Quality</vt:lpstr>
      <vt:lpstr>Improving IT Project Quality</vt:lpstr>
      <vt:lpstr>Improving IT Project Quality</vt:lpstr>
      <vt:lpstr>Improving IT Project Quality</vt:lpstr>
      <vt:lpstr>Improving IT Project Quality</vt:lpstr>
      <vt:lpstr>Chapter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8: Project Quality Management</dc:title>
  <cp:lastModifiedBy>Rashid</cp:lastModifiedBy>
  <cp:revision>5</cp:revision>
  <dcterms:created xsi:type="dcterms:W3CDTF">2026-09-28T15:55:02Z</dcterms:created>
  <dcterms:modified xsi:type="dcterms:W3CDTF">2026-09-29T11:48:44Z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LastSaved">
    <vt:filetime>2026-09-28T00:00:00Z</vt:filetime>
  </property>
  <property fmtid="{D5CDD505-2E9C-101B-9397-08002B2CF9AE}" pid="5" name="Producer">
    <vt:lpwstr>Pdftools SDK</vt:lpwstr>
  </property>
</Properties>
</file>