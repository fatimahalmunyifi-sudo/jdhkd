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17138" y="2407482"/>
            <a:ext cx="5245862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0"/>
              </a:spcBef>
            </a:pPr>
            <a:r>
              <a:rPr lang="en-US" sz="3200" dirty="0" smtClean="0">
                <a:solidFill>
                  <a:schemeClr val="bg1"/>
                </a:solidFill>
                <a:latin typeface="Arial MT"/>
                <a:cs typeface="Arial MT"/>
              </a:rPr>
              <a:t>Chapter</a:t>
            </a:r>
            <a:r>
              <a:rPr sz="3200" spc="-6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1</a:t>
            </a:r>
            <a:r>
              <a:rPr lang="en-US"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1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3200" spc="-7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Risk</a:t>
            </a:r>
            <a:r>
              <a:rPr sz="320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96237"/>
            <a:ext cx="5249545" cy="399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44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Importance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of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Risk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Management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Planning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Risk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Management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Common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Sources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of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Risks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on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IT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Projects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Identifying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Risks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3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Performing</a:t>
            </a:r>
            <a:r>
              <a:rPr sz="1700" spc="-484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Qualitative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Risk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Analysis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Performing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Quantitative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Risk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Analysis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Planning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Risk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Responses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Implementing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Risk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Responses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Monitoring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Risks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Week</a:t>
            </a:r>
            <a:r>
              <a:rPr spc="-1235" dirty="0"/>
              <a:t> </a:t>
            </a:r>
            <a:r>
              <a:rPr spc="-95" dirty="0"/>
              <a:t>13</a:t>
            </a:r>
            <a:r>
              <a:rPr spc="-1290" dirty="0"/>
              <a:t> </a:t>
            </a:r>
            <a:r>
              <a:rPr spc="-10" dirty="0"/>
              <a:t>Learning</a:t>
            </a:r>
            <a:r>
              <a:rPr spc="-1265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0"/>
            <a:ext cx="10304145" cy="4924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Explain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importance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Discuss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processes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involved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illustrate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components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Identify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common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sources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information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technology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projects.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Describe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suggested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tools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techniques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used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identifying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risks.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Explore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methodologies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used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performing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qualitative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quantitative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risks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analysis.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Discuss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strategies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used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planning,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monitoring,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Risk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78130" y="1783079"/>
            <a:ext cx="11901170" cy="4655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 marR="58419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spc="-20" dirty="0">
                <a:latin typeface="Courier New"/>
                <a:cs typeface="Courier New"/>
              </a:rPr>
              <a:t>Project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risk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management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is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the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250" dirty="0">
                <a:latin typeface="Courier New"/>
                <a:cs typeface="Courier New"/>
              </a:rPr>
              <a:t>art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and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science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of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identifying</a:t>
            </a:r>
            <a:r>
              <a:rPr sz="2400" spc="-10" dirty="0">
                <a:latin typeface="Courier New"/>
                <a:cs typeface="Courier New"/>
              </a:rPr>
              <a:t>, 	</a:t>
            </a:r>
            <a:r>
              <a:rPr sz="2400" i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analyzing</a:t>
            </a:r>
            <a:r>
              <a:rPr sz="2400" spc="-20" dirty="0">
                <a:latin typeface="Courier New"/>
                <a:cs typeface="Courier New"/>
              </a:rPr>
              <a:t>,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140" dirty="0">
                <a:latin typeface="Courier New"/>
                <a:cs typeface="Courier New"/>
              </a:rPr>
              <a:t>and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i="1" u="heavy" spc="-4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responding</a:t>
            </a:r>
            <a:r>
              <a:rPr sz="2400" i="1" spc="-315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to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risk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throughout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the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life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cycle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meet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objectives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best</a:t>
            </a:r>
            <a:r>
              <a:rPr sz="2400" spc="3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possible 	manner.</a:t>
            </a:r>
            <a:endParaRPr sz="2400" dirty="0">
              <a:latin typeface="Courier New"/>
              <a:cs typeface="Courier New"/>
            </a:endParaRPr>
          </a:p>
          <a:p>
            <a:pPr marL="1189355" marR="43180" indent="-227329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dirty="0">
                <a:latin typeface="Courier New"/>
                <a:cs typeface="Courier New"/>
              </a:rPr>
              <a:t>Risk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increase</a:t>
            </a:r>
            <a:r>
              <a:rPr sz="2400" spc="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chances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success</a:t>
            </a:r>
            <a:r>
              <a:rPr sz="2400" spc="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 dirty="0">
              <a:latin typeface="Courier New"/>
              <a:cs typeface="Courier New"/>
            </a:endParaRPr>
          </a:p>
          <a:p>
            <a:pPr marL="1189355" marR="55880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dirty="0">
                <a:latin typeface="Courier New"/>
                <a:cs typeface="Courier New"/>
              </a:rPr>
              <a:t>Risk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help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selecting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projects,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determining 	</a:t>
            </a:r>
            <a:r>
              <a:rPr sz="2400" dirty="0">
                <a:latin typeface="Courier New"/>
                <a:cs typeface="Courier New"/>
              </a:rPr>
              <a:t>their</a:t>
            </a:r>
            <a:r>
              <a:rPr sz="2400" spc="-3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scope,</a:t>
            </a:r>
            <a:r>
              <a:rPr sz="2400" spc="-3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producing</a:t>
            </a:r>
            <a:r>
              <a:rPr sz="2400" spc="-3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accurate</a:t>
            </a:r>
            <a:r>
              <a:rPr sz="2400" spc="-3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schedules</a:t>
            </a:r>
            <a:r>
              <a:rPr sz="2400" spc="-2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30" dirty="0">
                <a:latin typeface="Courier New"/>
                <a:cs typeface="Courier New"/>
              </a:rPr>
              <a:t>  </a:t>
            </a:r>
            <a:r>
              <a:rPr sz="2400" spc="-20" dirty="0" smtClean="0">
                <a:latin typeface="Courier New"/>
                <a:cs typeface="Courier New"/>
              </a:rPr>
              <a:t>cost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Risk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0410" cy="3996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ourier New"/>
                <a:cs typeface="Courier New"/>
              </a:rPr>
              <a:t>Willia</a:t>
            </a:r>
            <a:r>
              <a:rPr sz="2400" dirty="0">
                <a:latin typeface="Courier New"/>
                <a:cs typeface="Courier New"/>
              </a:rPr>
              <a:t>m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spc="-50" dirty="0">
                <a:latin typeface="Courier New"/>
                <a:cs typeface="Courier New"/>
              </a:rPr>
              <a:t>b</a:t>
            </a:r>
            <a:r>
              <a:rPr sz="2400" spc="-25" dirty="0">
                <a:latin typeface="Courier New"/>
                <a:cs typeface="Courier New"/>
              </a:rPr>
              <a:t>b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Youn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.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K</a:t>
            </a:r>
            <a:r>
              <a:rPr sz="2400" spc="-75" dirty="0">
                <a:latin typeface="Courier New"/>
                <a:cs typeface="Courier New"/>
              </a:rPr>
              <a:t>w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f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75" dirty="0">
                <a:latin typeface="Courier New"/>
                <a:cs typeface="Courier New"/>
              </a:rPr>
              <a:t>u</a:t>
            </a:r>
            <a:r>
              <a:rPr sz="2400" spc="-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r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20" dirty="0">
                <a:latin typeface="Courier New"/>
                <a:cs typeface="Courier New"/>
              </a:rPr>
              <a:t>ting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f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 	</a:t>
            </a:r>
            <a:r>
              <a:rPr sz="2400" b="1" spc="-5" dirty="0">
                <a:latin typeface="Courier New"/>
                <a:cs typeface="Courier New"/>
              </a:rPr>
              <a:t>ris</a:t>
            </a:r>
            <a:r>
              <a:rPr sz="2400" b="1" dirty="0">
                <a:latin typeface="Courier New"/>
                <a:cs typeface="Courier New"/>
              </a:rPr>
              <a:t>k </a:t>
            </a:r>
            <a:r>
              <a:rPr sz="2400" b="1" spc="-5" dirty="0">
                <a:latin typeface="Courier New"/>
                <a:cs typeface="Courier New"/>
              </a:rPr>
              <a:t>manageme</a:t>
            </a:r>
            <a:r>
              <a:rPr sz="2400" b="1" spc="-25" dirty="0">
                <a:latin typeface="Courier New"/>
                <a:cs typeface="Courier New"/>
              </a:rPr>
              <a:t>n</a:t>
            </a:r>
            <a:r>
              <a:rPr sz="2400" b="1" dirty="0">
                <a:latin typeface="Courier New"/>
                <a:cs typeface="Courier New"/>
              </a:rPr>
              <a:t>t </a:t>
            </a:r>
            <a:r>
              <a:rPr sz="2400" spc="-25" dirty="0">
                <a:latin typeface="Courier New"/>
                <a:cs typeface="Courier New"/>
              </a:rPr>
              <a:t>w</a:t>
            </a:r>
            <a:r>
              <a:rPr sz="2400" spc="-5" dirty="0">
                <a:latin typeface="Courier New"/>
                <a:cs typeface="Courier New"/>
              </a:rPr>
              <a:t>er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l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3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s</a:t>
            </a:r>
            <a:r>
              <a:rPr sz="2400" spc="-145" dirty="0">
                <a:latin typeface="Courier New"/>
                <a:cs typeface="Courier New"/>
              </a:rPr>
              <a:t>h</a:t>
            </a:r>
            <a:r>
              <a:rPr sz="2400" spc="-5" dirty="0">
                <a:latin typeface="Courier New"/>
                <a:cs typeface="Courier New"/>
              </a:rPr>
              <a:t>owin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l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we</a:t>
            </a:r>
            <a:r>
              <a:rPr sz="2400" spc="-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m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u</a:t>
            </a:r>
            <a:r>
              <a:rPr sz="2400" spc="20" dirty="0">
                <a:latin typeface="Courier New"/>
                <a:cs typeface="Courier New"/>
              </a:rPr>
              <a:t>rit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f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 	</a:t>
            </a:r>
            <a:r>
              <a:rPr sz="2400" spc="-5" dirty="0">
                <a:latin typeface="Courier New"/>
                <a:cs typeface="Courier New"/>
              </a:rPr>
              <a:t>thi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57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k</a:t>
            </a:r>
            <a:r>
              <a:rPr sz="2400" spc="-75" dirty="0">
                <a:latin typeface="Courier New"/>
                <a:cs typeface="Courier New"/>
              </a:rPr>
              <a:t>n</a:t>
            </a:r>
            <a:r>
              <a:rPr sz="2400" spc="-25" dirty="0">
                <a:latin typeface="Courier New"/>
                <a:cs typeface="Courier New"/>
              </a:rPr>
              <a:t>ow</a:t>
            </a:r>
            <a:r>
              <a:rPr sz="2400" spc="-5" dirty="0">
                <a:latin typeface="Courier New"/>
                <a:cs typeface="Courier New"/>
              </a:rPr>
              <a:t>ledg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550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rea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57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75" dirty="0">
                <a:latin typeface="Courier New"/>
                <a:cs typeface="Courier New"/>
              </a:rPr>
              <a:t>f</a:t>
            </a:r>
            <a:r>
              <a:rPr sz="2400" spc="-25" dirty="0">
                <a:latin typeface="Courier New"/>
                <a:cs typeface="Courier New"/>
              </a:rPr>
              <a:t>te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55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ndu</a:t>
            </a:r>
            <a:r>
              <a:rPr sz="2400" spc="-5" dirty="0">
                <a:latin typeface="Courier New"/>
                <a:cs typeface="Courier New"/>
              </a:rPr>
              <a:t>ctin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5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spc="-145" dirty="0">
                <a:latin typeface="Courier New"/>
                <a:cs typeface="Courier New"/>
              </a:rPr>
              <a:t>s</a:t>
            </a:r>
            <a:r>
              <a:rPr sz="2400" spc="-75" dirty="0">
                <a:latin typeface="Courier New"/>
                <a:cs typeface="Courier New"/>
              </a:rPr>
              <a:t>u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v</a:t>
            </a:r>
            <a:r>
              <a:rPr sz="2400" spc="20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600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a</a:t>
            </a:r>
            <a:r>
              <a:rPr sz="2400" spc="20" dirty="0">
                <a:latin typeface="Courier New"/>
                <a:cs typeface="Courier New"/>
              </a:rPr>
              <a:t>cros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6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38 	</a:t>
            </a:r>
            <a:r>
              <a:rPr sz="2400" spc="-5" dirty="0">
                <a:latin typeface="Courier New"/>
                <a:cs typeface="Courier New"/>
              </a:rPr>
              <a:t>organization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n</a:t>
            </a:r>
            <a:r>
              <a:rPr sz="2400" spc="-5" dirty="0">
                <a:latin typeface="Courier New"/>
                <a:cs typeface="Courier New"/>
              </a:rPr>
              <a:t>alyz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pro</a:t>
            </a:r>
            <a:r>
              <a:rPr sz="2400" spc="-25" dirty="0">
                <a:latin typeface="Courier New"/>
                <a:cs typeface="Courier New"/>
              </a:rPr>
              <a:t>j</a:t>
            </a:r>
            <a:r>
              <a:rPr sz="2400" spc="-5" dirty="0">
                <a:latin typeface="Courier New"/>
                <a:cs typeface="Courier New"/>
              </a:rPr>
              <a:t>ec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nagemen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maturit</a:t>
            </a:r>
            <a:r>
              <a:rPr sz="2400" spc="-25" dirty="0">
                <a:latin typeface="Courier New"/>
                <a:cs typeface="Courier New"/>
              </a:rPr>
              <a:t>y</a:t>
            </a:r>
            <a:r>
              <a:rPr sz="2400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KLCI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Research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Group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has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conducted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another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study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that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involves</a:t>
            </a:r>
            <a:endParaRPr sz="2400">
              <a:latin typeface="Courier New"/>
              <a:cs typeface="Courier New"/>
            </a:endParaRPr>
          </a:p>
          <a:p>
            <a:pPr marL="241300" marR="10795">
              <a:lnSpc>
                <a:spcPts val="4320"/>
              </a:lnSpc>
              <a:spcBef>
                <a:spcPts val="185"/>
              </a:spcBef>
            </a:pPr>
            <a:r>
              <a:rPr sz="2400" spc="-20" dirty="0">
                <a:latin typeface="Courier New"/>
                <a:cs typeface="Courier New"/>
              </a:rPr>
              <a:t>260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software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organizations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across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globe.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findings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study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identified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benefits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by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following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good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practices.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Risk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2037" y="3623055"/>
            <a:ext cx="3576954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5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Project</a:t>
            </a:r>
            <a:r>
              <a:rPr sz="1800" spc="-5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Management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Maturity by</a:t>
            </a:r>
            <a:r>
              <a:rPr sz="1800" spc="-5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Industry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Group</a:t>
            </a:r>
            <a:r>
              <a:rPr sz="1800" spc="-58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and </a:t>
            </a:r>
            <a:r>
              <a:rPr sz="1800" spc="-10" dirty="0">
                <a:latin typeface="Courier New"/>
                <a:cs typeface="Courier New"/>
              </a:rPr>
              <a:t>Knowledge</a:t>
            </a:r>
            <a:r>
              <a:rPr sz="1800" spc="-505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Area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517903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Risk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45565" y="3406372"/>
            <a:ext cx="3503929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sz="1800" spc="-10" dirty="0">
                <a:latin typeface="Courier New"/>
                <a:cs typeface="Courier New"/>
              </a:rPr>
              <a:t>Benefits</a:t>
            </a:r>
            <a:r>
              <a:rPr sz="1800" spc="-5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from</a:t>
            </a:r>
            <a:r>
              <a:rPr sz="1800" spc="-5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Software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Risk</a:t>
            </a:r>
            <a:endParaRPr sz="1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urier New"/>
                <a:cs typeface="Courier New"/>
              </a:rPr>
              <a:t>Management</a:t>
            </a:r>
            <a:r>
              <a:rPr sz="1800" spc="-50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Practices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493519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Risk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91953" y="2459817"/>
            <a:ext cx="148018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545"/>
              </a:spcBef>
            </a:pP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has</a:t>
            </a:r>
            <a:endParaRPr sz="24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1966340"/>
            <a:ext cx="9421495" cy="216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latin typeface="Courier New"/>
                <a:cs typeface="Courier New"/>
              </a:rPr>
              <a:t>Risk</a:t>
            </a:r>
            <a:r>
              <a:rPr sz="2400" b="1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defined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“the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possibility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of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loss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injury.”</a:t>
            </a:r>
            <a:endParaRPr sz="2400">
              <a:latin typeface="Courier New"/>
              <a:cs typeface="Courier New"/>
            </a:endParaRPr>
          </a:p>
          <a:p>
            <a:pPr marL="240029" marR="3810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project</a:t>
            </a:r>
            <a:r>
              <a:rPr sz="2400" b="1" spc="20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risk</a:t>
            </a:r>
            <a:r>
              <a:rPr sz="2400" b="1" spc="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defined</a:t>
            </a:r>
            <a:r>
              <a:rPr sz="2400" spc="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“an</a:t>
            </a:r>
            <a:r>
              <a:rPr sz="2400" spc="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uncertainty 	</a:t>
            </a:r>
            <a:r>
              <a:rPr sz="2400" dirty="0">
                <a:latin typeface="Courier New"/>
                <a:cs typeface="Courier New"/>
              </a:rPr>
              <a:t>either</a:t>
            </a:r>
            <a:r>
              <a:rPr sz="2400" spc="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positive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negative</a:t>
            </a:r>
            <a:r>
              <a:rPr sz="2400" spc="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impact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meeting</a:t>
            </a:r>
            <a:r>
              <a:rPr sz="2400" spc="2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objectives.”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Risk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32812"/>
            <a:ext cx="93630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ourier New"/>
                <a:cs typeface="Courier New"/>
              </a:rPr>
              <a:t>Negative</a:t>
            </a:r>
            <a:r>
              <a:rPr sz="2200" b="1" spc="7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risks</a:t>
            </a:r>
            <a:r>
              <a:rPr sz="2200" b="1" spc="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</a:t>
            </a:r>
            <a:r>
              <a:rPr sz="2200" spc="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 recognizing</a:t>
            </a:r>
            <a:r>
              <a:rPr sz="2200" spc="-1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potential</a:t>
            </a:r>
            <a:r>
              <a:rPr sz="2200" spc="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problems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23017" y="1932812"/>
            <a:ext cx="134683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may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2270142"/>
            <a:ext cx="10894695" cy="403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algn="just">
              <a:lnSpc>
                <a:spcPct val="140000"/>
              </a:lnSpc>
              <a:spcBef>
                <a:spcPts val="95"/>
              </a:spcBef>
            </a:pPr>
            <a:r>
              <a:rPr sz="2200" spc="-5" dirty="0">
                <a:latin typeface="Courier New"/>
                <a:cs typeface="Courier New"/>
              </a:rPr>
              <a:t>effec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</a:t>
            </a:r>
            <a:r>
              <a:rPr sz="2200" spc="-55" dirty="0">
                <a:latin typeface="Courier New"/>
                <a:cs typeface="Courier New"/>
              </a:rPr>
              <a:t>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p</a:t>
            </a:r>
            <a:r>
              <a:rPr sz="2200" spc="-55" dirty="0">
                <a:latin typeface="Courier New"/>
                <a:cs typeface="Courier New"/>
              </a:rPr>
              <a:t>r</a:t>
            </a:r>
            <a:r>
              <a:rPr sz="2200" spc="-30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j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spc="-10" dirty="0">
                <a:latin typeface="Courier New"/>
                <a:cs typeface="Courier New"/>
              </a:rPr>
              <a:t>t</a:t>
            </a:r>
            <a:r>
              <a:rPr sz="2200" dirty="0">
                <a:latin typeface="Courier New"/>
                <a:cs typeface="Courier New"/>
              </a:rPr>
              <a:t>.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b="1" spc="-175" dirty="0">
                <a:latin typeface="Courier New"/>
                <a:cs typeface="Courier New"/>
              </a:rPr>
              <a:t>N</a:t>
            </a:r>
            <a:r>
              <a:rPr sz="2200" b="1" spc="-80" dirty="0">
                <a:latin typeface="Courier New"/>
                <a:cs typeface="Courier New"/>
              </a:rPr>
              <a:t>e</a:t>
            </a:r>
            <a:r>
              <a:rPr sz="2200" b="1" spc="-55" dirty="0">
                <a:latin typeface="Courier New"/>
                <a:cs typeface="Courier New"/>
              </a:rPr>
              <a:t>g</a:t>
            </a:r>
            <a:r>
              <a:rPr sz="2200" b="1" spc="-30" dirty="0">
                <a:latin typeface="Courier New"/>
                <a:cs typeface="Courier New"/>
              </a:rPr>
              <a:t>a</a:t>
            </a:r>
            <a:r>
              <a:rPr sz="2200" b="1" spc="-5" dirty="0">
                <a:latin typeface="Courier New"/>
                <a:cs typeface="Courier New"/>
              </a:rPr>
              <a:t>t</a:t>
            </a:r>
            <a:r>
              <a:rPr sz="2200" b="1" spc="-10" dirty="0">
                <a:latin typeface="Courier New"/>
                <a:cs typeface="Courier New"/>
              </a:rPr>
              <a:t>i</a:t>
            </a:r>
            <a:r>
              <a:rPr sz="2200" b="1" spc="-5" dirty="0">
                <a:latin typeface="Courier New"/>
                <a:cs typeface="Courier New"/>
              </a:rPr>
              <a:t>v</a:t>
            </a:r>
            <a:r>
              <a:rPr sz="2200" b="1" dirty="0">
                <a:latin typeface="Courier New"/>
                <a:cs typeface="Courier New"/>
              </a:rPr>
              <a:t>e</a:t>
            </a:r>
            <a:r>
              <a:rPr sz="2200" b="1" spc="-1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ris</a:t>
            </a:r>
            <a:r>
              <a:rPr sz="2200" b="1" dirty="0">
                <a:latin typeface="Courier New"/>
                <a:cs typeface="Courier New"/>
              </a:rPr>
              <a:t>k</a:t>
            </a:r>
            <a:r>
              <a:rPr sz="2200" b="1" spc="-10" dirty="0">
                <a:latin typeface="Courier New"/>
                <a:cs typeface="Courier New"/>
              </a:rPr>
              <a:t> </a:t>
            </a:r>
            <a:r>
              <a:rPr sz="2200" b="1" spc="15" dirty="0">
                <a:latin typeface="Courier New"/>
                <a:cs typeface="Courier New"/>
              </a:rPr>
              <a:t>m</a:t>
            </a:r>
            <a:r>
              <a:rPr sz="2200" b="1" spc="-5" dirty="0">
                <a:latin typeface="Courier New"/>
                <a:cs typeface="Courier New"/>
              </a:rPr>
              <a:t>a</a:t>
            </a:r>
            <a:r>
              <a:rPr sz="2200" b="1" spc="15" dirty="0">
                <a:latin typeface="Courier New"/>
                <a:cs typeface="Courier New"/>
              </a:rPr>
              <a:t>n</a:t>
            </a:r>
            <a:r>
              <a:rPr sz="2200" b="1" spc="-5" dirty="0">
                <a:latin typeface="Courier New"/>
                <a:cs typeface="Courier New"/>
              </a:rPr>
              <a:t>ag</a:t>
            </a:r>
            <a:r>
              <a:rPr sz="2200" b="1" spc="-10" dirty="0">
                <a:latin typeface="Courier New"/>
                <a:cs typeface="Courier New"/>
              </a:rPr>
              <a:t>e</a:t>
            </a:r>
            <a:r>
              <a:rPr sz="2200" b="1" spc="-5" dirty="0">
                <a:latin typeface="Courier New"/>
                <a:cs typeface="Courier New"/>
              </a:rPr>
              <a:t>me</a:t>
            </a:r>
            <a:r>
              <a:rPr sz="2200" b="1" spc="-10" dirty="0">
                <a:latin typeface="Courier New"/>
                <a:cs typeface="Courier New"/>
              </a:rPr>
              <a:t>n</a:t>
            </a:r>
            <a:r>
              <a:rPr sz="2200" b="1" dirty="0">
                <a:latin typeface="Courier New"/>
                <a:cs typeface="Courier New"/>
              </a:rPr>
              <a:t>t</a:t>
            </a:r>
            <a:r>
              <a:rPr sz="2200" b="1" spc="-31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r</a:t>
            </a:r>
            <a:r>
              <a:rPr sz="2200" spc="-5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f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</a:t>
            </a:r>
            <a:r>
              <a:rPr sz="2200" dirty="0">
                <a:latin typeface="Courier New"/>
                <a:cs typeface="Courier New"/>
              </a:rPr>
              <a:t>o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15" dirty="0">
                <a:latin typeface="Courier New"/>
                <a:cs typeface="Courier New"/>
              </a:rPr>
              <a:t>numbe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of </a:t>
            </a:r>
            <a:r>
              <a:rPr sz="2200" spc="-5" dirty="0">
                <a:latin typeface="Courier New"/>
                <a:cs typeface="Courier New"/>
              </a:rPr>
              <a:t>p</a:t>
            </a:r>
            <a:r>
              <a:rPr sz="2200" spc="-1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spc="-15" dirty="0">
                <a:latin typeface="Courier New"/>
                <a:cs typeface="Courier New"/>
              </a:rPr>
              <a:t>s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5" dirty="0">
                <a:latin typeface="Courier New"/>
                <a:cs typeface="Courier New"/>
              </a:rPr>
              <a:t>b</a:t>
            </a:r>
            <a:r>
              <a:rPr sz="2200" spc="15" dirty="0">
                <a:latin typeface="Courier New"/>
                <a:cs typeface="Courier New"/>
              </a:rPr>
              <a:t>l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7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a</a:t>
            </a:r>
            <a:r>
              <a:rPr sz="2200" spc="-60" dirty="0">
                <a:latin typeface="Courier New"/>
                <a:cs typeface="Courier New"/>
              </a:rPr>
              <a:t>c</a:t>
            </a:r>
            <a:r>
              <a:rPr sz="2200" spc="-35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35" dirty="0">
                <a:latin typeface="Courier New"/>
                <a:cs typeface="Courier New"/>
              </a:rPr>
              <a:t> </a:t>
            </a:r>
            <a:r>
              <a:rPr sz="2200" spc="-20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h</a:t>
            </a:r>
            <a:r>
              <a:rPr sz="2200" spc="-15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6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c</a:t>
            </a:r>
            <a:r>
              <a:rPr sz="2200" spc="-60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b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3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t</a:t>
            </a:r>
            <a:r>
              <a:rPr sz="2200" spc="-60" dirty="0">
                <a:latin typeface="Courier New"/>
                <a:cs typeface="Courier New"/>
              </a:rPr>
              <a:t>a</a:t>
            </a:r>
            <a:r>
              <a:rPr sz="2200" spc="-35" dirty="0">
                <a:latin typeface="Courier New"/>
                <a:cs typeface="Courier New"/>
              </a:rPr>
              <a:t>k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35" dirty="0">
                <a:latin typeface="Courier New"/>
                <a:cs typeface="Courier New"/>
              </a:rPr>
              <a:t> </a:t>
            </a:r>
            <a:r>
              <a:rPr sz="2200" spc="-200" dirty="0">
                <a:latin typeface="Courier New"/>
                <a:cs typeface="Courier New"/>
              </a:rPr>
              <a:t>b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6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P</a:t>
            </a:r>
            <a:r>
              <a:rPr sz="2200" spc="-60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5" dirty="0">
                <a:latin typeface="Courier New"/>
                <a:cs typeface="Courier New"/>
              </a:rPr>
              <a:t>j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-15" dirty="0">
                <a:latin typeface="Courier New"/>
                <a:cs typeface="Courier New"/>
              </a:rPr>
              <a:t>c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4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M</a:t>
            </a:r>
            <a:r>
              <a:rPr sz="2200" spc="-60" dirty="0">
                <a:latin typeface="Courier New"/>
                <a:cs typeface="Courier New"/>
              </a:rPr>
              <a:t>a</a:t>
            </a:r>
            <a:r>
              <a:rPr sz="2200" spc="-35" dirty="0">
                <a:latin typeface="Courier New"/>
                <a:cs typeface="Courier New"/>
              </a:rPr>
              <a:t>n</a:t>
            </a:r>
            <a:r>
              <a:rPr sz="2200" spc="15" dirty="0">
                <a:latin typeface="Courier New"/>
                <a:cs typeface="Courier New"/>
              </a:rPr>
              <a:t>ager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290" dirty="0">
                <a:latin typeface="Courier New"/>
                <a:cs typeface="Courier New"/>
              </a:rPr>
              <a:t> </a:t>
            </a:r>
            <a:r>
              <a:rPr sz="2200" spc="-155" dirty="0">
                <a:latin typeface="Courier New"/>
                <a:cs typeface="Courier New"/>
              </a:rPr>
              <a:t>t</a:t>
            </a:r>
            <a:r>
              <a:rPr sz="2200" dirty="0">
                <a:latin typeface="Courier New"/>
                <a:cs typeface="Courier New"/>
              </a:rPr>
              <a:t>o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a</a:t>
            </a:r>
            <a:r>
              <a:rPr sz="2200" spc="-35" dirty="0">
                <a:latin typeface="Courier New"/>
                <a:cs typeface="Courier New"/>
              </a:rPr>
              <a:t>v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15" dirty="0">
                <a:latin typeface="Courier New"/>
                <a:cs typeface="Courier New"/>
              </a:rPr>
              <a:t>d</a:t>
            </a:r>
            <a:r>
              <a:rPr sz="2200" dirty="0">
                <a:latin typeface="Courier New"/>
                <a:cs typeface="Courier New"/>
              </a:rPr>
              <a:t>, </a:t>
            </a:r>
            <a:r>
              <a:rPr sz="2200" spc="-10" dirty="0">
                <a:latin typeface="Courier New"/>
                <a:cs typeface="Courier New"/>
              </a:rPr>
              <a:t>change</a:t>
            </a:r>
            <a:r>
              <a:rPr sz="2200" dirty="0">
                <a:latin typeface="Courier New"/>
                <a:cs typeface="Courier New"/>
              </a:rPr>
              <a:t>,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reduce</a:t>
            </a:r>
            <a:r>
              <a:rPr sz="2200" dirty="0">
                <a:latin typeface="Courier New"/>
                <a:cs typeface="Courier New"/>
              </a:rPr>
              <a:t>,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accep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prospectiv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effect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f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risks</a:t>
            </a:r>
            <a:r>
              <a:rPr sz="2200" dirty="0">
                <a:latin typeface="Courier New"/>
                <a:cs typeface="Courier New"/>
              </a:rPr>
              <a:t>.</a:t>
            </a:r>
            <a:endParaRPr sz="2200">
              <a:latin typeface="Courier New"/>
              <a:cs typeface="Courier New"/>
            </a:endParaRPr>
          </a:p>
          <a:p>
            <a:pPr marL="241300" marR="50165" indent="-228600" algn="just">
              <a:lnSpc>
                <a:spcPct val="1401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Positive</a:t>
            </a:r>
            <a:r>
              <a:rPr sz="2200" b="1" spc="-260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risk</a:t>
            </a:r>
            <a:r>
              <a:rPr sz="2200" b="1" spc="-25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may</a:t>
            </a:r>
            <a:r>
              <a:rPr sz="2200" spc="-204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lead</a:t>
            </a:r>
            <a:r>
              <a:rPr sz="2200" spc="-28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28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more</a:t>
            </a:r>
            <a:r>
              <a:rPr sz="2200" spc="-27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opportunities.</a:t>
            </a:r>
            <a:r>
              <a:rPr sz="2200" spc="-250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Project</a:t>
            </a:r>
            <a:r>
              <a:rPr sz="2200" b="1" spc="-245" dirty="0">
                <a:latin typeface="Courier New"/>
                <a:cs typeface="Courier New"/>
              </a:rPr>
              <a:t>  </a:t>
            </a:r>
            <a:r>
              <a:rPr sz="2200" b="1" spc="-20" dirty="0">
                <a:latin typeface="Courier New"/>
                <a:cs typeface="Courier New"/>
              </a:rPr>
              <a:t>risk </a:t>
            </a:r>
            <a:r>
              <a:rPr sz="2200" b="1" dirty="0">
                <a:latin typeface="Courier New"/>
                <a:cs typeface="Courier New"/>
              </a:rPr>
              <a:t>management</a:t>
            </a:r>
            <a:r>
              <a:rPr sz="2200" b="1" spc="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investment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future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opportunities.</a:t>
            </a:r>
            <a:endParaRPr sz="2200">
              <a:latin typeface="Courier New"/>
              <a:cs typeface="Courier New"/>
            </a:endParaRPr>
          </a:p>
          <a:p>
            <a:pPr marL="241300" marR="9525" indent="-228600" algn="just">
              <a:lnSpc>
                <a:spcPct val="14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objective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risk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3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minimize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potential </a:t>
            </a:r>
            <a:r>
              <a:rPr sz="2200" dirty="0">
                <a:latin typeface="Courier New"/>
                <a:cs typeface="Courier New"/>
              </a:rPr>
              <a:t>effects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negative</a:t>
            </a:r>
            <a:r>
              <a:rPr sz="2200" spc="-1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risks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maximize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impact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prospective positive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risks.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Risk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101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Risk</a:t>
            </a:r>
            <a:r>
              <a:rPr b="1" spc="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utility</a:t>
            </a:r>
            <a:r>
              <a:rPr b="1" spc="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pc="-20" dirty="0">
                <a:solidFill>
                  <a:schemeClr val="bg1"/>
                </a:solidFill>
              </a:rPr>
              <a:t>refers</a:t>
            </a:r>
            <a:r>
              <a:rPr spc="-39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to</a:t>
            </a:r>
            <a:r>
              <a:rPr spc="-47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the</a:t>
            </a:r>
            <a:r>
              <a:rPr spc="-44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amount</a:t>
            </a:r>
            <a:r>
              <a:rPr spc="-395" dirty="0">
                <a:solidFill>
                  <a:schemeClr val="bg1"/>
                </a:solidFill>
              </a:rPr>
              <a:t> </a:t>
            </a:r>
            <a:r>
              <a:rPr spc="-110" dirty="0">
                <a:solidFill>
                  <a:schemeClr val="bg1"/>
                </a:solidFill>
              </a:rPr>
              <a:t>of</a:t>
            </a:r>
            <a:r>
              <a:rPr spc="-39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pleasure</a:t>
            </a:r>
            <a:r>
              <a:rPr spc="-415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or</a:t>
            </a:r>
            <a:r>
              <a:rPr spc="-434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satisfaction 	received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from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potential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reward.</a:t>
            </a:r>
          </a:p>
          <a:p>
            <a:pPr marL="240029" indent="-227329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40029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Utility</a:t>
            </a:r>
            <a:r>
              <a:rPr b="1" spc="-5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theory</a:t>
            </a:r>
            <a:r>
              <a:rPr b="1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of</a:t>
            </a:r>
            <a:r>
              <a:rPr b="1" spc="-20" dirty="0">
                <a:solidFill>
                  <a:schemeClr val="bg1"/>
                </a:solidFill>
                <a:latin typeface="Courier New"/>
                <a:cs typeface="Courier New"/>
              </a:rPr>
              <a:t> risk</a:t>
            </a: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b="1" spc="-10" dirty="0">
                <a:solidFill>
                  <a:schemeClr val="bg1"/>
                </a:solidFill>
                <a:latin typeface="Courier New"/>
                <a:cs typeface="Courier New"/>
              </a:rPr>
              <a:t>Risk-averse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b="1" dirty="0">
                <a:solidFill>
                  <a:schemeClr val="bg1"/>
                </a:solidFill>
                <a:latin typeface="Courier New"/>
                <a:cs typeface="Courier New"/>
              </a:rPr>
              <a:t>Risk</a:t>
            </a:r>
            <a:r>
              <a:rPr sz="2400" b="1" spc="-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Courier New"/>
                <a:cs typeface="Courier New"/>
              </a:rPr>
              <a:t>seeking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b="1" dirty="0">
                <a:solidFill>
                  <a:schemeClr val="bg1"/>
                </a:solidFill>
                <a:latin typeface="Courier New"/>
                <a:cs typeface="Courier New"/>
              </a:rPr>
              <a:t>Risk</a:t>
            </a:r>
            <a:r>
              <a:rPr sz="2400" b="1" spc="-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Courier New"/>
                <a:cs typeface="Courier New"/>
              </a:rPr>
              <a:t>neutral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Risk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925" y="3318997"/>
            <a:ext cx="3839210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sz="1800" spc="-10" dirty="0">
                <a:latin typeface="Courier New"/>
                <a:cs typeface="Courier New"/>
              </a:rPr>
              <a:t>Risk</a:t>
            </a:r>
            <a:r>
              <a:rPr sz="1800" spc="-5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Utility</a:t>
            </a:r>
            <a:r>
              <a:rPr sz="1800" spc="-5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Function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and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Risk</a:t>
            </a:r>
            <a:endParaRPr sz="1800">
              <a:latin typeface="Courier New"/>
              <a:cs typeface="Courier New"/>
            </a:endParaRPr>
          </a:p>
          <a:p>
            <a:pPr marL="2540"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urier New"/>
                <a:cs typeface="Courier New"/>
              </a:rPr>
              <a:t>Preference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557527"/>
            <a:ext cx="6995159" cy="43494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Risk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99285"/>
            <a:ext cx="6153150" cy="3997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Courier New"/>
                <a:cs typeface="Courier New"/>
              </a:rPr>
              <a:t>Processes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Project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Risk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Management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5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Planning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risk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Identifying</a:t>
            </a:r>
            <a:r>
              <a:rPr sz="2000" spc="-484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risks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Performing</a:t>
            </a:r>
            <a:r>
              <a:rPr sz="2000" spc="-5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qualitative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analysis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Performing</a:t>
            </a:r>
            <a:r>
              <a:rPr sz="2000" spc="-4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quantitative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analysis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Planning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risk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responses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Implementing</a:t>
            </a:r>
            <a:r>
              <a:rPr sz="2000" spc="-5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responses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Monitoring</a:t>
            </a:r>
            <a:r>
              <a:rPr sz="2000" spc="-4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Risk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412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397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Planning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risk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process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produces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risk</a:t>
            </a:r>
            <a:r>
              <a:rPr sz="2400" b="1" spc="-1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management 	</a:t>
            </a:r>
            <a:r>
              <a:rPr sz="2400" b="1" dirty="0">
                <a:latin typeface="Courier New"/>
                <a:cs typeface="Courier New"/>
              </a:rPr>
              <a:t>plan</a:t>
            </a:r>
            <a:r>
              <a:rPr sz="2400" b="1" spc="-2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describes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procedures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3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risk</a:t>
            </a:r>
            <a:r>
              <a:rPr sz="2400" spc="-29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management 	throughout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life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cycle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team</a:t>
            </a:r>
            <a:r>
              <a:rPr sz="2400" spc="-2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should</a:t>
            </a:r>
            <a:r>
              <a:rPr sz="2400" spc="-3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evaluate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documents</a:t>
            </a:r>
            <a:r>
              <a:rPr sz="2400" spc="-26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stakeholders’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approaches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risk.</a:t>
            </a:r>
            <a:endParaRPr sz="2400">
              <a:latin typeface="Courier New"/>
              <a:cs typeface="Courier New"/>
            </a:endParaRPr>
          </a:p>
          <a:p>
            <a:pPr marL="240029" marR="13335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risk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plan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allows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you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to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know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how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risk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 	will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applied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562707" y="1708966"/>
            <a:ext cx="4999893" cy="14914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Risk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8580" y="1801368"/>
            <a:ext cx="473011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8514" marR="5080" indent="-2076450">
              <a:lnSpc>
                <a:spcPct val="1501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Topics</a:t>
            </a:r>
            <a:r>
              <a:rPr sz="1800" spc="-5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addressed</a:t>
            </a:r>
            <a:r>
              <a:rPr sz="1800" spc="-555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in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</a:t>
            </a:r>
            <a:r>
              <a:rPr sz="1800" spc="-5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risk</a:t>
            </a:r>
            <a:r>
              <a:rPr sz="1800" spc="-5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management </a:t>
            </a:r>
            <a:r>
              <a:rPr sz="1800" spc="-20" dirty="0">
                <a:latin typeface="Courier New"/>
                <a:cs typeface="Courier New"/>
              </a:rPr>
              <a:t>plan</a:t>
            </a:r>
            <a:endParaRPr sz="1800" dirty="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815" y="1420367"/>
            <a:ext cx="5989320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Risk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1"/>
            <a:ext cx="10890885" cy="4403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Beside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management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plan,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also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includes:</a:t>
            </a:r>
            <a:endParaRPr sz="2000">
              <a:latin typeface="Courier New"/>
              <a:cs typeface="Courier New"/>
            </a:endParaRPr>
          </a:p>
          <a:p>
            <a:pPr marL="734695" lvl="1" indent="-265430" algn="just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4695" algn="l"/>
              </a:tabLst>
            </a:pPr>
            <a:r>
              <a:rPr sz="2000" b="1" dirty="0">
                <a:latin typeface="Courier New"/>
                <a:cs typeface="Courier New"/>
              </a:rPr>
              <a:t>Contingency</a:t>
            </a:r>
            <a:r>
              <a:rPr sz="2000" b="1" spc="-320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plans</a:t>
            </a:r>
            <a:r>
              <a:rPr sz="2000" b="1" spc="-32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describe</a:t>
            </a:r>
            <a:r>
              <a:rPr sz="2000" spc="-32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predefined</a:t>
            </a:r>
            <a:r>
              <a:rPr sz="2000" spc="3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activities</a:t>
            </a:r>
            <a:r>
              <a:rPr sz="2000" spc="-33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that</a:t>
            </a:r>
            <a:r>
              <a:rPr sz="2000" spc="-31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will</a:t>
            </a:r>
            <a:r>
              <a:rPr sz="2000" spc="-310" dirty="0">
                <a:latin typeface="Courier New"/>
                <a:cs typeface="Courier New"/>
              </a:rPr>
              <a:t>  </a:t>
            </a:r>
            <a:r>
              <a:rPr sz="2000" spc="-20" dirty="0">
                <a:latin typeface="Courier New"/>
                <a:cs typeface="Courier New"/>
              </a:rPr>
              <a:t>take</a:t>
            </a:r>
            <a:endParaRPr sz="2000">
              <a:latin typeface="Courier New"/>
              <a:cs typeface="Courier New"/>
            </a:endParaRPr>
          </a:p>
          <a:p>
            <a:pPr marL="737870" algn="just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effect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case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occurrence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identified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risk.</a:t>
            </a:r>
            <a:endParaRPr sz="2000">
              <a:latin typeface="Courier New"/>
              <a:cs typeface="Courier New"/>
            </a:endParaRPr>
          </a:p>
          <a:p>
            <a:pPr marL="734695" marR="6985" lvl="1" indent="-265430" algn="just">
              <a:lnSpc>
                <a:spcPct val="130100"/>
              </a:lnSpc>
              <a:spcBef>
                <a:spcPts val="101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b="1" dirty="0">
                <a:latin typeface="Courier New"/>
                <a:cs typeface="Courier New"/>
              </a:rPr>
              <a:t>Fallback</a:t>
            </a:r>
            <a:r>
              <a:rPr sz="2000" b="1" spc="-10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plans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described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for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high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impact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risks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and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take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effect</a:t>
            </a:r>
            <a:r>
              <a:rPr sz="2000" spc="-204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if 	</a:t>
            </a:r>
            <a:r>
              <a:rPr sz="2000" spc="-20" dirty="0">
                <a:latin typeface="Courier New"/>
                <a:cs typeface="Courier New"/>
              </a:rPr>
              <a:t>efforts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on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reducing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risks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do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not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work.</a:t>
            </a:r>
            <a:endParaRPr sz="2000">
              <a:latin typeface="Courier New"/>
              <a:cs typeface="Courier New"/>
            </a:endParaRPr>
          </a:p>
          <a:p>
            <a:pPr marL="734695" marR="5080" lvl="1" indent="-265430" algn="just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b="1" dirty="0">
                <a:latin typeface="Courier New"/>
                <a:cs typeface="Courier New"/>
              </a:rPr>
              <a:t>Contingency</a:t>
            </a:r>
            <a:r>
              <a:rPr sz="2000" b="1" spc="-1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reserves</a:t>
            </a:r>
            <a:r>
              <a:rPr sz="2000" b="1" spc="-1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(allowances)</a:t>
            </a:r>
            <a:r>
              <a:rPr sz="2000" b="1" spc="-1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-1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included</a:t>
            </a:r>
            <a:r>
              <a:rPr sz="2000" spc="-1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1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1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cost</a:t>
            </a:r>
            <a:r>
              <a:rPr sz="2000" spc="-1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baseline 	</a:t>
            </a:r>
            <a:r>
              <a:rPr sz="2000" dirty="0">
                <a:latin typeface="Courier New"/>
                <a:cs typeface="Courier New"/>
              </a:rPr>
              <a:t>that</a:t>
            </a:r>
            <a:r>
              <a:rPr sz="2000" spc="-1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can</a:t>
            </a:r>
            <a:r>
              <a:rPr sz="2000" spc="-1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be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utilized</a:t>
            </a:r>
            <a:r>
              <a:rPr sz="2000" spc="-2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1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lessen</a:t>
            </a:r>
            <a:r>
              <a:rPr sz="2000" spc="-1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cost</a:t>
            </a:r>
            <a:r>
              <a:rPr sz="2000" spc="-1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or</a:t>
            </a:r>
            <a:r>
              <a:rPr sz="2000" spc="-20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schedule</a:t>
            </a:r>
            <a:r>
              <a:rPr sz="2000" spc="-1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overruns</a:t>
            </a:r>
            <a:r>
              <a:rPr sz="2000" spc="-1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1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case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any 	</a:t>
            </a:r>
            <a:r>
              <a:rPr sz="2000" spc="-20" dirty="0">
                <a:latin typeface="Courier New"/>
                <a:cs typeface="Courier New"/>
              </a:rPr>
              <a:t>known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occurs.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.</a:t>
            </a:r>
            <a:endParaRPr sz="2000">
              <a:latin typeface="Courier New"/>
              <a:cs typeface="Courier New"/>
            </a:endParaRPr>
          </a:p>
          <a:p>
            <a:pPr marL="734695" lvl="1" indent="-265430" algn="just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4695" algn="l"/>
              </a:tabLst>
            </a:pPr>
            <a:r>
              <a:rPr sz="2000" b="1" dirty="0">
                <a:latin typeface="Courier New"/>
                <a:cs typeface="Courier New"/>
              </a:rPr>
              <a:t>Management</a:t>
            </a:r>
            <a:r>
              <a:rPr sz="2000" b="1" spc="-1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reserves</a:t>
            </a:r>
            <a:r>
              <a:rPr sz="2000" b="1" spc="-1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used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for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management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control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purposes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18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case</a:t>
            </a:r>
            <a:endParaRPr sz="2000">
              <a:latin typeface="Courier New"/>
              <a:cs typeface="Courier New"/>
            </a:endParaRPr>
          </a:p>
          <a:p>
            <a:pPr marL="737870" algn="just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any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unknown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occurs.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Common</a:t>
            </a:r>
            <a:r>
              <a:rPr spc="-1230" dirty="0"/>
              <a:t> </a:t>
            </a:r>
            <a:r>
              <a:rPr spc="-10" dirty="0"/>
              <a:t>Sources</a:t>
            </a:r>
            <a:r>
              <a:rPr spc="-126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Risks</a:t>
            </a:r>
            <a:r>
              <a:rPr spc="-1290" dirty="0"/>
              <a:t> </a:t>
            </a:r>
            <a:r>
              <a:rPr spc="-10" dirty="0"/>
              <a:t>on</a:t>
            </a:r>
            <a:r>
              <a:rPr spc="-1275" dirty="0"/>
              <a:t> </a:t>
            </a:r>
            <a:r>
              <a:rPr spc="-25" dirty="0"/>
              <a:t>IT </a:t>
            </a:r>
            <a:r>
              <a:rPr spc="-10" dirty="0"/>
              <a:t>Projects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147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45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number</a:t>
            </a:r>
            <a:r>
              <a:rPr spc="-434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of</a:t>
            </a:r>
            <a:r>
              <a:rPr spc="-51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studies</a:t>
            </a:r>
            <a:r>
              <a:rPr spc="-434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have</a:t>
            </a:r>
            <a:r>
              <a:rPr spc="-47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found</a:t>
            </a:r>
            <a:r>
              <a:rPr spc="-459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that</a:t>
            </a:r>
            <a:r>
              <a:rPr spc="-6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IT</a:t>
            </a:r>
            <a:r>
              <a:rPr spc="-44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projects</a:t>
            </a:r>
            <a:r>
              <a:rPr spc="-434" dirty="0">
                <a:solidFill>
                  <a:schemeClr val="bg1"/>
                </a:solidFill>
              </a:rPr>
              <a:t> </a:t>
            </a:r>
            <a:r>
              <a:rPr spc="-65" dirty="0">
                <a:solidFill>
                  <a:schemeClr val="bg1"/>
                </a:solidFill>
              </a:rPr>
              <a:t>are</a:t>
            </a:r>
            <a:r>
              <a:rPr spc="-4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affected</a:t>
            </a:r>
            <a:r>
              <a:rPr spc="-375" dirty="0">
                <a:solidFill>
                  <a:schemeClr val="bg1"/>
                </a:solidFill>
              </a:rPr>
              <a:t> </a:t>
            </a:r>
            <a:r>
              <a:rPr spc="-25">
                <a:solidFill>
                  <a:schemeClr val="bg1"/>
                </a:solidFill>
              </a:rPr>
              <a:t>by </a:t>
            </a:r>
            <a:r>
              <a:rPr spc="-10" smtClean="0">
                <a:solidFill>
                  <a:schemeClr val="bg1"/>
                </a:solidFill>
              </a:rPr>
              <a:t>some</a:t>
            </a:r>
            <a:r>
              <a:rPr spc="-700" smtClean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common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sources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risk.</a:t>
            </a: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solidFill>
                  <a:schemeClr val="bg1"/>
                </a:solidFill>
              </a:rPr>
              <a:t>IT</a:t>
            </a:r>
            <a:r>
              <a:rPr spc="-405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success</a:t>
            </a:r>
            <a:r>
              <a:rPr spc="-42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potential</a:t>
            </a:r>
            <a:r>
              <a:rPr spc="-41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scoring</a:t>
            </a:r>
            <a:r>
              <a:rPr spc="-40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sheet</a:t>
            </a:r>
            <a:r>
              <a:rPr spc="-6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based</a:t>
            </a:r>
            <a:r>
              <a:rPr spc="-39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on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potential</a:t>
            </a:r>
            <a:r>
              <a:rPr spc="-345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risks</a:t>
            </a:r>
            <a:r>
              <a:rPr spc="-38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is 	</a:t>
            </a:r>
            <a:r>
              <a:rPr spc="-10" dirty="0">
                <a:solidFill>
                  <a:schemeClr val="bg1"/>
                </a:solidFill>
              </a:rPr>
              <a:t>developed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by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Standish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Group.</a:t>
            </a:r>
          </a:p>
          <a:p>
            <a:pPr marL="240029" marR="5080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Broad</a:t>
            </a:r>
            <a:r>
              <a:rPr spc="3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categories</a:t>
            </a:r>
            <a:r>
              <a:rPr spc="5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2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risks</a:t>
            </a:r>
            <a:r>
              <a:rPr spc="3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may</a:t>
            </a:r>
            <a:r>
              <a:rPr spc="3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</a:t>
            </a:r>
            <a:r>
              <a:rPr spc="4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identified</a:t>
            </a:r>
            <a:r>
              <a:rPr spc="4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by</a:t>
            </a:r>
            <a:r>
              <a:rPr spc="3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different 	organizations</a:t>
            </a:r>
            <a:r>
              <a:rPr spc="-7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according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to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their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own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needs.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Common</a:t>
            </a:r>
            <a:r>
              <a:rPr spc="-1230" dirty="0"/>
              <a:t> </a:t>
            </a:r>
            <a:r>
              <a:rPr spc="-10" dirty="0"/>
              <a:t>Sources</a:t>
            </a:r>
            <a:r>
              <a:rPr spc="-126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Risks</a:t>
            </a:r>
            <a:r>
              <a:rPr spc="-1290" dirty="0"/>
              <a:t> </a:t>
            </a:r>
            <a:r>
              <a:rPr spc="-10" dirty="0"/>
              <a:t>on</a:t>
            </a:r>
            <a:r>
              <a:rPr spc="-1275" dirty="0"/>
              <a:t> </a:t>
            </a:r>
            <a:r>
              <a:rPr spc="-25" dirty="0"/>
              <a:t>IT </a:t>
            </a:r>
            <a:r>
              <a:rPr spc="-10" dirty="0"/>
              <a:t>Projects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6711315" cy="376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Broad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categories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may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include: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Market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risk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Financial</a:t>
            </a:r>
            <a:r>
              <a:rPr sz="2400" spc="-67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risk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Technology</a:t>
            </a:r>
            <a:r>
              <a:rPr sz="2400" spc="-6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risk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People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risk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Structure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/process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risk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Common</a:t>
            </a:r>
            <a:r>
              <a:rPr spc="-1230" dirty="0"/>
              <a:t> </a:t>
            </a:r>
            <a:r>
              <a:rPr spc="-10" dirty="0"/>
              <a:t>Sources</a:t>
            </a:r>
            <a:r>
              <a:rPr spc="-126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Risks</a:t>
            </a:r>
            <a:r>
              <a:rPr spc="-1290" dirty="0"/>
              <a:t> </a:t>
            </a:r>
            <a:r>
              <a:rPr spc="-10" dirty="0"/>
              <a:t>on</a:t>
            </a:r>
            <a:r>
              <a:rPr spc="-1275" dirty="0"/>
              <a:t> </a:t>
            </a:r>
            <a:r>
              <a:rPr spc="-25" dirty="0"/>
              <a:t>IT </a:t>
            </a:r>
            <a:r>
              <a:rPr spc="-10" dirty="0"/>
              <a:t>Projects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041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Risk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Breakdown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Structure</a:t>
            </a:r>
            <a:r>
              <a:rPr sz="2400" b="1" spc="-27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tool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is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used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by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Managers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dirty="0">
                <a:latin typeface="Courier New"/>
                <a:cs typeface="Courier New"/>
              </a:rPr>
              <a:t>categorize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risks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project.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similar</a:t>
            </a:r>
            <a:r>
              <a:rPr sz="2400" spc="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WBS</a:t>
            </a:r>
            <a:r>
              <a:rPr sz="2400" spc="1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but 	</a:t>
            </a:r>
            <a:r>
              <a:rPr sz="2400" spc="-10" dirty="0">
                <a:latin typeface="Courier New"/>
                <a:cs typeface="Courier New"/>
              </a:rPr>
              <a:t>identifies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categorizes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Common</a:t>
            </a:r>
            <a:r>
              <a:rPr spc="-1230" dirty="0"/>
              <a:t> </a:t>
            </a:r>
            <a:r>
              <a:rPr spc="-10" dirty="0"/>
              <a:t>Sources</a:t>
            </a:r>
            <a:r>
              <a:rPr spc="-126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Risks</a:t>
            </a:r>
            <a:r>
              <a:rPr spc="-1290" dirty="0"/>
              <a:t> </a:t>
            </a:r>
            <a:r>
              <a:rPr spc="-10" dirty="0"/>
              <a:t>on</a:t>
            </a:r>
            <a:r>
              <a:rPr spc="-1275" dirty="0"/>
              <a:t> </a:t>
            </a:r>
            <a:r>
              <a:rPr spc="-25" dirty="0"/>
              <a:t>IT </a:t>
            </a:r>
            <a:r>
              <a:rPr spc="-10" dirty="0"/>
              <a:t>Projects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21130" y="3406372"/>
            <a:ext cx="2757170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sz="1800" spc="-10" dirty="0">
                <a:latin typeface="Courier New"/>
                <a:cs typeface="Courier New"/>
              </a:rPr>
              <a:t>Sample</a:t>
            </a:r>
            <a:r>
              <a:rPr sz="1800" spc="-509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Risk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Breakdown</a:t>
            </a:r>
            <a:endParaRPr sz="1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urier New"/>
                <a:cs typeface="Courier New"/>
              </a:rPr>
              <a:t>Structure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7928" y="1517903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524" y="390601"/>
            <a:ext cx="8059420" cy="11855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Common</a:t>
            </a:r>
            <a:r>
              <a:rPr spc="-1230" dirty="0"/>
              <a:t> </a:t>
            </a:r>
            <a:r>
              <a:rPr spc="-10" dirty="0"/>
              <a:t>Sources</a:t>
            </a:r>
            <a:r>
              <a:rPr spc="-126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Risks</a:t>
            </a:r>
            <a:r>
              <a:rPr spc="-1290" dirty="0"/>
              <a:t> </a:t>
            </a:r>
            <a:r>
              <a:rPr spc="-10" dirty="0"/>
              <a:t>on</a:t>
            </a:r>
            <a:r>
              <a:rPr spc="-1275" dirty="0"/>
              <a:t> </a:t>
            </a:r>
            <a:r>
              <a:rPr spc="-25" dirty="0"/>
              <a:t>IT </a:t>
            </a:r>
            <a:r>
              <a:rPr spc="-10" dirty="0"/>
              <a:t>Projects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9164" y="1568530"/>
            <a:ext cx="4521835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185"/>
              </a:spcBef>
            </a:pPr>
            <a:r>
              <a:rPr sz="1800" spc="-10" dirty="0">
                <a:latin typeface="Courier New"/>
                <a:cs typeface="Courier New"/>
              </a:rPr>
              <a:t>Potential</a:t>
            </a:r>
            <a:r>
              <a:rPr sz="1800" spc="-5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Negative</a:t>
            </a:r>
            <a:r>
              <a:rPr sz="1800" spc="-5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Risk</a:t>
            </a:r>
            <a:r>
              <a:rPr sz="1800" spc="-5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Conditions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urier New"/>
                <a:cs typeface="Courier New"/>
              </a:rPr>
              <a:t>Associated</a:t>
            </a:r>
            <a:r>
              <a:rPr sz="1800" spc="-5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with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Each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Knowledge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Area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815" y="1420367"/>
            <a:ext cx="5989320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Identifying</a:t>
            </a:r>
            <a:r>
              <a:rPr spc="-1235" dirty="0"/>
              <a:t> </a:t>
            </a:r>
            <a:r>
              <a:rPr spc="-10" dirty="0"/>
              <a:t>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9" y="1813138"/>
            <a:ext cx="11760835" cy="4636526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099820" indent="-22669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1099820" algn="l"/>
              </a:tabLst>
            </a:pP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27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process</a:t>
            </a:r>
            <a:r>
              <a:rPr sz="2000" spc="-310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Courier New"/>
                <a:cs typeface="Courier New"/>
              </a:rPr>
              <a:t>of</a:t>
            </a:r>
            <a:r>
              <a:rPr sz="2000" spc="-34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understanding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what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prospective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events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Courier New"/>
                <a:cs typeface="Courier New"/>
              </a:rPr>
              <a:t>may</a:t>
            </a:r>
            <a:r>
              <a:rPr sz="2000" spc="-295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hurt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or</a:t>
            </a:r>
            <a:r>
              <a:rPr sz="2000" spc="-20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enhance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a</a:t>
            </a:r>
            <a:endParaRPr sz="2000" dirty="0">
              <a:latin typeface="Courier New"/>
              <a:cs typeface="Courier New"/>
            </a:endParaRPr>
          </a:p>
          <a:p>
            <a:pPr marL="1101725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particular</a:t>
            </a:r>
            <a:r>
              <a:rPr sz="2000" spc="-4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project.</a:t>
            </a:r>
            <a:endParaRPr sz="2000" dirty="0">
              <a:latin typeface="Courier New"/>
              <a:cs typeface="Courier New"/>
            </a:endParaRPr>
          </a:p>
          <a:p>
            <a:pPr marL="1099820" indent="-226695">
              <a:lnSpc>
                <a:spcPct val="100000"/>
              </a:lnSpc>
              <a:spcBef>
                <a:spcPts val="1710"/>
              </a:spcBef>
              <a:buFont typeface="Arial MT"/>
              <a:buChar char="•"/>
              <a:tabLst>
                <a:tab pos="1099820" algn="l"/>
              </a:tabLst>
            </a:pP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Identification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tools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techniques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include:</a:t>
            </a:r>
            <a:endParaRPr sz="2000" dirty="0">
              <a:latin typeface="Courier New"/>
              <a:cs typeface="Courier New"/>
            </a:endParaRPr>
          </a:p>
          <a:p>
            <a:pPr marL="1598295" marR="13335" lvl="1" indent="-268605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b="1" spc="-10" dirty="0">
                <a:latin typeface="Courier New"/>
                <a:cs typeface="Courier New"/>
              </a:rPr>
              <a:t>Brainstorming</a:t>
            </a:r>
            <a:r>
              <a:rPr sz="2000" b="1" spc="-215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technique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is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used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to</a:t>
            </a:r>
            <a:r>
              <a:rPr sz="2000" spc="-29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generate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spontaneous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ideas</a:t>
            </a:r>
            <a:r>
              <a:rPr sz="2000" spc="-35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without </a:t>
            </a:r>
            <a:r>
              <a:rPr sz="2000" spc="-20" dirty="0">
                <a:latin typeface="Courier New"/>
                <a:cs typeface="Courier New"/>
              </a:rPr>
              <a:t>any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judgement.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experienced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facilitator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should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run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session.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b="1" dirty="0">
                <a:latin typeface="Courier New"/>
                <a:cs typeface="Courier New"/>
              </a:rPr>
              <a:t>Delphi</a:t>
            </a:r>
            <a:r>
              <a:rPr sz="2000" b="1" spc="30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technique</a:t>
            </a:r>
            <a:r>
              <a:rPr sz="2000" b="1" spc="-31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is</a:t>
            </a:r>
            <a:r>
              <a:rPr sz="2000" spc="-415" dirty="0">
                <a:latin typeface="Courier New"/>
                <a:cs typeface="Courier New"/>
              </a:rPr>
              <a:t> </a:t>
            </a:r>
            <a:r>
              <a:rPr sz="2000" spc="-70" dirty="0">
                <a:latin typeface="Courier New"/>
                <a:cs typeface="Courier New"/>
              </a:rPr>
              <a:t>used</a:t>
            </a:r>
            <a:r>
              <a:rPr sz="2000" spc="-30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to</a:t>
            </a:r>
            <a:r>
              <a:rPr sz="2000" spc="-41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reach</a:t>
            </a:r>
            <a:r>
              <a:rPr sz="2000" spc="-33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an</a:t>
            </a:r>
            <a:r>
              <a:rPr sz="2000" spc="-415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agreement</a:t>
            </a:r>
            <a:r>
              <a:rPr sz="2000" spc="-30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among</a:t>
            </a:r>
            <a:r>
              <a:rPr sz="2000" spc="-3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459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panel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of</a:t>
            </a:r>
            <a:r>
              <a:rPr sz="2000" spc="-3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experts</a:t>
            </a:r>
            <a:endParaRPr sz="20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who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predicts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future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developments.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710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b="1" spc="-20" dirty="0">
                <a:latin typeface="Courier New"/>
                <a:cs typeface="Courier New"/>
              </a:rPr>
              <a:t>Interviewing</a:t>
            </a:r>
            <a:r>
              <a:rPr sz="2000" b="1" spc="-395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technique</a:t>
            </a:r>
            <a:r>
              <a:rPr sz="2000" spc="-39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is</a:t>
            </a:r>
            <a:r>
              <a:rPr sz="2000" spc="-50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used</a:t>
            </a:r>
            <a:r>
              <a:rPr sz="2000" spc="-42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to</a:t>
            </a:r>
            <a:r>
              <a:rPr sz="2000" spc="-47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collect</a:t>
            </a:r>
            <a:r>
              <a:rPr sz="2000" spc="-42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information</a:t>
            </a:r>
            <a:r>
              <a:rPr sz="2000" spc="-38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in</a:t>
            </a:r>
            <a:r>
              <a:rPr sz="2000" spc="-50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virtual,</a:t>
            </a:r>
            <a:r>
              <a:rPr sz="2000" spc="-3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face-</a:t>
            </a:r>
            <a:endParaRPr sz="20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to-face,</a:t>
            </a:r>
            <a:r>
              <a:rPr sz="2000" spc="-5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e-</a:t>
            </a:r>
            <a:r>
              <a:rPr sz="2000" spc="-20" dirty="0">
                <a:latin typeface="Courier New"/>
                <a:cs typeface="Courier New"/>
              </a:rPr>
              <a:t>mail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or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phone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discussions.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b="1" dirty="0">
                <a:latin typeface="Courier New"/>
                <a:cs typeface="Courier New"/>
              </a:rPr>
              <a:t>SWOT</a:t>
            </a:r>
            <a:r>
              <a:rPr sz="2000" b="1" spc="-2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(strengths,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weaknesses,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opportunities,</a:t>
            </a:r>
            <a:r>
              <a:rPr sz="2000" spc="-204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threats)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analysis</a:t>
            </a:r>
            <a:r>
              <a:rPr sz="2000" spc="-1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can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25" dirty="0" smtClean="0">
                <a:latin typeface="Courier New"/>
                <a:cs typeface="Courier New"/>
              </a:rPr>
              <a:t>be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Identifying</a:t>
            </a:r>
            <a:r>
              <a:rPr spc="-1235" dirty="0"/>
              <a:t> </a:t>
            </a:r>
            <a:r>
              <a:rPr spc="-10" dirty="0"/>
              <a:t>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12475" cy="467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ourier New"/>
                <a:cs typeface="Courier New"/>
              </a:rPr>
              <a:t>Th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r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i</a:t>
            </a:r>
            <a:r>
              <a:rPr sz="2400" spc="-50" dirty="0">
                <a:latin typeface="Courier New"/>
                <a:cs typeface="Courier New"/>
              </a:rPr>
              <a:t>d</a:t>
            </a:r>
            <a:r>
              <a:rPr sz="2400" spc="-25" dirty="0">
                <a:latin typeface="Courier New"/>
                <a:cs typeface="Courier New"/>
              </a:rPr>
              <a:t>en</a:t>
            </a:r>
            <a:r>
              <a:rPr sz="2400" spc="-5" dirty="0">
                <a:latin typeface="Courier New"/>
                <a:cs typeface="Courier New"/>
              </a:rPr>
              <a:t>tif</a:t>
            </a:r>
            <a:r>
              <a:rPr sz="2400" spc="-25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catio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oce</a:t>
            </a:r>
            <a:r>
              <a:rPr sz="2400" spc="-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p</a:t>
            </a:r>
            <a:r>
              <a:rPr sz="2400" spc="-120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odu</a:t>
            </a:r>
            <a:r>
              <a:rPr sz="2400" spc="5" dirty="0">
                <a:latin typeface="Courier New"/>
                <a:cs typeface="Courier New"/>
              </a:rPr>
              <a:t>c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84" dirty="0">
                <a:latin typeface="Courier New"/>
                <a:cs typeface="Courier New"/>
              </a:rPr>
              <a:t> </a:t>
            </a:r>
            <a:r>
              <a:rPr sz="2400" spc="-145" dirty="0">
                <a:latin typeface="Courier New"/>
                <a:cs typeface="Courier New"/>
              </a:rPr>
              <a:t>l</a:t>
            </a:r>
            <a:r>
              <a:rPr sz="2400" spc="-75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i</a:t>
            </a:r>
            <a:r>
              <a:rPr sz="2400" spc="20" dirty="0">
                <a:latin typeface="Courier New"/>
                <a:cs typeface="Courier New"/>
              </a:rPr>
              <a:t>dentifie</a:t>
            </a:r>
            <a:r>
              <a:rPr sz="2400" dirty="0">
                <a:latin typeface="Courier New"/>
                <a:cs typeface="Courier New"/>
              </a:rPr>
              <a:t>d 	</a:t>
            </a:r>
            <a:r>
              <a:rPr sz="2400" spc="-5" dirty="0">
                <a:latin typeface="Courier New"/>
                <a:cs typeface="Courier New"/>
              </a:rPr>
              <a:t>risk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spc="-50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he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nformatio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m</a:t>
            </a:r>
            <a:r>
              <a:rPr sz="2400" spc="-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b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r</a:t>
            </a:r>
            <a:r>
              <a:rPr sz="2400" spc="-50" dirty="0">
                <a:latin typeface="Courier New"/>
                <a:cs typeface="Courier New"/>
              </a:rPr>
              <a:t>eq</a:t>
            </a:r>
            <a:r>
              <a:rPr sz="2400" spc="-25" dirty="0">
                <a:latin typeface="Courier New"/>
                <a:cs typeface="Courier New"/>
              </a:rPr>
              <a:t>u</a:t>
            </a:r>
            <a:r>
              <a:rPr sz="2400" spc="-5" dirty="0">
                <a:latin typeface="Courier New"/>
                <a:cs typeface="Courier New"/>
              </a:rPr>
              <a:t>ire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c</a:t>
            </a:r>
            <a:r>
              <a:rPr sz="2400" spc="-7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at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 	</a:t>
            </a:r>
            <a:r>
              <a:rPr sz="2400" spc="-5" dirty="0">
                <a:latin typeface="Courier New"/>
                <a:cs typeface="Courier New"/>
              </a:rPr>
              <a:t>ris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regist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r.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b="1" spc="-100" dirty="0">
                <a:latin typeface="Courier New"/>
                <a:cs typeface="Courier New"/>
              </a:rPr>
              <a:t>r</a:t>
            </a:r>
            <a:r>
              <a:rPr sz="2400" b="1" spc="-50" dirty="0">
                <a:latin typeface="Courier New"/>
                <a:cs typeface="Courier New"/>
              </a:rPr>
              <a:t>i</a:t>
            </a:r>
            <a:r>
              <a:rPr sz="2400" b="1" spc="-25" dirty="0">
                <a:latin typeface="Courier New"/>
                <a:cs typeface="Courier New"/>
              </a:rPr>
              <a:t>s</a:t>
            </a:r>
            <a:r>
              <a:rPr sz="2400" b="1" dirty="0">
                <a:latin typeface="Courier New"/>
                <a:cs typeface="Courier New"/>
              </a:rPr>
              <a:t>k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re</a:t>
            </a:r>
            <a:r>
              <a:rPr sz="2400" b="1" spc="-25" dirty="0">
                <a:latin typeface="Courier New"/>
                <a:cs typeface="Courier New"/>
              </a:rPr>
              <a:t>g</a:t>
            </a:r>
            <a:r>
              <a:rPr sz="2400" b="1" spc="-5" dirty="0">
                <a:latin typeface="Courier New"/>
                <a:cs typeface="Courier New"/>
              </a:rPr>
              <a:t>iste</a:t>
            </a:r>
            <a:r>
              <a:rPr sz="2400" b="1" dirty="0">
                <a:latin typeface="Courier New"/>
                <a:cs typeface="Courier New"/>
              </a:rPr>
              <a:t>r</a:t>
            </a:r>
            <a:r>
              <a:rPr sz="2400" b="1" spc="-455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efer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05" dirty="0">
                <a:latin typeface="Courier New"/>
                <a:cs typeface="Courier New"/>
              </a:rPr>
              <a:t> </a:t>
            </a:r>
            <a:r>
              <a:rPr sz="2400" spc="-145" dirty="0">
                <a:latin typeface="Courier New"/>
                <a:cs typeface="Courier New"/>
              </a:rPr>
              <a:t>d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cu</a:t>
            </a:r>
            <a:r>
              <a:rPr sz="2400" spc="-5" dirty="0">
                <a:latin typeface="Courier New"/>
                <a:cs typeface="Courier New"/>
              </a:rPr>
              <a:t>me</a:t>
            </a:r>
            <a:r>
              <a:rPr sz="2400" spc="-2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mp</a:t>
            </a:r>
            <a:r>
              <a:rPr sz="2400" spc="20" dirty="0">
                <a:latin typeface="Courier New"/>
                <a:cs typeface="Courier New"/>
              </a:rPr>
              <a:t>rise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00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u</a:t>
            </a:r>
            <a:r>
              <a:rPr sz="2400" spc="-5" dirty="0">
                <a:latin typeface="Courier New"/>
                <a:cs typeface="Courier New"/>
              </a:rPr>
              <a:t>tp</a:t>
            </a:r>
            <a:r>
              <a:rPr sz="2400" spc="20" dirty="0">
                <a:latin typeface="Courier New"/>
                <a:cs typeface="Courier New"/>
              </a:rPr>
              <a:t>ut</a:t>
            </a:r>
            <a:r>
              <a:rPr sz="2400" dirty="0">
                <a:latin typeface="Courier New"/>
                <a:cs typeface="Courier New"/>
              </a:rPr>
              <a:t>s 	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n</a:t>
            </a:r>
            <a:r>
              <a:rPr sz="2400" spc="-75" dirty="0">
                <a:latin typeface="Courier New"/>
                <a:cs typeface="Courier New"/>
              </a:rPr>
              <a:t>u</a:t>
            </a:r>
            <a:r>
              <a:rPr sz="2400" spc="-25" dirty="0">
                <a:latin typeface="Courier New"/>
                <a:cs typeface="Courier New"/>
              </a:rPr>
              <a:t>mb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r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spc="-7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m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na</a:t>
            </a:r>
            <a:r>
              <a:rPr sz="2400" spc="-5" dirty="0">
                <a:latin typeface="Courier New"/>
                <a:cs typeface="Courier New"/>
              </a:rPr>
              <a:t>gemen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0" dirty="0">
                <a:latin typeface="Courier New"/>
                <a:cs typeface="Courier New"/>
              </a:rPr>
              <a:t>c</a:t>
            </a:r>
            <a:r>
              <a:rPr sz="2400" spc="-5" dirty="0">
                <a:latin typeface="Courier New"/>
                <a:cs typeface="Courier New"/>
              </a:rPr>
              <a:t>esse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o</a:t>
            </a: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spc="-25" dirty="0">
                <a:latin typeface="Courier New"/>
                <a:cs typeface="Courier New"/>
              </a:rPr>
              <a:t>te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195" dirty="0">
                <a:latin typeface="Courier New"/>
                <a:cs typeface="Courier New"/>
              </a:rPr>
              <a:t> s</a:t>
            </a:r>
            <a:r>
              <a:rPr sz="2400" spc="20" dirty="0">
                <a:latin typeface="Courier New"/>
                <a:cs typeface="Courier New"/>
              </a:rPr>
              <a:t>how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 	</a:t>
            </a:r>
            <a:r>
              <a:rPr sz="2400" spc="-5" dirty="0">
                <a:latin typeface="Courier New"/>
                <a:cs typeface="Courier New"/>
              </a:rPr>
              <a:t>tabula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spreads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eet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fo</a:t>
            </a:r>
            <a:r>
              <a:rPr sz="2400" spc="-30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mat</a:t>
            </a:r>
            <a:r>
              <a:rPr sz="2400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240029" marR="17145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Risk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events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those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specific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uncertain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events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that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may 	</a:t>
            </a:r>
            <a:r>
              <a:rPr sz="2400" spc="-10" dirty="0">
                <a:latin typeface="Courier New"/>
                <a:cs typeface="Courier New"/>
              </a:rPr>
              <a:t>occur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damage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improve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Identifying</a:t>
            </a:r>
            <a:r>
              <a:rPr spc="-1235" dirty="0"/>
              <a:t> </a:t>
            </a:r>
            <a:r>
              <a:rPr spc="-10" dirty="0"/>
              <a:t>Risks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8886" y="3289405"/>
            <a:ext cx="1945639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95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Risk </a:t>
            </a:r>
            <a:r>
              <a:rPr sz="2400" spc="-10" dirty="0">
                <a:latin typeface="Courier New"/>
                <a:cs typeface="Courier New"/>
              </a:rPr>
              <a:t>Register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6071" y="2093976"/>
            <a:ext cx="7363968" cy="30571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Identifying</a:t>
            </a:r>
            <a:r>
              <a:rPr spc="-1235" dirty="0"/>
              <a:t> </a:t>
            </a:r>
            <a:r>
              <a:rPr spc="-10" dirty="0"/>
              <a:t>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068560" cy="309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ourier New"/>
                <a:cs typeface="Courier New"/>
              </a:rPr>
              <a:t>Risk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report</a:t>
            </a:r>
            <a:r>
              <a:rPr sz="2400" b="1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also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created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once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identified.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report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Sources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overall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Important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drivers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5" dirty="0">
                <a:latin typeface="Courier New"/>
                <a:cs typeface="Courier New"/>
              </a:rPr>
              <a:t>of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overall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exposure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Summary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events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Qualitative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7235" cy="370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In</a:t>
            </a:r>
            <a:r>
              <a:rPr sz="2400" b="1" spc="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Qualitative</a:t>
            </a:r>
            <a:r>
              <a:rPr sz="2400" b="1" spc="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risk</a:t>
            </a:r>
            <a:r>
              <a:rPr sz="2400" b="1" spc="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analysis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likelihood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impact</a:t>
            </a:r>
            <a:r>
              <a:rPr sz="2400" spc="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85" dirty="0">
                <a:latin typeface="Courier New"/>
                <a:cs typeface="Courier New"/>
              </a:rPr>
              <a:t>the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identified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risks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are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analyzed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595" dirty="0">
                <a:latin typeface="Courier New"/>
                <a:cs typeface="Courier New"/>
              </a:rPr>
              <a:t>to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determine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their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magnitude 	and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priority.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Qualitative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analysis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can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performed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using: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Probability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770" dirty="0">
                <a:latin typeface="Courier New"/>
                <a:cs typeface="Courier New"/>
              </a:rPr>
              <a:t>/</a:t>
            </a:r>
            <a:r>
              <a:rPr sz="2400" spc="-5" dirty="0">
                <a:latin typeface="Courier New"/>
                <a:cs typeface="Courier New"/>
              </a:rPr>
              <a:t>Impac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Matrixes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Calculate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Factors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Top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Item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Tracking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Qualitative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57197"/>
            <a:ext cx="844359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ourier New"/>
                <a:cs typeface="Courier New"/>
              </a:rPr>
              <a:t>Probability</a:t>
            </a:r>
            <a:r>
              <a:rPr sz="2200" b="1" spc="-125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/</a:t>
            </a:r>
            <a:r>
              <a:rPr sz="2200" b="1" spc="-140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impact</a:t>
            </a:r>
            <a:r>
              <a:rPr sz="2200" b="1" spc="-135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matrix</a:t>
            </a:r>
            <a:r>
              <a:rPr sz="2200" b="1" spc="-1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-145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chart</a:t>
            </a:r>
            <a:r>
              <a:rPr sz="2200" b="1" spc="-150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depicts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00056" y="1790395"/>
            <a:ext cx="2167255" cy="103251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95" dirty="0">
                <a:latin typeface="Courier New"/>
                <a:cs typeface="Courier New"/>
              </a:rPr>
              <a:t>  </a:t>
            </a:r>
            <a:r>
              <a:rPr sz="2200" spc="-20" dirty="0">
                <a:latin typeface="Courier New"/>
                <a:cs typeface="Courier New"/>
              </a:rPr>
              <a:t>relative</a:t>
            </a:r>
            <a:endParaRPr sz="22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25"/>
              </a:spcBef>
            </a:pPr>
            <a:r>
              <a:rPr sz="2200" spc="-10" dirty="0">
                <a:latin typeface="Courier New"/>
                <a:cs typeface="Courier New"/>
              </a:rPr>
              <a:t>relative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0124" y="2293823"/>
            <a:ext cx="9129395" cy="1031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sz="2200" dirty="0">
                <a:latin typeface="Courier New"/>
                <a:cs typeface="Courier New"/>
              </a:rPr>
              <a:t>probability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risk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occurrence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along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one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axis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impact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occurrence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along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other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axis.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3424946"/>
            <a:ext cx="10895965" cy="317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stakeholders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will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list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potential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risks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and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then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label</a:t>
            </a:r>
            <a:r>
              <a:rPr sz="2200" spc="-2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them </a:t>
            </a:r>
            <a:r>
              <a:rPr sz="2200" dirty="0">
                <a:latin typeface="Courier New"/>
                <a:cs typeface="Courier New"/>
              </a:rPr>
              <a:t>as</a:t>
            </a:r>
            <a:r>
              <a:rPr sz="2200" spc="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high,</a:t>
            </a:r>
            <a:r>
              <a:rPr sz="2200" spc="3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medium,</a:t>
            </a:r>
            <a:r>
              <a:rPr sz="2200" spc="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3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low</a:t>
            </a:r>
            <a:r>
              <a:rPr sz="2200" spc="2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probability</a:t>
            </a:r>
            <a:r>
              <a:rPr sz="2200" spc="4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occurrence</a:t>
            </a:r>
            <a:r>
              <a:rPr sz="2200" spc="3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3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2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high, medium,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low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impact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if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occurs.</a:t>
            </a:r>
            <a:endParaRPr sz="2200" dirty="0">
              <a:latin typeface="Courier New"/>
              <a:cs typeface="Courier New"/>
            </a:endParaRPr>
          </a:p>
          <a:p>
            <a:pPr marL="241300" marR="5715" indent="-228600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Risk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factors</a:t>
            </a:r>
            <a:r>
              <a:rPr sz="2200" spc="-1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</a:t>
            </a:r>
            <a:r>
              <a:rPr sz="2200" spc="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numbers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represent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overall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risk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of </a:t>
            </a:r>
            <a:r>
              <a:rPr sz="2200" dirty="0">
                <a:latin typeface="Courier New"/>
                <a:cs typeface="Courier New"/>
              </a:rPr>
              <a:t>specific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events,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based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their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probability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occurring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consequences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if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they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occur.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Qualitative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2141" y="3406372"/>
            <a:ext cx="3430904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sz="1800" spc="-10" dirty="0">
                <a:latin typeface="Courier New"/>
                <a:cs typeface="Courier New"/>
              </a:rPr>
              <a:t>Sample</a:t>
            </a:r>
            <a:r>
              <a:rPr sz="1800" spc="-50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Probability</a:t>
            </a:r>
            <a:r>
              <a:rPr sz="1800" spc="-5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/Impact</a:t>
            </a:r>
            <a:endParaRPr sz="1800">
              <a:latin typeface="Courier New"/>
              <a:cs typeface="Courier New"/>
            </a:endParaRPr>
          </a:p>
          <a:p>
            <a:pPr marL="3175"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urier New"/>
                <a:cs typeface="Courier New"/>
              </a:rPr>
              <a:t>Matrix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347216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Qualitative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1453" y="3406372"/>
            <a:ext cx="3775710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sz="1800" spc="-10" dirty="0">
                <a:latin typeface="Courier New"/>
                <a:cs typeface="Courier New"/>
              </a:rPr>
              <a:t>Chart</a:t>
            </a:r>
            <a:r>
              <a:rPr sz="1800" spc="-5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showing</a:t>
            </a:r>
            <a:r>
              <a:rPr sz="1800" spc="-5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high-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medium-</a:t>
            </a:r>
            <a:r>
              <a:rPr sz="1800" spc="-50" dirty="0">
                <a:latin typeface="Courier New"/>
                <a:cs typeface="Courier New"/>
              </a:rPr>
              <a:t>,</a:t>
            </a:r>
            <a:endParaRPr sz="1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urier New"/>
                <a:cs typeface="Courier New"/>
              </a:rPr>
              <a:t>and</a:t>
            </a:r>
            <a:r>
              <a:rPr sz="1800" spc="-495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low-</a:t>
            </a:r>
            <a:r>
              <a:rPr sz="1800" spc="-10" dirty="0">
                <a:latin typeface="Courier New"/>
                <a:cs typeface="Courier New"/>
              </a:rPr>
              <a:t>risk</a:t>
            </a:r>
            <a:r>
              <a:rPr sz="1800" spc="-5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technologies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496567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Qualitative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57197"/>
            <a:ext cx="823404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878205" algn="l"/>
                <a:tab pos="1506220" algn="l"/>
                <a:tab pos="2176780" algn="l"/>
                <a:tab pos="2914650" algn="l"/>
                <a:tab pos="4091304" algn="l"/>
              </a:tabLst>
            </a:pPr>
            <a:r>
              <a:rPr sz="2200" b="1" spc="-25" dirty="0">
                <a:latin typeface="Calibri"/>
                <a:cs typeface="Calibri"/>
              </a:rPr>
              <a:t>Top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25" dirty="0">
                <a:latin typeface="Calibri"/>
                <a:cs typeface="Calibri"/>
              </a:rPr>
              <a:t>Ten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20" dirty="0">
                <a:latin typeface="Calibri"/>
                <a:cs typeface="Calibri"/>
              </a:rPr>
              <a:t>Risk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20" dirty="0">
                <a:latin typeface="Calibri"/>
                <a:cs typeface="Calibri"/>
              </a:rPr>
              <a:t>Item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Tracking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dirty="0">
                <a:latin typeface="Courier New"/>
                <a:cs typeface="Courier New"/>
              </a:rPr>
              <a:t>tool</a:t>
            </a:r>
            <a:r>
              <a:rPr sz="2200" spc="3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not</a:t>
            </a:r>
            <a:r>
              <a:rPr sz="2200" spc="2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only</a:t>
            </a:r>
            <a:r>
              <a:rPr sz="2200" spc="484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identifies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4401" y="1957197"/>
            <a:ext cx="246253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risks</a:t>
            </a:r>
            <a:r>
              <a:rPr sz="2200" spc="4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but</a:t>
            </a:r>
            <a:r>
              <a:rPr sz="2200" spc="2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also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9" y="2460498"/>
            <a:ext cx="11755755" cy="39017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1725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latin typeface="Courier New"/>
                <a:cs typeface="Courier New"/>
              </a:rPr>
              <a:t>preserves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information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about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throughout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life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project.</a:t>
            </a:r>
            <a:endParaRPr sz="2200" dirty="0">
              <a:latin typeface="Courier New"/>
              <a:cs typeface="Courier New"/>
            </a:endParaRPr>
          </a:p>
          <a:p>
            <a:pPr marL="1101090" indent="-227965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1101090" algn="l"/>
              </a:tabLst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periodic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review</a:t>
            </a:r>
            <a:r>
              <a:rPr sz="2200" spc="-350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has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been</a:t>
            </a:r>
            <a:r>
              <a:rPr sz="2200" spc="-34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developed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for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36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most</a:t>
            </a:r>
            <a:r>
              <a:rPr sz="2200" spc="-3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significant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risks</a:t>
            </a:r>
            <a:endParaRPr sz="2200" dirty="0">
              <a:latin typeface="Courier New"/>
              <a:cs typeface="Courier New"/>
            </a:endParaRPr>
          </a:p>
          <a:p>
            <a:pPr marL="1101725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ourier New"/>
                <a:cs typeface="Courier New"/>
              </a:rPr>
              <a:t>items.</a:t>
            </a:r>
            <a:endParaRPr sz="2200" dirty="0">
              <a:latin typeface="Courier New"/>
              <a:cs typeface="Courier New"/>
            </a:endParaRPr>
          </a:p>
          <a:p>
            <a:pPr marL="1101725" marR="5080" indent="-228600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1101725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409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review</a:t>
            </a:r>
            <a:r>
              <a:rPr sz="2200" spc="-43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commences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with</a:t>
            </a:r>
            <a:r>
              <a:rPr sz="2200" spc="-4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54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summary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of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status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of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the</a:t>
            </a:r>
            <a:r>
              <a:rPr sz="2200" spc="-44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top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ten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risk </a:t>
            </a:r>
            <a:r>
              <a:rPr sz="2200" spc="-10" dirty="0">
                <a:latin typeface="Courier New"/>
                <a:cs typeface="Courier New"/>
              </a:rPr>
              <a:t>sources.</a:t>
            </a:r>
            <a:endParaRPr sz="2200" dirty="0">
              <a:latin typeface="Courier New"/>
              <a:cs typeface="Courier New"/>
            </a:endParaRPr>
          </a:p>
          <a:p>
            <a:pPr marL="1101090" indent="-227965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1101090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summary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includes:</a:t>
            </a:r>
            <a:endParaRPr sz="22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1598295" algn="l"/>
              </a:tabLst>
            </a:pPr>
            <a:r>
              <a:rPr sz="2200" spc="-10" dirty="0">
                <a:latin typeface="Courier New"/>
                <a:cs typeface="Courier New"/>
              </a:rPr>
              <a:t>Current</a:t>
            </a:r>
            <a:r>
              <a:rPr sz="2200" spc="-35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ranking,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previous</a:t>
            </a:r>
            <a:r>
              <a:rPr sz="2200" spc="-35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ranking,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number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</a:t>
            </a:r>
            <a:r>
              <a:rPr sz="2200" spc="-42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times</a:t>
            </a:r>
            <a:r>
              <a:rPr sz="2200" spc="-38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it</a:t>
            </a:r>
            <a:r>
              <a:rPr sz="2200" spc="-375" dirty="0">
                <a:latin typeface="Courier New"/>
                <a:cs typeface="Courier New"/>
              </a:rPr>
              <a:t> </a:t>
            </a:r>
            <a:r>
              <a:rPr sz="2200" spc="-20" dirty="0" smtClean="0">
                <a:latin typeface="Courier New"/>
                <a:cs typeface="Courier New"/>
              </a:rPr>
              <a:t>appears</a:t>
            </a:r>
            <a:r>
              <a:rPr lang="en-US" sz="2200" spc="-290" dirty="0">
                <a:latin typeface="Courier New"/>
                <a:cs typeface="Courier New"/>
              </a:rPr>
              <a:t>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Qualitative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2791" y="3543045"/>
            <a:ext cx="35960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Example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Risk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Item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Tracking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815" y="1347216"/>
            <a:ext cx="5989320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Quantitative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2224"/>
            <a:ext cx="9497060" cy="10469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1103630" algn="l"/>
                <a:tab pos="3792854" algn="l"/>
                <a:tab pos="5021580" algn="l"/>
                <a:tab pos="6981825" algn="l"/>
                <a:tab pos="7841615" algn="l"/>
              </a:tabLst>
            </a:pPr>
            <a:r>
              <a:rPr sz="2400" b="1" spc="-25" dirty="0" smtClean="0">
                <a:latin typeface="Courier New"/>
                <a:cs typeface="Courier New"/>
              </a:rPr>
              <a:t>In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sz="2400" b="1" spc="-10" dirty="0" smtClean="0">
                <a:latin typeface="Courier New"/>
                <a:cs typeface="Courier New"/>
              </a:rPr>
              <a:t>Quantitative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sz="2400" b="1" spc="-20" dirty="0" smtClean="0">
                <a:latin typeface="Courier New"/>
                <a:cs typeface="Courier New"/>
              </a:rPr>
              <a:t>risk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sz="2400" b="1" spc="-10" dirty="0" smtClean="0">
                <a:latin typeface="Courier New"/>
                <a:cs typeface="Courier New"/>
              </a:rPr>
              <a:t>analysis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sz="2400" spc="-25" dirty="0" smtClean="0">
                <a:latin typeface="Courier New"/>
                <a:cs typeface="Courier New"/>
              </a:rPr>
              <a:t>is</a:t>
            </a:r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sz="2400" spc="-10" dirty="0" smtClean="0">
                <a:latin typeface="Courier New"/>
                <a:cs typeface="Courier New"/>
              </a:rPr>
              <a:t>performed </a:t>
            </a:r>
            <a:r>
              <a:rPr sz="2400" spc="-10" dirty="0">
                <a:latin typeface="Courier New"/>
                <a:cs typeface="Courier New"/>
              </a:rPr>
              <a:t>	qualitative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analysis.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5401" y="1938909"/>
            <a:ext cx="114299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after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2945130"/>
            <a:ext cx="10900410" cy="3605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Extensive</a:t>
            </a:r>
            <a:r>
              <a:rPr sz="2400" spc="2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quantitative</a:t>
            </a:r>
            <a:r>
              <a:rPr sz="2400" spc="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analysis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required</a:t>
            </a:r>
            <a:r>
              <a:rPr sz="2400" spc="3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large</a:t>
            </a:r>
            <a:r>
              <a:rPr sz="2400" spc="3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complex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involving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leading-edge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technologies.</a:t>
            </a:r>
            <a:endParaRPr sz="2400" dirty="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Techniques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may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include: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Decision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Tree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Expected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Monetary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Value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Simulation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Sensitivity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Analysis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Quantitative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926528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Decision</a:t>
            </a:r>
            <a:r>
              <a:rPr sz="2400" b="1" spc="-38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Tree</a:t>
            </a:r>
            <a:r>
              <a:rPr sz="2400" b="1" spc="-3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4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diagramming</a:t>
            </a:r>
            <a:r>
              <a:rPr sz="2400" spc="-4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analysis</a:t>
            </a:r>
            <a:r>
              <a:rPr sz="2400" spc="-40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technique 	</a:t>
            </a:r>
            <a:r>
              <a:rPr sz="2400" dirty="0">
                <a:latin typeface="Courier New"/>
                <a:cs typeface="Courier New"/>
              </a:rPr>
              <a:t>identify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best</a:t>
            </a:r>
            <a:r>
              <a:rPr sz="2400" spc="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alternative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when</a:t>
            </a:r>
            <a:r>
              <a:rPr sz="2400" spc="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future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16920" y="1966340"/>
            <a:ext cx="1345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used</a:t>
            </a:r>
            <a:r>
              <a:rPr sz="2400" spc="49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9096" y="2515361"/>
            <a:ext cx="2235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outcomes</a:t>
            </a:r>
            <a:r>
              <a:rPr sz="2400" spc="19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3064255"/>
            <a:ext cx="10901680" cy="216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uncertain.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Expected</a:t>
            </a:r>
            <a:r>
              <a:rPr sz="2400" b="1" spc="8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Monetary</a:t>
            </a:r>
            <a:r>
              <a:rPr sz="2400" b="1" spc="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Value</a:t>
            </a:r>
            <a:r>
              <a:rPr sz="2400" b="1" spc="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(EMV)</a:t>
            </a:r>
            <a:r>
              <a:rPr sz="2400" b="1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calculated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multiplying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risk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event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probability</a:t>
            </a:r>
            <a:r>
              <a:rPr sz="2400" spc="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risk</a:t>
            </a:r>
            <a:r>
              <a:rPr sz="2400" spc="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event’s</a:t>
            </a:r>
            <a:r>
              <a:rPr sz="2400" spc="4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monetary 	value.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Quantitative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1453" y="3406372"/>
            <a:ext cx="3775075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sz="1800" spc="-10" dirty="0">
                <a:latin typeface="Courier New"/>
                <a:cs typeface="Courier New"/>
              </a:rPr>
              <a:t>Expected</a:t>
            </a:r>
            <a:r>
              <a:rPr sz="1800" spc="-5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Monetary</a:t>
            </a:r>
            <a:r>
              <a:rPr sz="1800" spc="-5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Value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(EMV)</a:t>
            </a:r>
            <a:endParaRPr sz="1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urier New"/>
                <a:cs typeface="Courier New"/>
              </a:rPr>
              <a:t>example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517903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Quantitative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7235" cy="357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079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Simulation</a:t>
            </a:r>
            <a:r>
              <a:rPr sz="2400" b="1" spc="-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exploits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representation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model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system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spc="-10" dirty="0">
                <a:latin typeface="Courier New"/>
                <a:cs typeface="Courier New"/>
              </a:rPr>
              <a:t>examine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expected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behavior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performance.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Monte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Carlo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Analysis</a:t>
            </a:r>
            <a:r>
              <a:rPr sz="2400" b="1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produces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statistical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distribution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calculated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results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performing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simulation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160" dirty="0">
                <a:latin typeface="Courier New"/>
                <a:cs typeface="Courier New"/>
              </a:rPr>
              <a:t>of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model’s 	prediction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many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times.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Monte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Carlo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Simulation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can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be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performed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by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using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three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values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0124" y="5329590"/>
            <a:ext cx="38487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namely,</a:t>
            </a:r>
            <a:r>
              <a:rPr sz="2400" spc="4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most</a:t>
            </a:r>
            <a:r>
              <a:rPr sz="2400" spc="4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likely, </a:t>
            </a:r>
            <a:r>
              <a:rPr sz="2400" dirty="0">
                <a:latin typeface="Courier New"/>
                <a:cs typeface="Courier New"/>
              </a:rPr>
              <a:t>approximation</a:t>
            </a:r>
            <a:r>
              <a:rPr sz="2400" spc="-3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15" dirty="0">
                <a:latin typeface="Courier New"/>
                <a:cs typeface="Courier New"/>
              </a:rPr>
              <a:t>  </a:t>
            </a:r>
            <a:r>
              <a:rPr sz="2400" spc="-70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1402" y="5329590"/>
            <a:ext cx="20097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5080" indent="-79375">
              <a:lnSpc>
                <a:spcPct val="150100"/>
              </a:lnSpc>
              <a:spcBef>
                <a:spcPts val="100"/>
              </a:spcBef>
            </a:pPr>
            <a:r>
              <a:rPr sz="2400" spc="-30" dirty="0">
                <a:latin typeface="Courier New"/>
                <a:cs typeface="Courier New"/>
              </a:rPr>
              <a:t>optimistic, </a:t>
            </a:r>
            <a:r>
              <a:rPr sz="2400" spc="-10" dirty="0">
                <a:latin typeface="Courier New"/>
                <a:cs typeface="Courier New"/>
              </a:rPr>
              <a:t>likelihood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7326" y="5329590"/>
            <a:ext cx="44640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915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2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pessimistic</a:t>
            </a:r>
            <a:r>
              <a:rPr sz="2400" spc="5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plus</a:t>
            </a:r>
            <a:r>
              <a:rPr sz="2400" spc="34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5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5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variable</a:t>
            </a:r>
            <a:r>
              <a:rPr sz="2400" spc="5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occurring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Quantitative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16253" y="3406372"/>
            <a:ext cx="3166110" cy="1259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50100"/>
              </a:lnSpc>
              <a:spcBef>
                <a:spcPts val="95"/>
              </a:spcBef>
            </a:pPr>
            <a:r>
              <a:rPr sz="1800" spc="-10" dirty="0">
                <a:latin typeface="Courier New"/>
                <a:cs typeface="Courier New"/>
              </a:rPr>
              <a:t>Sample</a:t>
            </a:r>
            <a:r>
              <a:rPr sz="1800" spc="-4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Monte</a:t>
            </a:r>
            <a:r>
              <a:rPr sz="1800" spc="-540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Carlo-</a:t>
            </a:r>
            <a:r>
              <a:rPr sz="1800" spc="-10" dirty="0">
                <a:latin typeface="Courier New"/>
                <a:cs typeface="Courier New"/>
              </a:rPr>
              <a:t>based </a:t>
            </a:r>
            <a:r>
              <a:rPr sz="1800" dirty="0">
                <a:latin typeface="Courier New"/>
                <a:cs typeface="Courier New"/>
              </a:rPr>
              <a:t>Simulation</a:t>
            </a:r>
            <a:r>
              <a:rPr sz="1800" spc="-5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Results</a:t>
            </a:r>
            <a:r>
              <a:rPr sz="1800" spc="-575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for </a:t>
            </a:r>
            <a:r>
              <a:rPr sz="1800" spc="-10" dirty="0">
                <a:latin typeface="Courier New"/>
                <a:cs typeface="Courier New"/>
              </a:rPr>
              <a:t>Project</a:t>
            </a:r>
            <a:r>
              <a:rPr sz="1800" spc="-5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Schedule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347216"/>
            <a:ext cx="6987638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Quantitative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27263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Sensitivity</a:t>
            </a:r>
            <a:r>
              <a:rPr b="1" spc="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Analysis</a:t>
            </a:r>
            <a:r>
              <a:rPr b="1" spc="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technique</a:t>
            </a:r>
            <a:r>
              <a:rPr spc="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use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see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effect</a:t>
            </a:r>
            <a:r>
              <a:rPr spc="8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of 	</a:t>
            </a:r>
            <a:r>
              <a:rPr spc="-10" dirty="0">
                <a:solidFill>
                  <a:schemeClr val="bg1"/>
                </a:solidFill>
              </a:rPr>
              <a:t>modifying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one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or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more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variables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on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outcome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system</a:t>
            </a: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Spreadsheet</a:t>
            </a:r>
            <a:r>
              <a:rPr spc="-9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software</a:t>
            </a:r>
            <a:r>
              <a:rPr spc="-7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114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15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common</a:t>
            </a:r>
            <a:r>
              <a:rPr spc="-7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tool</a:t>
            </a:r>
            <a:r>
              <a:rPr spc="-7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-70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performing 	sensitivity</a:t>
            </a:r>
            <a:r>
              <a:rPr spc="-6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analysis.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Performing</a:t>
            </a:r>
            <a:r>
              <a:rPr spc="-1225" dirty="0"/>
              <a:t> </a:t>
            </a:r>
            <a:r>
              <a:rPr spc="-10" dirty="0"/>
              <a:t>Quantitative</a:t>
            </a:r>
            <a:r>
              <a:rPr spc="-1270" dirty="0"/>
              <a:t> </a:t>
            </a:r>
            <a:r>
              <a:rPr spc="-20" dirty="0"/>
              <a:t>Risk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2037" y="3406372"/>
            <a:ext cx="3576954" cy="1259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50100"/>
              </a:lnSpc>
              <a:spcBef>
                <a:spcPts val="95"/>
              </a:spcBef>
            </a:pPr>
            <a:r>
              <a:rPr sz="1800" spc="-10" dirty="0">
                <a:latin typeface="Courier New"/>
                <a:cs typeface="Courier New"/>
              </a:rPr>
              <a:t>Sample</a:t>
            </a:r>
            <a:r>
              <a:rPr sz="1800" spc="-50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Sensitivity</a:t>
            </a:r>
            <a:r>
              <a:rPr sz="1800" spc="-5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Analysis for</a:t>
            </a:r>
            <a:r>
              <a:rPr sz="1800" spc="-5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Determining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Break-</a:t>
            </a:r>
            <a:r>
              <a:rPr sz="1800" spc="-20" dirty="0">
                <a:latin typeface="Courier New"/>
                <a:cs typeface="Courier New"/>
              </a:rPr>
              <a:t>even </a:t>
            </a:r>
            <a:r>
              <a:rPr sz="1800" spc="-10" dirty="0">
                <a:latin typeface="Courier New"/>
                <a:cs typeface="Courier New"/>
              </a:rPr>
              <a:t>point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347215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35" dirty="0"/>
              <a:t> </a:t>
            </a:r>
            <a:r>
              <a:rPr spc="-10" dirty="0"/>
              <a:t>Risk</a:t>
            </a:r>
            <a:r>
              <a:rPr spc="-1270" dirty="0"/>
              <a:t> </a:t>
            </a:r>
            <a:r>
              <a:rPr spc="-10" dirty="0"/>
              <a:t>Responses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1520" cy="4813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After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risks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are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identified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and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quantified,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next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step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to </a:t>
            </a:r>
            <a:r>
              <a:rPr sz="2200" spc="-10" dirty="0">
                <a:latin typeface="Courier New"/>
                <a:cs typeface="Courier New"/>
              </a:rPr>
              <a:t>how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respond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them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1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Basis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Response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Strategies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negative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risks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include: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Risk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avoidance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Risk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acceptance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Risk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transference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Risk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mitigation</a:t>
            </a:r>
            <a:endParaRPr sz="2200" dirty="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Risk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escalation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35" dirty="0"/>
              <a:t> </a:t>
            </a:r>
            <a:r>
              <a:rPr spc="-10" dirty="0"/>
              <a:t>Risk</a:t>
            </a:r>
            <a:r>
              <a:rPr spc="-1270" dirty="0"/>
              <a:t> </a:t>
            </a:r>
            <a:r>
              <a:rPr spc="-10" dirty="0"/>
              <a:t>Responses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6149" y="3283666"/>
            <a:ext cx="3302635" cy="1261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8890" algn="ctr">
              <a:lnSpc>
                <a:spcPct val="1501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General</a:t>
            </a:r>
            <a:r>
              <a:rPr sz="1800" spc="-5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Risk</a:t>
            </a:r>
            <a:r>
              <a:rPr sz="1800" spc="-60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Mitigation Strategies</a:t>
            </a:r>
            <a:r>
              <a:rPr sz="1800" spc="-5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for</a:t>
            </a:r>
            <a:r>
              <a:rPr sz="1800" spc="-5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Technical, Cost,</a:t>
            </a:r>
            <a:r>
              <a:rPr sz="1800" spc="-4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and</a:t>
            </a:r>
            <a:r>
              <a:rPr sz="1800" spc="-5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Schedule</a:t>
            </a:r>
            <a:r>
              <a:rPr sz="1800" spc="-570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Risks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420367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35" dirty="0"/>
              <a:t> </a:t>
            </a:r>
            <a:r>
              <a:rPr spc="-10" dirty="0"/>
              <a:t>Risk</a:t>
            </a:r>
            <a:r>
              <a:rPr spc="-1270" dirty="0"/>
              <a:t> </a:t>
            </a:r>
            <a:r>
              <a:rPr spc="-10" dirty="0"/>
              <a:t>Responses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9351645" cy="376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Basis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Response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Strategies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positive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include: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exploitation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sharing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enhancement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acceptance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escalation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35" dirty="0"/>
              <a:t> </a:t>
            </a:r>
            <a:r>
              <a:rPr spc="-10" dirty="0"/>
              <a:t>Risk</a:t>
            </a:r>
            <a:r>
              <a:rPr spc="-1270" dirty="0"/>
              <a:t> </a:t>
            </a:r>
            <a:r>
              <a:rPr spc="-10" dirty="0"/>
              <a:t>Responses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12475" cy="234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7145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Residual</a:t>
            </a:r>
            <a:r>
              <a:rPr sz="2400" b="1" spc="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risks</a:t>
            </a:r>
            <a:r>
              <a:rPr sz="2400" b="1" spc="-45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refer</a:t>
            </a:r>
            <a:r>
              <a:rPr sz="2400" spc="-42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to</a:t>
            </a:r>
            <a:r>
              <a:rPr sz="2400" spc="-52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those</a:t>
            </a:r>
            <a:r>
              <a:rPr sz="2400" spc="-44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risks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that</a:t>
            </a:r>
            <a:r>
              <a:rPr sz="2400" spc="-47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are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left</a:t>
            </a:r>
            <a:r>
              <a:rPr sz="2400" spc="-4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behind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after 	all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other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have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been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responded.</a:t>
            </a:r>
            <a:endParaRPr sz="2400">
              <a:latin typeface="Courier New"/>
              <a:cs typeface="Courier New"/>
            </a:endParaRP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Secondary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risks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those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risks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thar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produced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direct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result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implementing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response.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Implementing</a:t>
            </a:r>
            <a:r>
              <a:rPr spc="-1225" dirty="0"/>
              <a:t> </a:t>
            </a:r>
            <a:r>
              <a:rPr spc="-10" dirty="0"/>
              <a:t>Risk</a:t>
            </a:r>
            <a:r>
              <a:rPr spc="-1270" dirty="0"/>
              <a:t> </a:t>
            </a:r>
            <a:r>
              <a:rPr spc="-10" dirty="0"/>
              <a:t>Responses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2734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Implementing</a:t>
            </a:r>
            <a:r>
              <a:rPr spc="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Risk</a:t>
            </a:r>
            <a:r>
              <a:rPr spc="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Responses</a:t>
            </a:r>
            <a:r>
              <a:rPr spc="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refer</a:t>
            </a:r>
            <a:r>
              <a:rPr spc="-1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implementation</a:t>
            </a:r>
            <a:r>
              <a:rPr spc="12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of 	</a:t>
            </a:r>
            <a:r>
              <a:rPr spc="-10" dirty="0">
                <a:solidFill>
                  <a:schemeClr val="bg1"/>
                </a:solidFill>
              </a:rPr>
              <a:t>risk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response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strategies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to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respond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risks..</a:t>
            </a: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outputs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are:</a:t>
            </a: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Change</a:t>
            </a:r>
            <a:r>
              <a:rPr sz="2400" spc="-6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requests</a:t>
            </a:r>
            <a:r>
              <a:rPr sz="2400" spc="-7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and</a:t>
            </a:r>
            <a:r>
              <a:rPr sz="2400" spc="-7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project</a:t>
            </a:r>
            <a:r>
              <a:rPr sz="2400" spc="-7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documents</a:t>
            </a:r>
            <a:r>
              <a:rPr sz="2400" spc="-7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updates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Monitoring</a:t>
            </a:r>
            <a:r>
              <a:rPr spc="-1225" dirty="0"/>
              <a:t> </a:t>
            </a:r>
            <a:r>
              <a:rPr spc="-10" dirty="0"/>
              <a:t>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38909"/>
            <a:ext cx="10900410" cy="409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Monitoring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ensures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that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appropriate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responses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implemented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identified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properly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tracked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new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identified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analyzed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Effectiveness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evaluated</a:t>
            </a:r>
            <a:endParaRPr sz="2400">
              <a:latin typeface="Courier New"/>
              <a:cs typeface="Courier New"/>
            </a:endParaRPr>
          </a:p>
          <a:p>
            <a:pPr marL="240029" marR="5080" indent="-227329">
              <a:lnSpc>
                <a:spcPct val="14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Workarounds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unplanned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responses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risk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events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are 	</a:t>
            </a:r>
            <a:r>
              <a:rPr sz="2400" spc="-10" dirty="0">
                <a:latin typeface="Courier New"/>
                <a:cs typeface="Courier New"/>
              </a:rPr>
              <a:t>implemented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absence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contingency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Monitoring</a:t>
            </a:r>
            <a:r>
              <a:rPr spc="-1225" dirty="0"/>
              <a:t> </a:t>
            </a:r>
            <a:r>
              <a:rPr spc="-10" dirty="0"/>
              <a:t>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2332"/>
            <a:ext cx="578485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spc="-10" dirty="0">
                <a:latin typeface="Courier New"/>
                <a:cs typeface="Courier New"/>
              </a:rPr>
              <a:t>Tools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and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Techniques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for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Monitoring</a:t>
            </a:r>
            <a:r>
              <a:rPr sz="1900" spc="-53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Risks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2405633"/>
            <a:ext cx="4628515" cy="333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7870" indent="-2686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Data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analysis</a:t>
            </a:r>
            <a:endParaRPr sz="1900">
              <a:latin typeface="Courier New"/>
              <a:cs typeface="Courier New"/>
            </a:endParaRPr>
          </a:p>
          <a:p>
            <a:pPr marL="737870" indent="-26860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Audits</a:t>
            </a:r>
            <a:endParaRPr sz="1900">
              <a:latin typeface="Courier New"/>
              <a:cs typeface="Courier New"/>
            </a:endParaRPr>
          </a:p>
          <a:p>
            <a:pPr marL="737870" indent="-26860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Meetings</a:t>
            </a:r>
            <a:endParaRPr sz="1900">
              <a:latin typeface="Courier New"/>
              <a:cs typeface="Courier New"/>
            </a:endParaRPr>
          </a:p>
          <a:p>
            <a:pPr marL="227329" marR="70485" indent="-227329" algn="r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27329" algn="l"/>
              </a:tabLst>
            </a:pPr>
            <a:r>
              <a:rPr sz="1900" spc="-10" dirty="0">
                <a:latin typeface="Courier New"/>
                <a:cs typeface="Courier New"/>
              </a:rPr>
              <a:t>Outputs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of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this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process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include:</a:t>
            </a:r>
            <a:endParaRPr sz="1900">
              <a:latin typeface="Courier New"/>
              <a:cs typeface="Courier New"/>
            </a:endParaRPr>
          </a:p>
          <a:p>
            <a:pPr marL="267970" marR="5080" lvl="1" indent="-267970" algn="r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67970" algn="l"/>
              </a:tabLst>
            </a:pPr>
            <a:r>
              <a:rPr sz="1900" spc="-10" dirty="0">
                <a:latin typeface="Courier New"/>
                <a:cs typeface="Courier New"/>
              </a:rPr>
              <a:t>Work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performance</a:t>
            </a:r>
            <a:r>
              <a:rPr sz="1900" spc="-509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information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spc="-20" dirty="0">
                <a:latin typeface="Courier New"/>
                <a:cs typeface="Courier New"/>
              </a:rPr>
              <a:t>Change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requests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dirty="0">
                <a:latin typeface="Courier New"/>
                <a:cs typeface="Courier New"/>
              </a:rPr>
              <a:t>Updates</a:t>
            </a:r>
            <a:r>
              <a:rPr sz="1900" spc="20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to  the</a:t>
            </a:r>
            <a:r>
              <a:rPr sz="1900" spc="10" dirty="0">
                <a:latin typeface="Courier New"/>
                <a:cs typeface="Courier New"/>
              </a:rPr>
              <a:t>  </a:t>
            </a:r>
            <a:r>
              <a:rPr sz="1900" spc="-10" dirty="0">
                <a:latin typeface="Courier New"/>
                <a:cs typeface="Courier New"/>
              </a:rPr>
              <a:t>project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1546" y="5427065"/>
            <a:ext cx="624967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ourier New"/>
                <a:cs typeface="Courier New"/>
              </a:rPr>
              <a:t>management</a:t>
            </a:r>
            <a:r>
              <a:rPr sz="1900" spc="-25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plan,</a:t>
            </a:r>
            <a:r>
              <a:rPr sz="1900" spc="-5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project</a:t>
            </a:r>
            <a:r>
              <a:rPr sz="1900" spc="-10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documents,</a:t>
            </a:r>
            <a:r>
              <a:rPr sz="1900" spc="25" dirty="0">
                <a:latin typeface="Courier New"/>
                <a:cs typeface="Courier New"/>
              </a:rPr>
              <a:t>  </a:t>
            </a:r>
            <a:r>
              <a:rPr sz="1900" spc="-25" dirty="0">
                <a:latin typeface="Courier New"/>
                <a:cs typeface="Courier New"/>
              </a:rPr>
              <a:t>and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6897" y="5802579"/>
            <a:ext cx="4053204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latin typeface="Courier New"/>
                <a:cs typeface="Courier New"/>
              </a:rPr>
              <a:t>organizational</a:t>
            </a:r>
            <a:r>
              <a:rPr sz="1900" spc="-5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process</a:t>
            </a:r>
            <a:r>
              <a:rPr sz="1900" spc="-53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assets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Chapter</a:t>
            </a:r>
            <a:r>
              <a:rPr spc="-122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1"/>
            <a:ext cx="6336030" cy="3991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processes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include: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Plan</a:t>
            </a:r>
            <a:r>
              <a:rPr sz="2000" spc="-5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Identify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risks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Perform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qualitative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analysis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Perform</a:t>
            </a:r>
            <a:r>
              <a:rPr sz="2000" spc="-5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quantitative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analysis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Plan</a:t>
            </a:r>
            <a:r>
              <a:rPr sz="2000" spc="-5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responses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Implement</a:t>
            </a:r>
            <a:r>
              <a:rPr sz="2000" spc="-5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responses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Monitor</a:t>
            </a:r>
            <a:r>
              <a:rPr sz="2000" spc="-5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risk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</TotalTime>
  <Words>1213</Words>
  <Application>Microsoft Office PowerPoint</Application>
  <PresentationFormat>Custom</PresentationFormat>
  <Paragraphs>231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Apex</vt:lpstr>
      <vt:lpstr>Chapter 11: Project Risk Management</vt:lpstr>
      <vt:lpstr>Contents:</vt:lpstr>
      <vt:lpstr>Week 13 Learning Outcome:</vt:lpstr>
      <vt:lpstr>The Importance of Project Risk Management</vt:lpstr>
      <vt:lpstr>The Importance of Project Risk Management</vt:lpstr>
      <vt:lpstr>The Importance of Project Risk Management</vt:lpstr>
      <vt:lpstr>The Importance of Project Risk Management</vt:lpstr>
      <vt:lpstr>The Importance of Project Risk Management</vt:lpstr>
      <vt:lpstr>The Importance of Project Risk Management</vt:lpstr>
      <vt:lpstr>The Importance of Project Risk Management</vt:lpstr>
      <vt:lpstr>The Importance of Project Risk Management</vt:lpstr>
      <vt:lpstr>The Importance of Project Risk Management</vt:lpstr>
      <vt:lpstr>Planning Risk Management</vt:lpstr>
      <vt:lpstr>Planning Risk Management</vt:lpstr>
      <vt:lpstr>Planning Risk Management</vt:lpstr>
      <vt:lpstr>Common Sources of Risks on IT Projects</vt:lpstr>
      <vt:lpstr>Common Sources of Risks on IT Projects</vt:lpstr>
      <vt:lpstr>Common Sources of Risks on IT Projects</vt:lpstr>
      <vt:lpstr>Common Sources of Risks on IT Projects</vt:lpstr>
      <vt:lpstr>Common Sources of Risks on IT Projects</vt:lpstr>
      <vt:lpstr>Identifying Risks</vt:lpstr>
      <vt:lpstr>Identifying Risks</vt:lpstr>
      <vt:lpstr>Identifying Risks</vt:lpstr>
      <vt:lpstr>Identifying Risks</vt:lpstr>
      <vt:lpstr>Performing Qualitative Risk Analysis</vt:lpstr>
      <vt:lpstr>Performing Qualitative Risk Analysis</vt:lpstr>
      <vt:lpstr>Performing Qualitative Risk Analysis</vt:lpstr>
      <vt:lpstr>Performing Qualitative Risk Analysis</vt:lpstr>
      <vt:lpstr>Performing Qualitative Risk Analysis</vt:lpstr>
      <vt:lpstr>Performing Qualitative Risk Analysis</vt:lpstr>
      <vt:lpstr>Performing Quantitative Risk Analysis</vt:lpstr>
      <vt:lpstr>Performing Quantitative Risk Analysis</vt:lpstr>
      <vt:lpstr>Performing Quantitative Risk Analysis</vt:lpstr>
      <vt:lpstr>Performing Quantitative Risk Analysis</vt:lpstr>
      <vt:lpstr>Performing Quantitative Risk Analysis</vt:lpstr>
      <vt:lpstr>Performing Quantitative Risk Analysis</vt:lpstr>
      <vt:lpstr>Performing Quantitative Risk Analysis</vt:lpstr>
      <vt:lpstr>Planning Risk Responses</vt:lpstr>
      <vt:lpstr>Planning Risk Responses</vt:lpstr>
      <vt:lpstr>Planning Risk Responses</vt:lpstr>
      <vt:lpstr>Planning Risk Responses</vt:lpstr>
      <vt:lpstr>Implementing Risk Responses</vt:lpstr>
      <vt:lpstr>Monitoring Risks</vt:lpstr>
      <vt:lpstr>Monitoring Risks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11: Project Risk Management</dc:title>
  <cp:lastModifiedBy>Rashid</cp:lastModifiedBy>
  <cp:revision>5</cp:revision>
  <dcterms:created xsi:type="dcterms:W3CDTF">2026-09-28T15:56:29Z</dcterms:created>
  <dcterms:modified xsi:type="dcterms:W3CDTF">2026-09-29T11:56:57Z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