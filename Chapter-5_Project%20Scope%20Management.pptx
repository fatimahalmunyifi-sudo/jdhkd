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37304" y="2407482"/>
            <a:ext cx="588289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0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3200" spc="-25" dirty="0">
                <a:solidFill>
                  <a:schemeClr val="bg1"/>
                </a:solidFill>
                <a:latin typeface="Arial MT"/>
                <a:cs typeface="Arial MT"/>
              </a:rPr>
              <a:t>5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Scope</a:t>
            </a:r>
            <a:r>
              <a:rPr sz="320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1"/>
            <a:ext cx="7753984" cy="3991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What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is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Scope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Management?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Planning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Scope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Collecting</a:t>
            </a:r>
            <a:r>
              <a:rPr sz="2000" spc="-4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Requirements.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Creating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Work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Breakdown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Structure.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Approaches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Developing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WBSs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55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WBS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Dictionary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Controlling</a:t>
            </a:r>
            <a:r>
              <a:rPr sz="2000" spc="-4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Scope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Using</a:t>
            </a:r>
            <a:r>
              <a:rPr sz="2000" spc="-55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Software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Assist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Scope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Week</a:t>
            </a:r>
            <a:r>
              <a:rPr spc="-1235" dirty="0"/>
              <a:t> </a:t>
            </a:r>
            <a:r>
              <a:rPr spc="-10" dirty="0"/>
              <a:t>Learning</a:t>
            </a:r>
            <a:r>
              <a:rPr spc="-1275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043160" cy="5060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76835" indent="-2286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Define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summarize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main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 within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its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framework.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1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Review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methods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used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collecting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documenting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urier New"/>
                <a:cs typeface="Courier New"/>
              </a:rPr>
              <a:t>requirements.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Define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describe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elements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breakdown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structure.</a:t>
            </a:r>
            <a:endParaRPr sz="2200">
              <a:latin typeface="Courier New"/>
              <a:cs typeface="Courier New"/>
            </a:endParaRPr>
          </a:p>
          <a:p>
            <a:pPr marL="241300" marR="832485" indent="-228600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Discuss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different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approaches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creating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breakdown structure.</a:t>
            </a:r>
            <a:endParaRPr sz="2200">
              <a:latin typeface="Courier New"/>
              <a:cs typeface="Courier New"/>
            </a:endParaRPr>
          </a:p>
          <a:p>
            <a:pPr marL="241300" marR="749300" indent="-228600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Explain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why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verifying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controlling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is </a:t>
            </a:r>
            <a:r>
              <a:rPr sz="2200" spc="-10" dirty="0">
                <a:latin typeface="Courier New"/>
                <a:cs typeface="Courier New"/>
              </a:rPr>
              <a:t>essential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managers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customers.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What</a:t>
            </a:r>
            <a:r>
              <a:rPr spc="-1240" dirty="0"/>
              <a:t> </a:t>
            </a:r>
            <a:r>
              <a:rPr spc="-10" dirty="0"/>
              <a:t>is</a:t>
            </a:r>
            <a:r>
              <a:rPr spc="-1275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Scope</a:t>
            </a:r>
            <a:r>
              <a:rPr spc="-129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13110" cy="467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77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latin typeface="Courier New"/>
                <a:cs typeface="Courier New"/>
              </a:rPr>
              <a:t>Scope</a:t>
            </a:r>
            <a:r>
              <a:rPr sz="2400" b="1" spc="-36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refers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to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130" dirty="0">
                <a:latin typeface="Courier New"/>
                <a:cs typeface="Courier New"/>
              </a:rPr>
              <a:t>all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the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work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involved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in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creating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175" dirty="0">
                <a:latin typeface="Courier New"/>
                <a:cs typeface="Courier New"/>
              </a:rPr>
              <a:t>the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products 	of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create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them.</a:t>
            </a:r>
            <a:endParaRPr sz="2400" dirty="0">
              <a:latin typeface="Courier New"/>
              <a:cs typeface="Courier New"/>
            </a:endParaRPr>
          </a:p>
          <a:p>
            <a:pPr marL="240029" marR="1714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5" dirty="0">
                <a:latin typeface="Courier New"/>
                <a:cs typeface="Courier New"/>
              </a:rPr>
              <a:t> deliverabl</a:t>
            </a:r>
            <a:r>
              <a:rPr sz="2400" b="1" dirty="0">
                <a:latin typeface="Courier New"/>
                <a:cs typeface="Courier New"/>
              </a:rPr>
              <a:t>e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6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od</a:t>
            </a:r>
            <a:r>
              <a:rPr sz="2400" spc="-5" dirty="0">
                <a:latin typeface="Courier New"/>
                <a:cs typeface="Courier New"/>
              </a:rPr>
              <a:t>uc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od</a:t>
            </a:r>
            <a:r>
              <a:rPr sz="2400" spc="-5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ce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p</a:t>
            </a:r>
            <a:r>
              <a:rPr sz="2400" spc="-7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4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7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j</a:t>
            </a:r>
            <a:r>
              <a:rPr sz="2400" spc="20" dirty="0">
                <a:latin typeface="Courier New"/>
                <a:cs typeface="Courier New"/>
              </a:rPr>
              <a:t>ect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37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s</a:t>
            </a:r>
            <a:r>
              <a:rPr sz="2400" spc="-25" dirty="0">
                <a:latin typeface="Courier New"/>
                <a:cs typeface="Courier New"/>
              </a:rPr>
              <a:t>u</a:t>
            </a:r>
            <a:r>
              <a:rPr sz="2400" spc="-5" dirty="0">
                <a:latin typeface="Courier New"/>
                <a:cs typeface="Courier New"/>
              </a:rPr>
              <a:t>ch 	a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80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h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rd</a:t>
            </a:r>
            <a:r>
              <a:rPr sz="2400" spc="-5" dirty="0">
                <a:latin typeface="Courier New"/>
                <a:cs typeface="Courier New"/>
              </a:rPr>
              <a:t>war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8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47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software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8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l</a:t>
            </a:r>
            <a:r>
              <a:rPr sz="2400" spc="-25" dirty="0">
                <a:latin typeface="Courier New"/>
                <a:cs typeface="Courier New"/>
              </a:rPr>
              <a:t>anni</a:t>
            </a:r>
            <a:r>
              <a:rPr sz="2400" spc="-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81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d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cu</a:t>
            </a:r>
            <a:r>
              <a:rPr sz="2400" spc="-5" dirty="0">
                <a:latin typeface="Courier New"/>
                <a:cs typeface="Courier New"/>
              </a:rPr>
              <a:t>m</a:t>
            </a:r>
            <a:r>
              <a:rPr sz="2400" spc="20" dirty="0">
                <a:latin typeface="Courier New"/>
                <a:cs typeface="Courier New"/>
              </a:rPr>
              <a:t>ents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844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930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m</a:t>
            </a:r>
            <a:r>
              <a:rPr sz="2400" spc="-75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ti</a:t>
            </a:r>
            <a:r>
              <a:rPr sz="2400" spc="2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g 	</a:t>
            </a:r>
            <a:r>
              <a:rPr sz="2400" spc="-5" dirty="0">
                <a:latin typeface="Courier New"/>
                <a:cs typeface="Courier New"/>
              </a:rPr>
              <a:t>minute</a:t>
            </a:r>
            <a:r>
              <a:rPr sz="2400" dirty="0">
                <a:latin typeface="Courier New"/>
                <a:cs typeface="Courier New"/>
              </a:rPr>
              <a:t>s.</a:t>
            </a:r>
          </a:p>
          <a:p>
            <a:pPr marL="240029" marR="508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scope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includes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processes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involved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 	</a:t>
            </a:r>
            <a:r>
              <a:rPr sz="2400" dirty="0">
                <a:latin typeface="Courier New"/>
                <a:cs typeface="Courier New"/>
              </a:rPr>
              <a:t>defining</a:t>
            </a:r>
            <a:r>
              <a:rPr sz="2400" spc="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controlling</a:t>
            </a:r>
            <a:r>
              <a:rPr sz="2400" spc="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what</a:t>
            </a:r>
            <a:r>
              <a:rPr sz="2400" spc="3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3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not</a:t>
            </a:r>
            <a:r>
              <a:rPr sz="2400" spc="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included</a:t>
            </a:r>
            <a:r>
              <a:rPr sz="2400" spc="3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30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What</a:t>
            </a:r>
            <a:r>
              <a:rPr spc="-1240" dirty="0"/>
              <a:t> </a:t>
            </a:r>
            <a:r>
              <a:rPr spc="-10" dirty="0"/>
              <a:t>is</a:t>
            </a:r>
            <a:r>
              <a:rPr spc="-1275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Scope</a:t>
            </a:r>
            <a:r>
              <a:rPr spc="-129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3543935" cy="180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There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six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main 	</a:t>
            </a:r>
            <a:r>
              <a:rPr sz="2400" spc="-10" dirty="0">
                <a:latin typeface="Courier New"/>
                <a:cs typeface="Courier New"/>
              </a:rPr>
              <a:t>management:</a:t>
            </a:r>
            <a:endParaRPr sz="2400">
              <a:latin typeface="Courier New"/>
              <a:cs typeface="Courier New"/>
            </a:endParaRPr>
          </a:p>
          <a:p>
            <a:pPr marL="925194" lvl="1" indent="-455930">
              <a:lnSpc>
                <a:spcPct val="100000"/>
              </a:lnSpc>
              <a:spcBef>
                <a:spcPts val="2450"/>
              </a:spcBef>
              <a:buAutoNum type="arabicPeriod"/>
              <a:tabLst>
                <a:tab pos="925194" algn="l"/>
              </a:tabLst>
            </a:pPr>
            <a:r>
              <a:rPr sz="2400" dirty="0">
                <a:latin typeface="Courier New"/>
                <a:cs typeface="Courier New"/>
              </a:rPr>
              <a:t>Planning</a:t>
            </a:r>
            <a:r>
              <a:rPr sz="2400" spc="2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scope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0194" y="1966340"/>
            <a:ext cx="717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processes</a:t>
            </a:r>
            <a:r>
              <a:rPr sz="2400" spc="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involved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9714" y="3192271"/>
            <a:ext cx="7202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involves</a:t>
            </a:r>
            <a:r>
              <a:rPr sz="2400" spc="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determining</a:t>
            </a:r>
            <a:r>
              <a:rPr sz="2400" spc="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how</a:t>
            </a:r>
            <a:r>
              <a:rPr sz="2400" spc="1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674" y="3741166"/>
            <a:ext cx="10446385" cy="216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project’s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requirements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will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be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managed.</a:t>
            </a:r>
            <a:endParaRPr sz="2400">
              <a:latin typeface="Courier New"/>
              <a:cs typeface="Courier New"/>
            </a:endParaRPr>
          </a:p>
          <a:p>
            <a:pPr marL="469900" marR="5080" indent="-457200" algn="just">
              <a:lnSpc>
                <a:spcPct val="150000"/>
              </a:lnSpc>
              <a:spcBef>
                <a:spcPts val="985"/>
              </a:spcBef>
            </a:pPr>
            <a:r>
              <a:rPr sz="2400" spc="-370" dirty="0">
                <a:latin typeface="Courier New"/>
                <a:cs typeface="Courier New"/>
              </a:rPr>
              <a:t>2.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Collecting</a:t>
            </a:r>
            <a:r>
              <a:rPr sz="2400" spc="-10" dirty="0">
                <a:latin typeface="Courier New"/>
                <a:cs typeface="Courier New"/>
              </a:rPr>
              <a:t>   </a:t>
            </a:r>
            <a:r>
              <a:rPr sz="2400" dirty="0">
                <a:latin typeface="Courier New"/>
                <a:cs typeface="Courier New"/>
              </a:rPr>
              <a:t>requirements</a:t>
            </a:r>
            <a:r>
              <a:rPr sz="2400" spc="220" dirty="0">
                <a:latin typeface="Courier New"/>
                <a:cs typeface="Courier New"/>
              </a:rPr>
              <a:t>   </a:t>
            </a:r>
            <a:r>
              <a:rPr sz="2400" dirty="0">
                <a:latin typeface="Courier New"/>
                <a:cs typeface="Courier New"/>
              </a:rPr>
              <a:t>involves</a:t>
            </a:r>
            <a:r>
              <a:rPr sz="2400" spc="245" dirty="0">
                <a:latin typeface="Courier New"/>
                <a:cs typeface="Courier New"/>
              </a:rPr>
              <a:t>   </a:t>
            </a:r>
            <a:r>
              <a:rPr sz="2400" dirty="0">
                <a:latin typeface="Courier New"/>
                <a:cs typeface="Courier New"/>
              </a:rPr>
              <a:t>defining</a:t>
            </a:r>
            <a:r>
              <a:rPr sz="2400" spc="295" dirty="0">
                <a:latin typeface="Courier New"/>
                <a:cs typeface="Courier New"/>
              </a:rPr>
              <a:t>   </a:t>
            </a:r>
            <a:r>
              <a:rPr sz="2400" spc="-25" dirty="0">
                <a:latin typeface="Courier New"/>
                <a:cs typeface="Courier New"/>
              </a:rPr>
              <a:t>and </a:t>
            </a:r>
            <a:r>
              <a:rPr sz="2400" dirty="0">
                <a:latin typeface="Courier New"/>
                <a:cs typeface="Courier New"/>
              </a:rPr>
              <a:t>documenting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the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features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and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functions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35" dirty="0">
                <a:latin typeface="Courier New"/>
                <a:cs typeface="Courier New"/>
              </a:rPr>
              <a:t>of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the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products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as </a:t>
            </a:r>
            <a:r>
              <a:rPr sz="2400" dirty="0">
                <a:latin typeface="Courier New"/>
                <a:cs typeface="Courier New"/>
              </a:rPr>
              <a:t>well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creating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them.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What</a:t>
            </a:r>
            <a:r>
              <a:rPr spc="-1240" dirty="0"/>
              <a:t> </a:t>
            </a:r>
            <a:r>
              <a:rPr spc="-10" dirty="0"/>
              <a:t>is</a:t>
            </a:r>
            <a:r>
              <a:rPr spc="-1275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Scope</a:t>
            </a:r>
            <a:r>
              <a:rPr spc="-129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21057"/>
            <a:ext cx="8702675" cy="6959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700" dirty="0">
                <a:latin typeface="Courier New"/>
                <a:cs typeface="Courier New"/>
              </a:rPr>
              <a:t>3.</a:t>
            </a:r>
            <a:r>
              <a:rPr sz="1700" spc="3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Defining</a:t>
            </a:r>
            <a:r>
              <a:rPr sz="1700" spc="2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scope</a:t>
            </a:r>
            <a:r>
              <a:rPr sz="1700" spc="28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involves</a:t>
            </a:r>
            <a:r>
              <a:rPr sz="1700" spc="3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reviewing</a:t>
            </a:r>
            <a:r>
              <a:rPr sz="1700" spc="26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26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scope</a:t>
            </a:r>
            <a:r>
              <a:rPr sz="1700" spc="26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management</a:t>
            </a:r>
            <a:r>
              <a:rPr sz="1700" spc="28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plan,</a:t>
            </a:r>
            <a:endParaRPr sz="17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latin typeface="Courier New"/>
                <a:cs typeface="Courier New"/>
              </a:rPr>
              <a:t>requirements</a:t>
            </a:r>
            <a:r>
              <a:rPr sz="1700" spc="459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documents,</a:t>
            </a:r>
            <a:r>
              <a:rPr sz="1700" spc="-235" dirty="0"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and</a:t>
            </a:r>
            <a:r>
              <a:rPr sz="1700" spc="4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organizational</a:t>
            </a:r>
            <a:r>
              <a:rPr sz="1700" spc="459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process</a:t>
            </a:r>
            <a:r>
              <a:rPr sz="1700" spc="45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assets</a:t>
            </a:r>
            <a:r>
              <a:rPr sz="1700" spc="45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to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3960" y="1821057"/>
            <a:ext cx="2161540" cy="6959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695"/>
              </a:spcBef>
            </a:pPr>
            <a:r>
              <a:rPr sz="1700" dirty="0">
                <a:latin typeface="Courier New"/>
                <a:cs typeface="Courier New"/>
              </a:rPr>
              <a:t>project</a:t>
            </a:r>
            <a:r>
              <a:rPr sz="1700" spc="45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charter,</a:t>
            </a:r>
            <a:endParaRPr sz="17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latin typeface="Courier New"/>
                <a:cs typeface="Courier New"/>
              </a:rPr>
              <a:t>create</a:t>
            </a:r>
            <a:r>
              <a:rPr sz="1700" spc="-145" dirty="0"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a</a:t>
            </a:r>
            <a:r>
              <a:rPr sz="1700" spc="44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scope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27330" y="2495046"/>
            <a:ext cx="11798300" cy="411522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368425" algn="just">
              <a:lnSpc>
                <a:spcPct val="100000"/>
              </a:lnSpc>
              <a:spcBef>
                <a:spcPts val="695"/>
              </a:spcBef>
            </a:pPr>
            <a:r>
              <a:rPr sz="1700" spc="-10" dirty="0">
                <a:latin typeface="Courier New"/>
                <a:cs typeface="Courier New"/>
              </a:rPr>
              <a:t>statement,</a:t>
            </a:r>
            <a:r>
              <a:rPr sz="1700" spc="-27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adding</a:t>
            </a:r>
            <a:r>
              <a:rPr sz="1700" spc="-27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more</a:t>
            </a:r>
            <a:r>
              <a:rPr sz="1700" spc="-28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information</a:t>
            </a:r>
            <a:r>
              <a:rPr sz="1700" spc="-28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as</a:t>
            </a:r>
            <a:r>
              <a:rPr sz="1700" spc="-30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requirements</a:t>
            </a:r>
            <a:r>
              <a:rPr sz="1700" spc="-250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are</a:t>
            </a:r>
            <a:r>
              <a:rPr sz="1700" spc="-27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developed</a:t>
            </a:r>
            <a:r>
              <a:rPr sz="1700" spc="-27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and</a:t>
            </a:r>
            <a:r>
              <a:rPr sz="1700" spc="-30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change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requests</a:t>
            </a:r>
            <a:endParaRPr sz="1700" dirty="0">
              <a:latin typeface="Courier New"/>
              <a:cs typeface="Courier New"/>
            </a:endParaRPr>
          </a:p>
          <a:p>
            <a:pPr marL="1368425" algn="just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latin typeface="Courier New"/>
                <a:cs typeface="Courier New"/>
              </a:rPr>
              <a:t>are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approved.</a:t>
            </a:r>
            <a:endParaRPr sz="1700" dirty="0">
              <a:latin typeface="Courier New"/>
              <a:cs typeface="Courier New"/>
            </a:endParaRPr>
          </a:p>
          <a:p>
            <a:pPr marL="1368425" marR="20955" indent="-457200" algn="just">
              <a:lnSpc>
                <a:spcPct val="129500"/>
              </a:lnSpc>
              <a:spcBef>
                <a:spcPts val="1030"/>
              </a:spcBef>
              <a:buAutoNum type="arabicPeriod" startAt="4"/>
              <a:tabLst>
                <a:tab pos="1368425" algn="l"/>
              </a:tabLst>
            </a:pPr>
            <a:r>
              <a:rPr sz="1700" dirty="0">
                <a:latin typeface="Courier New"/>
                <a:cs typeface="Courier New"/>
              </a:rPr>
              <a:t>Creating</a:t>
            </a:r>
            <a:r>
              <a:rPr sz="1700" spc="-26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24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WBS</a:t>
            </a:r>
            <a:r>
              <a:rPr sz="1700" spc="-2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involves</a:t>
            </a:r>
            <a:r>
              <a:rPr sz="1700" spc="-22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subdividing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major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project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deliverables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into</a:t>
            </a:r>
            <a:r>
              <a:rPr sz="1700" spc="-16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smaller, more</a:t>
            </a:r>
            <a:r>
              <a:rPr sz="1700" spc="-43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manageable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components.</a:t>
            </a:r>
            <a:endParaRPr sz="1700" dirty="0">
              <a:latin typeface="Courier New"/>
              <a:cs typeface="Courier New"/>
            </a:endParaRPr>
          </a:p>
          <a:p>
            <a:pPr marL="1368425" marR="17780" indent="-457200" algn="just">
              <a:lnSpc>
                <a:spcPct val="130300"/>
              </a:lnSpc>
              <a:spcBef>
                <a:spcPts val="990"/>
              </a:spcBef>
              <a:buAutoNum type="arabicPeriod" startAt="4"/>
              <a:tabLst>
                <a:tab pos="1368425" algn="l"/>
              </a:tabLst>
            </a:pPr>
            <a:r>
              <a:rPr sz="1700" dirty="0">
                <a:latin typeface="Courier New"/>
                <a:cs typeface="Courier New"/>
              </a:rPr>
              <a:t>Validating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scope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involves</a:t>
            </a:r>
            <a:r>
              <a:rPr sz="1700" spc="-17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formalizing</a:t>
            </a:r>
            <a:r>
              <a:rPr sz="1700" spc="-19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acceptance</a:t>
            </a:r>
            <a:r>
              <a:rPr sz="1700" spc="-6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of</a:t>
            </a:r>
            <a:r>
              <a:rPr sz="1700" spc="-2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project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deliverables.</a:t>
            </a:r>
            <a:r>
              <a:rPr sz="1700" spc="-15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Key </a:t>
            </a:r>
            <a:r>
              <a:rPr sz="1700" dirty="0">
                <a:latin typeface="Courier New"/>
                <a:cs typeface="Courier New"/>
              </a:rPr>
              <a:t>project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stakeholders,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such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as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the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customer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and</a:t>
            </a:r>
            <a:r>
              <a:rPr sz="1700" spc="-22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sponsor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for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the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project,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inspect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and </a:t>
            </a:r>
            <a:r>
              <a:rPr sz="1700" spc="-60" dirty="0">
                <a:latin typeface="Courier New"/>
                <a:cs typeface="Courier New"/>
              </a:rPr>
              <a:t>then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formally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75" dirty="0">
                <a:latin typeface="Courier New"/>
                <a:cs typeface="Courier New"/>
              </a:rPr>
              <a:t>accept</a:t>
            </a:r>
            <a:r>
              <a:rPr sz="1700" spc="-180" dirty="0">
                <a:latin typeface="Courier New"/>
                <a:cs typeface="Courier New"/>
              </a:rPr>
              <a:t> </a:t>
            </a:r>
            <a:r>
              <a:rPr sz="1700" spc="-155" dirty="0">
                <a:latin typeface="Courier New"/>
                <a:cs typeface="Courier New"/>
              </a:rPr>
              <a:t>the</a:t>
            </a:r>
            <a:r>
              <a:rPr sz="1700" spc="-10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deliverables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spc="-80" dirty="0">
                <a:latin typeface="Courier New"/>
                <a:cs typeface="Courier New"/>
              </a:rPr>
              <a:t>during</a:t>
            </a:r>
            <a:r>
              <a:rPr sz="1700" spc="-175" dirty="0">
                <a:latin typeface="Courier New"/>
                <a:cs typeface="Courier New"/>
              </a:rPr>
              <a:t> </a:t>
            </a:r>
            <a:r>
              <a:rPr sz="1700" spc="-110" dirty="0">
                <a:latin typeface="Courier New"/>
                <a:cs typeface="Courier New"/>
              </a:rPr>
              <a:t>this</a:t>
            </a:r>
            <a:r>
              <a:rPr sz="1700" spc="-145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process.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spc="-300" dirty="0">
                <a:latin typeface="Courier New"/>
                <a:cs typeface="Courier New"/>
              </a:rPr>
              <a:t>If</a:t>
            </a:r>
            <a:r>
              <a:rPr sz="1700" spc="45" dirty="0">
                <a:latin typeface="Courier New"/>
                <a:cs typeface="Courier New"/>
              </a:rPr>
              <a:t> </a:t>
            </a:r>
            <a:r>
              <a:rPr sz="1700" spc="-160" dirty="0">
                <a:latin typeface="Courier New"/>
                <a:cs typeface="Courier New"/>
              </a:rPr>
              <a:t>the</a:t>
            </a:r>
            <a:r>
              <a:rPr sz="1700" spc="-9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deliverables</a:t>
            </a:r>
            <a:r>
              <a:rPr sz="1700" spc="-55" dirty="0">
                <a:latin typeface="Courier New"/>
                <a:cs typeface="Courier New"/>
              </a:rPr>
              <a:t> </a:t>
            </a:r>
            <a:r>
              <a:rPr sz="1700" spc="-105" dirty="0">
                <a:latin typeface="Courier New"/>
                <a:cs typeface="Courier New"/>
              </a:rPr>
              <a:t>are</a:t>
            </a:r>
            <a:r>
              <a:rPr sz="1700" spc="-10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not </a:t>
            </a:r>
            <a:r>
              <a:rPr sz="1700" spc="-10" dirty="0">
                <a:latin typeface="Courier New"/>
                <a:cs typeface="Courier New"/>
              </a:rPr>
              <a:t>acceptable,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the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customer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or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sponsor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usually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requests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changes.</a:t>
            </a:r>
            <a:endParaRPr sz="1700" dirty="0">
              <a:latin typeface="Courier New"/>
              <a:cs typeface="Courier New"/>
            </a:endParaRPr>
          </a:p>
          <a:p>
            <a:pPr marL="1368425" marR="17780" indent="-457200" algn="just">
              <a:lnSpc>
                <a:spcPct val="130100"/>
              </a:lnSpc>
              <a:spcBef>
                <a:spcPts val="994"/>
              </a:spcBef>
              <a:buAutoNum type="arabicPeriod" startAt="4"/>
              <a:tabLst>
                <a:tab pos="1368425" algn="l"/>
              </a:tabLst>
            </a:pPr>
            <a:r>
              <a:rPr sz="1700" spc="-10" dirty="0">
                <a:latin typeface="Courier New"/>
                <a:cs typeface="Courier New"/>
              </a:rPr>
              <a:t>Controlling</a:t>
            </a:r>
            <a:r>
              <a:rPr sz="1700" spc="-25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scope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involves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controlling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changes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135" dirty="0">
                <a:latin typeface="Courier New"/>
                <a:cs typeface="Courier New"/>
              </a:rPr>
              <a:t>to</a:t>
            </a:r>
            <a:r>
              <a:rPr sz="1700" spc="-12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project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scope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throughout</a:t>
            </a:r>
            <a:r>
              <a:rPr sz="1700" spc="-14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18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life </a:t>
            </a:r>
            <a:r>
              <a:rPr sz="1700" dirty="0">
                <a:latin typeface="Courier New"/>
                <a:cs typeface="Courier New"/>
              </a:rPr>
              <a:t>of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9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project—</a:t>
            </a:r>
            <a:r>
              <a:rPr sz="1700" dirty="0">
                <a:latin typeface="Courier New"/>
                <a:cs typeface="Courier New"/>
              </a:rPr>
              <a:t>a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challenge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on</a:t>
            </a:r>
            <a:r>
              <a:rPr sz="1700" spc="-13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many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IT</a:t>
            </a:r>
            <a:r>
              <a:rPr sz="1700" spc="-13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projects.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Scope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changes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often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influence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the </a:t>
            </a:r>
            <a:r>
              <a:rPr sz="1700" spc="-10" dirty="0">
                <a:latin typeface="Courier New"/>
                <a:cs typeface="Courier New"/>
              </a:rPr>
              <a:t>team’s</a:t>
            </a:r>
            <a:r>
              <a:rPr sz="1700" spc="-33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ability</a:t>
            </a:r>
            <a:r>
              <a:rPr sz="1700" spc="-33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to</a:t>
            </a:r>
            <a:r>
              <a:rPr sz="1700" spc="-385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meet</a:t>
            </a:r>
            <a:r>
              <a:rPr sz="1700" spc="-33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project</a:t>
            </a:r>
            <a:r>
              <a:rPr sz="1700" spc="-330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time</a:t>
            </a:r>
            <a:r>
              <a:rPr sz="1700" spc="-335" dirty="0">
                <a:latin typeface="Courier New"/>
                <a:cs typeface="Courier New"/>
              </a:rPr>
              <a:t> </a:t>
            </a:r>
            <a:r>
              <a:rPr sz="1700" spc="-60" dirty="0">
                <a:latin typeface="Courier New"/>
                <a:cs typeface="Courier New"/>
              </a:rPr>
              <a:t>and</a:t>
            </a:r>
            <a:r>
              <a:rPr sz="1700" spc="-335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cost</a:t>
            </a:r>
            <a:r>
              <a:rPr sz="1700" spc="-34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goals,</a:t>
            </a:r>
            <a:r>
              <a:rPr sz="1700" spc="-31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so</a:t>
            </a:r>
            <a:r>
              <a:rPr sz="1700" spc="-38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project</a:t>
            </a:r>
            <a:r>
              <a:rPr sz="1700" spc="-34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managers</a:t>
            </a:r>
            <a:r>
              <a:rPr sz="1700" spc="-335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must</a:t>
            </a:r>
            <a:r>
              <a:rPr sz="1700" spc="-260" dirty="0">
                <a:latin typeface="Courier New"/>
                <a:cs typeface="Courier New"/>
              </a:rPr>
              <a:t> </a:t>
            </a:r>
            <a:r>
              <a:rPr sz="1700" spc="-10" dirty="0" smtClean="0">
                <a:latin typeface="Courier New"/>
                <a:cs typeface="Courier New"/>
              </a:rPr>
              <a:t>carefully</a:t>
            </a:r>
            <a:endParaRPr sz="17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Scope</a:t>
            </a:r>
            <a:r>
              <a:rPr spc="-1270" dirty="0"/>
              <a:t> </a:t>
            </a:r>
            <a:r>
              <a:rPr spc="-10" dirty="0"/>
              <a:t>Management.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9140" cy="4304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8890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50" dirty="0">
                <a:latin typeface="Courier New"/>
                <a:cs typeface="Courier New"/>
              </a:rPr>
              <a:t>The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first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step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240" dirty="0">
                <a:latin typeface="Courier New"/>
                <a:cs typeface="Courier New"/>
              </a:rPr>
              <a:t>in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project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scope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management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235" dirty="0">
                <a:latin typeface="Courier New"/>
                <a:cs typeface="Courier New"/>
              </a:rPr>
              <a:t>is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planning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how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 will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throughout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life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project.</a:t>
            </a:r>
            <a:endParaRPr sz="2200" dirty="0">
              <a:latin typeface="Courier New"/>
              <a:cs typeface="Courier New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After</a:t>
            </a:r>
            <a:r>
              <a:rPr sz="2200" spc="4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reviewing</a:t>
            </a:r>
            <a:r>
              <a:rPr sz="2200" spc="3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40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3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management</a:t>
            </a:r>
            <a:r>
              <a:rPr sz="2200" spc="4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plan,</a:t>
            </a:r>
            <a:r>
              <a:rPr sz="2200" spc="3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4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charter, </a:t>
            </a:r>
            <a:r>
              <a:rPr sz="2200" dirty="0">
                <a:latin typeface="Courier New"/>
                <a:cs typeface="Courier New"/>
              </a:rPr>
              <a:t>enterprise</a:t>
            </a:r>
            <a:r>
              <a:rPr sz="2200" spc="-24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environmental</a:t>
            </a:r>
            <a:r>
              <a:rPr sz="2200" spc="-2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factors,</a:t>
            </a:r>
            <a:r>
              <a:rPr sz="2200" spc="-33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2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organizational</a:t>
            </a:r>
            <a:r>
              <a:rPr sz="2200" spc="-220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process </a:t>
            </a:r>
            <a:r>
              <a:rPr sz="2200" dirty="0">
                <a:latin typeface="Courier New"/>
                <a:cs typeface="Courier New"/>
              </a:rPr>
              <a:t>assets,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team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uses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expert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judgment,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data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analysis,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 </a:t>
            </a:r>
            <a:r>
              <a:rPr sz="2200" spc="-10" dirty="0">
                <a:latin typeface="Courier New"/>
                <a:cs typeface="Courier New"/>
              </a:rPr>
              <a:t>meetings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develop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two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important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outputs:</a:t>
            </a:r>
            <a:endParaRPr sz="2200" dirty="0">
              <a:latin typeface="Courier New"/>
              <a:cs typeface="Courier New"/>
            </a:endParaRPr>
          </a:p>
          <a:p>
            <a:pPr marL="12700" marR="13335" lvl="1" indent="1567180" algn="just">
              <a:lnSpc>
                <a:spcPct val="150100"/>
              </a:lnSpc>
              <a:spcBef>
                <a:spcPts val="1010"/>
              </a:spcBef>
              <a:buAutoNum type="romanUcParenR"/>
              <a:tabLst>
                <a:tab pos="1579880" algn="l"/>
              </a:tabLst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0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scope</a:t>
            </a:r>
            <a:r>
              <a:rPr sz="2200" spc="-18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management</a:t>
            </a:r>
            <a:r>
              <a:rPr sz="2200" spc="-15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plan</a:t>
            </a:r>
            <a:r>
              <a:rPr sz="2200" spc="-18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11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II)</a:t>
            </a:r>
            <a:r>
              <a:rPr sz="2200" spc="-20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6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requirements management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Scope</a:t>
            </a:r>
            <a:r>
              <a:rPr spc="-1270" dirty="0"/>
              <a:t> </a:t>
            </a:r>
            <a:r>
              <a:rPr spc="-10" dirty="0"/>
              <a:t>Management.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19653" y="1966340"/>
            <a:ext cx="844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scope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plan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includes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1783079"/>
            <a:ext cx="244919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general, 	information: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3192271"/>
            <a:ext cx="10438765" cy="296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prepare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detailed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statement?</a:t>
            </a:r>
            <a:endParaRPr sz="2400">
              <a:latin typeface="Courier New"/>
              <a:cs typeface="Courier New"/>
            </a:endParaRPr>
          </a:p>
          <a:p>
            <a:pPr marL="279400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create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WBS?</a:t>
            </a:r>
            <a:endParaRPr sz="2400">
              <a:latin typeface="Courier New"/>
              <a:cs typeface="Courier New"/>
            </a:endParaRPr>
          </a:p>
          <a:p>
            <a:pPr marL="279400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maintain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approve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WBS?</a:t>
            </a:r>
            <a:endParaRPr sz="2400">
              <a:latin typeface="Courier New"/>
              <a:cs typeface="Courier New"/>
            </a:endParaRPr>
          </a:p>
          <a:p>
            <a:pPr marL="278765" marR="5080" indent="-266700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dirty="0">
                <a:latin typeface="Courier New"/>
                <a:cs typeface="Courier New"/>
              </a:rPr>
              <a:t>How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obtain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formal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acceptance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completed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 	deliverables?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Scope 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953" y="2950524"/>
            <a:ext cx="34061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8640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scope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overview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0991" y="240791"/>
            <a:ext cx="4712208" cy="5724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Scope</a:t>
            </a:r>
            <a:r>
              <a:rPr spc="-1270" dirty="0"/>
              <a:t> </a:t>
            </a:r>
            <a:r>
              <a:rPr spc="-10" dirty="0"/>
              <a:t>Management.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4399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For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software</a:t>
            </a:r>
            <a:r>
              <a:rPr spc="-1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projects,</a:t>
            </a:r>
            <a:r>
              <a:rPr spc="-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it</a:t>
            </a:r>
            <a:r>
              <a:rPr spc="-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22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helpful</a:t>
            </a:r>
            <a:r>
              <a:rPr spc="-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20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divide</a:t>
            </a:r>
            <a:r>
              <a:rPr spc="-1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requirements 	</a:t>
            </a:r>
            <a:r>
              <a:rPr dirty="0">
                <a:solidFill>
                  <a:schemeClr val="bg1"/>
                </a:solidFill>
              </a:rPr>
              <a:t>development</a:t>
            </a:r>
            <a:r>
              <a:rPr spc="-24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into</a:t>
            </a:r>
            <a:r>
              <a:rPr spc="-15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27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software</a:t>
            </a:r>
            <a:r>
              <a:rPr spc="-23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engineering</a:t>
            </a:r>
            <a:r>
              <a:rPr spc="-21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steps</a:t>
            </a:r>
            <a:r>
              <a:rPr spc="-125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called 	elicitation,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analysis,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specification,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validation.</a:t>
            </a:r>
          </a:p>
          <a:p>
            <a:pPr marL="240029" marR="762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These</a:t>
            </a:r>
            <a:r>
              <a:rPr spc="-370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steps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include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all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spc="-105" dirty="0">
                <a:solidFill>
                  <a:schemeClr val="bg1"/>
                </a:solidFill>
              </a:rPr>
              <a:t>the</a:t>
            </a:r>
            <a:r>
              <a:rPr spc="-254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activities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involved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spc="-90" dirty="0">
                <a:solidFill>
                  <a:schemeClr val="bg1"/>
                </a:solidFill>
              </a:rPr>
              <a:t>in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gathering, 	</a:t>
            </a:r>
            <a:r>
              <a:rPr dirty="0">
                <a:solidFill>
                  <a:schemeClr val="bg1"/>
                </a:solidFill>
              </a:rPr>
              <a:t>evaluating,</a:t>
            </a:r>
            <a:r>
              <a:rPr spc="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 documenting</a:t>
            </a:r>
            <a:r>
              <a:rPr spc="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requirements</a:t>
            </a:r>
            <a:r>
              <a:rPr spc="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software</a:t>
            </a:r>
            <a:r>
              <a:rPr spc="12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or 	</a:t>
            </a:r>
            <a:r>
              <a:rPr spc="-10" dirty="0">
                <a:solidFill>
                  <a:schemeClr val="bg1"/>
                </a:solidFill>
              </a:rPr>
              <a:t>software-containing</a:t>
            </a:r>
            <a:r>
              <a:rPr spc="-6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product.</a:t>
            </a:r>
          </a:p>
          <a:p>
            <a:pPr marL="240029" marR="7620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24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requirements</a:t>
            </a:r>
            <a:r>
              <a:rPr spc="-16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management</a:t>
            </a:r>
            <a:r>
              <a:rPr spc="-25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plan</a:t>
            </a:r>
            <a:r>
              <a:rPr spc="-24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documents</a:t>
            </a:r>
            <a:r>
              <a:rPr spc="-22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how</a:t>
            </a:r>
            <a:r>
              <a:rPr spc="-160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project 	requirements</a:t>
            </a:r>
            <a:r>
              <a:rPr spc="-7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will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be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analyzed,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documented,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Scope</a:t>
            </a:r>
            <a:r>
              <a:rPr spc="-1270" dirty="0"/>
              <a:t> </a:t>
            </a:r>
            <a:r>
              <a:rPr spc="-10" dirty="0"/>
              <a:t>Management.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4695" cy="450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43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requirements</a:t>
            </a:r>
            <a:r>
              <a:rPr sz="2400" spc="4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4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plan</a:t>
            </a:r>
            <a:r>
              <a:rPr sz="2400" spc="4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43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</a:t>
            </a:r>
            <a:r>
              <a:rPr sz="2400" spc="4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4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following 	information: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50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plan,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track,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report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requirements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activities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25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perform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configuration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activities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50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prioritize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requirements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50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product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metrics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25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trace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capture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attributes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of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requirements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Collecting</a:t>
            </a:r>
            <a:r>
              <a:rPr spc="-1225" dirty="0"/>
              <a:t> </a:t>
            </a:r>
            <a:r>
              <a:rPr spc="-10" dirty="0"/>
              <a:t>Requirements.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40030" y="1789175"/>
            <a:ext cx="11849735" cy="4689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51255" marR="85725" indent="-227329" algn="just">
              <a:lnSpc>
                <a:spcPct val="150100"/>
              </a:lnSpc>
              <a:spcBef>
                <a:spcPts val="5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requirement</a:t>
            </a:r>
            <a:r>
              <a:rPr sz="2400" spc="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3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“</a:t>
            </a: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18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condition</a:t>
            </a:r>
            <a:r>
              <a:rPr sz="2400" i="1" spc="33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or</a:t>
            </a:r>
            <a:r>
              <a:rPr sz="2400" i="1" spc="30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capability</a:t>
            </a:r>
            <a:r>
              <a:rPr sz="2400" i="1" spc="30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that</a:t>
            </a:r>
            <a:r>
              <a:rPr sz="2400" i="1" spc="30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must</a:t>
            </a:r>
            <a:r>
              <a:rPr sz="2400" i="1" spc="325" dirty="0">
                <a:latin typeface="Courier New"/>
                <a:cs typeface="Courier New"/>
              </a:rPr>
              <a:t> </a:t>
            </a:r>
            <a:r>
              <a:rPr sz="2400" i="1" spc="-25" dirty="0">
                <a:latin typeface="Courier New"/>
                <a:cs typeface="Courier New"/>
              </a:rPr>
              <a:t>be 	</a:t>
            </a:r>
            <a:r>
              <a:rPr sz="2400" i="1" dirty="0">
                <a:latin typeface="Courier New"/>
                <a:cs typeface="Courier New"/>
              </a:rPr>
              <a:t>met</a:t>
            </a:r>
            <a:r>
              <a:rPr sz="2400" i="1" spc="-3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or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possessed</a:t>
            </a:r>
            <a:r>
              <a:rPr sz="2400" i="1" spc="-5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by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-3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system,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product,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service,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result,</a:t>
            </a:r>
            <a:r>
              <a:rPr sz="2400" i="1" spc="-25" dirty="0">
                <a:latin typeface="Courier New"/>
                <a:cs typeface="Courier New"/>
              </a:rPr>
              <a:t> or 	</a:t>
            </a:r>
            <a:r>
              <a:rPr sz="2400" i="1" dirty="0">
                <a:latin typeface="Courier New"/>
                <a:cs typeface="Courier New"/>
              </a:rPr>
              <a:t>component</a:t>
            </a:r>
            <a:r>
              <a:rPr sz="2400" i="1" spc="204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to</a:t>
            </a:r>
            <a:r>
              <a:rPr sz="2400" i="1" spc="21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satisfy</a:t>
            </a:r>
            <a:r>
              <a:rPr sz="2400" i="1" spc="21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a</a:t>
            </a:r>
            <a:r>
              <a:rPr sz="2400" i="1" spc="21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contract,</a:t>
            </a:r>
            <a:r>
              <a:rPr sz="2400" i="1" spc="18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standard,</a:t>
            </a:r>
            <a:r>
              <a:rPr sz="2400" i="1" spc="220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specification, 	</a:t>
            </a:r>
            <a:r>
              <a:rPr sz="2400" i="1" dirty="0">
                <a:latin typeface="Courier New"/>
                <a:cs typeface="Courier New"/>
              </a:rPr>
              <a:t>or</a:t>
            </a:r>
            <a:r>
              <a:rPr sz="2400" i="1" spc="-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other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formal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document</a:t>
            </a:r>
            <a:r>
              <a:rPr sz="2400" spc="-10" dirty="0">
                <a:latin typeface="Courier New"/>
                <a:cs typeface="Courier New"/>
              </a:rPr>
              <a:t>”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.</a:t>
            </a:r>
            <a:endParaRPr sz="2400" dirty="0">
              <a:latin typeface="Courier New"/>
              <a:cs typeface="Courier New"/>
            </a:endParaRPr>
          </a:p>
          <a:p>
            <a:pPr marL="1151255" marR="43815" indent="-227329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some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projects,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helpful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divide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requirements 	</a:t>
            </a:r>
            <a:r>
              <a:rPr sz="2400" dirty="0">
                <a:latin typeface="Courier New"/>
                <a:cs typeface="Courier New"/>
              </a:rPr>
              <a:t>development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into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categories</a:t>
            </a:r>
            <a:r>
              <a:rPr sz="2400" spc="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called</a:t>
            </a:r>
            <a:r>
              <a:rPr sz="2400" spc="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elicitation,</a:t>
            </a:r>
            <a:r>
              <a:rPr sz="2400" spc="1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analysis, 	specification,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validation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.</a:t>
            </a:r>
            <a:endParaRPr sz="2400" dirty="0">
              <a:latin typeface="Courier New"/>
              <a:cs typeface="Courier New"/>
            </a:endParaRPr>
          </a:p>
          <a:p>
            <a:pPr marL="1151255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1151255" algn="l"/>
              </a:tabLst>
            </a:pP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3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important</a:t>
            </a:r>
            <a:r>
              <a:rPr sz="2400" spc="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3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</a:t>
            </a:r>
            <a:r>
              <a:rPr sz="2400" spc="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</a:t>
            </a:r>
            <a:r>
              <a:rPr sz="2400" spc="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iterative</a:t>
            </a:r>
            <a:r>
              <a:rPr sz="2400" spc="3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approach</a:t>
            </a:r>
            <a:r>
              <a:rPr sz="2400" spc="4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120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defining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Collecting</a:t>
            </a:r>
            <a:r>
              <a:rPr spc="-1225" dirty="0"/>
              <a:t> </a:t>
            </a:r>
            <a:r>
              <a:rPr spc="-10" dirty="0"/>
              <a:t>Requirements.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40030" y="1783079"/>
            <a:ext cx="11863070" cy="4696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1255" marR="6096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There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are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several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ways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to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collect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requirements.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Interviewing 	</a:t>
            </a:r>
            <a:r>
              <a:rPr sz="2400" dirty="0">
                <a:latin typeface="Courier New"/>
                <a:cs typeface="Courier New"/>
              </a:rPr>
              <a:t>stakeholders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one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often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very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effective,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although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it 	</a:t>
            </a:r>
            <a:r>
              <a:rPr sz="2400" spc="-10" dirty="0">
                <a:latin typeface="Courier New"/>
                <a:cs typeface="Courier New"/>
              </a:rPr>
              <a:t>can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expensive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consuming.</a:t>
            </a:r>
            <a:endParaRPr sz="2400" dirty="0">
              <a:latin typeface="Courier New"/>
              <a:cs typeface="Courier New"/>
            </a:endParaRPr>
          </a:p>
          <a:p>
            <a:pPr marL="1151255" marR="5397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Holding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focus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groups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facilitated</a:t>
            </a:r>
            <a:r>
              <a:rPr sz="2400" spc="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workshops,</a:t>
            </a:r>
            <a:r>
              <a:rPr sz="2400" spc="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3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using 	</a:t>
            </a:r>
            <a:r>
              <a:rPr sz="2400" dirty="0">
                <a:latin typeface="Courier New"/>
                <a:cs typeface="Courier New"/>
              </a:rPr>
              <a:t>group</a:t>
            </a:r>
            <a:r>
              <a:rPr sz="2400" spc="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creativity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12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decision-</a:t>
            </a:r>
            <a:r>
              <a:rPr sz="2400" dirty="0">
                <a:latin typeface="Courier New"/>
                <a:cs typeface="Courier New"/>
              </a:rPr>
              <a:t>making</a:t>
            </a:r>
            <a:r>
              <a:rPr sz="2400" spc="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techniques</a:t>
            </a:r>
            <a:r>
              <a:rPr sz="2400" spc="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collect 	requirements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are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normally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faster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and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less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expensive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than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one-	</a:t>
            </a:r>
            <a:r>
              <a:rPr sz="2400" spc="-10" dirty="0">
                <a:latin typeface="Courier New"/>
                <a:cs typeface="Courier New"/>
              </a:rPr>
              <a:t>on-one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interviews.</a:t>
            </a:r>
            <a:endParaRPr sz="2400" dirty="0">
              <a:latin typeface="Courier New"/>
              <a:cs typeface="Courier New"/>
            </a:endParaRPr>
          </a:p>
          <a:p>
            <a:pPr marL="1151255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1151255" algn="l"/>
              </a:tabLst>
            </a:pPr>
            <a:r>
              <a:rPr sz="2400" dirty="0">
                <a:latin typeface="Courier New"/>
                <a:cs typeface="Courier New"/>
              </a:rPr>
              <a:t>Questionnaires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surveys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be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efficient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ways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collect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Collecting</a:t>
            </a:r>
            <a:r>
              <a:rPr spc="-1225" dirty="0"/>
              <a:t> </a:t>
            </a:r>
            <a:r>
              <a:rPr spc="-10" dirty="0"/>
              <a:t>Requirements.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10895965" cy="2770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Requirements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documents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are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often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generated</a:t>
            </a:r>
            <a:r>
              <a:rPr sz="2200" spc="-305" dirty="0">
                <a:latin typeface="Courier New"/>
                <a:cs typeface="Courier New"/>
              </a:rPr>
              <a:t> </a:t>
            </a:r>
            <a:r>
              <a:rPr sz="2200" spc="-145" dirty="0">
                <a:latin typeface="Courier New"/>
                <a:cs typeface="Courier New"/>
              </a:rPr>
              <a:t>by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software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and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include </a:t>
            </a:r>
            <a:r>
              <a:rPr sz="2200" dirty="0">
                <a:latin typeface="Courier New"/>
                <a:cs typeface="Courier New"/>
              </a:rPr>
              <a:t>text,</a:t>
            </a:r>
            <a:r>
              <a:rPr sz="2200" spc="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images,</a:t>
            </a:r>
            <a:r>
              <a:rPr sz="2200" spc="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diagrams,</a:t>
            </a:r>
            <a:r>
              <a:rPr sz="2200" spc="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videos,</a:t>
            </a:r>
            <a:r>
              <a:rPr sz="2200" spc="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other</a:t>
            </a:r>
            <a:r>
              <a:rPr sz="2200" spc="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media;</a:t>
            </a:r>
            <a:r>
              <a:rPr sz="2200" spc="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they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1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often broken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down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into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different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categories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such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150" dirty="0">
                <a:latin typeface="Courier New"/>
                <a:cs typeface="Courier New"/>
              </a:rPr>
              <a:t>as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functional,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service, performance,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quality,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training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requirements,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on.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requirements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describes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how</a:t>
            </a:r>
            <a:r>
              <a:rPr sz="2200" spc="-3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requirements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urier New"/>
                <a:cs typeface="Courier New"/>
              </a:rPr>
              <a:t>will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analyzed,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documented,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managed.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4677895"/>
            <a:ext cx="10898505" cy="133477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27965" marR="8255" indent="-227965" algn="r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227965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requirements</a:t>
            </a:r>
            <a:r>
              <a:rPr sz="2200" spc="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traceability</a:t>
            </a:r>
            <a:r>
              <a:rPr sz="2200" spc="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matrix</a:t>
            </a:r>
            <a:r>
              <a:rPr sz="2200" spc="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(RTM)</a:t>
            </a:r>
            <a:r>
              <a:rPr sz="2200" spc="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table</a:t>
            </a:r>
            <a:r>
              <a:rPr sz="2200" spc="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2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lists</a:t>
            </a:r>
            <a:endParaRPr sz="22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Courier New"/>
                <a:cs typeface="Courier New"/>
              </a:rPr>
              <a:t>requirements,</a:t>
            </a:r>
            <a:r>
              <a:rPr sz="2200" spc="4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various</a:t>
            </a:r>
            <a:r>
              <a:rPr sz="2200" spc="4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attributes</a:t>
            </a:r>
            <a:r>
              <a:rPr sz="2200" spc="4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48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each</a:t>
            </a:r>
            <a:r>
              <a:rPr sz="2200" spc="3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requirement,</a:t>
            </a:r>
            <a:r>
              <a:rPr sz="2200" spc="4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39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</a:t>
            </a:r>
            <a:endParaRPr sz="22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790"/>
              </a:spcBef>
            </a:pPr>
            <a:r>
              <a:rPr sz="2200" spc="-25" dirty="0">
                <a:latin typeface="Courier New"/>
                <a:cs typeface="Courier New"/>
              </a:rPr>
              <a:t>are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0124" y="5551226"/>
            <a:ext cx="9954260" cy="89725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200" dirty="0">
                <a:latin typeface="Courier New"/>
                <a:cs typeface="Courier New"/>
              </a:rPr>
              <a:t>status</a:t>
            </a:r>
            <a:r>
              <a:rPr sz="2200" spc="1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requirements</a:t>
            </a:r>
            <a:r>
              <a:rPr sz="2200" spc="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ensure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all</a:t>
            </a:r>
            <a:r>
              <a:rPr sz="2200" spc="1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requirements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addressed.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Defining</a:t>
            </a:r>
            <a:r>
              <a:rPr spc="-122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4695" cy="480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Good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scope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definition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is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very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important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to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project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success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because </a:t>
            </a:r>
            <a:r>
              <a:rPr sz="2200" spc="-145" dirty="0">
                <a:latin typeface="Courier New"/>
                <a:cs typeface="Courier New"/>
              </a:rPr>
              <a:t>it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helps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improve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the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85" dirty="0">
                <a:latin typeface="Courier New"/>
                <a:cs typeface="Courier New"/>
              </a:rPr>
              <a:t>accuracy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315" dirty="0">
                <a:latin typeface="Courier New"/>
                <a:cs typeface="Courier New"/>
              </a:rPr>
              <a:t>of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time,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90" dirty="0">
                <a:latin typeface="Courier New"/>
                <a:cs typeface="Courier New"/>
              </a:rPr>
              <a:t>cost,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spc="-170" dirty="0">
                <a:latin typeface="Courier New"/>
                <a:cs typeface="Courier New"/>
              </a:rPr>
              <a:t>and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resource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estimates, </a:t>
            </a:r>
            <a:r>
              <a:rPr sz="2200" dirty="0">
                <a:latin typeface="Courier New"/>
                <a:cs typeface="Courier New"/>
              </a:rPr>
              <a:t>it</a:t>
            </a:r>
            <a:r>
              <a:rPr sz="2200" spc="3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defines</a:t>
            </a:r>
            <a:r>
              <a:rPr sz="2200" spc="3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2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baseline</a:t>
            </a:r>
            <a:r>
              <a:rPr sz="2200" spc="3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3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performance</a:t>
            </a:r>
            <a:r>
              <a:rPr sz="2200" spc="3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measurement</a:t>
            </a:r>
            <a:r>
              <a:rPr sz="2200" spc="43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390" dirty="0">
                <a:latin typeface="Courier New"/>
                <a:cs typeface="Courier New"/>
              </a:rPr>
              <a:t>  </a:t>
            </a:r>
            <a:r>
              <a:rPr sz="2200" spc="-30" dirty="0">
                <a:latin typeface="Courier New"/>
                <a:cs typeface="Courier New"/>
              </a:rPr>
              <a:t>project </a:t>
            </a:r>
            <a:r>
              <a:rPr sz="2200" spc="-10" dirty="0">
                <a:latin typeface="Courier New"/>
                <a:cs typeface="Courier New"/>
              </a:rPr>
              <a:t>control,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aids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communicating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clear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responsibilities.</a:t>
            </a:r>
            <a:endParaRPr sz="2200" dirty="0">
              <a:latin typeface="Courier New"/>
              <a:cs typeface="Courier New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main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tools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and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techniques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used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190" dirty="0">
                <a:latin typeface="Courier New"/>
                <a:cs typeface="Courier New"/>
              </a:rPr>
              <a:t>in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defining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scope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include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expert </a:t>
            </a:r>
            <a:r>
              <a:rPr sz="2200" dirty="0">
                <a:latin typeface="Courier New"/>
                <a:cs typeface="Courier New"/>
              </a:rPr>
              <a:t>judgment,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data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analysis,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decision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making,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interpersonal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team </a:t>
            </a:r>
            <a:r>
              <a:rPr sz="2200" spc="-10" dirty="0">
                <a:latin typeface="Courier New"/>
                <a:cs typeface="Courier New"/>
              </a:rPr>
              <a:t>skills,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product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analysis.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main</a:t>
            </a:r>
            <a:r>
              <a:rPr sz="2200" spc="-484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outputs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r>
              <a:rPr sz="2200" spc="-7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</a:t>
            </a:r>
            <a:r>
              <a:rPr sz="2200" spc="-43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definition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are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the</a:t>
            </a:r>
            <a:r>
              <a:rPr sz="2200" spc="-484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project</a:t>
            </a:r>
            <a:r>
              <a:rPr sz="2200" spc="-459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scope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statement</a:t>
            </a:r>
            <a:endParaRPr sz="2200" dirty="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documents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updates.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Creating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Work</a:t>
            </a:r>
            <a:r>
              <a:rPr spc="-1295" dirty="0"/>
              <a:t> </a:t>
            </a:r>
            <a:r>
              <a:rPr spc="-10" dirty="0"/>
              <a:t>Breakdown Structure.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977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WBS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is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5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deliverable-</a:t>
            </a:r>
            <a:r>
              <a:rPr sz="2400" dirty="0">
                <a:latin typeface="Courier New"/>
                <a:cs typeface="Courier New"/>
              </a:rPr>
              <a:t>oriented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grouping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of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the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work</a:t>
            </a:r>
            <a:r>
              <a:rPr sz="2400" spc="-4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involved 	in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defines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total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4617" y="3009137"/>
            <a:ext cx="68306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document</a:t>
            </a:r>
            <a:r>
              <a:rPr sz="2400" spc="3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provides</a:t>
            </a:r>
            <a:r>
              <a:rPr sz="2400" spc="3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basis</a:t>
            </a:r>
            <a:r>
              <a:rPr sz="2400" spc="4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for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schedules,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costs,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resources,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3009137"/>
            <a:ext cx="409257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WBS</a:t>
            </a:r>
            <a:r>
              <a:rPr sz="2400" spc="4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3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3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foundation 	</a:t>
            </a:r>
            <a:r>
              <a:rPr sz="2400" dirty="0">
                <a:latin typeface="Courier New"/>
                <a:cs typeface="Courier New"/>
              </a:rPr>
              <a:t>planning</a:t>
            </a:r>
            <a:r>
              <a:rPr sz="2400" spc="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managing 	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4781631"/>
            <a:ext cx="566547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Decomposition</a:t>
            </a:r>
            <a:r>
              <a:rPr sz="2400" spc="-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0" dirty="0">
                <a:latin typeface="Courier New"/>
                <a:cs typeface="Courier New"/>
              </a:rPr>
              <a:t>  </a:t>
            </a:r>
            <a:r>
              <a:rPr sz="2400" spc="-35" dirty="0">
                <a:latin typeface="Courier New"/>
                <a:cs typeface="Courier New"/>
              </a:rPr>
              <a:t>subdividing 	</a:t>
            </a:r>
            <a:r>
              <a:rPr sz="2400" spc="-10" dirty="0">
                <a:latin typeface="Courier New"/>
                <a:cs typeface="Courier New"/>
              </a:rPr>
              <a:t>smaller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pieces.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5366" y="4964048"/>
            <a:ext cx="1278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ourier New"/>
                <a:cs typeface="Courier New"/>
              </a:rPr>
              <a:t>project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75091" y="4964048"/>
            <a:ext cx="2212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deliverables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6902" y="4964048"/>
            <a:ext cx="744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ourier New"/>
                <a:cs typeface="Courier New"/>
              </a:rPr>
              <a:t>into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69" y="6218271"/>
            <a:ext cx="10170160" cy="36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3125">
              <a:lnSpc>
                <a:spcPts val="2755"/>
              </a:lnSpc>
            </a:pPr>
            <a:r>
              <a:rPr sz="2400" dirty="0">
                <a:latin typeface="Arial MT"/>
                <a:cs typeface="Arial MT"/>
              </a:rPr>
              <a:t>•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package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Courier New"/>
                <a:cs typeface="Courier New"/>
              </a:rPr>
              <a:t>is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task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at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lowest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level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WBS</a:t>
            </a:r>
            <a:r>
              <a:rPr sz="2400" spc="-20" dirty="0" smtClean="0">
                <a:latin typeface="Courier New"/>
                <a:cs typeface="Courier New"/>
              </a:rPr>
              <a:t>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Creating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Work</a:t>
            </a:r>
            <a:r>
              <a:rPr spc="-1295" dirty="0"/>
              <a:t> </a:t>
            </a:r>
            <a:r>
              <a:rPr spc="-10" dirty="0"/>
              <a:t>Breakdown Structure.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65430" y="1783079"/>
            <a:ext cx="11889740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6655" marR="5778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77925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50" dirty="0">
                <a:latin typeface="Courier New"/>
                <a:cs typeface="Courier New"/>
              </a:rPr>
              <a:t>B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ft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d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75" dirty="0">
                <a:latin typeface="Courier New"/>
                <a:cs typeface="Courier New"/>
              </a:rPr>
              <a:t>p</a:t>
            </a:r>
            <a:r>
              <a:rPr sz="2400" spc="-5" dirty="0">
                <a:latin typeface="Courier New"/>
                <a:cs typeface="Courier New"/>
              </a:rPr>
              <a:t>icte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45" dirty="0">
                <a:latin typeface="Courier New"/>
                <a:cs typeface="Courier New"/>
              </a:rPr>
              <a:t>t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sk</a:t>
            </a:r>
            <a:r>
              <a:rPr sz="2400" dirty="0">
                <a:latin typeface="Courier New"/>
                <a:cs typeface="Courier New"/>
              </a:rPr>
              <a:t>-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iente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40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t</a:t>
            </a:r>
            <a:r>
              <a:rPr sz="2400" spc="20" dirty="0">
                <a:latin typeface="Courier New"/>
                <a:cs typeface="Courier New"/>
              </a:rPr>
              <a:t>ivities</a:t>
            </a:r>
            <a:r>
              <a:rPr sz="2400" dirty="0">
                <a:latin typeface="Courier New"/>
                <a:cs typeface="Courier New"/>
              </a:rPr>
              <a:t>, 	</a:t>
            </a:r>
            <a:r>
              <a:rPr sz="2400" spc="-5" dirty="0">
                <a:latin typeface="Courier New"/>
                <a:cs typeface="Courier New"/>
              </a:rPr>
              <a:t>simila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4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g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nizationa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ar</a:t>
            </a:r>
            <a:r>
              <a:rPr sz="2400" dirty="0">
                <a:latin typeface="Courier New"/>
                <a:cs typeface="Courier New"/>
              </a:rPr>
              <a:t>t.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M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op</a:t>
            </a:r>
            <a:r>
              <a:rPr sz="2400" spc="-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l</a:t>
            </a:r>
            <a:r>
              <a:rPr sz="2400" spc="-25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k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625" dirty="0">
                <a:latin typeface="Courier New"/>
                <a:cs typeface="Courier New"/>
              </a:rPr>
              <a:t> </a:t>
            </a:r>
            <a:r>
              <a:rPr sz="2400" spc="2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c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ea</a:t>
            </a:r>
            <a:r>
              <a:rPr sz="2400" spc="2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e 	a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50" dirty="0">
                <a:latin typeface="Courier New"/>
                <a:cs typeface="Courier New"/>
              </a:rPr>
              <a:t>B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14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114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c</a:t>
            </a:r>
            <a:r>
              <a:rPr sz="2400" spc="-75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ar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1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rs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114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h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the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v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su</a:t>
            </a:r>
            <a:r>
              <a:rPr sz="2400" spc="20" dirty="0">
                <a:latin typeface="Courier New"/>
                <a:cs typeface="Courier New"/>
              </a:rPr>
              <a:t>aliz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25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</a:t>
            </a:r>
            <a:r>
              <a:rPr sz="2400" spc="-10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w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spc="-5" dirty="0">
                <a:latin typeface="Courier New"/>
                <a:cs typeface="Courier New"/>
              </a:rPr>
              <a:t>ole 	projec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al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its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mai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parts</a:t>
            </a:r>
            <a:r>
              <a:rPr sz="2400" dirty="0">
                <a:latin typeface="Courier New"/>
                <a:cs typeface="Courier New"/>
              </a:rPr>
              <a:t>.</a:t>
            </a:r>
          </a:p>
          <a:p>
            <a:pPr marL="1176655" marR="53975" indent="-227329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1177925" algn="l"/>
              </a:tabLst>
            </a:pPr>
            <a:r>
              <a:rPr sz="2400" spc="-30" dirty="0">
                <a:latin typeface="Courier New"/>
                <a:cs typeface="Courier New"/>
              </a:rPr>
              <a:t>Many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documents,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such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as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contracts,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use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50" dirty="0">
                <a:latin typeface="Courier New"/>
                <a:cs typeface="Courier New"/>
              </a:rPr>
              <a:t>the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tabular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format,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but 	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numbering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scheme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vary.</a:t>
            </a:r>
            <a:endParaRPr sz="2400" dirty="0">
              <a:latin typeface="Courier New"/>
              <a:cs typeface="Courier New"/>
            </a:endParaRPr>
          </a:p>
          <a:p>
            <a:pPr marL="1176655" marR="55880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1177925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55" dirty="0">
                <a:latin typeface="Courier New"/>
                <a:cs typeface="Courier New"/>
              </a:rPr>
              <a:t>o</a:t>
            </a:r>
            <a:r>
              <a:rPr sz="2400" spc="-30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30" dirty="0">
                <a:latin typeface="Courier New"/>
                <a:cs typeface="Courier New"/>
              </a:rPr>
              <a:t>ck</a:t>
            </a:r>
            <a:r>
              <a:rPr sz="2400" spc="-5" dirty="0">
                <a:latin typeface="Courier New"/>
                <a:cs typeface="Courier New"/>
              </a:rPr>
              <a:t>ag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6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5" dirty="0">
                <a:latin typeface="Courier New"/>
                <a:cs typeface="Courier New"/>
              </a:rPr>
              <a:t>a</a:t>
            </a:r>
            <a:r>
              <a:rPr sz="2400" spc="-3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409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</a:t>
            </a:r>
            <a:r>
              <a:rPr sz="2400" spc="-5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l</a:t>
            </a:r>
            <a:r>
              <a:rPr sz="2400" spc="-55" dirty="0">
                <a:latin typeface="Courier New"/>
                <a:cs typeface="Courier New"/>
              </a:rPr>
              <a:t>o</a:t>
            </a:r>
            <a:r>
              <a:rPr sz="2400" spc="-30" dirty="0">
                <a:latin typeface="Courier New"/>
                <a:cs typeface="Courier New"/>
              </a:rPr>
              <a:t>w</a:t>
            </a:r>
            <a:r>
              <a:rPr sz="2400" spc="-5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l</a:t>
            </a:r>
            <a:r>
              <a:rPr sz="2400" spc="-55" dirty="0">
                <a:latin typeface="Courier New"/>
                <a:cs typeface="Courier New"/>
              </a:rPr>
              <a:t>e</a:t>
            </a:r>
            <a:r>
              <a:rPr sz="2400" spc="-30" dirty="0">
                <a:latin typeface="Courier New"/>
                <a:cs typeface="Courier New"/>
              </a:rPr>
              <a:t>ve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3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W</a:t>
            </a:r>
            <a:r>
              <a:rPr sz="2400" spc="-100" dirty="0">
                <a:latin typeface="Courier New"/>
                <a:cs typeface="Courier New"/>
              </a:rPr>
              <a:t>B</a:t>
            </a:r>
            <a:r>
              <a:rPr sz="2400" spc="2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.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0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5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rk 	packag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5" dirty="0">
                <a:latin typeface="Courier New"/>
                <a:cs typeface="Courier New"/>
              </a:rPr>
              <a:t>l</a:t>
            </a:r>
            <a:r>
              <a:rPr sz="2400" spc="-3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17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r</a:t>
            </a:r>
            <a:r>
              <a:rPr sz="2400" spc="-55" dirty="0">
                <a:latin typeface="Courier New"/>
                <a:cs typeface="Courier New"/>
              </a:rPr>
              <a:t>e</a:t>
            </a:r>
            <a:r>
              <a:rPr sz="2400" spc="-30" dirty="0">
                <a:latin typeface="Courier New"/>
                <a:cs typeface="Courier New"/>
              </a:rPr>
              <a:t>p</a:t>
            </a:r>
            <a:r>
              <a:rPr sz="2400" spc="-5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esent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1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l</a:t>
            </a:r>
            <a:r>
              <a:rPr sz="2400" spc="-55" dirty="0">
                <a:latin typeface="Courier New"/>
                <a:cs typeface="Courier New"/>
              </a:rPr>
              <a:t>e</a:t>
            </a:r>
            <a:r>
              <a:rPr sz="2400" spc="-30" dirty="0">
                <a:latin typeface="Courier New"/>
                <a:cs typeface="Courier New"/>
              </a:rPr>
              <a:t>ve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21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</a:t>
            </a:r>
            <a:r>
              <a:rPr sz="2400" spc="-30" dirty="0">
                <a:latin typeface="Courier New"/>
                <a:cs typeface="Courier New"/>
              </a:rPr>
              <a:t>h</a:t>
            </a:r>
            <a:r>
              <a:rPr sz="2400" spc="-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</a:t>
            </a:r>
            <a:r>
              <a:rPr sz="2400" spc="-3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20" dirty="0" smtClean="0">
                <a:latin typeface="Courier New"/>
                <a:cs typeface="Courier New"/>
              </a:rPr>
              <a:t>project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Creating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Work</a:t>
            </a:r>
            <a:r>
              <a:rPr spc="-1295" dirty="0"/>
              <a:t> </a:t>
            </a:r>
            <a:r>
              <a:rPr spc="-10" dirty="0"/>
              <a:t>Breakdown Structure.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623" y="1990344"/>
            <a:ext cx="10552653" cy="28773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41014" y="5030216"/>
            <a:ext cx="440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Sample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intranet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WBS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organized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product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Creating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Work</a:t>
            </a:r>
            <a:r>
              <a:rPr spc="-1295" dirty="0"/>
              <a:t> </a:t>
            </a:r>
            <a:r>
              <a:rPr spc="-10" dirty="0"/>
              <a:t>Breakdown Structure.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983" y="1322832"/>
            <a:ext cx="9400031" cy="42123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14064" y="5618784"/>
            <a:ext cx="4268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Sample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intranet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WBS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organized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phase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Creating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Work</a:t>
            </a:r>
            <a:r>
              <a:rPr spc="-1295" dirty="0"/>
              <a:t> </a:t>
            </a:r>
            <a:r>
              <a:rPr spc="-10" dirty="0"/>
              <a:t>Breakdown Structure.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9538"/>
            <a:ext cx="10907395" cy="3566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Many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people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confuse</a:t>
            </a:r>
            <a:r>
              <a:rPr sz="2200" spc="-12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tasks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on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WBS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with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specifications.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Tasks</a:t>
            </a:r>
            <a:r>
              <a:rPr sz="2200" spc="-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a </a:t>
            </a:r>
            <a:r>
              <a:rPr sz="2200" spc="-10" dirty="0">
                <a:latin typeface="Courier New"/>
                <a:cs typeface="Courier New"/>
              </a:rPr>
              <a:t>WBS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represent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that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needs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done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complete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project.</a:t>
            </a:r>
            <a:endParaRPr sz="2200">
              <a:latin typeface="Courier New"/>
              <a:cs typeface="Courier New"/>
            </a:endParaRPr>
          </a:p>
          <a:p>
            <a:pPr marL="241300" marR="13970" indent="-228600" algn="just">
              <a:lnSpc>
                <a:spcPct val="14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50" dirty="0">
                <a:latin typeface="Courier New"/>
                <a:cs typeface="Courier New"/>
              </a:rPr>
              <a:t>It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85" dirty="0">
                <a:latin typeface="Courier New"/>
                <a:cs typeface="Courier New"/>
              </a:rPr>
              <a:t>is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spc="-85" dirty="0">
                <a:latin typeface="Courier New"/>
                <a:cs typeface="Courier New"/>
              </a:rPr>
              <a:t>also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very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important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190" dirty="0">
                <a:latin typeface="Courier New"/>
                <a:cs typeface="Courier New"/>
              </a:rPr>
              <a:t>to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involve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125" dirty="0">
                <a:latin typeface="Courier New"/>
                <a:cs typeface="Courier New"/>
              </a:rPr>
              <a:t>the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entire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project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team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and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dirty="0">
                <a:latin typeface="Courier New"/>
                <a:cs typeface="Courier New"/>
              </a:rPr>
              <a:t>customer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creating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and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reviewing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WBS;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people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who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will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do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should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help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by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creating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WBS.</a:t>
            </a:r>
            <a:endParaRPr sz="2200">
              <a:latin typeface="Courier New"/>
              <a:cs typeface="Courier New"/>
            </a:endParaRPr>
          </a:p>
          <a:p>
            <a:pPr marL="241300" marR="16510" indent="-228600" algn="just">
              <a:lnSpc>
                <a:spcPct val="14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5" dirty="0">
                <a:latin typeface="Courier New"/>
                <a:cs typeface="Courier New"/>
              </a:rPr>
              <a:t>Remember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114" dirty="0">
                <a:latin typeface="Courier New"/>
                <a:cs typeface="Courier New"/>
              </a:rPr>
              <a:t>that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170" dirty="0">
                <a:latin typeface="Courier New"/>
                <a:cs typeface="Courier New"/>
              </a:rPr>
              <a:t>the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125" dirty="0">
                <a:latin typeface="Courier New"/>
                <a:cs typeface="Courier New"/>
              </a:rPr>
              <a:t>main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purpose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315" dirty="0">
                <a:latin typeface="Courier New"/>
                <a:cs typeface="Courier New"/>
              </a:rPr>
              <a:t>of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190" dirty="0">
                <a:latin typeface="Courier New"/>
                <a:cs typeface="Courier New"/>
              </a:rPr>
              <a:t>the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spc="-180" dirty="0">
                <a:latin typeface="Courier New"/>
                <a:cs typeface="Courier New"/>
              </a:rPr>
              <a:t>WBS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spc="-315" dirty="0">
                <a:latin typeface="Courier New"/>
                <a:cs typeface="Courier New"/>
              </a:rPr>
              <a:t>is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spc="-330" dirty="0">
                <a:latin typeface="Courier New"/>
                <a:cs typeface="Courier New"/>
              </a:rPr>
              <a:t>to</a:t>
            </a:r>
            <a:r>
              <a:rPr sz="220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define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145" dirty="0">
                <a:latin typeface="Courier New"/>
                <a:cs typeface="Courier New"/>
              </a:rPr>
              <a:t>all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of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195" dirty="0">
                <a:latin typeface="Courier New"/>
                <a:cs typeface="Courier New"/>
              </a:rPr>
              <a:t>the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work </a:t>
            </a:r>
            <a:r>
              <a:rPr sz="2200" dirty="0">
                <a:latin typeface="Courier New"/>
                <a:cs typeface="Courier New"/>
              </a:rPr>
              <a:t>required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complete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project,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so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focus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while</a:t>
            </a:r>
            <a:r>
              <a:rPr sz="2200" spc="12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following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0124" y="5519800"/>
            <a:ext cx="682180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200" spc="-10" dirty="0">
                <a:latin typeface="Courier New"/>
                <a:cs typeface="Courier New"/>
              </a:rPr>
              <a:t>your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organization’s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structural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guidelines.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Creating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Work</a:t>
            </a:r>
            <a:r>
              <a:rPr spc="-1295" dirty="0"/>
              <a:t> </a:t>
            </a:r>
            <a:r>
              <a:rPr spc="-10" dirty="0"/>
              <a:t>Breakdown Structure.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27330" y="1783079"/>
            <a:ext cx="11837670" cy="4696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8555" marR="4381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39825" algn="l"/>
              </a:tabLst>
            </a:pPr>
            <a:r>
              <a:rPr sz="2400" spc="-60" dirty="0">
                <a:latin typeface="Courier New"/>
                <a:cs typeface="Courier New"/>
              </a:rPr>
              <a:t>When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using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project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management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software,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estimates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of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work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time 	</a:t>
            </a:r>
            <a:r>
              <a:rPr sz="2400" dirty="0">
                <a:latin typeface="Courier New"/>
                <a:cs typeface="Courier New"/>
              </a:rPr>
              <a:t>should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entered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only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at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the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work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package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level.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rest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WBS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items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are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just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groupings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395" dirty="0">
                <a:latin typeface="Courier New"/>
                <a:cs typeface="Courier New"/>
              </a:rPr>
              <a:t>or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summary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tasks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150" dirty="0">
                <a:latin typeface="Courier New"/>
                <a:cs typeface="Courier New"/>
              </a:rPr>
              <a:t>for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work 	</a:t>
            </a:r>
            <a:r>
              <a:rPr sz="2400" spc="-10" dirty="0">
                <a:latin typeface="Courier New"/>
                <a:cs typeface="Courier New"/>
              </a:rPr>
              <a:t>packages.</a:t>
            </a:r>
            <a:endParaRPr sz="2400" dirty="0">
              <a:latin typeface="Courier New"/>
              <a:cs typeface="Courier New"/>
            </a:endParaRPr>
          </a:p>
          <a:p>
            <a:pPr marL="1138555" marR="43180" indent="-227329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1139825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software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automatically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calculates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duration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estimates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for 	</a:t>
            </a:r>
            <a:r>
              <a:rPr sz="2400" spc="-10" dirty="0">
                <a:latin typeface="Courier New"/>
                <a:cs typeface="Courier New"/>
              </a:rPr>
              <a:t>various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WBS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levels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based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on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data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entered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30" dirty="0">
                <a:latin typeface="Courier New"/>
                <a:cs typeface="Courier New"/>
              </a:rPr>
              <a:t>for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each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work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package 	and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WBS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hierarchy.</a:t>
            </a:r>
            <a:endParaRPr sz="2400" dirty="0">
              <a:latin typeface="Courier New"/>
              <a:cs typeface="Courier New"/>
            </a:endParaRPr>
          </a:p>
          <a:p>
            <a:pPr marL="1138555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1138555" algn="l"/>
              </a:tabLst>
            </a:pPr>
            <a:r>
              <a:rPr sz="2400" dirty="0">
                <a:latin typeface="Courier New"/>
                <a:cs typeface="Courier New"/>
              </a:rPr>
              <a:t>Many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people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confuse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tasks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on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WBS</a:t>
            </a:r>
            <a:r>
              <a:rPr sz="2400" spc="-5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specifications.</a:t>
            </a:r>
            <a:r>
              <a:rPr sz="2400" spc="-240" dirty="0">
                <a:latin typeface="Courier New"/>
                <a:cs typeface="Courier New"/>
              </a:rPr>
              <a:t> 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397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Creating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Work</a:t>
            </a:r>
            <a:r>
              <a:rPr spc="-1295" dirty="0"/>
              <a:t> </a:t>
            </a:r>
            <a:r>
              <a:rPr spc="-10" dirty="0"/>
              <a:t>Breakdown Structure.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151888"/>
            <a:ext cx="5401056" cy="28498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6479" y="2151888"/>
            <a:ext cx="5760720" cy="28803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8429" y="5474004"/>
            <a:ext cx="4789170" cy="490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105"/>
              </a:spcBef>
            </a:pPr>
            <a:r>
              <a:rPr sz="1600" dirty="0">
                <a:latin typeface="Calibri"/>
                <a:cs typeface="Calibri"/>
              </a:rPr>
              <a:t>AWBS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Gantt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chart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website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organized</a:t>
            </a:r>
            <a:r>
              <a:rPr sz="1600" spc="-25" dirty="0">
                <a:latin typeface="Calibri"/>
                <a:cs typeface="Calibri"/>
              </a:rPr>
              <a:t> by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25"/>
              </a:lnSpc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management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groups.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254" y="5244287"/>
            <a:ext cx="4765675" cy="72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26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WBS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Gantt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chart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 software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development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project </a:t>
            </a:r>
            <a:r>
              <a:rPr sz="1600" dirty="0">
                <a:latin typeface="Calibri"/>
                <a:cs typeface="Calibri"/>
              </a:rPr>
              <a:t>(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see pages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2016,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217)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Approaches</a:t>
            </a:r>
            <a:r>
              <a:rPr spc="-1225" dirty="0"/>
              <a:t> </a:t>
            </a:r>
            <a:r>
              <a:rPr spc="-10" dirty="0"/>
              <a:t>to</a:t>
            </a:r>
            <a:r>
              <a:rPr spc="-1270" dirty="0"/>
              <a:t> </a:t>
            </a:r>
            <a:r>
              <a:rPr spc="-10" dirty="0"/>
              <a:t>Developing</a:t>
            </a:r>
            <a:r>
              <a:rPr spc="-1295" dirty="0"/>
              <a:t> </a:t>
            </a:r>
            <a:r>
              <a:rPr spc="-20" dirty="0"/>
              <a:t>WBSs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7973695" cy="309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There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several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approaches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develop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WBS: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50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Using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guidelines.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25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analogy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approach.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50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top-</a:t>
            </a:r>
            <a:r>
              <a:rPr sz="2400" dirty="0">
                <a:latin typeface="Courier New"/>
                <a:cs typeface="Courier New"/>
              </a:rPr>
              <a:t>down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approach.</a:t>
            </a:r>
            <a:endParaRPr sz="2400">
              <a:latin typeface="Courier New"/>
              <a:cs typeface="Courier New"/>
            </a:endParaRPr>
          </a:p>
          <a:p>
            <a:pPr marL="736600" lvl="1" indent="-267335">
              <a:lnSpc>
                <a:spcPct val="100000"/>
              </a:lnSpc>
              <a:spcBef>
                <a:spcPts val="2450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bottom-</a:t>
            </a:r>
            <a:r>
              <a:rPr sz="2400" spc="-15" dirty="0">
                <a:latin typeface="Courier New"/>
                <a:cs typeface="Courier New"/>
              </a:rPr>
              <a:t>up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approach.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674" y="5344769"/>
            <a:ext cx="4855210" cy="72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035" indent="-26733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0035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mind-mapping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approach.</a:t>
            </a:r>
            <a:endParaRPr sz="240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  <a:spcBef>
                <a:spcPts val="1055"/>
              </a:spcBef>
            </a:pPr>
            <a:r>
              <a:rPr sz="1300" spc="-20" dirty="0">
                <a:latin typeface="Courier New"/>
                <a:cs typeface="Courier New"/>
              </a:rPr>
              <a:t>221,</a:t>
            </a:r>
            <a:r>
              <a:rPr sz="1300" spc="-430" dirty="0">
                <a:latin typeface="Courier New"/>
                <a:cs typeface="Courier New"/>
              </a:rPr>
              <a:t> </a:t>
            </a:r>
            <a:r>
              <a:rPr sz="1300" spc="-40" dirty="0">
                <a:latin typeface="Courier New"/>
                <a:cs typeface="Courier New"/>
              </a:rPr>
              <a:t>222</a:t>
            </a:r>
            <a:r>
              <a:rPr sz="1300" spc="-455" dirty="0"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)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WBS</a:t>
            </a:r>
            <a:r>
              <a:rPr spc="-1270" dirty="0"/>
              <a:t> </a:t>
            </a:r>
            <a:r>
              <a:rPr spc="-10" dirty="0"/>
              <a:t>Dictionary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435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Many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WBS</a:t>
            </a:r>
            <a:r>
              <a:rPr spc="-3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tasks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are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vague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and</a:t>
            </a:r>
            <a:r>
              <a:rPr spc="-32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must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be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explained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more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so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people 	know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what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80" dirty="0">
                <a:solidFill>
                  <a:schemeClr val="bg1"/>
                </a:solidFill>
              </a:rPr>
              <a:t>to </a:t>
            </a:r>
            <a:r>
              <a:rPr spc="-204" dirty="0">
                <a:solidFill>
                  <a:schemeClr val="bg1"/>
                </a:solidFill>
              </a:rPr>
              <a:t>do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130" dirty="0">
                <a:solidFill>
                  <a:schemeClr val="bg1"/>
                </a:solidFill>
              </a:rPr>
              <a:t>and</a:t>
            </a:r>
            <a:r>
              <a:rPr spc="-229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can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estimate</a:t>
            </a:r>
            <a:r>
              <a:rPr spc="-32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how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long</a:t>
            </a:r>
            <a:r>
              <a:rPr spc="-235" dirty="0">
                <a:solidFill>
                  <a:schemeClr val="bg1"/>
                </a:solidFill>
              </a:rPr>
              <a:t> </a:t>
            </a:r>
            <a:r>
              <a:rPr spc="-204" dirty="0">
                <a:solidFill>
                  <a:schemeClr val="bg1"/>
                </a:solidFill>
              </a:rPr>
              <a:t>it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will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take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40" dirty="0">
                <a:solidFill>
                  <a:schemeClr val="bg1"/>
                </a:solidFill>
              </a:rPr>
              <a:t>and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what 	</a:t>
            </a:r>
            <a:r>
              <a:rPr spc="-10" dirty="0">
                <a:solidFill>
                  <a:schemeClr val="bg1"/>
                </a:solidFill>
              </a:rPr>
              <a:t>it</a:t>
            </a:r>
            <a:r>
              <a:rPr spc="-7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will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cost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do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work.</a:t>
            </a:r>
          </a:p>
          <a:p>
            <a:pPr marL="240029" marR="50800" indent="-227329" algn="just">
              <a:lnSpc>
                <a:spcPct val="1484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38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WBS</a:t>
            </a:r>
            <a:r>
              <a:rPr spc="-405" dirty="0">
                <a:solidFill>
                  <a:schemeClr val="bg1"/>
                </a:solidFill>
              </a:rPr>
              <a:t> 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dictionary</a:t>
            </a:r>
            <a:r>
              <a:rPr i="1" spc="-36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is</a:t>
            </a:r>
            <a:r>
              <a:rPr i="1" spc="-36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i="1" spc="-37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document</a:t>
            </a:r>
            <a:r>
              <a:rPr i="1" spc="-37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that</a:t>
            </a:r>
            <a:r>
              <a:rPr i="1" spc="-36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describes</a:t>
            </a:r>
            <a:r>
              <a:rPr i="1" spc="-37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i="1" spc="-10" dirty="0">
                <a:solidFill>
                  <a:schemeClr val="bg1"/>
                </a:solidFill>
                <a:latin typeface="Courier New"/>
                <a:cs typeface="Courier New"/>
              </a:rPr>
              <a:t>detailed 	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information</a:t>
            </a:r>
            <a:r>
              <a:rPr i="1" spc="-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about</a:t>
            </a:r>
            <a:r>
              <a:rPr i="1" spc="-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each</a:t>
            </a:r>
            <a:r>
              <a:rPr i="1" spc="-3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dirty="0">
                <a:solidFill>
                  <a:schemeClr val="bg1"/>
                </a:solidFill>
                <a:latin typeface="Courier New"/>
                <a:cs typeface="Courier New"/>
              </a:rPr>
              <a:t>WBS</a:t>
            </a:r>
            <a:r>
              <a:rPr i="1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chemeClr val="bg1"/>
                </a:solidFill>
                <a:latin typeface="Courier New"/>
                <a:cs typeface="Courier New"/>
              </a:rPr>
              <a:t>item.</a:t>
            </a:r>
          </a:p>
          <a:p>
            <a:pPr marL="240029" marR="5080" indent="-227329" algn="just">
              <a:lnSpc>
                <a:spcPct val="15000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3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approved</a:t>
            </a:r>
            <a:r>
              <a:rPr spc="3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3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scope</a:t>
            </a:r>
            <a:r>
              <a:rPr spc="3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statement</a:t>
            </a:r>
            <a:r>
              <a:rPr spc="3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2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its</a:t>
            </a:r>
            <a:r>
              <a:rPr spc="3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WBS</a:t>
            </a:r>
            <a:r>
              <a:rPr spc="5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31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WBS 	</a:t>
            </a:r>
            <a:r>
              <a:rPr dirty="0">
                <a:solidFill>
                  <a:schemeClr val="bg1"/>
                </a:solidFill>
              </a:rPr>
              <a:t>dictionary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form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scope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baseline,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which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3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used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2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measure 	performance</a:t>
            </a:r>
            <a:r>
              <a:rPr spc="-7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meeting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scope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goals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Advice</a:t>
            </a:r>
            <a:r>
              <a:rPr spc="-1230" dirty="0"/>
              <a:t> </a:t>
            </a:r>
            <a:r>
              <a:rPr spc="-10" dirty="0"/>
              <a:t>for</a:t>
            </a:r>
            <a:r>
              <a:rPr spc="-1270" dirty="0"/>
              <a:t> </a:t>
            </a:r>
            <a:r>
              <a:rPr spc="-10" dirty="0"/>
              <a:t>Creating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WBS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25" dirty="0"/>
              <a:t>WBS </a:t>
            </a:r>
            <a:r>
              <a:rPr spc="-10" dirty="0"/>
              <a:t>Dictionary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68529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6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unit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work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should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appear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at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only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one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place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WBS.</a:t>
            </a:r>
          </a:p>
          <a:p>
            <a:pPr marL="240029" marR="5080" indent="-227329" algn="just">
              <a:lnSpc>
                <a:spcPct val="14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pc="-5" dirty="0">
                <a:solidFill>
                  <a:schemeClr val="bg1"/>
                </a:solidFill>
              </a:rPr>
              <a:t>Th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w</a:t>
            </a:r>
            <a:r>
              <a:rPr spc="-50" dirty="0">
                <a:solidFill>
                  <a:schemeClr val="bg1"/>
                </a:solidFill>
              </a:rPr>
              <a:t>o</a:t>
            </a:r>
            <a:r>
              <a:rPr spc="-25" dirty="0">
                <a:solidFill>
                  <a:schemeClr val="bg1"/>
                </a:solidFill>
              </a:rPr>
              <a:t>r</a:t>
            </a:r>
            <a:r>
              <a:rPr dirty="0">
                <a:solidFill>
                  <a:schemeClr val="bg1"/>
                </a:solidFill>
              </a:rPr>
              <a:t>k</a:t>
            </a:r>
            <a:r>
              <a:rPr spc="-4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c</a:t>
            </a:r>
            <a:r>
              <a:rPr spc="-50" dirty="0">
                <a:solidFill>
                  <a:schemeClr val="bg1"/>
                </a:solidFill>
              </a:rPr>
              <a:t>o</a:t>
            </a:r>
            <a:r>
              <a:rPr spc="-25" dirty="0">
                <a:solidFill>
                  <a:schemeClr val="bg1"/>
                </a:solidFill>
              </a:rPr>
              <a:t>nte</a:t>
            </a:r>
            <a:r>
              <a:rPr spc="-5" dirty="0">
                <a:solidFill>
                  <a:schemeClr val="bg1"/>
                </a:solidFill>
              </a:rPr>
              <a:t>n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220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f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580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W</a:t>
            </a:r>
            <a:r>
              <a:rPr spc="-75" dirty="0">
                <a:solidFill>
                  <a:schemeClr val="bg1"/>
                </a:solidFill>
              </a:rPr>
              <a:t>B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459" dirty="0">
                <a:solidFill>
                  <a:schemeClr val="bg1"/>
                </a:solidFill>
              </a:rPr>
              <a:t> </a:t>
            </a:r>
            <a:r>
              <a:rPr spc="-120" dirty="0">
                <a:solidFill>
                  <a:schemeClr val="bg1"/>
                </a:solidFill>
              </a:rPr>
              <a:t>i</a:t>
            </a:r>
            <a:r>
              <a:rPr spc="-50" dirty="0">
                <a:solidFill>
                  <a:schemeClr val="bg1"/>
                </a:solidFill>
              </a:rPr>
              <a:t>t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m</a:t>
            </a:r>
            <a:r>
              <a:rPr spc="-4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484" dirty="0">
                <a:solidFill>
                  <a:schemeClr val="bg1"/>
                </a:solidFill>
              </a:rPr>
              <a:t> </a:t>
            </a:r>
            <a:r>
              <a:rPr spc="-120" dirty="0">
                <a:solidFill>
                  <a:schemeClr val="bg1"/>
                </a:solidFill>
              </a:rPr>
              <a:t>t</a:t>
            </a:r>
            <a:r>
              <a:rPr spc="-70" dirty="0">
                <a:solidFill>
                  <a:schemeClr val="bg1"/>
                </a:solidFill>
              </a:rPr>
              <a:t>h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spc="-195" dirty="0">
                <a:solidFill>
                  <a:schemeClr val="bg1"/>
                </a:solidFill>
              </a:rPr>
              <a:t>s</a:t>
            </a:r>
            <a:r>
              <a:rPr spc="-100" dirty="0">
                <a:solidFill>
                  <a:schemeClr val="bg1"/>
                </a:solidFill>
              </a:rPr>
              <a:t>u</a:t>
            </a:r>
            <a:r>
              <a:rPr dirty="0">
                <a:solidFill>
                  <a:schemeClr val="bg1"/>
                </a:solidFill>
              </a:rPr>
              <a:t>m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f</a:t>
            </a:r>
            <a:r>
              <a:rPr spc="-484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t</a:t>
            </a:r>
            <a:r>
              <a:rPr spc="-75" dirty="0">
                <a:solidFill>
                  <a:schemeClr val="bg1"/>
                </a:solidFill>
              </a:rPr>
              <a:t>h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W</a:t>
            </a:r>
            <a:r>
              <a:rPr spc="-25" dirty="0">
                <a:solidFill>
                  <a:schemeClr val="bg1"/>
                </a:solidFill>
              </a:rPr>
              <a:t>B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415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i</a:t>
            </a:r>
            <a:r>
              <a:rPr spc="-50" dirty="0">
                <a:solidFill>
                  <a:schemeClr val="bg1"/>
                </a:solidFill>
              </a:rPr>
              <a:t>te</a:t>
            </a:r>
            <a:r>
              <a:rPr spc="20" dirty="0">
                <a:solidFill>
                  <a:schemeClr val="bg1"/>
                </a:solidFill>
              </a:rPr>
              <a:t>m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b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spc="-5" dirty="0">
                <a:solidFill>
                  <a:schemeClr val="bg1"/>
                </a:solidFill>
              </a:rPr>
              <a:t>low 	it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240029" marR="5080" indent="-227329" algn="just">
              <a:lnSpc>
                <a:spcPct val="14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37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WBS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item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55" dirty="0">
                <a:solidFill>
                  <a:schemeClr val="bg1"/>
                </a:solidFill>
              </a:rPr>
              <a:t>is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spc="-170" dirty="0">
                <a:solidFill>
                  <a:schemeClr val="bg1"/>
                </a:solidFill>
              </a:rPr>
              <a:t>the</a:t>
            </a:r>
            <a:r>
              <a:rPr spc="-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responsibility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only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one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individual,</a:t>
            </a:r>
            <a:r>
              <a:rPr spc="-1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even 	</a:t>
            </a:r>
            <a:r>
              <a:rPr spc="-10" dirty="0">
                <a:solidFill>
                  <a:schemeClr val="bg1"/>
                </a:solidFill>
              </a:rPr>
              <a:t>though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many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people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may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be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working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it.</a:t>
            </a:r>
          </a:p>
          <a:p>
            <a:pPr marL="240029" marR="5080" indent="-227329" algn="just">
              <a:lnSpc>
                <a:spcPct val="14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3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WBS</a:t>
            </a:r>
            <a:r>
              <a:rPr spc="2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must</a:t>
            </a:r>
            <a:r>
              <a:rPr spc="3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consistent</a:t>
            </a:r>
            <a:r>
              <a:rPr spc="3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with</a:t>
            </a:r>
            <a:r>
              <a:rPr spc="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3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way</a:t>
            </a:r>
            <a:r>
              <a:rPr spc="2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2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which</a:t>
            </a:r>
            <a:r>
              <a:rPr spc="5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work</a:t>
            </a:r>
            <a:r>
              <a:rPr spc="33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is 	</a:t>
            </a:r>
            <a:r>
              <a:rPr dirty="0">
                <a:solidFill>
                  <a:schemeClr val="bg1"/>
                </a:solidFill>
              </a:rPr>
              <a:t>actually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going</a:t>
            </a:r>
            <a:r>
              <a:rPr spc="-1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-25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performed;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it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should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serve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 	team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first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other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purposes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only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if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practical.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Advice</a:t>
            </a:r>
            <a:r>
              <a:rPr spc="-1230" dirty="0"/>
              <a:t> </a:t>
            </a:r>
            <a:r>
              <a:rPr spc="-10" dirty="0"/>
              <a:t>for</a:t>
            </a:r>
            <a:r>
              <a:rPr spc="-1270" dirty="0"/>
              <a:t> </a:t>
            </a:r>
            <a:r>
              <a:rPr spc="-10" dirty="0"/>
              <a:t>Creating</a:t>
            </a:r>
            <a:r>
              <a:rPr spc="-1300" dirty="0"/>
              <a:t> </a:t>
            </a:r>
            <a:r>
              <a:rPr dirty="0"/>
              <a:t>a</a:t>
            </a:r>
            <a:r>
              <a:rPr spc="-1295" dirty="0"/>
              <a:t> </a:t>
            </a:r>
            <a:r>
              <a:rPr spc="-10" dirty="0"/>
              <a:t>WBS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25" dirty="0"/>
              <a:t>WBS </a:t>
            </a:r>
            <a:r>
              <a:rPr spc="-10" dirty="0"/>
              <a:t>Dictionary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467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team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members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should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be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involved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in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developing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WBS 	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ensure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consistency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buy-</a:t>
            </a:r>
            <a:r>
              <a:rPr sz="2400" spc="-25" dirty="0">
                <a:latin typeface="Courier New"/>
                <a:cs typeface="Courier New"/>
              </a:rPr>
              <a:t>in.</a:t>
            </a:r>
            <a:endParaRPr sz="2400">
              <a:latin typeface="Courier New"/>
              <a:cs typeface="Courier New"/>
            </a:endParaRPr>
          </a:p>
          <a:p>
            <a:pPr marL="240029" marR="762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Each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WBS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item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must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330" dirty="0">
                <a:latin typeface="Courier New"/>
                <a:cs typeface="Courier New"/>
              </a:rPr>
              <a:t>be</a:t>
            </a:r>
            <a:r>
              <a:rPr sz="2400" spc="-30" dirty="0">
                <a:latin typeface="Courier New"/>
                <a:cs typeface="Courier New"/>
              </a:rPr>
              <a:t> documented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395" dirty="0">
                <a:latin typeface="Courier New"/>
                <a:cs typeface="Courier New"/>
              </a:rPr>
              <a:t>in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5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WBS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dictionary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to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ensure 	</a:t>
            </a:r>
            <a:r>
              <a:rPr sz="2400" dirty="0">
                <a:latin typeface="Courier New"/>
                <a:cs typeface="Courier New"/>
              </a:rPr>
              <a:t>accurate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understanding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scope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work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included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not 	</a:t>
            </a:r>
            <a:r>
              <a:rPr sz="2400" spc="-10" dirty="0">
                <a:latin typeface="Courier New"/>
                <a:cs typeface="Courier New"/>
              </a:rPr>
              <a:t>included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item.</a:t>
            </a:r>
            <a:endParaRPr sz="2400">
              <a:latin typeface="Courier New"/>
              <a:cs typeface="Courier New"/>
            </a:endParaRPr>
          </a:p>
          <a:p>
            <a:pPr marL="240029" marR="635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WBS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must</a:t>
            </a:r>
            <a:r>
              <a:rPr sz="2400" spc="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flexible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tool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accommodate</a:t>
            </a:r>
            <a:r>
              <a:rPr sz="2400" spc="2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inevitable 	</a:t>
            </a:r>
            <a:r>
              <a:rPr sz="2400" spc="-35" dirty="0">
                <a:latin typeface="Courier New"/>
                <a:cs typeface="Courier New"/>
              </a:rPr>
              <a:t>changes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while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properly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maintaining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control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spc="-350" dirty="0">
                <a:latin typeface="Courier New"/>
                <a:cs typeface="Courier New"/>
              </a:rPr>
              <a:t>of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165" dirty="0">
                <a:latin typeface="Courier New"/>
                <a:cs typeface="Courier New"/>
              </a:rPr>
              <a:t>the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spc="-165" dirty="0">
                <a:latin typeface="Courier New"/>
                <a:cs typeface="Courier New"/>
              </a:rPr>
              <a:t>work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content 	in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according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statement.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Verifying</a:t>
            </a:r>
            <a:r>
              <a:rPr spc="-122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479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very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difficult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create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good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statement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WBS 	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 dirty="0">
              <a:latin typeface="Courier New"/>
              <a:cs typeface="Courier New"/>
            </a:endParaRPr>
          </a:p>
          <a:p>
            <a:pPr marL="240029" marR="8255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is</a:t>
            </a:r>
            <a:r>
              <a:rPr sz="2400" spc="-42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even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more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difficult</a:t>
            </a:r>
            <a:r>
              <a:rPr sz="2400" spc="-35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to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verify</a:t>
            </a:r>
            <a:r>
              <a:rPr sz="2400" spc="-5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35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scope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and</a:t>
            </a:r>
            <a:r>
              <a:rPr sz="2400" spc="-5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minimize 	scope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changes.</a:t>
            </a:r>
            <a:endParaRPr sz="2400" dirty="0"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Scope</a:t>
            </a:r>
            <a:r>
              <a:rPr sz="2400" spc="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verification</a:t>
            </a:r>
            <a:r>
              <a:rPr sz="2400" spc="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involves</a:t>
            </a:r>
            <a:r>
              <a:rPr sz="2400" spc="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formal</a:t>
            </a:r>
            <a:r>
              <a:rPr sz="2400" spc="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acceptance</a:t>
            </a:r>
            <a:r>
              <a:rPr sz="2400" spc="-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5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completed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by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stakeholders.</a:t>
            </a:r>
            <a:endParaRPr sz="2400" dirty="0">
              <a:latin typeface="Courier New"/>
              <a:cs typeface="Courier New"/>
            </a:endParaRPr>
          </a:p>
          <a:p>
            <a:pPr marL="240029" marR="7620" indent="-227329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Acceptance</a:t>
            </a:r>
            <a:r>
              <a:rPr sz="2400" spc="-44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is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often</a:t>
            </a:r>
            <a:r>
              <a:rPr sz="2400" spc="-40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achieved</a:t>
            </a:r>
            <a:r>
              <a:rPr sz="2400" spc="-40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by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7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customer</a:t>
            </a:r>
            <a:r>
              <a:rPr sz="2400" spc="-405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Courier New"/>
                <a:cs typeface="Courier New"/>
              </a:rPr>
              <a:t>inspection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and</a:t>
            </a:r>
            <a:r>
              <a:rPr sz="2400" spc="-40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then 	</a:t>
            </a:r>
            <a:r>
              <a:rPr sz="2400" spc="-10" dirty="0">
                <a:latin typeface="Courier New"/>
                <a:cs typeface="Courier New"/>
              </a:rPr>
              <a:t>sign-off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key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deliverables.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32812"/>
            <a:ext cx="10890250" cy="3814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Scope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involves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controlling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changes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Goals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to: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65"/>
              </a:spcBef>
              <a:buFont typeface="Wingdings"/>
              <a:buChar char="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Influence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factors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that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cause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changes.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65"/>
              </a:spcBef>
              <a:buFont typeface="Wingdings"/>
              <a:buChar char=""/>
              <a:tabLst>
                <a:tab pos="737235" algn="l"/>
              </a:tabLst>
            </a:pPr>
            <a:r>
              <a:rPr sz="2200" dirty="0">
                <a:latin typeface="Courier New"/>
                <a:cs typeface="Courier New"/>
              </a:rPr>
              <a:t>Assure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changes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are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processed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according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to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procedures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developed</a:t>
            </a:r>
            <a:endParaRPr sz="22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060"/>
              </a:spcBef>
            </a:pPr>
            <a:r>
              <a:rPr sz="2200" spc="-10" dirty="0">
                <a:latin typeface="Courier New"/>
                <a:cs typeface="Courier New"/>
              </a:rPr>
              <a:t>as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part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integrated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change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39"/>
              </a:spcBef>
              <a:buFont typeface="Wingdings"/>
              <a:buChar char="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Manage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changes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when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they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occur.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Variance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difference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between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planned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actual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performance.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Best</a:t>
            </a:r>
            <a:r>
              <a:rPr spc="-1240" dirty="0"/>
              <a:t> </a:t>
            </a:r>
            <a:r>
              <a:rPr spc="-10" dirty="0"/>
              <a:t>Practices</a:t>
            </a:r>
            <a:r>
              <a:rPr spc="-1265" dirty="0"/>
              <a:t> </a:t>
            </a:r>
            <a:r>
              <a:rPr spc="-10" dirty="0"/>
              <a:t>for</a:t>
            </a:r>
            <a:r>
              <a:rPr spc="-1295" dirty="0"/>
              <a:t> </a:t>
            </a:r>
            <a:r>
              <a:rPr spc="-10" dirty="0"/>
              <a:t>Avoiding</a:t>
            </a:r>
            <a:r>
              <a:rPr spc="-1295" dirty="0"/>
              <a:t> </a:t>
            </a:r>
            <a:r>
              <a:rPr spc="-10" dirty="0"/>
              <a:t>Scope 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263505" cy="241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Keep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realistic.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Involve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users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Use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off-the-shelf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hardware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software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whenever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possible.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Follow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good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Suggestions</a:t>
            </a:r>
            <a:r>
              <a:rPr spc="-1225" dirty="0"/>
              <a:t> </a:t>
            </a:r>
            <a:r>
              <a:rPr spc="-10" dirty="0"/>
              <a:t>for</a:t>
            </a:r>
            <a:r>
              <a:rPr spc="-1270" dirty="0"/>
              <a:t> </a:t>
            </a:r>
            <a:r>
              <a:rPr spc="-10" dirty="0"/>
              <a:t>Improving</a:t>
            </a:r>
            <a:r>
              <a:rPr spc="-1295" dirty="0"/>
              <a:t> </a:t>
            </a:r>
            <a:r>
              <a:rPr spc="-10" dirty="0"/>
              <a:t>User</a:t>
            </a:r>
            <a:r>
              <a:rPr spc="-1295" dirty="0"/>
              <a:t> </a:t>
            </a:r>
            <a:r>
              <a:rPr spc="-10" dirty="0"/>
              <a:t>Input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3196"/>
            <a:ext cx="10890885" cy="4075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715" indent="-226695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20" dirty="0">
                <a:latin typeface="Courier New"/>
                <a:cs typeface="Courier New"/>
              </a:rPr>
              <a:t>Develop</a:t>
            </a:r>
            <a:r>
              <a:rPr sz="2000" spc="-27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425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good</a:t>
            </a:r>
            <a:r>
              <a:rPr sz="2000" spc="-295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project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selection</a:t>
            </a:r>
            <a:r>
              <a:rPr sz="2000" spc="-285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process</a:t>
            </a:r>
            <a:r>
              <a:rPr sz="2000" spc="-285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and</a:t>
            </a:r>
            <a:r>
              <a:rPr sz="2000" spc="-27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insist</a:t>
            </a:r>
            <a:r>
              <a:rPr sz="2000" spc="-295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that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sponsors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are</a:t>
            </a:r>
            <a:r>
              <a:rPr sz="2000" spc="-27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from 	the</a:t>
            </a:r>
            <a:r>
              <a:rPr sz="2000" spc="-55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user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organization.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Have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users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on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team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important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roles.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Have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regular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meetings</a:t>
            </a:r>
            <a:r>
              <a:rPr sz="2000" spc="-125" dirty="0">
                <a:latin typeface="Courier New"/>
                <a:cs typeface="Courier New"/>
              </a:rPr>
              <a:t> </a:t>
            </a:r>
            <a:r>
              <a:rPr sz="2000" spc="-90" dirty="0">
                <a:latin typeface="Courier New"/>
                <a:cs typeface="Courier New"/>
              </a:rPr>
              <a:t>with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defined</a:t>
            </a:r>
            <a:r>
              <a:rPr sz="2000" spc="-28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agendas,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and</a:t>
            </a:r>
            <a:r>
              <a:rPr sz="2000" spc="-28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have</a:t>
            </a:r>
            <a:r>
              <a:rPr sz="2000" spc="-29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users</a:t>
            </a:r>
            <a:r>
              <a:rPr sz="2000" spc="-28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sign</a:t>
            </a:r>
            <a:r>
              <a:rPr sz="2000" spc="-4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off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on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key</a:t>
            </a:r>
            <a:endParaRPr sz="2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latin typeface="Courier New"/>
                <a:cs typeface="Courier New"/>
              </a:rPr>
              <a:t>deliverables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presented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meetings.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97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Deliver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something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users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sponsors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on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regular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basis.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Don’t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promise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deliver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when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you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know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you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can’t.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939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Co-locate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users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with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developers.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Suggestions</a:t>
            </a:r>
            <a:r>
              <a:rPr spc="-1225" dirty="0"/>
              <a:t> </a:t>
            </a:r>
            <a:r>
              <a:rPr spc="-10" dirty="0"/>
              <a:t>for</a:t>
            </a:r>
            <a:r>
              <a:rPr spc="-1270" dirty="0"/>
              <a:t> </a:t>
            </a:r>
            <a:r>
              <a:rPr spc="-10" dirty="0"/>
              <a:t>Reducing</a:t>
            </a:r>
            <a:r>
              <a:rPr spc="-1295" dirty="0"/>
              <a:t> </a:t>
            </a:r>
            <a:r>
              <a:rPr spc="-10" dirty="0"/>
              <a:t>Incomplete and</a:t>
            </a:r>
            <a:r>
              <a:rPr spc="-1230" dirty="0"/>
              <a:t> </a:t>
            </a:r>
            <a:r>
              <a:rPr spc="-10" dirty="0"/>
              <a:t>Changing</a:t>
            </a:r>
            <a:r>
              <a:rPr spc="-126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150239"/>
          </a:xfrm>
          <a:prstGeom prst="rect">
            <a:avLst/>
          </a:prstGeom>
        </p:spPr>
        <p:txBody>
          <a:bodyPr vert="horz" wrap="square" lIns="0" tIns="195961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Develop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follow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requirements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management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process.</a:t>
            </a: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Use</a:t>
            </a:r>
            <a:r>
              <a:rPr spc="-42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techniques</a:t>
            </a:r>
            <a:r>
              <a:rPr spc="-420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such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as</a:t>
            </a:r>
            <a:r>
              <a:rPr spc="-509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prototyping,</a:t>
            </a:r>
            <a:r>
              <a:rPr spc="-400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use</a:t>
            </a:r>
            <a:r>
              <a:rPr spc="-45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case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15" dirty="0">
                <a:solidFill>
                  <a:schemeClr val="bg1"/>
                </a:solidFill>
              </a:rPr>
              <a:t>modeling,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and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JAD</a:t>
            </a: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7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get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more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user</a:t>
            </a:r>
            <a:r>
              <a:rPr spc="-7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involvement.</a:t>
            </a:r>
          </a:p>
          <a:p>
            <a:pPr marL="240029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Put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requirements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writing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keep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them</a:t>
            </a:r>
            <a:r>
              <a:rPr spc="-7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current.</a:t>
            </a: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Create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54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requirements</a:t>
            </a:r>
            <a:r>
              <a:rPr spc="-35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management</a:t>
            </a:r>
            <a:r>
              <a:rPr spc="-38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database</a:t>
            </a:r>
            <a:r>
              <a:rPr spc="-355" dirty="0">
                <a:solidFill>
                  <a:schemeClr val="bg1"/>
                </a:solidFill>
              </a:rPr>
              <a:t> </a:t>
            </a:r>
            <a:r>
              <a:rPr spc="-65" dirty="0">
                <a:solidFill>
                  <a:schemeClr val="bg1"/>
                </a:solidFill>
              </a:rPr>
              <a:t>for</a:t>
            </a:r>
            <a:r>
              <a:rPr spc="-3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documenting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and 	</a:t>
            </a:r>
            <a:r>
              <a:rPr spc="-10" dirty="0">
                <a:solidFill>
                  <a:schemeClr val="bg1"/>
                </a:solidFill>
              </a:rPr>
              <a:t>controlling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requirements.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Suggestions</a:t>
            </a:r>
            <a:r>
              <a:rPr spc="-1225" dirty="0"/>
              <a:t> </a:t>
            </a:r>
            <a:r>
              <a:rPr spc="-10" dirty="0"/>
              <a:t>for</a:t>
            </a:r>
            <a:r>
              <a:rPr spc="-1270" dirty="0"/>
              <a:t> </a:t>
            </a:r>
            <a:r>
              <a:rPr spc="-10" dirty="0"/>
              <a:t>Reducing</a:t>
            </a:r>
            <a:r>
              <a:rPr spc="-1295" dirty="0"/>
              <a:t> </a:t>
            </a:r>
            <a:r>
              <a:rPr spc="-10" dirty="0"/>
              <a:t>Incomplete and</a:t>
            </a:r>
            <a:r>
              <a:rPr spc="-1230" dirty="0"/>
              <a:t> </a:t>
            </a:r>
            <a:r>
              <a:rPr spc="-10" dirty="0"/>
              <a:t>Changing</a:t>
            </a:r>
            <a:r>
              <a:rPr spc="-126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041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Provide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adequate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testing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conduct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testing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throughout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life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cycle.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3192271"/>
            <a:ext cx="7910830" cy="161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Review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from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systems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perspective.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Emphasize</a:t>
            </a:r>
            <a:r>
              <a:rPr sz="2400" spc="5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completion</a:t>
            </a:r>
            <a:r>
              <a:rPr sz="2400" spc="5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dates</a:t>
            </a:r>
            <a:r>
              <a:rPr sz="2400" spc="5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5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help</a:t>
            </a:r>
            <a:r>
              <a:rPr sz="2400" spc="5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focus 	important.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827" y="3866133"/>
            <a:ext cx="274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41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what’s</a:t>
            </a:r>
            <a:r>
              <a:rPr sz="2400" spc="-375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most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4908854"/>
            <a:ext cx="93414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2167890" algn="l"/>
                <a:tab pos="4253230" algn="l"/>
                <a:tab pos="6884034" algn="l"/>
                <a:tab pos="7872095" algn="l"/>
              </a:tabLst>
            </a:pPr>
            <a:r>
              <a:rPr sz="2400" spc="-10" dirty="0">
                <a:latin typeface="Courier New"/>
                <a:cs typeface="Courier New"/>
              </a:rPr>
              <a:t>Allocate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resources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specifically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for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handling 	</a:t>
            </a:r>
            <a:r>
              <a:rPr sz="2400" spc="-40" dirty="0">
                <a:latin typeface="Courier New"/>
                <a:cs typeface="Courier New"/>
              </a:rPr>
              <a:t>requests/enhancements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like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NWA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ResNet.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82478" y="5092065"/>
            <a:ext cx="1089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latin typeface="Courier New"/>
                <a:cs typeface="Courier New"/>
              </a:rPr>
              <a:t>change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Using</a:t>
            </a:r>
            <a:r>
              <a:rPr spc="-1220" dirty="0"/>
              <a:t> </a:t>
            </a:r>
            <a:r>
              <a:rPr spc="-10" dirty="0"/>
              <a:t>Software</a:t>
            </a:r>
            <a:r>
              <a:rPr spc="-1275" dirty="0"/>
              <a:t> </a:t>
            </a:r>
            <a:r>
              <a:rPr spc="-10" dirty="0"/>
              <a:t>to</a:t>
            </a:r>
            <a:r>
              <a:rPr spc="-1295" dirty="0"/>
              <a:t> </a:t>
            </a:r>
            <a:r>
              <a:rPr spc="-10" dirty="0"/>
              <a:t>Assist</a:t>
            </a:r>
            <a:r>
              <a:rPr spc="-1295" dirty="0"/>
              <a:t> </a:t>
            </a:r>
            <a:r>
              <a:rPr spc="-10" dirty="0"/>
              <a:t>in</a:t>
            </a:r>
            <a:r>
              <a:rPr spc="-1275" dirty="0"/>
              <a:t> </a:t>
            </a:r>
            <a:r>
              <a:rPr spc="-10" dirty="0"/>
              <a:t>Project Scope</a:t>
            </a:r>
            <a:r>
              <a:rPr spc="-1230" dirty="0"/>
              <a:t> </a:t>
            </a:r>
            <a:r>
              <a:rPr spc="-10" dirty="0"/>
              <a:t>Management.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10898505" cy="4895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2700" indent="-228600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Word-</a:t>
            </a:r>
            <a:r>
              <a:rPr sz="2200" dirty="0">
                <a:latin typeface="Courier New"/>
                <a:cs typeface="Courier New"/>
              </a:rPr>
              <a:t>processing</a:t>
            </a:r>
            <a:r>
              <a:rPr sz="2200" spc="-1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software</a:t>
            </a:r>
            <a:r>
              <a:rPr sz="2200" spc="-10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helps</a:t>
            </a:r>
            <a:r>
              <a:rPr sz="2200" spc="-13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create</a:t>
            </a:r>
            <a:r>
              <a:rPr sz="2200" spc="-114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several</a:t>
            </a:r>
            <a:r>
              <a:rPr sz="2200" spc="-10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scope-related documents.</a:t>
            </a:r>
            <a:endParaRPr sz="2200" dirty="0">
              <a:latin typeface="Courier New"/>
              <a:cs typeface="Courier New"/>
            </a:endParaRPr>
          </a:p>
          <a:p>
            <a:pPr marL="241300" marR="7620" indent="-228600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Spreadsheets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help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perform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financial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calculations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weighted scoring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models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develop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charts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graphs.</a:t>
            </a:r>
            <a:endParaRPr sz="2200" dirty="0">
              <a:latin typeface="Courier New"/>
              <a:cs typeface="Courier New"/>
            </a:endParaRPr>
          </a:p>
          <a:p>
            <a:pPr marL="241300" marR="5080" indent="-228600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Communication</a:t>
            </a:r>
            <a:r>
              <a:rPr sz="2200" spc="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software</a:t>
            </a:r>
            <a:r>
              <a:rPr sz="2200" spc="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like</a:t>
            </a:r>
            <a:r>
              <a:rPr sz="2200" spc="3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e-</a:t>
            </a:r>
            <a:r>
              <a:rPr sz="2200" dirty="0">
                <a:latin typeface="Courier New"/>
                <a:cs typeface="Courier New"/>
              </a:rPr>
              <a:t>mail</a:t>
            </a:r>
            <a:r>
              <a:rPr sz="2200" spc="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Web</a:t>
            </a:r>
            <a:r>
              <a:rPr sz="2200" spc="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help</a:t>
            </a:r>
            <a:r>
              <a:rPr sz="2200" spc="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clarify</a:t>
            </a:r>
            <a:r>
              <a:rPr sz="2200" spc="11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 </a:t>
            </a:r>
            <a:r>
              <a:rPr sz="2200" spc="-10" dirty="0">
                <a:latin typeface="Courier New"/>
                <a:cs typeface="Courier New"/>
              </a:rPr>
              <a:t>communicate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information.</a:t>
            </a:r>
            <a:endParaRPr sz="2200" dirty="0">
              <a:latin typeface="Courier New"/>
              <a:cs typeface="Courier New"/>
            </a:endParaRPr>
          </a:p>
          <a:p>
            <a:pPr marL="241300" marR="8255" indent="-228600">
              <a:lnSpc>
                <a:spcPct val="1301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management</a:t>
            </a:r>
            <a:r>
              <a:rPr sz="2200" spc="-40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software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helps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in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creating</a:t>
            </a:r>
            <a:r>
              <a:rPr sz="2200" spc="-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WBS,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basis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for </a:t>
            </a:r>
            <a:r>
              <a:rPr sz="2200" spc="-10" dirty="0">
                <a:latin typeface="Courier New"/>
                <a:cs typeface="Courier New"/>
              </a:rPr>
              <a:t>tasks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Gantt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chart.</a:t>
            </a:r>
            <a:endParaRPr sz="2200" dirty="0">
              <a:latin typeface="Courier New"/>
              <a:cs typeface="Courier New"/>
            </a:endParaRPr>
          </a:p>
          <a:p>
            <a:pPr marL="241300" marR="8255" indent="-228600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Specialized</a:t>
            </a:r>
            <a:r>
              <a:rPr sz="2200" spc="5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software</a:t>
            </a:r>
            <a:r>
              <a:rPr sz="2200" spc="-3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45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available</a:t>
            </a:r>
            <a:r>
              <a:rPr sz="2200" spc="5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3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assist</a:t>
            </a:r>
            <a:r>
              <a:rPr sz="2200" spc="5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5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36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scope management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Chapter</a:t>
            </a:r>
            <a:r>
              <a:rPr spc="-122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3196"/>
            <a:ext cx="10697210" cy="4630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6695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scope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includes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processes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required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ensure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that 	the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addresses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all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work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required,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only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work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required,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to 	</a:t>
            </a:r>
            <a:r>
              <a:rPr sz="2000" spc="-20" dirty="0">
                <a:latin typeface="Courier New"/>
                <a:cs typeface="Courier New"/>
              </a:rPr>
              <a:t>complete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successfully</a:t>
            </a:r>
            <a:endParaRPr sz="2000" dirty="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Main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processes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include: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Collect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requirements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Define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scope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Create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WBS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39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Verify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scope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Control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scope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</TotalTime>
  <Words>1354</Words>
  <Application>Microsoft Office PowerPoint</Application>
  <PresentationFormat>Custom</PresentationFormat>
  <Paragraphs>189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Apex</vt:lpstr>
      <vt:lpstr>Chapter 5: Project Scope Management</vt:lpstr>
      <vt:lpstr>Contents:</vt:lpstr>
      <vt:lpstr>Week Learning Outcome:</vt:lpstr>
      <vt:lpstr>What is Project Scope Management?</vt:lpstr>
      <vt:lpstr>What is Project Scope Management?</vt:lpstr>
      <vt:lpstr>What is Project Scope Management?</vt:lpstr>
      <vt:lpstr>Planning Scope Management.</vt:lpstr>
      <vt:lpstr>Planning Scope Management.</vt:lpstr>
      <vt:lpstr>Planning Scope Management</vt:lpstr>
      <vt:lpstr>Planning Scope Management.</vt:lpstr>
      <vt:lpstr>Planning Scope Management.</vt:lpstr>
      <vt:lpstr>Collecting Requirements.</vt:lpstr>
      <vt:lpstr>Collecting Requirements.</vt:lpstr>
      <vt:lpstr>Collecting Requirements.</vt:lpstr>
      <vt:lpstr>Defining Scope</vt:lpstr>
      <vt:lpstr>Creating the Work Breakdown Structure.</vt:lpstr>
      <vt:lpstr>Creating the Work Breakdown Structure.</vt:lpstr>
      <vt:lpstr>Creating the Work Breakdown Structure.</vt:lpstr>
      <vt:lpstr>Creating the Work Breakdown Structure.</vt:lpstr>
      <vt:lpstr>Creating the Work Breakdown Structure.</vt:lpstr>
      <vt:lpstr>Creating the Work Breakdown Structure.</vt:lpstr>
      <vt:lpstr>Creating the Work Breakdown Structure.</vt:lpstr>
      <vt:lpstr>Approaches to Developing WBSs</vt:lpstr>
      <vt:lpstr>The WBS Dictionary</vt:lpstr>
      <vt:lpstr>Advice for Creating a WBS and WBS Dictionary</vt:lpstr>
      <vt:lpstr>Advice for Creating a WBS and WBS Dictionary</vt:lpstr>
      <vt:lpstr>Verifying Scope</vt:lpstr>
      <vt:lpstr>Controlling Scope</vt:lpstr>
      <vt:lpstr>Best Practices for Avoiding Scope Problems</vt:lpstr>
      <vt:lpstr>Suggestions for Improving User Input</vt:lpstr>
      <vt:lpstr>Suggestions for Reducing Incomplete and Changing Requirements</vt:lpstr>
      <vt:lpstr>Suggestions for Reducing Incomplete and Changing Requirements</vt:lpstr>
      <vt:lpstr>Using Software to Assist in Project Scope Management.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Project Scope Management</dc:title>
  <cp:lastModifiedBy>Rashid</cp:lastModifiedBy>
  <cp:revision>4</cp:revision>
  <dcterms:created xsi:type="dcterms:W3CDTF">2026-09-28T15:53:53Z</dcterms:created>
  <dcterms:modified xsi:type="dcterms:W3CDTF">2026-09-29T11:39:52Z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