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70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40" smtClean="0"/>
              <a:t> </a:t>
            </a:r>
            <a:r>
              <a:rPr lang="en-US" smtClean="0"/>
              <a:t>dependent</a:t>
            </a:r>
            <a:r>
              <a:rPr lang="en-US" spc="-50" smtClean="0"/>
              <a:t> </a:t>
            </a:r>
            <a:r>
              <a:rPr lang="en-US" smtClean="0"/>
              <a:t>on</a:t>
            </a:r>
            <a:r>
              <a:rPr lang="en-US" spc="-35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65" smtClean="0"/>
              <a:t> </a:t>
            </a:r>
            <a:r>
              <a:rPr lang="en-US" smtClean="0"/>
              <a:t>technology:</a:t>
            </a:r>
            <a:r>
              <a:rPr lang="en-US" spc="-35" smtClean="0"/>
              <a:t> </a:t>
            </a:r>
            <a:r>
              <a:rPr lang="en-US" smtClean="0"/>
              <a:t>Project</a:t>
            </a:r>
            <a:r>
              <a:rPr lang="en-US" spc="-35" smtClean="0"/>
              <a:t> </a:t>
            </a:r>
            <a:r>
              <a:rPr lang="en-US" smtClean="0"/>
              <a:t>management</a:t>
            </a:r>
            <a:r>
              <a:rPr lang="en-US" spc="-60" smtClean="0"/>
              <a:t> </a:t>
            </a:r>
            <a:r>
              <a:rPr lang="en-US" smtClean="0"/>
              <a:t>(9th</a:t>
            </a:r>
            <a:r>
              <a:rPr lang="en-US" spc="-20" smtClean="0"/>
              <a:t> </a:t>
            </a:r>
            <a:r>
              <a:rPr lang="en-US" smtClean="0"/>
              <a:t>edition)</a:t>
            </a:r>
            <a:r>
              <a:rPr lang="en-US" spc="-45" smtClean="0"/>
              <a:t> </a:t>
            </a:r>
            <a:r>
              <a:rPr lang="en-US" smtClean="0"/>
              <a:t>by</a:t>
            </a:r>
            <a:r>
              <a:rPr lang="en-US" spc="-30" smtClean="0"/>
              <a:t> </a:t>
            </a:r>
            <a:r>
              <a:rPr lang="en-US" smtClean="0"/>
              <a:t>Schwalbe,</a:t>
            </a:r>
            <a:r>
              <a:rPr lang="en-US" spc="-35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csonline.com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rtboard 3@2x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5" y="0"/>
            <a:ext cx="12184635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64159" y="2401106"/>
            <a:ext cx="918210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dirty="0" smtClean="0">
                <a:solidFill>
                  <a:schemeClr val="bg1"/>
                </a:solidFill>
              </a:rPr>
              <a:t>Chapter</a:t>
            </a:r>
            <a:r>
              <a:rPr sz="3200" spc="-50" dirty="0" smtClean="0">
                <a:solidFill>
                  <a:schemeClr val="bg1"/>
                </a:solidFill>
              </a:rPr>
              <a:t> </a:t>
            </a:r>
            <a:r>
              <a:rPr lang="en-US" sz="3200" spc="-25" dirty="0">
                <a:solidFill>
                  <a:schemeClr val="bg1"/>
                </a:solidFill>
              </a:rPr>
              <a:t>1</a:t>
            </a:r>
            <a:r>
              <a:rPr sz="3200" spc="-25" dirty="0" smtClean="0">
                <a:solidFill>
                  <a:schemeClr val="bg1"/>
                </a:solidFill>
              </a:rPr>
              <a:t>:</a:t>
            </a:r>
            <a:endParaRPr sz="3200" dirty="0">
              <a:solidFill>
                <a:schemeClr val="bg1"/>
              </a:solidFill>
            </a:endParaRPr>
          </a:p>
          <a:p>
            <a:pPr marL="12065" marR="5080"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</a:rPr>
              <a:t>Introduction</a:t>
            </a:r>
            <a:r>
              <a:rPr sz="3200" spc="-85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to</a:t>
            </a:r>
            <a:r>
              <a:rPr sz="3200" spc="-70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Project</a:t>
            </a:r>
            <a:r>
              <a:rPr sz="3200" spc="-45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Management:</a:t>
            </a:r>
            <a:r>
              <a:rPr sz="3200" spc="-70" dirty="0">
                <a:solidFill>
                  <a:schemeClr val="bg1"/>
                </a:solidFill>
              </a:rPr>
              <a:t> </a:t>
            </a:r>
            <a:r>
              <a:rPr sz="3200" dirty="0">
                <a:solidFill>
                  <a:schemeClr val="bg1"/>
                </a:solidFill>
              </a:rPr>
              <a:t>Concepts</a:t>
            </a:r>
            <a:r>
              <a:rPr sz="3200" spc="-70" dirty="0">
                <a:solidFill>
                  <a:schemeClr val="bg1"/>
                </a:solidFill>
              </a:rPr>
              <a:t> </a:t>
            </a:r>
            <a:r>
              <a:rPr sz="3200" spc="-25" dirty="0">
                <a:solidFill>
                  <a:schemeClr val="bg1"/>
                </a:solidFill>
              </a:rPr>
              <a:t>and </a:t>
            </a:r>
            <a:r>
              <a:rPr sz="3200" spc="-10" dirty="0">
                <a:solidFill>
                  <a:schemeClr val="bg1"/>
                </a:solidFill>
              </a:rPr>
              <a:t>Definitions</a:t>
            </a:r>
            <a:endParaRPr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8"/>
            <a:ext cx="6200140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Introduction.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Project?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Management?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Portfolio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Week</a:t>
            </a:r>
            <a:r>
              <a:rPr spc="-150" dirty="0"/>
              <a:t> </a:t>
            </a:r>
            <a:r>
              <a:rPr dirty="0"/>
              <a:t>Learning</a:t>
            </a:r>
            <a:r>
              <a:rPr spc="-130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65708"/>
            <a:ext cx="10270491" cy="3649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is.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varying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Describe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managers.</a:t>
            </a:r>
            <a:endParaRPr sz="2400" dirty="0">
              <a:latin typeface="Arial MT"/>
              <a:cs typeface="Arial MT"/>
            </a:endParaRPr>
          </a:p>
          <a:p>
            <a:pPr marL="240029" marR="5080" indent="-227329">
              <a:lnSpc>
                <a:spcPct val="1501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Discuss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differences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portfolio 	management.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Describe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careers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2445"/>
            <a:ext cx="10850880" cy="4149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715" indent="-227329" algn="just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20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organizations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today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20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20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2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renewed</a:t>
            </a:r>
            <a:r>
              <a:rPr sz="2400" spc="20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interest</a:t>
            </a:r>
            <a:r>
              <a:rPr sz="2400" spc="1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project 	management.</a:t>
            </a:r>
            <a:endParaRPr sz="2400">
              <a:latin typeface="Arial MT"/>
              <a:cs typeface="Arial MT"/>
            </a:endParaRPr>
          </a:p>
          <a:p>
            <a:pPr marL="240029" marR="6350" indent="-227329" algn="just">
              <a:lnSpc>
                <a:spcPct val="15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Until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1980s,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primarily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focused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providing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schedule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9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resource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1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military,</a:t>
            </a:r>
            <a:r>
              <a:rPr sz="2400" spc="2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computer,</a:t>
            </a:r>
            <a:r>
              <a:rPr sz="2400" spc="18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construction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industries.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Today’s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much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more,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people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every</a:t>
            </a:r>
            <a:endParaRPr sz="24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Arial MT"/>
                <a:cs typeface="Arial MT"/>
              </a:rPr>
              <a:t>industry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country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7"/>
            <a:ext cx="10850880" cy="2854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latest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forecast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Gartner:</a:t>
            </a:r>
            <a:endParaRPr sz="2400">
              <a:latin typeface="Arial MT"/>
              <a:cs typeface="Arial MT"/>
            </a:endParaRPr>
          </a:p>
          <a:p>
            <a:pPr marL="469900" marR="5080">
              <a:lnSpc>
                <a:spcPct val="150000"/>
              </a:lnSpc>
              <a:spcBef>
                <a:spcPts val="1000"/>
              </a:spcBef>
            </a:pPr>
            <a:r>
              <a:rPr sz="2400" dirty="0">
                <a:latin typeface="Arial MT"/>
                <a:cs typeface="Arial MT"/>
              </a:rPr>
              <a:t>Worldwide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spending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projected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total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$4.1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trillion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2021,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increase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8.4%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2020.</a:t>
            </a:r>
            <a:endParaRPr sz="2400">
              <a:latin typeface="Arial MT"/>
              <a:cs typeface="Arial MT"/>
            </a:endParaRPr>
          </a:p>
          <a:p>
            <a:pPr marL="240029" marR="5715" indent="-227329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Organizations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waste</a:t>
            </a:r>
            <a:r>
              <a:rPr sz="2400" spc="1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$97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million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$1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billion</a:t>
            </a:r>
            <a:r>
              <a:rPr sz="2400" spc="1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spent</a:t>
            </a:r>
            <a:r>
              <a:rPr sz="2400" spc="1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projects, 	</a:t>
            </a: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PMI’s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Pulse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Profession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2447"/>
            <a:ext cx="10850245" cy="2911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whole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spends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nearly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$10</a:t>
            </a:r>
            <a:r>
              <a:rPr sz="2400" spc="5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trillion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$40.7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trillion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gross 	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kinds.</a:t>
            </a:r>
            <a:endParaRPr sz="2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4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2017,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average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annual</a:t>
            </a:r>
            <a:r>
              <a:rPr sz="2400" spc="4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salary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(without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bonuses)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someone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3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profession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$112,00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year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3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United</a:t>
            </a:r>
            <a:r>
              <a:rPr sz="2400" spc="3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States 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$130,866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Switzerland,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highest-</a:t>
            </a:r>
            <a:r>
              <a:rPr sz="2400" dirty="0">
                <a:latin typeface="Arial MT"/>
                <a:cs typeface="Arial MT"/>
              </a:rPr>
              <a:t>paid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country.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2446"/>
            <a:ext cx="96418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assert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techniques 	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advantages,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following: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22" y="3086202"/>
            <a:ext cx="4782185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Better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financial,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physical,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resources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Improved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customer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relations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Shorter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Lower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productivity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995" y="3086204"/>
            <a:ext cx="5107940" cy="232114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quality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increased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reliability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profit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margins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Better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internal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coordination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impact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meeting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goals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Higher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morale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965705"/>
            <a:ext cx="104057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temporary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endeavor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undertaken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create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unique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product,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820" y="2514727"/>
            <a:ext cx="23615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service,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or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result</a:t>
            </a:r>
            <a:r>
              <a:rPr sz="2400" spc="-10" dirty="0">
                <a:latin typeface="Arial MT"/>
                <a:cs typeface="Arial MT"/>
              </a:rPr>
              <a:t>”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220" y="3189859"/>
            <a:ext cx="10778491" cy="229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sustain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business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objectives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reached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been 	</a:t>
            </a:r>
            <a:r>
              <a:rPr sz="2400" spc="-10" dirty="0">
                <a:latin typeface="Arial MT"/>
                <a:cs typeface="Arial MT"/>
              </a:rPr>
              <a:t>terminated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small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short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2444"/>
            <a:ext cx="10372091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shapes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attributes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	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further: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20" y="3086203"/>
            <a:ext cx="5150485" cy="278281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purpose.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temporary.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enables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 creation.</a:t>
            </a:r>
            <a:endParaRPr sz="2000">
              <a:latin typeface="Arial MT"/>
              <a:cs typeface="Arial MT"/>
            </a:endParaRPr>
          </a:p>
          <a:p>
            <a:pPr marL="355600" marR="225425" indent="-342900">
              <a:lnSpc>
                <a:spcPct val="15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progressive elaboration.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996" y="3086202"/>
            <a:ext cx="5053331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237490" indent="-342265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20" dirty="0">
                <a:latin typeface="Arial MT"/>
                <a:cs typeface="Arial MT"/>
              </a:rPr>
              <a:t> from 	</a:t>
            </a:r>
            <a:r>
              <a:rPr sz="2000" dirty="0">
                <a:latin typeface="Arial MT"/>
                <a:cs typeface="Arial MT"/>
              </a:rPr>
              <a:t>various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areas.</a:t>
            </a:r>
            <a:endParaRPr sz="2000">
              <a:latin typeface="Arial MT"/>
              <a:cs typeface="Arial MT"/>
            </a:endParaRPr>
          </a:p>
          <a:p>
            <a:pPr marL="354330" marR="5080" indent="-342265">
              <a:lnSpc>
                <a:spcPct val="15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primary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customer 	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sponsor.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involves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uncertainty.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782446"/>
            <a:ext cx="10841355" cy="2911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208915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sponsors,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team,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people 	</a:t>
            </a:r>
            <a:r>
              <a:rPr sz="2400" dirty="0">
                <a:latin typeface="Arial MT"/>
                <a:cs typeface="Arial MT"/>
              </a:rPr>
              <a:t>involved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constrained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ways,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scope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time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spc="600" dirty="0">
                <a:latin typeface="Arial MT"/>
                <a:cs typeface="Arial MT"/>
              </a:rPr>
              <a:t> 	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cost</a:t>
            </a:r>
            <a:r>
              <a:rPr sz="2400" i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goals.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limitations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sometimes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referred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 	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triple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constraint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Project?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221" y="1793495"/>
            <a:ext cx="6422391" cy="16050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0029" marR="5080" indent="-227329" algn="just">
              <a:lnSpc>
                <a:spcPct val="903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6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create</a:t>
            </a:r>
            <a:r>
              <a:rPr sz="2800" i="1" spc="6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6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successful</a:t>
            </a:r>
            <a:r>
              <a:rPr sz="2800" i="1" spc="63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project,</a:t>
            </a:r>
            <a:r>
              <a:rPr sz="2800" i="1" spc="6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63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project 	</a:t>
            </a:r>
            <a:r>
              <a:rPr sz="2800" i="1" dirty="0">
                <a:latin typeface="Calibri"/>
                <a:cs typeface="Calibri"/>
              </a:rPr>
              <a:t>manager</a:t>
            </a:r>
            <a:r>
              <a:rPr sz="2800" i="1" spc="49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must</a:t>
            </a:r>
            <a:r>
              <a:rPr sz="2800" i="1" spc="5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consider</a:t>
            </a:r>
            <a:r>
              <a:rPr sz="2800" i="1" spc="5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scope,</a:t>
            </a:r>
            <a:r>
              <a:rPr sz="2800" i="1" spc="5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time,</a:t>
            </a:r>
            <a:r>
              <a:rPr sz="2800" i="1" spc="500" dirty="0">
                <a:latin typeface="Calibri"/>
                <a:cs typeface="Calibri"/>
              </a:rPr>
              <a:t> </a:t>
            </a:r>
            <a:r>
              <a:rPr sz="2800" i="1" spc="-25" dirty="0">
                <a:latin typeface="Calibri"/>
                <a:cs typeface="Calibri"/>
              </a:rPr>
              <a:t>and 	</a:t>
            </a:r>
            <a:r>
              <a:rPr sz="2800" i="1" dirty="0">
                <a:latin typeface="Calibri"/>
                <a:cs typeface="Calibri"/>
              </a:rPr>
              <a:t>cost and balance these three </a:t>
            </a:r>
            <a:r>
              <a:rPr sz="2800" i="1" spc="-10" dirty="0">
                <a:latin typeface="Calibri"/>
                <a:cs typeface="Calibri"/>
              </a:rPr>
              <a:t>often-	competing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goals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2299" y="699615"/>
            <a:ext cx="4252440" cy="5273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782447"/>
            <a:ext cx="10600055" cy="2293833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029" marR="5080" indent="-227329">
              <a:lnSpc>
                <a:spcPct val="142800"/>
              </a:lnSpc>
              <a:spcBef>
                <a:spcPts val="31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“the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application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of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knowledge,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skills,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tools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and 	</a:t>
            </a:r>
            <a:r>
              <a:rPr sz="2400" i="1" dirty="0">
                <a:latin typeface="Arial"/>
                <a:cs typeface="Arial"/>
              </a:rPr>
              <a:t>techniques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8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project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activities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7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meet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project</a:t>
            </a:r>
            <a:r>
              <a:rPr sz="2400" i="1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requirements</a:t>
            </a:r>
            <a:r>
              <a:rPr sz="2400" i="1" dirty="0" smtClean="0">
                <a:latin typeface="Arial"/>
                <a:cs typeface="Arial"/>
              </a:rPr>
              <a:t>”</a:t>
            </a:r>
            <a:endParaRPr sz="1200" dirty="0">
              <a:latin typeface="Arial MT"/>
              <a:cs typeface="Arial MT"/>
            </a:endParaRPr>
          </a:p>
          <a:p>
            <a:pPr marL="240029" marR="591820" indent="-227329">
              <a:lnSpc>
                <a:spcPct val="150000"/>
              </a:lnSpc>
              <a:spcBef>
                <a:spcPts val="6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triple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constraint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balancing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 	</a:t>
            </a:r>
            <a:r>
              <a:rPr sz="2400" dirty="0">
                <a:latin typeface="Arial MT"/>
                <a:cs typeface="Arial MT"/>
              </a:rPr>
              <a:t>scope,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769643"/>
            <a:ext cx="9947275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Stakeholders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people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involved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affected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by 	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activities,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include: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22" y="3481128"/>
            <a:ext cx="2527935" cy="185948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sponsor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team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support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staff</a:t>
            </a:r>
            <a:endParaRPr sz="2000">
              <a:latin typeface="Arial MT"/>
              <a:cs typeface="Arial MT"/>
            </a:endParaRPr>
          </a:p>
          <a:p>
            <a:pPr marL="423545" indent="-41084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423545" algn="l"/>
              </a:tabLst>
            </a:pPr>
            <a:r>
              <a:rPr sz="2000" spc="-10" dirty="0">
                <a:latin typeface="Arial MT"/>
                <a:cs typeface="Arial MT"/>
              </a:rPr>
              <a:t>customers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996" y="3481131"/>
            <a:ext cx="3163571" cy="139781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spc="-10" dirty="0">
                <a:latin typeface="Arial MT"/>
                <a:cs typeface="Arial MT"/>
              </a:rPr>
              <a:t>Users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latin typeface="Arial MT"/>
                <a:cs typeface="Arial MT"/>
              </a:rPr>
              <a:t>suppliers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opponents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239" y="1339343"/>
            <a:ext cx="9712167" cy="4536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810902"/>
            <a:ext cx="9985375" cy="35952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81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describe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competencies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latin typeface="Arial MT"/>
                <a:cs typeface="Arial MT"/>
              </a:rPr>
              <a:t>managers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develop.</a:t>
            </a:r>
            <a:endParaRPr sz="2000">
              <a:latin typeface="Arial MT"/>
              <a:cs typeface="Arial MT"/>
            </a:endParaRPr>
          </a:p>
          <a:p>
            <a:pPr marL="239395" marR="64135" indent="-226695">
              <a:lnSpc>
                <a:spcPct val="13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4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objectives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(scope,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	</a:t>
            </a:r>
            <a:r>
              <a:rPr sz="2000" spc="-10" dirty="0">
                <a:latin typeface="Arial MT"/>
                <a:cs typeface="Arial MT"/>
              </a:rPr>
              <a:t>quality)</a:t>
            </a:r>
            <a:endParaRPr sz="2000">
              <a:latin typeface="Arial MT"/>
              <a:cs typeface="Arial MT"/>
            </a:endParaRPr>
          </a:p>
          <a:p>
            <a:pPr marL="239395" marR="5080" indent="-226695">
              <a:lnSpc>
                <a:spcPct val="13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5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facilitating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objectives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	</a:t>
            </a:r>
            <a:r>
              <a:rPr sz="2000" dirty="0">
                <a:latin typeface="Arial MT"/>
                <a:cs typeface="Arial MT"/>
              </a:rPr>
              <a:t>achieved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(resource,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risk,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procurement,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stakeholder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  <a:p>
            <a:pPr marL="239395" marR="25400" indent="-226695">
              <a:lnSpc>
                <a:spcPct val="13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1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(project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integration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management)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affected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areas.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806634"/>
            <a:ext cx="10394951" cy="4179862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techniques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assist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managers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their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 MT"/>
                <a:cs typeface="Arial MT"/>
              </a:rPr>
              <a:t>teams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various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aspects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specific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include:</a:t>
            </a:r>
            <a:endParaRPr sz="22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89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charter,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scope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statement,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WBS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(scope)</a:t>
            </a:r>
            <a:endParaRPr sz="2200">
              <a:latin typeface="Arial MT"/>
              <a:cs typeface="Arial MT"/>
            </a:endParaRPr>
          </a:p>
          <a:p>
            <a:pPr marL="736600" marR="5080" lvl="1" indent="-267335">
              <a:lnSpc>
                <a:spcPct val="130000"/>
              </a:lnSpc>
              <a:spcBef>
                <a:spcPts val="1005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Gantt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charts,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diagrams,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critical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analysis,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critical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chain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scheduling (time)</a:t>
            </a:r>
            <a:endParaRPr sz="22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95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estimates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earned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(cost)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See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Table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1-</a:t>
            </a:r>
            <a:r>
              <a:rPr sz="2200" dirty="0">
                <a:latin typeface="Arial MT"/>
                <a:cs typeface="Arial MT"/>
              </a:rPr>
              <a:t>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more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91030"/>
            <a:ext cx="9146540" cy="4090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1500" dirty="0">
                <a:latin typeface="Arial MT"/>
                <a:cs typeface="Arial MT"/>
              </a:rPr>
              <a:t>“Super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tools”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those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tools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high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potential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improving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project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success,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such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as: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50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dirty="0">
                <a:latin typeface="Arial MT"/>
                <a:cs typeface="Arial MT"/>
              </a:rPr>
              <a:t>Software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task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scheduling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(such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project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management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software)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dirty="0">
                <a:latin typeface="Arial MT"/>
                <a:cs typeface="Arial MT"/>
              </a:rPr>
              <a:t>Scope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statements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spc="-10" dirty="0">
                <a:latin typeface="Arial MT"/>
                <a:cs typeface="Arial MT"/>
              </a:rPr>
              <a:t>Requirements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analyses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50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spc="-10" dirty="0">
                <a:latin typeface="Arial MT"/>
                <a:cs typeface="Arial MT"/>
              </a:rPr>
              <a:t>Lessons-learned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reports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40"/>
              </a:spcBef>
              <a:buChar char="•"/>
              <a:tabLst>
                <a:tab pos="240665" algn="l"/>
              </a:tabLst>
            </a:pPr>
            <a:r>
              <a:rPr sz="1500" dirty="0">
                <a:latin typeface="Arial MT"/>
                <a:cs typeface="Arial MT"/>
              </a:rPr>
              <a:t>Tools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already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extensively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been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found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improve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project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importance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include: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dirty="0">
                <a:latin typeface="Arial MT"/>
                <a:cs typeface="Arial MT"/>
              </a:rPr>
              <a:t>Progress</a:t>
            </a:r>
            <a:r>
              <a:rPr sz="1500" spc="-9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reports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50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spc="-10" dirty="0">
                <a:latin typeface="Arial MT"/>
                <a:cs typeface="Arial MT"/>
              </a:rPr>
              <a:t>Kick-</a:t>
            </a:r>
            <a:r>
              <a:rPr sz="1500" dirty="0">
                <a:latin typeface="Arial MT"/>
                <a:cs typeface="Arial MT"/>
              </a:rPr>
              <a:t>off</a:t>
            </a:r>
            <a:r>
              <a:rPr sz="1500" spc="-10" dirty="0">
                <a:latin typeface="Arial MT"/>
                <a:cs typeface="Arial MT"/>
              </a:rPr>
              <a:t> meetings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dirty="0">
                <a:latin typeface="Arial MT"/>
                <a:cs typeface="Arial MT"/>
              </a:rPr>
              <a:t>Gantt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charts</a:t>
            </a:r>
            <a:endParaRPr sz="15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736600" algn="l"/>
              </a:tabLst>
            </a:pPr>
            <a:r>
              <a:rPr sz="1500" dirty="0">
                <a:latin typeface="Arial MT"/>
                <a:cs typeface="Arial MT"/>
              </a:rPr>
              <a:t>Change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requests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83994"/>
            <a:ext cx="9888220" cy="471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There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several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ways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success:</a:t>
            </a:r>
            <a:endParaRPr sz="2800" dirty="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680"/>
              </a:spcBef>
              <a:buChar char="•"/>
              <a:tabLst>
                <a:tab pos="73596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scope,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goals</a:t>
            </a:r>
            <a:endParaRPr sz="2800" dirty="0">
              <a:latin typeface="Arial MT"/>
              <a:cs typeface="Arial MT"/>
            </a:endParaRPr>
          </a:p>
          <a:p>
            <a:pPr marL="735330" lvl="1" indent="-265430">
              <a:lnSpc>
                <a:spcPct val="100000"/>
              </a:lnSpc>
              <a:spcBef>
                <a:spcPts val="2690"/>
              </a:spcBef>
              <a:buChar char="•"/>
              <a:tabLst>
                <a:tab pos="73533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satisfied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customer/sponsor</a:t>
            </a:r>
            <a:endParaRPr sz="2800" dirty="0">
              <a:latin typeface="Arial MT"/>
              <a:cs typeface="Arial MT"/>
            </a:endParaRPr>
          </a:p>
          <a:p>
            <a:pPr marL="735330" marR="5080" lvl="1" indent="-266065">
              <a:lnSpc>
                <a:spcPct val="150000"/>
              </a:lnSpc>
              <a:spcBef>
                <a:spcPts val="994"/>
              </a:spcBef>
              <a:buChar char="•"/>
              <a:tabLst>
                <a:tab pos="73660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results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objective,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as 	</a:t>
            </a:r>
            <a:r>
              <a:rPr sz="2800" dirty="0">
                <a:latin typeface="Arial MT"/>
                <a:cs typeface="Arial MT"/>
              </a:rPr>
              <a:t>making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saving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certain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amount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money,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providing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	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investment,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simply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making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sponsors 	happy.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80" dirty="0"/>
              <a:t> </a:t>
            </a:r>
            <a:r>
              <a:rPr spc="-10" dirty="0"/>
              <a:t>Management?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806636"/>
            <a:ext cx="10194291" cy="40495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Recent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research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findings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show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companies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excel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delivery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795"/>
              </a:spcBef>
            </a:pPr>
            <a:r>
              <a:rPr sz="2200" spc="-10" dirty="0">
                <a:latin typeface="Arial MT"/>
                <a:cs typeface="Arial MT"/>
              </a:rPr>
              <a:t>capability:</a:t>
            </a:r>
            <a:endParaRPr sz="2200">
              <a:latin typeface="Arial MT"/>
              <a:cs typeface="Arial MT"/>
            </a:endParaRPr>
          </a:p>
          <a:p>
            <a:pPr marL="736600" marR="64135" lvl="1" indent="-267335">
              <a:lnSpc>
                <a:spcPct val="130100"/>
              </a:lnSpc>
              <a:spcBef>
                <a:spcPts val="994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integrated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toolbox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(use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standard/advanced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PM </a:t>
            </a:r>
            <a:r>
              <a:rPr sz="2200" dirty="0">
                <a:latin typeface="Arial MT"/>
                <a:cs typeface="Arial MT"/>
              </a:rPr>
              <a:t>tools,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templates)</a:t>
            </a:r>
            <a:endParaRPr sz="22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85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Grow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leaders,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emphasizing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business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skills</a:t>
            </a:r>
            <a:endParaRPr sz="22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800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Develop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streamlined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delivery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</a:t>
            </a:r>
            <a:endParaRPr sz="2200">
              <a:latin typeface="Arial MT"/>
              <a:cs typeface="Arial MT"/>
            </a:endParaRPr>
          </a:p>
          <a:p>
            <a:pPr marL="736600" marR="5080" lvl="1" indent="-267335">
              <a:lnSpc>
                <a:spcPct val="130000"/>
              </a:lnSpc>
              <a:spcBef>
                <a:spcPts val="1000"/>
              </a:spcBef>
              <a:buChar char="•"/>
              <a:tabLst>
                <a:tab pos="736600" algn="l"/>
              </a:tabLst>
            </a:pPr>
            <a:r>
              <a:rPr sz="2200" dirty="0">
                <a:latin typeface="Arial MT"/>
                <a:cs typeface="Arial MT"/>
              </a:rPr>
              <a:t>Measure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health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metrics,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satisfaction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4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return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on </a:t>
            </a:r>
            <a:r>
              <a:rPr sz="2200" spc="-10" dirty="0">
                <a:latin typeface="Arial MT"/>
                <a:cs typeface="Arial MT"/>
              </a:rPr>
              <a:t>investment.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2446"/>
            <a:ext cx="10850245" cy="3486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65785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400" i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group</a:t>
            </a:r>
            <a:r>
              <a:rPr sz="2400" i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4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related</a:t>
            </a:r>
            <a:r>
              <a:rPr sz="2400" i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projects</a:t>
            </a:r>
            <a:r>
              <a:rPr sz="24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managed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</a:t>
            </a:r>
            <a:r>
              <a:rPr sz="2400" i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r>
              <a:rPr sz="2400" i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coordinated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way</a:t>
            </a:r>
            <a:r>
              <a:rPr sz="2400" i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2400" i="1" spc="-25" dirty="0">
                <a:latin typeface="Arial"/>
                <a:cs typeface="Arial"/>
              </a:rPr>
              <a:t> 	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obtain</a:t>
            </a:r>
            <a:r>
              <a:rPr sz="2400" i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benefits</a:t>
            </a:r>
            <a:r>
              <a:rPr sz="2400" i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2400" i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control</a:t>
            </a:r>
            <a:r>
              <a:rPr sz="2400" i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not</a:t>
            </a:r>
            <a:r>
              <a:rPr sz="2400" i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available</a:t>
            </a:r>
            <a:r>
              <a:rPr sz="2400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</a:t>
            </a:r>
            <a:r>
              <a:rPr sz="2400" i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managing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them</a:t>
            </a:r>
            <a:r>
              <a:rPr sz="2400" i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individually</a:t>
            </a:r>
            <a:r>
              <a:rPr sz="2400" spc="-10" dirty="0">
                <a:latin typeface="Arial MT"/>
                <a:cs typeface="Arial MT"/>
              </a:rPr>
              <a:t>”</a:t>
            </a:r>
            <a:endParaRPr sz="2400" dirty="0">
              <a:latin typeface="Arial MT"/>
              <a:cs typeface="Arial MT"/>
            </a:endParaRPr>
          </a:p>
          <a:p>
            <a:pPr marL="240029" marR="1379220" indent="-227329">
              <a:lnSpc>
                <a:spcPct val="150000"/>
              </a:lnSpc>
              <a:spcBef>
                <a:spcPts val="655"/>
              </a:spcBef>
              <a:buChar char="•"/>
              <a:tabLst>
                <a:tab pos="241300" algn="l"/>
              </a:tabLst>
            </a:pPr>
            <a:r>
              <a:rPr sz="2400" dirty="0" smtClean="0">
                <a:latin typeface="Arial MT"/>
                <a:cs typeface="Arial MT"/>
              </a:rPr>
              <a:t>A</a:t>
            </a:r>
            <a:r>
              <a:rPr sz="2400" spc="-90" dirty="0" smtClean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leadership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 	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heading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</a:t>
            </a:r>
            <a:endParaRPr sz="2400" dirty="0">
              <a:latin typeface="Arial MT"/>
              <a:cs typeface="Arial MT"/>
            </a:endParaRPr>
          </a:p>
          <a:p>
            <a:pPr marL="240029" marR="1468755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Examples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infrastructure, 	</a:t>
            </a:r>
            <a:r>
              <a:rPr sz="2400" dirty="0">
                <a:latin typeface="Arial MT"/>
                <a:cs typeface="Arial MT"/>
              </a:rPr>
              <a:t>applications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development,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2445"/>
            <a:ext cx="10488931" cy="2900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274955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portfolio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 	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portfolio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enterprise’s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success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Portfolio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investment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</a:t>
            </a:r>
            <a:endParaRPr sz="24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strategic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perspective.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494337"/>
              </p:ext>
            </p:extLst>
          </p:nvPr>
        </p:nvGraphicFramePr>
        <p:xfrm>
          <a:off x="648411" y="1369953"/>
          <a:ext cx="10880088" cy="4547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1140"/>
                <a:gridCol w="2799080"/>
                <a:gridCol w="3352164"/>
                <a:gridCol w="3227704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Projects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Programs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Portfolios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201104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Definition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0029" algn="just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temporary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endeavor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undertaken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create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unique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product,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service,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result.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66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related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projects,</a:t>
                      </a:r>
                      <a:r>
                        <a:rPr sz="1800" spc="-6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subsidiary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programs,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managed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coordinated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way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obtain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benefits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available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managing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them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individually.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12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collection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projects,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programs,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subsidiary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portfolios,</a:t>
                      </a:r>
                      <a:r>
                        <a:rPr sz="1800" spc="-6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operations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managed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group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achieve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strategic objectives.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21704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Managemen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52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team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meet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 objectives.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44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Programs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managed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who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ensure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delivered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expected,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coordinating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program’s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components.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coordinate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staff,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staff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that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have</a:t>
                      </a:r>
                      <a:r>
                        <a:rPr sz="1800" spc="-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reporting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responsibilities</a:t>
                      </a:r>
                      <a:r>
                        <a:rPr sz="1800" spc="-5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sz="18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aggregate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73641"/>
              </p:ext>
            </p:extLst>
          </p:nvPr>
        </p:nvGraphicFramePr>
        <p:xfrm>
          <a:off x="459322" y="1627377"/>
          <a:ext cx="11107422" cy="411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971"/>
                <a:gridCol w="3171825"/>
                <a:gridCol w="3589655"/>
                <a:gridCol w="3061971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Projects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Programs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Portfolios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Monitoring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441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monitor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work</a:t>
                      </a:r>
                      <a:r>
                        <a:rPr sz="1800" spc="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producing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products,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services,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results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was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undertaken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produce.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8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monitor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progress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components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ensure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overall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goals,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schedules,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budget,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are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met.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16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managers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monitor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strategic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changes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and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aggregate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resource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allocation,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performance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results,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risk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the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3EA"/>
                    </a:solidFill>
                  </a:tcPr>
                </a:tc>
              </a:tr>
              <a:tr h="20110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Success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359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Success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measured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quality,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timeliness,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budget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compliance,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degree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of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customer</a:t>
                      </a:r>
                      <a:r>
                        <a:rPr sz="18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satisfaction.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4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program’s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success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measured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program’s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ability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deliver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intended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benefits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organization,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program’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efficiency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effectiveness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delivering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those benefits.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Success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measured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terms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aggregate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investment</a:t>
                      </a:r>
                      <a:r>
                        <a:rPr sz="18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800" spc="5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4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r>
                        <a:rPr sz="1800" spc="-3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realization</a:t>
                      </a:r>
                      <a:r>
                        <a:rPr sz="1800" spc="-1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3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portfolio.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4" name="object 4" descr="Fig01-03.bmp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938" y="1525524"/>
            <a:ext cx="9648825" cy="33502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81148" y="5380433"/>
            <a:ext cx="542607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Project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Management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Compared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Project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Portfolio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24559"/>
            <a:ext cx="10841355" cy="41633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optimal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recognized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industry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achieve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goal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objective”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Robert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Butrick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suggests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organizations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principles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Arial MT"/>
                <a:cs typeface="Arial MT"/>
              </a:rPr>
              <a:t>management,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mentioned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earlier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chapter:</a:t>
            </a:r>
            <a:endParaRPr sz="2000">
              <a:latin typeface="Arial MT"/>
              <a:cs typeface="Arial MT"/>
            </a:endParaRPr>
          </a:p>
          <a:p>
            <a:pPr marL="469900" marR="18415" indent="-457200">
              <a:lnSpc>
                <a:spcPct val="14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strategy;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demonstrate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0" dirty="0">
                <a:latin typeface="Arial MT"/>
                <a:cs typeface="Arial MT"/>
              </a:rPr>
              <a:t> each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undertake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fits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business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strategy,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screen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unwanted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soon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possible</a:t>
            </a:r>
            <a:endParaRPr sz="2000">
              <a:latin typeface="Arial MT"/>
              <a:cs typeface="Arial MT"/>
            </a:endParaRPr>
          </a:p>
          <a:p>
            <a:pPr marL="469900" marR="31115" indent="-457200">
              <a:lnSpc>
                <a:spcPct val="140000"/>
              </a:lnSpc>
              <a:spcBef>
                <a:spcPts val="1000"/>
              </a:spcBef>
              <a:buAutoNum type="arabicPeriod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Engage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stakeholders;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ignoring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stakeholders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failure;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engage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stakeholders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encourage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teamwork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commitment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at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times.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43205"/>
            <a:ext cx="979106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Program</a:t>
            </a:r>
            <a:r>
              <a:rPr spc="-114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Project</a:t>
            </a:r>
            <a:r>
              <a:rPr spc="-125" dirty="0"/>
              <a:t> </a:t>
            </a:r>
            <a:r>
              <a:rPr dirty="0"/>
              <a:t>Portfolio</a:t>
            </a:r>
            <a:r>
              <a:rPr spc="-120" dirty="0"/>
              <a:t> </a:t>
            </a:r>
            <a:r>
              <a:rPr spc="-10"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795" y="1515581"/>
            <a:ext cx="8884412" cy="42332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824928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variety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skills,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should: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20" y="2622780"/>
            <a:ext cx="5104765" cy="324447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comfortable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change.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Understand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organizations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with.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lead.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teams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accomplish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goals</a:t>
            </a:r>
            <a:endParaRPr sz="2000">
              <a:latin typeface="Arial MT"/>
              <a:cs typeface="Arial MT"/>
            </a:endParaRPr>
          </a:p>
          <a:p>
            <a:pPr marL="355600" marR="383540" indent="-342900">
              <a:lnSpc>
                <a:spcPct val="15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Body</a:t>
            </a:r>
            <a:r>
              <a:rPr sz="2000" spc="-25" dirty="0">
                <a:latin typeface="Arial MT"/>
                <a:cs typeface="Arial MT"/>
              </a:rPr>
              <a:t> of </a:t>
            </a:r>
            <a:r>
              <a:rPr sz="2000" spc="-10" dirty="0">
                <a:latin typeface="Arial MT"/>
                <a:cs typeface="Arial MT"/>
              </a:rPr>
              <a:t>Knowledge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997" y="2622779"/>
            <a:ext cx="5264151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1085215" indent="-342265">
              <a:lnSpc>
                <a:spcPct val="1501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knowledge, 	</a:t>
            </a:r>
            <a:r>
              <a:rPr sz="2000" dirty="0">
                <a:latin typeface="Arial MT"/>
                <a:cs typeface="Arial MT"/>
              </a:rPr>
              <a:t>standards,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regulations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knowledge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General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Arial MT"/>
                <a:cs typeface="Arial MT"/>
              </a:rPr>
              <a:t>skills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soft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skills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relations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skills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2445"/>
            <a:ext cx="10438765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171450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Job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descriptions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vary,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responsibilities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planning, 	</a:t>
            </a:r>
            <a:r>
              <a:rPr sz="2400" dirty="0">
                <a:latin typeface="Arial MT"/>
                <a:cs typeface="Arial MT"/>
              </a:rPr>
              <a:t>scheduling,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coordinating,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people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10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Remember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97%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successful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experienced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 	</a:t>
            </a:r>
            <a:r>
              <a:rPr sz="2400" dirty="0">
                <a:latin typeface="Arial MT"/>
                <a:cs typeface="Arial MT"/>
              </a:rPr>
              <a:t>managers,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influence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factors.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65705"/>
            <a:ext cx="984377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Skills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Competencies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are: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21" y="2622780"/>
            <a:ext cx="4730115" cy="2321148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People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skills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Leadership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spc="-10" dirty="0">
                <a:latin typeface="Arial MT"/>
                <a:cs typeface="Arial MT"/>
              </a:rPr>
              <a:t>Listening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Integrity,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ethical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behaviour,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consistent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Strong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building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trust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998" y="2622781"/>
            <a:ext cx="4986655" cy="1859483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 startAt="6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Verbal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communication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205"/>
              </a:spcBef>
              <a:buAutoNum type="arabicPeriod" startAt="6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Strong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teams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 startAt="6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resolution,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AutoNum type="arabicPeriod" startAt="6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Critical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thinking,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solving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996" y="4604080"/>
            <a:ext cx="411099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10.</a:t>
            </a:r>
            <a:r>
              <a:rPr sz="2000" spc="2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Understands,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balances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priorities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782447"/>
            <a:ext cx="10723880" cy="3965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b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leader</a:t>
            </a:r>
            <a:r>
              <a:rPr b="1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bg1"/>
                </a:solidFill>
              </a:rPr>
              <a:t>focuses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long-</a:t>
            </a:r>
            <a:r>
              <a:rPr dirty="0">
                <a:solidFill>
                  <a:schemeClr val="bg1"/>
                </a:solidFill>
              </a:rPr>
              <a:t>term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goals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big-</a:t>
            </a:r>
            <a:r>
              <a:rPr dirty="0">
                <a:solidFill>
                  <a:schemeClr val="bg1"/>
                </a:solidFill>
              </a:rPr>
              <a:t>picture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objectives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while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inspiring 	</a:t>
            </a:r>
            <a:r>
              <a:rPr dirty="0">
                <a:solidFill>
                  <a:schemeClr val="bg1"/>
                </a:solidFill>
              </a:rPr>
              <a:t>people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reach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those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goals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b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manager</a:t>
            </a:r>
            <a:r>
              <a:rPr b="1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bg1"/>
                </a:solidFill>
              </a:rPr>
              <a:t>deals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with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day-</a:t>
            </a:r>
            <a:r>
              <a:rPr spc="-10" dirty="0">
                <a:solidFill>
                  <a:schemeClr val="bg1"/>
                </a:solidFill>
              </a:rPr>
              <a:t>to-</a:t>
            </a:r>
            <a:r>
              <a:rPr dirty="0">
                <a:solidFill>
                  <a:schemeClr val="bg1"/>
                </a:solidFill>
              </a:rPr>
              <a:t>day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details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meeting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specific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goals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managers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often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take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role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both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leader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manager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Effective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managers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provide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leadership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example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58089"/>
            <a:ext cx="10550525" cy="37721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Practically,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needed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situations:</a:t>
            </a:r>
            <a:endParaRPr sz="2200">
              <a:latin typeface="Arial MT"/>
              <a:cs typeface="Arial MT"/>
            </a:endParaRPr>
          </a:p>
          <a:p>
            <a:pPr marL="736600" marR="139065" lvl="1" indent="-267335">
              <a:lnSpc>
                <a:spcPct val="150000"/>
              </a:lnSpc>
              <a:spcBef>
                <a:spcPts val="1000"/>
              </a:spcBef>
              <a:buChar char="•"/>
              <a:tabLst>
                <a:tab pos="736600" algn="l"/>
                <a:tab pos="812800" algn="l"/>
              </a:tabLst>
            </a:pPr>
            <a:r>
              <a:rPr sz="2200" dirty="0">
                <a:latin typeface="Arial MT"/>
                <a:cs typeface="Arial MT"/>
              </a:rPr>
              <a:t>	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Large</a:t>
            </a:r>
            <a:r>
              <a:rPr sz="22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projects:</a:t>
            </a:r>
            <a:r>
              <a:rPr sz="22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leadership,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relevant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prior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experience,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planning,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people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skills, </a:t>
            </a:r>
            <a:r>
              <a:rPr sz="2200" dirty="0">
                <a:latin typeface="Arial MT"/>
                <a:cs typeface="Arial MT"/>
              </a:rPr>
              <a:t>verbal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communication,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team-</a:t>
            </a:r>
            <a:r>
              <a:rPr sz="2200" dirty="0">
                <a:latin typeface="Arial MT"/>
                <a:cs typeface="Arial MT"/>
              </a:rPr>
              <a:t>building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important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315"/>
              </a:spcBef>
              <a:buFont typeface="Arial MT"/>
              <a:buChar char="•"/>
              <a:tabLst>
                <a:tab pos="735965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</a:t>
            </a:r>
            <a:r>
              <a:rPr sz="22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uncertainty</a:t>
            </a:r>
            <a:r>
              <a:rPr sz="22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projects:</a:t>
            </a:r>
            <a:r>
              <a:rPr sz="2200" b="1" u="sng" spc="-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risk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expectation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management,</a:t>
            </a:r>
            <a:endParaRPr sz="2200">
              <a:latin typeface="Arial MT"/>
              <a:cs typeface="Arial MT"/>
            </a:endParaRPr>
          </a:p>
          <a:p>
            <a:pPr marL="7366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Arial MT"/>
                <a:cs typeface="Arial MT"/>
              </a:rPr>
              <a:t>leadership,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people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planning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important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335"/>
              </a:spcBef>
              <a:buFont typeface="Arial MT"/>
              <a:buChar char="•"/>
              <a:tabLst>
                <a:tab pos="735965" algn="l"/>
              </a:tabLst>
            </a:pP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Very</a:t>
            </a:r>
            <a:r>
              <a:rPr sz="22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novel</a:t>
            </a:r>
            <a:r>
              <a:rPr sz="22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projects: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leadership,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people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skills,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vision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goals,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self</a:t>
            </a:r>
            <a:endParaRPr sz="2200">
              <a:latin typeface="Arial MT"/>
              <a:cs typeface="Arial MT"/>
            </a:endParaRPr>
          </a:p>
          <a:p>
            <a:pPr marL="736600">
              <a:lnSpc>
                <a:spcPct val="100000"/>
              </a:lnSpc>
              <a:spcBef>
                <a:spcPts val="1315"/>
              </a:spcBef>
            </a:pPr>
            <a:r>
              <a:rPr sz="2200" dirty="0">
                <a:latin typeface="Arial MT"/>
                <a:cs typeface="Arial MT"/>
              </a:rPr>
              <a:t>confidence,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expectations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listening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skills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important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782447"/>
            <a:ext cx="10419715" cy="2911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world,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profession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very 	</a:t>
            </a:r>
            <a:r>
              <a:rPr sz="2400" dirty="0">
                <a:latin typeface="Arial MT"/>
                <a:cs typeface="Arial MT"/>
              </a:rPr>
              <a:t>rapid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pace.</a:t>
            </a:r>
            <a:endParaRPr sz="2400">
              <a:latin typeface="Arial MT"/>
              <a:cs typeface="Arial MT"/>
            </a:endParaRPr>
          </a:p>
          <a:p>
            <a:pPr marL="240029" marR="377825" indent="-227329" algn="just">
              <a:lnSpc>
                <a:spcPct val="15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helpful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history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field,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professional 	</a:t>
            </a:r>
            <a:r>
              <a:rPr sz="2400" dirty="0">
                <a:latin typeface="Arial MT"/>
                <a:cs typeface="Arial MT"/>
              </a:rPr>
              <a:t>societies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Institute,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 	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software.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782446"/>
            <a:ext cx="10723880" cy="5078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314325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In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terms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management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certification,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PMI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provides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certification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as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spc="-50" dirty="0">
                <a:solidFill>
                  <a:schemeClr val="bg1"/>
                </a:solidFill>
              </a:rPr>
              <a:t>a 	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Management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Professional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(PMP)</a:t>
            </a:r>
          </a:p>
          <a:p>
            <a:pPr marL="240029" marR="5080" indent="-227329">
              <a:lnSpc>
                <a:spcPct val="15010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A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PMP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has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documented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sufficient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experience,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agreed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follow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code 	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ethics,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passed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PMP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exam.</a:t>
            </a: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number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people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earning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PMP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certification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increasing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quickly.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PMI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other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organizations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offer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additional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certification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programs.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782446"/>
            <a:ext cx="10723880" cy="5532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357505" indent="-227329">
              <a:lnSpc>
                <a:spcPct val="1501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Ethics,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loosely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defined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as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set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principles</a:t>
            </a:r>
            <a:r>
              <a:rPr spc="-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guide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our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decision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making 	</a:t>
            </a:r>
            <a:r>
              <a:rPr dirty="0">
                <a:solidFill>
                  <a:schemeClr val="bg1"/>
                </a:solidFill>
              </a:rPr>
              <a:t>based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personal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values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what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“right”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“wrong”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managers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often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face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ethical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dilemmas</a:t>
            </a:r>
          </a:p>
          <a:p>
            <a:pPr marL="240029" marR="532130" indent="-227329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In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order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earn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PMP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certification,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applicants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agree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PMI’s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Code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of 	</a:t>
            </a:r>
            <a:r>
              <a:rPr dirty="0">
                <a:solidFill>
                  <a:schemeClr val="bg1"/>
                </a:solidFill>
              </a:rPr>
              <a:t>Ethics</a:t>
            </a:r>
            <a:r>
              <a:rPr spc="-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Professional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Conduct</a:t>
            </a: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Several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questions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PMP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exam</a:t>
            </a:r>
            <a:r>
              <a:rPr spc="-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related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professional</a:t>
            </a:r>
            <a:r>
              <a:rPr spc="-45" dirty="0">
                <a:solidFill>
                  <a:schemeClr val="bg1"/>
                </a:solidFill>
              </a:rPr>
              <a:t> </a:t>
            </a:r>
            <a:r>
              <a:rPr spc="-10" dirty="0"/>
              <a:t>responsibility, 	</a:t>
            </a:r>
            <a:r>
              <a:rPr dirty="0"/>
              <a:t>including</a:t>
            </a:r>
            <a:r>
              <a:rPr spc="-114" dirty="0"/>
              <a:t> </a:t>
            </a:r>
            <a:r>
              <a:rPr spc="-10" dirty="0"/>
              <a:t>ethics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658676"/>
            <a:ext cx="979106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Role</a:t>
            </a:r>
            <a:r>
              <a:rPr spc="-8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spc="-10" dirty="0"/>
              <a:t>Manager.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32177"/>
            <a:ext cx="10694035" cy="420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hundreds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different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products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assist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performing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5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Three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categories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tools: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65"/>
              </a:spcBef>
              <a:buChar char="•"/>
              <a:tabLst>
                <a:tab pos="240665" algn="l"/>
              </a:tabLst>
            </a:pPr>
            <a:r>
              <a:rPr sz="2200" spc="-20" dirty="0">
                <a:latin typeface="Arial MT"/>
                <a:cs typeface="Arial MT"/>
              </a:rPr>
              <a:t>Low-</a:t>
            </a:r>
            <a:r>
              <a:rPr sz="2200" dirty="0">
                <a:latin typeface="Arial MT"/>
                <a:cs typeface="Arial MT"/>
              </a:rPr>
              <a:t>end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tools: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handle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single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smaller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under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$200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user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5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Midrange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tools: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handle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multiple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users,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cost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$200-</a:t>
            </a:r>
            <a:r>
              <a:rPr sz="2200" dirty="0">
                <a:latin typeface="Arial MT"/>
                <a:cs typeface="Arial MT"/>
              </a:rPr>
              <a:t>600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user,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latin typeface="Arial MT"/>
                <a:cs typeface="Arial MT"/>
              </a:rPr>
              <a:t>2007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most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popular</a:t>
            </a:r>
            <a:endParaRPr sz="2200">
              <a:latin typeface="Arial MT"/>
              <a:cs typeface="Arial MT"/>
            </a:endParaRPr>
          </a:p>
          <a:p>
            <a:pPr marL="241300" marR="198120" indent="-228600">
              <a:lnSpc>
                <a:spcPct val="14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200" spc="-20" dirty="0">
                <a:latin typeface="Arial MT"/>
                <a:cs typeface="Arial MT"/>
              </a:rPr>
              <a:t>High-</a:t>
            </a:r>
            <a:r>
              <a:rPr sz="2200" dirty="0">
                <a:latin typeface="Arial MT"/>
                <a:cs typeface="Arial MT"/>
              </a:rPr>
              <a:t>end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also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called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enterprise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software,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often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licensed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per-</a:t>
            </a:r>
            <a:r>
              <a:rPr sz="2200" dirty="0">
                <a:latin typeface="Arial MT"/>
                <a:cs typeface="Arial MT"/>
              </a:rPr>
              <a:t>user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basis,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VPMi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Enterprise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Online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(</a:t>
            </a:r>
            <a:r>
              <a:rPr sz="2200" spc="-10" dirty="0">
                <a:latin typeface="Arial MT"/>
                <a:cs typeface="Arial MT"/>
                <a:hlinkClick r:id="rId2"/>
              </a:rPr>
              <a:t>www.vcsonline.com</a:t>
            </a:r>
            <a:r>
              <a:rPr sz="2200" spc="-10" dirty="0">
                <a:latin typeface="Arial MT"/>
                <a:cs typeface="Arial MT"/>
              </a:rPr>
              <a:t>)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front </a:t>
            </a:r>
            <a:r>
              <a:rPr sz="2200" dirty="0">
                <a:latin typeface="Arial MT"/>
                <a:cs typeface="Arial MT"/>
              </a:rPr>
              <a:t>cover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trial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version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information.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Chapter</a:t>
            </a:r>
            <a:r>
              <a:rPr spc="-15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24559"/>
            <a:ext cx="10618471" cy="40043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temporary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endeavor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undertaken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create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service,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knowledge,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skills,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tools,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Arial MT"/>
                <a:cs typeface="Arial MT"/>
              </a:rPr>
              <a:t>activities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meet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coordinated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way</a:t>
            </a:r>
            <a:endParaRPr sz="2000">
              <a:latin typeface="Arial MT"/>
              <a:cs typeface="Arial MT"/>
            </a:endParaRPr>
          </a:p>
          <a:p>
            <a:pPr marL="239395" marR="5080" indent="-226695">
              <a:lnSpc>
                <a:spcPct val="14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portfolio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involves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organizing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	</a:t>
            </a:r>
            <a:r>
              <a:rPr sz="2000" dirty="0">
                <a:latin typeface="Arial MT"/>
                <a:cs typeface="Arial MT"/>
              </a:rPr>
              <a:t>portfolio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investments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managers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key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helping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organizations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succeed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profession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continues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mature.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</TotalTime>
  <Words>1501</Words>
  <Application>Microsoft Office PowerPoint</Application>
  <PresentationFormat>Custom</PresentationFormat>
  <Paragraphs>216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Apex</vt:lpstr>
      <vt:lpstr>Chapter 1: Introduction to Project Management: Concepts and Definitions</vt:lpstr>
      <vt:lpstr>Contents:</vt:lpstr>
      <vt:lpstr>Week Learning Outcome:</vt:lpstr>
      <vt:lpstr>Introduction</vt:lpstr>
      <vt:lpstr>Introduction</vt:lpstr>
      <vt:lpstr>Introduction</vt:lpstr>
      <vt:lpstr>Introduction</vt:lpstr>
      <vt:lpstr>What is A Project?</vt:lpstr>
      <vt:lpstr>What is A Project?</vt:lpstr>
      <vt:lpstr>What is A Project?</vt:lpstr>
      <vt:lpstr>What is A Project?</vt:lpstr>
      <vt:lpstr>What is Project Management?</vt:lpstr>
      <vt:lpstr>What is Project Management?</vt:lpstr>
      <vt:lpstr>What is Project Management?</vt:lpstr>
      <vt:lpstr>What is Project Management?</vt:lpstr>
      <vt:lpstr>What is Project Management?</vt:lpstr>
      <vt:lpstr>What is Project Management?</vt:lpstr>
      <vt:lpstr>What is Project Management?</vt:lpstr>
      <vt:lpstr>What is Project Management?</vt:lpstr>
      <vt:lpstr>Program and Project Portfolio Management</vt:lpstr>
      <vt:lpstr>Program and Project Portfolio Management</vt:lpstr>
      <vt:lpstr>Program and Project Portfolio Management</vt:lpstr>
      <vt:lpstr>Program and Project Portfolio Management</vt:lpstr>
      <vt:lpstr>Program and Project Portfolio Management</vt:lpstr>
      <vt:lpstr>Program and Project Portfolio Management</vt:lpstr>
      <vt:lpstr>Program and Project Portfolio Management</vt:lpstr>
      <vt:lpstr>The Role of The Project Manager.</vt:lpstr>
      <vt:lpstr>The Role of The Project Manager.</vt:lpstr>
      <vt:lpstr>The Role of The Project Manager.</vt:lpstr>
      <vt:lpstr>The Role of The Project Manager.</vt:lpstr>
      <vt:lpstr>The Role of The Project Manager.</vt:lpstr>
      <vt:lpstr>The Role of The Project Manager.</vt:lpstr>
      <vt:lpstr>The Role of The Project Manager.</vt:lpstr>
      <vt:lpstr>The Role of The Project Manager.</vt:lpstr>
      <vt:lpstr>The Role of The Project Manager.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Management: Concepts and Definitions</dc:title>
  <cp:lastModifiedBy>Rashid</cp:lastModifiedBy>
  <cp:revision>7</cp:revision>
  <dcterms:created xsi:type="dcterms:W3CDTF">2026-09-28T15:52:23Z</dcterms:created>
  <dcterms:modified xsi:type="dcterms:W3CDTF">2026-09-29T11:34:15Z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